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 id="2147483741" r:id="rId2"/>
    <p:sldMasterId id="2147483718" r:id="rId3"/>
    <p:sldMasterId id="2147483753" r:id="rId4"/>
    <p:sldMasterId id="2147483660" r:id="rId5"/>
    <p:sldMasterId id="2147483672" r:id="rId6"/>
    <p:sldMasterId id="2147483684" r:id="rId7"/>
    <p:sldMasterId id="2147483648" r:id="rId8"/>
  </p:sldMasterIdLst>
  <p:notesMasterIdLst>
    <p:notesMasterId r:id="rId184"/>
  </p:notesMasterIdLst>
  <p:sldIdLst>
    <p:sldId id="392"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1" r:id="rId29"/>
    <p:sldId id="372" r:id="rId30"/>
    <p:sldId id="373" r:id="rId31"/>
    <p:sldId id="374" r:id="rId32"/>
    <p:sldId id="375" r:id="rId33"/>
    <p:sldId id="376" r:id="rId34"/>
    <p:sldId id="377" r:id="rId35"/>
    <p:sldId id="378" r:id="rId36"/>
    <p:sldId id="379" r:id="rId37"/>
    <p:sldId id="380" r:id="rId38"/>
    <p:sldId id="381" r:id="rId39"/>
    <p:sldId id="382" r:id="rId40"/>
    <p:sldId id="383" r:id="rId41"/>
    <p:sldId id="384" r:id="rId42"/>
    <p:sldId id="385" r:id="rId43"/>
    <p:sldId id="386" r:id="rId44"/>
    <p:sldId id="387" r:id="rId45"/>
    <p:sldId id="388" r:id="rId46"/>
    <p:sldId id="389" r:id="rId47"/>
    <p:sldId id="390" r:id="rId48"/>
    <p:sldId id="351" r:id="rId49"/>
    <p:sldId id="391" r:id="rId50"/>
    <p:sldId id="256" r:id="rId51"/>
    <p:sldId id="257" r:id="rId52"/>
    <p:sldId id="258" r:id="rId53"/>
    <p:sldId id="259" r:id="rId54"/>
    <p:sldId id="260" r:id="rId55"/>
    <p:sldId id="261" r:id="rId56"/>
    <p:sldId id="262" r:id="rId57"/>
    <p:sldId id="263" r:id="rId58"/>
    <p:sldId id="264" r:id="rId59"/>
    <p:sldId id="265" r:id="rId60"/>
    <p:sldId id="266" r:id="rId61"/>
    <p:sldId id="267" r:id="rId62"/>
    <p:sldId id="268" r:id="rId63"/>
    <p:sldId id="269" r:id="rId64"/>
    <p:sldId id="270" r:id="rId65"/>
    <p:sldId id="271" r:id="rId66"/>
    <p:sldId id="272" r:id="rId67"/>
    <p:sldId id="273" r:id="rId68"/>
    <p:sldId id="274" r:id="rId69"/>
    <p:sldId id="275" r:id="rId70"/>
    <p:sldId id="276" r:id="rId71"/>
    <p:sldId id="277" r:id="rId72"/>
    <p:sldId id="278" r:id="rId73"/>
    <p:sldId id="279" r:id="rId74"/>
    <p:sldId id="280" r:id="rId75"/>
    <p:sldId id="281" r:id="rId76"/>
    <p:sldId id="282" r:id="rId77"/>
    <p:sldId id="283" r:id="rId78"/>
    <p:sldId id="284" r:id="rId79"/>
    <p:sldId id="285" r:id="rId80"/>
    <p:sldId id="286" r:id="rId81"/>
    <p:sldId id="287" r:id="rId82"/>
    <p:sldId id="288" r:id="rId83"/>
    <p:sldId id="289" r:id="rId84"/>
    <p:sldId id="290" r:id="rId85"/>
    <p:sldId id="291" r:id="rId86"/>
    <p:sldId id="292" r:id="rId87"/>
    <p:sldId id="293" r:id="rId88"/>
    <p:sldId id="294" r:id="rId89"/>
    <p:sldId id="295" r:id="rId90"/>
    <p:sldId id="296" r:id="rId91"/>
    <p:sldId id="297" r:id="rId92"/>
    <p:sldId id="350" r:id="rId93"/>
    <p:sldId id="298" r:id="rId94"/>
    <p:sldId id="299" r:id="rId95"/>
    <p:sldId id="300" r:id="rId96"/>
    <p:sldId id="301" r:id="rId97"/>
    <p:sldId id="302" r:id="rId98"/>
    <p:sldId id="303" r:id="rId99"/>
    <p:sldId id="304" r:id="rId100"/>
    <p:sldId id="305" r:id="rId101"/>
    <p:sldId id="306" r:id="rId102"/>
    <p:sldId id="307" r:id="rId103"/>
    <p:sldId id="308" r:id="rId104"/>
    <p:sldId id="309" r:id="rId105"/>
    <p:sldId id="310" r:id="rId106"/>
    <p:sldId id="311" r:id="rId107"/>
    <p:sldId id="312" r:id="rId108"/>
    <p:sldId id="313" r:id="rId109"/>
    <p:sldId id="314" r:id="rId110"/>
    <p:sldId id="315" r:id="rId111"/>
    <p:sldId id="316" r:id="rId112"/>
    <p:sldId id="317" r:id="rId113"/>
    <p:sldId id="318" r:id="rId114"/>
    <p:sldId id="319" r:id="rId115"/>
    <p:sldId id="320" r:id="rId116"/>
    <p:sldId id="321" r:id="rId117"/>
    <p:sldId id="322" r:id="rId118"/>
    <p:sldId id="323" r:id="rId119"/>
    <p:sldId id="324" r:id="rId120"/>
    <p:sldId id="325" r:id="rId121"/>
    <p:sldId id="326" r:id="rId122"/>
    <p:sldId id="327" r:id="rId123"/>
    <p:sldId id="328" r:id="rId124"/>
    <p:sldId id="329" r:id="rId125"/>
    <p:sldId id="330" r:id="rId126"/>
    <p:sldId id="331" r:id="rId127"/>
    <p:sldId id="332" r:id="rId128"/>
    <p:sldId id="333" r:id="rId129"/>
    <p:sldId id="334" r:id="rId130"/>
    <p:sldId id="335" r:id="rId131"/>
    <p:sldId id="336" r:id="rId132"/>
    <p:sldId id="337" r:id="rId133"/>
    <p:sldId id="338" r:id="rId134"/>
    <p:sldId id="339" r:id="rId135"/>
    <p:sldId id="340" r:id="rId136"/>
    <p:sldId id="341" r:id="rId137"/>
    <p:sldId id="342" r:id="rId138"/>
    <p:sldId id="343" r:id="rId139"/>
    <p:sldId id="344" r:id="rId140"/>
    <p:sldId id="345" r:id="rId141"/>
    <p:sldId id="346" r:id="rId142"/>
    <p:sldId id="347" r:id="rId143"/>
    <p:sldId id="348" r:id="rId144"/>
    <p:sldId id="349" r:id="rId145"/>
    <p:sldId id="393" r:id="rId146"/>
    <p:sldId id="394" r:id="rId147"/>
    <p:sldId id="395" r:id="rId148"/>
    <p:sldId id="396" r:id="rId149"/>
    <p:sldId id="400" r:id="rId150"/>
    <p:sldId id="397" r:id="rId151"/>
    <p:sldId id="398" r:id="rId152"/>
    <p:sldId id="399" r:id="rId153"/>
    <p:sldId id="426" r:id="rId154"/>
    <p:sldId id="401" r:id="rId155"/>
    <p:sldId id="404" r:id="rId156"/>
    <p:sldId id="402" r:id="rId157"/>
    <p:sldId id="403" r:id="rId158"/>
    <p:sldId id="407" r:id="rId159"/>
    <p:sldId id="405" r:id="rId160"/>
    <p:sldId id="406" r:id="rId161"/>
    <p:sldId id="408" r:id="rId162"/>
    <p:sldId id="409" r:id="rId163"/>
    <p:sldId id="410" r:id="rId164"/>
    <p:sldId id="411" r:id="rId165"/>
    <p:sldId id="412" r:id="rId166"/>
    <p:sldId id="413" r:id="rId167"/>
    <p:sldId id="414" r:id="rId168"/>
    <p:sldId id="415" r:id="rId169"/>
    <p:sldId id="417" r:id="rId170"/>
    <p:sldId id="416" r:id="rId171"/>
    <p:sldId id="418" r:id="rId172"/>
    <p:sldId id="419" r:id="rId173"/>
    <p:sldId id="420" r:id="rId174"/>
    <p:sldId id="421" r:id="rId175"/>
    <p:sldId id="422" r:id="rId176"/>
    <p:sldId id="423" r:id="rId177"/>
    <p:sldId id="425" r:id="rId178"/>
    <p:sldId id="424" r:id="rId179"/>
    <p:sldId id="427" r:id="rId180"/>
    <p:sldId id="428" r:id="rId181"/>
    <p:sldId id="429" r:id="rId182"/>
    <p:sldId id="430" r:id="rId1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63" Type="http://schemas.openxmlformats.org/officeDocument/2006/relationships/slide" Target="slides/slide55.xml"/><Relationship Id="rId84" Type="http://schemas.openxmlformats.org/officeDocument/2006/relationships/slide" Target="slides/slide76.xml"/><Relationship Id="rId138" Type="http://schemas.openxmlformats.org/officeDocument/2006/relationships/slide" Target="slides/slide130.xml"/><Relationship Id="rId159" Type="http://schemas.openxmlformats.org/officeDocument/2006/relationships/slide" Target="slides/slide151.xml"/><Relationship Id="rId170" Type="http://schemas.openxmlformats.org/officeDocument/2006/relationships/slide" Target="slides/slide162.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53" Type="http://schemas.openxmlformats.org/officeDocument/2006/relationships/slide" Target="slides/slide45.xml"/><Relationship Id="rId74" Type="http://schemas.openxmlformats.org/officeDocument/2006/relationships/slide" Target="slides/slide66.xml"/><Relationship Id="rId128" Type="http://schemas.openxmlformats.org/officeDocument/2006/relationships/slide" Target="slides/slide120.xml"/><Relationship Id="rId149" Type="http://schemas.openxmlformats.org/officeDocument/2006/relationships/slide" Target="slides/slide141.xml"/><Relationship Id="rId5" Type="http://schemas.openxmlformats.org/officeDocument/2006/relationships/slideMaster" Target="slideMasters/slideMaster5.xml"/><Relationship Id="rId95" Type="http://schemas.openxmlformats.org/officeDocument/2006/relationships/slide" Target="slides/slide87.xml"/><Relationship Id="rId160" Type="http://schemas.openxmlformats.org/officeDocument/2006/relationships/slide" Target="slides/slide152.xml"/><Relationship Id="rId181" Type="http://schemas.openxmlformats.org/officeDocument/2006/relationships/slide" Target="slides/slide173.xml"/><Relationship Id="rId22" Type="http://schemas.openxmlformats.org/officeDocument/2006/relationships/slide" Target="slides/slide14.xml"/><Relationship Id="rId43" Type="http://schemas.openxmlformats.org/officeDocument/2006/relationships/slide" Target="slides/slide35.xml"/><Relationship Id="rId64" Type="http://schemas.openxmlformats.org/officeDocument/2006/relationships/slide" Target="slides/slide56.xml"/><Relationship Id="rId118" Type="http://schemas.openxmlformats.org/officeDocument/2006/relationships/slide" Target="slides/slide110.xml"/><Relationship Id="rId139" Type="http://schemas.openxmlformats.org/officeDocument/2006/relationships/slide" Target="slides/slide131.xml"/><Relationship Id="rId85" Type="http://schemas.openxmlformats.org/officeDocument/2006/relationships/slide" Target="slides/slide77.xml"/><Relationship Id="rId150" Type="http://schemas.openxmlformats.org/officeDocument/2006/relationships/slide" Target="slides/slide142.xml"/><Relationship Id="rId171" Type="http://schemas.openxmlformats.org/officeDocument/2006/relationships/slide" Target="slides/slide163.xml"/><Relationship Id="rId12" Type="http://schemas.openxmlformats.org/officeDocument/2006/relationships/slide" Target="slides/slide4.xml"/><Relationship Id="rId33" Type="http://schemas.openxmlformats.org/officeDocument/2006/relationships/slide" Target="slides/slide25.xml"/><Relationship Id="rId108" Type="http://schemas.openxmlformats.org/officeDocument/2006/relationships/slide" Target="slides/slide100.xml"/><Relationship Id="rId129" Type="http://schemas.openxmlformats.org/officeDocument/2006/relationships/slide" Target="slides/slide121.xml"/><Relationship Id="rId54" Type="http://schemas.openxmlformats.org/officeDocument/2006/relationships/slide" Target="slides/slide46.xml"/><Relationship Id="rId75" Type="http://schemas.openxmlformats.org/officeDocument/2006/relationships/slide" Target="slides/slide67.xml"/><Relationship Id="rId96" Type="http://schemas.openxmlformats.org/officeDocument/2006/relationships/slide" Target="slides/slide88.xml"/><Relationship Id="rId140" Type="http://schemas.openxmlformats.org/officeDocument/2006/relationships/slide" Target="slides/slide132.xml"/><Relationship Id="rId161" Type="http://schemas.openxmlformats.org/officeDocument/2006/relationships/slide" Target="slides/slide153.xml"/><Relationship Id="rId182" Type="http://schemas.openxmlformats.org/officeDocument/2006/relationships/slide" Target="slides/slide174.xml"/><Relationship Id="rId6" Type="http://schemas.openxmlformats.org/officeDocument/2006/relationships/slideMaster" Target="slideMasters/slideMaster6.xml"/><Relationship Id="rId23" Type="http://schemas.openxmlformats.org/officeDocument/2006/relationships/slide" Target="slides/slide15.xml"/><Relationship Id="rId119" Type="http://schemas.openxmlformats.org/officeDocument/2006/relationships/slide" Target="slides/slide111.xml"/><Relationship Id="rId44" Type="http://schemas.openxmlformats.org/officeDocument/2006/relationships/slide" Target="slides/slide36.xml"/><Relationship Id="rId65" Type="http://schemas.openxmlformats.org/officeDocument/2006/relationships/slide" Target="slides/slide57.xml"/><Relationship Id="rId86" Type="http://schemas.openxmlformats.org/officeDocument/2006/relationships/slide" Target="slides/slide78.xml"/><Relationship Id="rId130" Type="http://schemas.openxmlformats.org/officeDocument/2006/relationships/slide" Target="slides/slide122.xml"/><Relationship Id="rId151" Type="http://schemas.openxmlformats.org/officeDocument/2006/relationships/slide" Target="slides/slide143.xml"/><Relationship Id="rId172" Type="http://schemas.openxmlformats.org/officeDocument/2006/relationships/slide" Target="slides/slide164.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slide" Target="slides/slide117.xml"/><Relationship Id="rId141" Type="http://schemas.openxmlformats.org/officeDocument/2006/relationships/slide" Target="slides/slide133.xml"/><Relationship Id="rId146" Type="http://schemas.openxmlformats.org/officeDocument/2006/relationships/slide" Target="slides/slide138.xml"/><Relationship Id="rId167" Type="http://schemas.openxmlformats.org/officeDocument/2006/relationships/slide" Target="slides/slide159.xml"/><Relationship Id="rId188"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162" Type="http://schemas.openxmlformats.org/officeDocument/2006/relationships/slide" Target="slides/slide154.xml"/><Relationship Id="rId183" Type="http://schemas.openxmlformats.org/officeDocument/2006/relationships/slide" Target="slides/slide175.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131" Type="http://schemas.openxmlformats.org/officeDocument/2006/relationships/slide" Target="slides/slide123.xml"/><Relationship Id="rId136" Type="http://schemas.openxmlformats.org/officeDocument/2006/relationships/slide" Target="slides/slide128.xml"/><Relationship Id="rId157" Type="http://schemas.openxmlformats.org/officeDocument/2006/relationships/slide" Target="slides/slide149.xml"/><Relationship Id="rId178" Type="http://schemas.openxmlformats.org/officeDocument/2006/relationships/slide" Target="slides/slide170.xml"/><Relationship Id="rId61" Type="http://schemas.openxmlformats.org/officeDocument/2006/relationships/slide" Target="slides/slide53.xml"/><Relationship Id="rId82" Type="http://schemas.openxmlformats.org/officeDocument/2006/relationships/slide" Target="slides/slide74.xml"/><Relationship Id="rId152" Type="http://schemas.openxmlformats.org/officeDocument/2006/relationships/slide" Target="slides/slide144.xml"/><Relationship Id="rId173" Type="http://schemas.openxmlformats.org/officeDocument/2006/relationships/slide" Target="slides/slide165.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slide" Target="slides/slide118.xml"/><Relationship Id="rId147" Type="http://schemas.openxmlformats.org/officeDocument/2006/relationships/slide" Target="slides/slide139.xml"/><Relationship Id="rId168" Type="http://schemas.openxmlformats.org/officeDocument/2006/relationships/slide" Target="slides/slide160.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142" Type="http://schemas.openxmlformats.org/officeDocument/2006/relationships/slide" Target="slides/slide134.xml"/><Relationship Id="rId163" Type="http://schemas.openxmlformats.org/officeDocument/2006/relationships/slide" Target="slides/slide155.xml"/><Relationship Id="rId184"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137" Type="http://schemas.openxmlformats.org/officeDocument/2006/relationships/slide" Target="slides/slide129.xml"/><Relationship Id="rId158" Type="http://schemas.openxmlformats.org/officeDocument/2006/relationships/slide" Target="slides/slide150.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32" Type="http://schemas.openxmlformats.org/officeDocument/2006/relationships/slide" Target="slides/slide124.xml"/><Relationship Id="rId153" Type="http://schemas.openxmlformats.org/officeDocument/2006/relationships/slide" Target="slides/slide145.xml"/><Relationship Id="rId174" Type="http://schemas.openxmlformats.org/officeDocument/2006/relationships/slide" Target="slides/slide166.xml"/><Relationship Id="rId179" Type="http://schemas.openxmlformats.org/officeDocument/2006/relationships/slide" Target="slides/slide171.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27" Type="http://schemas.openxmlformats.org/officeDocument/2006/relationships/slide" Target="slides/slide119.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143" Type="http://schemas.openxmlformats.org/officeDocument/2006/relationships/slide" Target="slides/slide135.xml"/><Relationship Id="rId148" Type="http://schemas.openxmlformats.org/officeDocument/2006/relationships/slide" Target="slides/slide140.xml"/><Relationship Id="rId164" Type="http://schemas.openxmlformats.org/officeDocument/2006/relationships/slide" Target="slides/slide156.xml"/><Relationship Id="rId169" Type="http://schemas.openxmlformats.org/officeDocument/2006/relationships/slide" Target="slides/slide161.xml"/><Relationship Id="rId18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80" Type="http://schemas.openxmlformats.org/officeDocument/2006/relationships/slide" Target="slides/slide172.xml"/><Relationship Id="rId26" Type="http://schemas.openxmlformats.org/officeDocument/2006/relationships/slide" Target="slides/slide18.xml"/><Relationship Id="rId47" Type="http://schemas.openxmlformats.org/officeDocument/2006/relationships/slide" Target="slides/slide39.xml"/><Relationship Id="rId68" Type="http://schemas.openxmlformats.org/officeDocument/2006/relationships/slide" Target="slides/slide60.xml"/><Relationship Id="rId89" Type="http://schemas.openxmlformats.org/officeDocument/2006/relationships/slide" Target="slides/slide81.xml"/><Relationship Id="rId112" Type="http://schemas.openxmlformats.org/officeDocument/2006/relationships/slide" Target="slides/slide104.xml"/><Relationship Id="rId133" Type="http://schemas.openxmlformats.org/officeDocument/2006/relationships/slide" Target="slides/slide125.xml"/><Relationship Id="rId154" Type="http://schemas.openxmlformats.org/officeDocument/2006/relationships/slide" Target="slides/slide146.xml"/><Relationship Id="rId175" Type="http://schemas.openxmlformats.org/officeDocument/2006/relationships/slide" Target="slides/slide167.xml"/><Relationship Id="rId16" Type="http://schemas.openxmlformats.org/officeDocument/2006/relationships/slide" Target="slides/slide8.xml"/><Relationship Id="rId37" Type="http://schemas.openxmlformats.org/officeDocument/2006/relationships/slide" Target="slides/slide29.xml"/><Relationship Id="rId58" Type="http://schemas.openxmlformats.org/officeDocument/2006/relationships/slide" Target="slides/slide50.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slide" Target="slides/slide115.xml"/><Relationship Id="rId144" Type="http://schemas.openxmlformats.org/officeDocument/2006/relationships/slide" Target="slides/slide136.xml"/><Relationship Id="rId90" Type="http://schemas.openxmlformats.org/officeDocument/2006/relationships/slide" Target="slides/slide82.xml"/><Relationship Id="rId165" Type="http://schemas.openxmlformats.org/officeDocument/2006/relationships/slide" Target="slides/slide157.xml"/><Relationship Id="rId186" Type="http://schemas.openxmlformats.org/officeDocument/2006/relationships/viewProps" Target="viewProps.xml"/><Relationship Id="rId27" Type="http://schemas.openxmlformats.org/officeDocument/2006/relationships/slide" Target="slides/slide19.xml"/><Relationship Id="rId48" Type="http://schemas.openxmlformats.org/officeDocument/2006/relationships/slide" Target="slides/slide40.xml"/><Relationship Id="rId69" Type="http://schemas.openxmlformats.org/officeDocument/2006/relationships/slide" Target="slides/slide61.xml"/><Relationship Id="rId113" Type="http://schemas.openxmlformats.org/officeDocument/2006/relationships/slide" Target="slides/slide105.xml"/><Relationship Id="rId134" Type="http://schemas.openxmlformats.org/officeDocument/2006/relationships/slide" Target="slides/slide126.xml"/><Relationship Id="rId80" Type="http://schemas.openxmlformats.org/officeDocument/2006/relationships/slide" Target="slides/slide72.xml"/><Relationship Id="rId155" Type="http://schemas.openxmlformats.org/officeDocument/2006/relationships/slide" Target="slides/slide147.xml"/><Relationship Id="rId176" Type="http://schemas.openxmlformats.org/officeDocument/2006/relationships/slide" Target="slides/slide168.xml"/><Relationship Id="rId17" Type="http://schemas.openxmlformats.org/officeDocument/2006/relationships/slide" Target="slides/slide9.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24" Type="http://schemas.openxmlformats.org/officeDocument/2006/relationships/slide" Target="slides/slide116.xml"/><Relationship Id="rId70" Type="http://schemas.openxmlformats.org/officeDocument/2006/relationships/slide" Target="slides/slide62.xml"/><Relationship Id="rId91" Type="http://schemas.openxmlformats.org/officeDocument/2006/relationships/slide" Target="slides/slide83.xml"/><Relationship Id="rId145" Type="http://schemas.openxmlformats.org/officeDocument/2006/relationships/slide" Target="slides/slide137.xml"/><Relationship Id="rId166" Type="http://schemas.openxmlformats.org/officeDocument/2006/relationships/slide" Target="slides/slide158.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60" Type="http://schemas.openxmlformats.org/officeDocument/2006/relationships/slide" Target="slides/slide52.xml"/><Relationship Id="rId81" Type="http://schemas.openxmlformats.org/officeDocument/2006/relationships/slide" Target="slides/slide73.xml"/><Relationship Id="rId135" Type="http://schemas.openxmlformats.org/officeDocument/2006/relationships/slide" Target="slides/slide127.xml"/><Relationship Id="rId156" Type="http://schemas.openxmlformats.org/officeDocument/2006/relationships/slide" Target="slides/slide148.xml"/><Relationship Id="rId177" Type="http://schemas.openxmlformats.org/officeDocument/2006/relationships/slide" Target="slides/slide169.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D0C917-00B5-4BE6-AC6D-41E5A3234749}" type="doc">
      <dgm:prSet loTypeId="urn:microsoft.com/office/officeart/2005/8/layout/process5" loCatId="process" qsTypeId="urn:microsoft.com/office/officeart/2005/8/quickstyle/simple1" qsCatId="simple" csTypeId="urn:microsoft.com/office/officeart/2005/8/colors/accent3_2" csCatId="accent3" phldr="1"/>
      <dgm:spPr/>
      <dgm:t>
        <a:bodyPr/>
        <a:lstStyle/>
        <a:p>
          <a:endParaRPr lang="en-US"/>
        </a:p>
      </dgm:t>
    </dgm:pt>
    <dgm:pt modelId="{E78266D6-289B-4026-B3CA-FE66F6A1AD60}">
      <dgm:prSet/>
      <dgm:spPr/>
      <dgm:t>
        <a:bodyPr/>
        <a:lstStyle/>
        <a:p>
          <a:r>
            <a:rPr lang="en-IN"/>
            <a:t>Rigidbody2D rb = GetComponent&lt;Rigidbody2D&gt;();</a:t>
          </a:r>
          <a:endParaRPr lang="en-US"/>
        </a:p>
      </dgm:t>
    </dgm:pt>
    <dgm:pt modelId="{A2314EBE-5737-40E4-899F-821C614E43AF}" type="parTrans" cxnId="{E8186923-B0E0-48F6-8883-CB8DB9BE338B}">
      <dgm:prSet/>
      <dgm:spPr/>
      <dgm:t>
        <a:bodyPr/>
        <a:lstStyle/>
        <a:p>
          <a:endParaRPr lang="en-US"/>
        </a:p>
      </dgm:t>
    </dgm:pt>
    <dgm:pt modelId="{86E5D285-84FD-4F9F-9691-DCBB75E3E5E2}" type="sibTrans" cxnId="{E8186923-B0E0-48F6-8883-CB8DB9BE338B}">
      <dgm:prSet/>
      <dgm:spPr/>
      <dgm:t>
        <a:bodyPr/>
        <a:lstStyle/>
        <a:p>
          <a:endParaRPr lang="en-US"/>
        </a:p>
      </dgm:t>
    </dgm:pt>
    <dgm:pt modelId="{88798F46-FEAC-4287-90BF-F17BF1D53BBF}">
      <dgm:prSet/>
      <dgm:spPr/>
      <dgm:t>
        <a:bodyPr/>
        <a:lstStyle/>
        <a:p>
          <a:r>
            <a:rPr lang="en-IN"/>
            <a:t>rb.angularDrag = 1f;  // Sets how quickly spinning slows down</a:t>
          </a:r>
          <a:endParaRPr lang="en-US"/>
        </a:p>
      </dgm:t>
    </dgm:pt>
    <dgm:pt modelId="{E0DC1132-130D-434B-B864-ED9639A7AF28}" type="parTrans" cxnId="{57D3CE1B-FF2D-4385-ACA6-73520212C065}">
      <dgm:prSet/>
      <dgm:spPr/>
      <dgm:t>
        <a:bodyPr/>
        <a:lstStyle/>
        <a:p>
          <a:endParaRPr lang="en-US"/>
        </a:p>
      </dgm:t>
    </dgm:pt>
    <dgm:pt modelId="{2CEED2F0-E7DE-479A-9A8B-43B27409B980}" type="sibTrans" cxnId="{57D3CE1B-FF2D-4385-ACA6-73520212C065}">
      <dgm:prSet/>
      <dgm:spPr/>
      <dgm:t>
        <a:bodyPr/>
        <a:lstStyle/>
        <a:p>
          <a:endParaRPr lang="en-US"/>
        </a:p>
      </dgm:t>
    </dgm:pt>
    <dgm:pt modelId="{97C85347-1716-4CDA-9581-8543B5AC4B70}">
      <dgm:prSet/>
      <dgm:spPr/>
      <dgm:t>
        <a:bodyPr/>
        <a:lstStyle/>
        <a:p>
          <a:r>
            <a:rPr lang="en-IN"/>
            <a:t>rb.AddTorque(500f);    // Make the object spin</a:t>
          </a:r>
          <a:endParaRPr lang="en-US"/>
        </a:p>
      </dgm:t>
    </dgm:pt>
    <dgm:pt modelId="{370422FD-40DE-4DF8-8EC5-D644083ADE50}" type="parTrans" cxnId="{B5B08ECE-5631-4C8F-B2CB-9AC6852017AD}">
      <dgm:prSet/>
      <dgm:spPr/>
      <dgm:t>
        <a:bodyPr/>
        <a:lstStyle/>
        <a:p>
          <a:endParaRPr lang="en-US"/>
        </a:p>
      </dgm:t>
    </dgm:pt>
    <dgm:pt modelId="{9E364ED6-03A1-46F4-8B4D-F5C9D562556C}" type="sibTrans" cxnId="{B5B08ECE-5631-4C8F-B2CB-9AC6852017AD}">
      <dgm:prSet/>
      <dgm:spPr/>
      <dgm:t>
        <a:bodyPr/>
        <a:lstStyle/>
        <a:p>
          <a:endParaRPr lang="en-US"/>
        </a:p>
      </dgm:t>
    </dgm:pt>
    <dgm:pt modelId="{837C37F5-95A4-4475-99FA-A0858095BC20}" type="pres">
      <dgm:prSet presAssocID="{B7D0C917-00B5-4BE6-AC6D-41E5A3234749}" presName="diagram" presStyleCnt="0">
        <dgm:presLayoutVars>
          <dgm:dir/>
          <dgm:resizeHandles val="exact"/>
        </dgm:presLayoutVars>
      </dgm:prSet>
      <dgm:spPr/>
    </dgm:pt>
    <dgm:pt modelId="{AF6BB48E-52F7-4351-BAE1-8059A45A6C34}" type="pres">
      <dgm:prSet presAssocID="{E78266D6-289B-4026-B3CA-FE66F6A1AD60}" presName="node" presStyleLbl="node1" presStyleIdx="0" presStyleCnt="3">
        <dgm:presLayoutVars>
          <dgm:bulletEnabled val="1"/>
        </dgm:presLayoutVars>
      </dgm:prSet>
      <dgm:spPr/>
    </dgm:pt>
    <dgm:pt modelId="{299CFE0D-32C1-442F-928E-EF9B40EF61B6}" type="pres">
      <dgm:prSet presAssocID="{86E5D285-84FD-4F9F-9691-DCBB75E3E5E2}" presName="sibTrans" presStyleLbl="sibTrans2D1" presStyleIdx="0" presStyleCnt="2"/>
      <dgm:spPr/>
    </dgm:pt>
    <dgm:pt modelId="{4B0FDDDE-B899-4F31-AF6F-541BB7746459}" type="pres">
      <dgm:prSet presAssocID="{86E5D285-84FD-4F9F-9691-DCBB75E3E5E2}" presName="connectorText" presStyleLbl="sibTrans2D1" presStyleIdx="0" presStyleCnt="2"/>
      <dgm:spPr/>
    </dgm:pt>
    <dgm:pt modelId="{318FF478-353B-497E-8CFB-3F773BCE7414}" type="pres">
      <dgm:prSet presAssocID="{88798F46-FEAC-4287-90BF-F17BF1D53BBF}" presName="node" presStyleLbl="node1" presStyleIdx="1" presStyleCnt="3">
        <dgm:presLayoutVars>
          <dgm:bulletEnabled val="1"/>
        </dgm:presLayoutVars>
      </dgm:prSet>
      <dgm:spPr/>
    </dgm:pt>
    <dgm:pt modelId="{749921CF-FFC6-4845-B835-62514110D80D}" type="pres">
      <dgm:prSet presAssocID="{2CEED2F0-E7DE-479A-9A8B-43B27409B980}" presName="sibTrans" presStyleLbl="sibTrans2D1" presStyleIdx="1" presStyleCnt="2"/>
      <dgm:spPr/>
    </dgm:pt>
    <dgm:pt modelId="{C5C7868D-B2D1-4B1D-9EF7-CAF3A5A4DAA4}" type="pres">
      <dgm:prSet presAssocID="{2CEED2F0-E7DE-479A-9A8B-43B27409B980}" presName="connectorText" presStyleLbl="sibTrans2D1" presStyleIdx="1" presStyleCnt="2"/>
      <dgm:spPr/>
    </dgm:pt>
    <dgm:pt modelId="{16DDE2DA-57CA-4B9A-A666-61FA8ADD77B7}" type="pres">
      <dgm:prSet presAssocID="{97C85347-1716-4CDA-9581-8543B5AC4B70}" presName="node" presStyleLbl="node1" presStyleIdx="2" presStyleCnt="3">
        <dgm:presLayoutVars>
          <dgm:bulletEnabled val="1"/>
        </dgm:presLayoutVars>
      </dgm:prSet>
      <dgm:spPr/>
    </dgm:pt>
  </dgm:ptLst>
  <dgm:cxnLst>
    <dgm:cxn modelId="{57D3CE1B-FF2D-4385-ACA6-73520212C065}" srcId="{B7D0C917-00B5-4BE6-AC6D-41E5A3234749}" destId="{88798F46-FEAC-4287-90BF-F17BF1D53BBF}" srcOrd="1" destOrd="0" parTransId="{E0DC1132-130D-434B-B864-ED9639A7AF28}" sibTransId="{2CEED2F0-E7DE-479A-9A8B-43B27409B980}"/>
    <dgm:cxn modelId="{E8186923-B0E0-48F6-8883-CB8DB9BE338B}" srcId="{B7D0C917-00B5-4BE6-AC6D-41E5A3234749}" destId="{E78266D6-289B-4026-B3CA-FE66F6A1AD60}" srcOrd="0" destOrd="0" parTransId="{A2314EBE-5737-40E4-899F-821C614E43AF}" sibTransId="{86E5D285-84FD-4F9F-9691-DCBB75E3E5E2}"/>
    <dgm:cxn modelId="{C0FD0125-D391-4CF7-82D0-996F3F626255}" type="presOf" srcId="{2CEED2F0-E7DE-479A-9A8B-43B27409B980}" destId="{C5C7868D-B2D1-4B1D-9EF7-CAF3A5A4DAA4}" srcOrd="1" destOrd="0" presId="urn:microsoft.com/office/officeart/2005/8/layout/process5"/>
    <dgm:cxn modelId="{35ACB46D-90B4-46D7-A1F9-EC9BEB4318C1}" type="presOf" srcId="{2CEED2F0-E7DE-479A-9A8B-43B27409B980}" destId="{749921CF-FFC6-4845-B835-62514110D80D}" srcOrd="0" destOrd="0" presId="urn:microsoft.com/office/officeart/2005/8/layout/process5"/>
    <dgm:cxn modelId="{8C359656-5534-4D17-9347-87C474C17D11}" type="presOf" srcId="{86E5D285-84FD-4F9F-9691-DCBB75E3E5E2}" destId="{299CFE0D-32C1-442F-928E-EF9B40EF61B6}" srcOrd="0" destOrd="0" presId="urn:microsoft.com/office/officeart/2005/8/layout/process5"/>
    <dgm:cxn modelId="{DEA71181-90CF-4844-8A55-49DB93710615}" type="presOf" srcId="{97C85347-1716-4CDA-9581-8543B5AC4B70}" destId="{16DDE2DA-57CA-4B9A-A666-61FA8ADD77B7}" srcOrd="0" destOrd="0" presId="urn:microsoft.com/office/officeart/2005/8/layout/process5"/>
    <dgm:cxn modelId="{8F501881-64E9-45EB-A830-3832CEF0EAA2}" type="presOf" srcId="{86E5D285-84FD-4F9F-9691-DCBB75E3E5E2}" destId="{4B0FDDDE-B899-4F31-AF6F-541BB7746459}" srcOrd="1" destOrd="0" presId="urn:microsoft.com/office/officeart/2005/8/layout/process5"/>
    <dgm:cxn modelId="{595095C5-3F7D-481B-8210-A0DAE38114EC}" type="presOf" srcId="{B7D0C917-00B5-4BE6-AC6D-41E5A3234749}" destId="{837C37F5-95A4-4475-99FA-A0858095BC20}" srcOrd="0" destOrd="0" presId="urn:microsoft.com/office/officeart/2005/8/layout/process5"/>
    <dgm:cxn modelId="{4DD93CCD-3442-4F30-8C6F-FFC85D19B6E1}" type="presOf" srcId="{E78266D6-289B-4026-B3CA-FE66F6A1AD60}" destId="{AF6BB48E-52F7-4351-BAE1-8059A45A6C34}" srcOrd="0" destOrd="0" presId="urn:microsoft.com/office/officeart/2005/8/layout/process5"/>
    <dgm:cxn modelId="{B5B08ECE-5631-4C8F-B2CB-9AC6852017AD}" srcId="{B7D0C917-00B5-4BE6-AC6D-41E5A3234749}" destId="{97C85347-1716-4CDA-9581-8543B5AC4B70}" srcOrd="2" destOrd="0" parTransId="{370422FD-40DE-4DF8-8EC5-D644083ADE50}" sibTransId="{9E364ED6-03A1-46F4-8B4D-F5C9D562556C}"/>
    <dgm:cxn modelId="{3347ECFC-0068-402D-B2BF-5C40231C1D20}" type="presOf" srcId="{88798F46-FEAC-4287-90BF-F17BF1D53BBF}" destId="{318FF478-353B-497E-8CFB-3F773BCE7414}" srcOrd="0" destOrd="0" presId="urn:microsoft.com/office/officeart/2005/8/layout/process5"/>
    <dgm:cxn modelId="{91B2A0C9-B46D-4754-9B47-1AA65E72A10E}" type="presParOf" srcId="{837C37F5-95A4-4475-99FA-A0858095BC20}" destId="{AF6BB48E-52F7-4351-BAE1-8059A45A6C34}" srcOrd="0" destOrd="0" presId="urn:microsoft.com/office/officeart/2005/8/layout/process5"/>
    <dgm:cxn modelId="{237FB711-D5B2-440B-8138-8584DE957C90}" type="presParOf" srcId="{837C37F5-95A4-4475-99FA-A0858095BC20}" destId="{299CFE0D-32C1-442F-928E-EF9B40EF61B6}" srcOrd="1" destOrd="0" presId="urn:microsoft.com/office/officeart/2005/8/layout/process5"/>
    <dgm:cxn modelId="{F5DF79D2-9419-4C91-8C47-B0AB376A4FC5}" type="presParOf" srcId="{299CFE0D-32C1-442F-928E-EF9B40EF61B6}" destId="{4B0FDDDE-B899-4F31-AF6F-541BB7746459}" srcOrd="0" destOrd="0" presId="urn:microsoft.com/office/officeart/2005/8/layout/process5"/>
    <dgm:cxn modelId="{48C20C0E-41A1-4A01-869C-423D0966ABD5}" type="presParOf" srcId="{837C37F5-95A4-4475-99FA-A0858095BC20}" destId="{318FF478-353B-497E-8CFB-3F773BCE7414}" srcOrd="2" destOrd="0" presId="urn:microsoft.com/office/officeart/2005/8/layout/process5"/>
    <dgm:cxn modelId="{B8095AB8-C77B-46CD-9061-32ED1483A6A3}" type="presParOf" srcId="{837C37F5-95A4-4475-99FA-A0858095BC20}" destId="{749921CF-FFC6-4845-B835-62514110D80D}" srcOrd="3" destOrd="0" presId="urn:microsoft.com/office/officeart/2005/8/layout/process5"/>
    <dgm:cxn modelId="{4BF1B230-CDD8-4F1A-A3A0-42D31856D491}" type="presParOf" srcId="{749921CF-FFC6-4845-B835-62514110D80D}" destId="{C5C7868D-B2D1-4B1D-9EF7-CAF3A5A4DAA4}" srcOrd="0" destOrd="0" presId="urn:microsoft.com/office/officeart/2005/8/layout/process5"/>
    <dgm:cxn modelId="{388B31DA-E286-4FE1-8834-C008B35C00F8}" type="presParOf" srcId="{837C37F5-95A4-4475-99FA-A0858095BC20}" destId="{16DDE2DA-57CA-4B9A-A666-61FA8ADD77B7}"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3BFEC7-BCB1-4CF8-AF7C-1788C6E9B16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596BE61-014E-4089-903F-4C8A362EDDD0}">
      <dgm:prSet/>
      <dgm:spPr/>
      <dgm:t>
        <a:bodyPr/>
        <a:lstStyle/>
        <a:p>
          <a:pPr>
            <a:lnSpc>
              <a:spcPct val="100000"/>
            </a:lnSpc>
          </a:pPr>
          <a:r>
            <a:rPr lang="en-US"/>
            <a:t>rb.mass = 2f;               // Make object heavier</a:t>
          </a:r>
        </a:p>
      </dgm:t>
    </dgm:pt>
    <dgm:pt modelId="{6C7B9CEC-839D-4954-BA78-8C887D938406}" type="parTrans" cxnId="{4AAB9D07-6074-452C-982D-6DD5AFD70F2C}">
      <dgm:prSet/>
      <dgm:spPr/>
      <dgm:t>
        <a:bodyPr/>
        <a:lstStyle/>
        <a:p>
          <a:endParaRPr lang="en-US"/>
        </a:p>
      </dgm:t>
    </dgm:pt>
    <dgm:pt modelId="{7B584B17-E795-4498-9DE7-7F2A7781534F}" type="sibTrans" cxnId="{4AAB9D07-6074-452C-982D-6DD5AFD70F2C}">
      <dgm:prSet/>
      <dgm:spPr/>
      <dgm:t>
        <a:bodyPr/>
        <a:lstStyle/>
        <a:p>
          <a:endParaRPr lang="en-US"/>
        </a:p>
      </dgm:t>
    </dgm:pt>
    <dgm:pt modelId="{17036413-E06F-4936-97FE-64368BD44502}">
      <dgm:prSet/>
      <dgm:spPr/>
      <dgm:t>
        <a:bodyPr/>
        <a:lstStyle/>
        <a:p>
          <a:pPr>
            <a:lnSpc>
              <a:spcPct val="100000"/>
            </a:lnSpc>
          </a:pPr>
          <a:r>
            <a:rPr lang="en-US"/>
            <a:t>rb.useGravity = false;      // Turn off gravity for this object</a:t>
          </a:r>
        </a:p>
      </dgm:t>
    </dgm:pt>
    <dgm:pt modelId="{C13FE7AA-8C52-4019-909C-61D0046A4F6C}" type="parTrans" cxnId="{E25ACFE2-0597-43A8-B3C5-E34CBCE09F11}">
      <dgm:prSet/>
      <dgm:spPr/>
      <dgm:t>
        <a:bodyPr/>
        <a:lstStyle/>
        <a:p>
          <a:endParaRPr lang="en-US"/>
        </a:p>
      </dgm:t>
    </dgm:pt>
    <dgm:pt modelId="{A7D05F3D-4270-4E86-AB71-410DB2229D07}" type="sibTrans" cxnId="{E25ACFE2-0597-43A8-B3C5-E34CBCE09F11}">
      <dgm:prSet/>
      <dgm:spPr/>
      <dgm:t>
        <a:bodyPr/>
        <a:lstStyle/>
        <a:p>
          <a:endParaRPr lang="en-US"/>
        </a:p>
      </dgm:t>
    </dgm:pt>
    <dgm:pt modelId="{EBA143F5-41E3-4F47-BBA3-5C4424528992}">
      <dgm:prSet/>
      <dgm:spPr/>
      <dgm:t>
        <a:bodyPr/>
        <a:lstStyle/>
        <a:p>
          <a:pPr>
            <a:lnSpc>
              <a:spcPct val="100000"/>
            </a:lnSpc>
          </a:pPr>
          <a:r>
            <a:rPr lang="en-US"/>
            <a:t>rb.isKinematic = true;      // Stop physics from moving it (you move manually)</a:t>
          </a:r>
        </a:p>
      </dgm:t>
    </dgm:pt>
    <dgm:pt modelId="{3020415A-BB8E-475D-8195-E0D412550C69}" type="parTrans" cxnId="{1B6B31C8-99DB-4865-A678-1A95ABBD02A4}">
      <dgm:prSet/>
      <dgm:spPr/>
      <dgm:t>
        <a:bodyPr/>
        <a:lstStyle/>
        <a:p>
          <a:endParaRPr lang="en-US"/>
        </a:p>
      </dgm:t>
    </dgm:pt>
    <dgm:pt modelId="{94978695-0B8E-4AA3-8D32-003E958C41A9}" type="sibTrans" cxnId="{1B6B31C8-99DB-4865-A678-1A95ABBD02A4}">
      <dgm:prSet/>
      <dgm:spPr/>
      <dgm:t>
        <a:bodyPr/>
        <a:lstStyle/>
        <a:p>
          <a:endParaRPr lang="en-US"/>
        </a:p>
      </dgm:t>
    </dgm:pt>
    <dgm:pt modelId="{57213DD8-341A-4F47-AE24-6447252BBEC4}" type="pres">
      <dgm:prSet presAssocID="{673BFEC7-BCB1-4CF8-AF7C-1788C6E9B164}" presName="root" presStyleCnt="0">
        <dgm:presLayoutVars>
          <dgm:dir/>
          <dgm:resizeHandles val="exact"/>
        </dgm:presLayoutVars>
      </dgm:prSet>
      <dgm:spPr/>
    </dgm:pt>
    <dgm:pt modelId="{C62D5D37-71B6-4FD8-83AA-2A0568612ED9}" type="pres">
      <dgm:prSet presAssocID="{7596BE61-014E-4089-903F-4C8A362EDDD0}" presName="compNode" presStyleCnt="0"/>
      <dgm:spPr/>
    </dgm:pt>
    <dgm:pt modelId="{55507AA6-70E6-4A9F-AB38-2DBCF8B964DE}" type="pres">
      <dgm:prSet presAssocID="{7596BE61-014E-4089-903F-4C8A362EDDD0}" presName="bgRect" presStyleLbl="bgShp" presStyleIdx="0" presStyleCnt="3"/>
      <dgm:spPr/>
    </dgm:pt>
    <dgm:pt modelId="{43B765BD-AC16-4FCC-BBD2-D8F136D3A86E}" type="pres">
      <dgm:prSet presAssocID="{7596BE61-014E-4089-903F-4C8A362EDDD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ter"/>
        </a:ext>
      </dgm:extLst>
    </dgm:pt>
    <dgm:pt modelId="{9CCAC339-C414-4F94-A655-06BB8ADFA818}" type="pres">
      <dgm:prSet presAssocID="{7596BE61-014E-4089-903F-4C8A362EDDD0}" presName="spaceRect" presStyleCnt="0"/>
      <dgm:spPr/>
    </dgm:pt>
    <dgm:pt modelId="{504B2CAD-A6D8-4052-8314-F5A6C2E6D32F}" type="pres">
      <dgm:prSet presAssocID="{7596BE61-014E-4089-903F-4C8A362EDDD0}" presName="parTx" presStyleLbl="revTx" presStyleIdx="0" presStyleCnt="3">
        <dgm:presLayoutVars>
          <dgm:chMax val="0"/>
          <dgm:chPref val="0"/>
        </dgm:presLayoutVars>
      </dgm:prSet>
      <dgm:spPr/>
    </dgm:pt>
    <dgm:pt modelId="{0D4501CA-D7E0-4CD7-A663-3B130ED696CB}" type="pres">
      <dgm:prSet presAssocID="{7B584B17-E795-4498-9DE7-7F2A7781534F}" presName="sibTrans" presStyleCnt="0"/>
      <dgm:spPr/>
    </dgm:pt>
    <dgm:pt modelId="{5BDCC293-D402-4E17-B6B6-DE409ACEDC50}" type="pres">
      <dgm:prSet presAssocID="{17036413-E06F-4936-97FE-64368BD44502}" presName="compNode" presStyleCnt="0"/>
      <dgm:spPr/>
    </dgm:pt>
    <dgm:pt modelId="{009E9AC2-0120-430E-AD89-0755EDB8C064}" type="pres">
      <dgm:prSet presAssocID="{17036413-E06F-4936-97FE-64368BD44502}" presName="bgRect" presStyleLbl="bgShp" presStyleIdx="1" presStyleCnt="3"/>
      <dgm:spPr/>
    </dgm:pt>
    <dgm:pt modelId="{06894446-D8F1-4F57-B5B8-C9D483094839}" type="pres">
      <dgm:prSet presAssocID="{17036413-E06F-4936-97FE-64368BD4450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dioactive Sign"/>
        </a:ext>
      </dgm:extLst>
    </dgm:pt>
    <dgm:pt modelId="{44814C18-8399-46B7-96CE-E4403688527A}" type="pres">
      <dgm:prSet presAssocID="{17036413-E06F-4936-97FE-64368BD44502}" presName="spaceRect" presStyleCnt="0"/>
      <dgm:spPr/>
    </dgm:pt>
    <dgm:pt modelId="{D77EB367-639E-4ACF-BE65-D5E7851DFAF2}" type="pres">
      <dgm:prSet presAssocID="{17036413-E06F-4936-97FE-64368BD44502}" presName="parTx" presStyleLbl="revTx" presStyleIdx="1" presStyleCnt="3">
        <dgm:presLayoutVars>
          <dgm:chMax val="0"/>
          <dgm:chPref val="0"/>
        </dgm:presLayoutVars>
      </dgm:prSet>
      <dgm:spPr/>
    </dgm:pt>
    <dgm:pt modelId="{9588AD60-8DE7-4803-AE56-BEAFC46C113B}" type="pres">
      <dgm:prSet presAssocID="{A7D05F3D-4270-4E86-AB71-410DB2229D07}" presName="sibTrans" presStyleCnt="0"/>
      <dgm:spPr/>
    </dgm:pt>
    <dgm:pt modelId="{F83DCA34-81E0-439E-AD6E-56BBFF0A679A}" type="pres">
      <dgm:prSet presAssocID="{EBA143F5-41E3-4F47-BBA3-5C4424528992}" presName="compNode" presStyleCnt="0"/>
      <dgm:spPr/>
    </dgm:pt>
    <dgm:pt modelId="{4A212D56-7EDF-427D-B6D9-886745D2771C}" type="pres">
      <dgm:prSet presAssocID="{EBA143F5-41E3-4F47-BBA3-5C4424528992}" presName="bgRect" presStyleLbl="bgShp" presStyleIdx="2" presStyleCnt="3"/>
      <dgm:spPr/>
    </dgm:pt>
    <dgm:pt modelId="{2B3F13C0-494F-4EBC-A2A1-354C580A3145}" type="pres">
      <dgm:prSet presAssocID="{EBA143F5-41E3-4F47-BBA3-5C442452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ientist"/>
        </a:ext>
      </dgm:extLst>
    </dgm:pt>
    <dgm:pt modelId="{9DCD0D08-F345-4E58-B85D-BB69CFAE5BB1}" type="pres">
      <dgm:prSet presAssocID="{EBA143F5-41E3-4F47-BBA3-5C4424528992}" presName="spaceRect" presStyleCnt="0"/>
      <dgm:spPr/>
    </dgm:pt>
    <dgm:pt modelId="{E2B6DBCF-BBCB-49F6-9BB4-BEF438E95D13}" type="pres">
      <dgm:prSet presAssocID="{EBA143F5-41E3-4F47-BBA3-5C4424528992}" presName="parTx" presStyleLbl="revTx" presStyleIdx="2" presStyleCnt="3">
        <dgm:presLayoutVars>
          <dgm:chMax val="0"/>
          <dgm:chPref val="0"/>
        </dgm:presLayoutVars>
      </dgm:prSet>
      <dgm:spPr/>
    </dgm:pt>
  </dgm:ptLst>
  <dgm:cxnLst>
    <dgm:cxn modelId="{4AAB9D07-6074-452C-982D-6DD5AFD70F2C}" srcId="{673BFEC7-BCB1-4CF8-AF7C-1788C6E9B164}" destId="{7596BE61-014E-4089-903F-4C8A362EDDD0}" srcOrd="0" destOrd="0" parTransId="{6C7B9CEC-839D-4954-BA78-8C887D938406}" sibTransId="{7B584B17-E795-4498-9DE7-7F2A7781534F}"/>
    <dgm:cxn modelId="{8857BA20-FE3C-49D4-9182-612EFA8163AB}" type="presOf" srcId="{7596BE61-014E-4089-903F-4C8A362EDDD0}" destId="{504B2CAD-A6D8-4052-8314-F5A6C2E6D32F}" srcOrd="0" destOrd="0" presId="urn:microsoft.com/office/officeart/2018/2/layout/IconVerticalSolidList"/>
    <dgm:cxn modelId="{B5520D60-9A5E-451A-855C-93623646DCA3}" type="presOf" srcId="{673BFEC7-BCB1-4CF8-AF7C-1788C6E9B164}" destId="{57213DD8-341A-4F47-AE24-6447252BBEC4}" srcOrd="0" destOrd="0" presId="urn:microsoft.com/office/officeart/2018/2/layout/IconVerticalSolidList"/>
    <dgm:cxn modelId="{7B9D937E-2DB6-4801-A2F8-42FEF2A77B21}" type="presOf" srcId="{EBA143F5-41E3-4F47-BBA3-5C4424528992}" destId="{E2B6DBCF-BBCB-49F6-9BB4-BEF438E95D13}" srcOrd="0" destOrd="0" presId="urn:microsoft.com/office/officeart/2018/2/layout/IconVerticalSolidList"/>
    <dgm:cxn modelId="{D169F6B8-7DF4-4BE5-AAE5-4239E8747313}" type="presOf" srcId="{17036413-E06F-4936-97FE-64368BD44502}" destId="{D77EB367-639E-4ACF-BE65-D5E7851DFAF2}" srcOrd="0" destOrd="0" presId="urn:microsoft.com/office/officeart/2018/2/layout/IconVerticalSolidList"/>
    <dgm:cxn modelId="{1B6B31C8-99DB-4865-A678-1A95ABBD02A4}" srcId="{673BFEC7-BCB1-4CF8-AF7C-1788C6E9B164}" destId="{EBA143F5-41E3-4F47-BBA3-5C4424528992}" srcOrd="2" destOrd="0" parTransId="{3020415A-BB8E-475D-8195-E0D412550C69}" sibTransId="{94978695-0B8E-4AA3-8D32-003E958C41A9}"/>
    <dgm:cxn modelId="{E25ACFE2-0597-43A8-B3C5-E34CBCE09F11}" srcId="{673BFEC7-BCB1-4CF8-AF7C-1788C6E9B164}" destId="{17036413-E06F-4936-97FE-64368BD44502}" srcOrd="1" destOrd="0" parTransId="{C13FE7AA-8C52-4019-909C-61D0046A4F6C}" sibTransId="{A7D05F3D-4270-4E86-AB71-410DB2229D07}"/>
    <dgm:cxn modelId="{5E4F9F4D-CF66-46F8-A69F-3DBF388CBEAF}" type="presParOf" srcId="{57213DD8-341A-4F47-AE24-6447252BBEC4}" destId="{C62D5D37-71B6-4FD8-83AA-2A0568612ED9}" srcOrd="0" destOrd="0" presId="urn:microsoft.com/office/officeart/2018/2/layout/IconVerticalSolidList"/>
    <dgm:cxn modelId="{B54111EC-6E19-4460-B36A-6E952BA1B741}" type="presParOf" srcId="{C62D5D37-71B6-4FD8-83AA-2A0568612ED9}" destId="{55507AA6-70E6-4A9F-AB38-2DBCF8B964DE}" srcOrd="0" destOrd="0" presId="urn:microsoft.com/office/officeart/2018/2/layout/IconVerticalSolidList"/>
    <dgm:cxn modelId="{65924F9F-DC67-454D-9D88-0695EF941225}" type="presParOf" srcId="{C62D5D37-71B6-4FD8-83AA-2A0568612ED9}" destId="{43B765BD-AC16-4FCC-BBD2-D8F136D3A86E}" srcOrd="1" destOrd="0" presId="urn:microsoft.com/office/officeart/2018/2/layout/IconVerticalSolidList"/>
    <dgm:cxn modelId="{BD64425C-FF50-46BC-A006-DFA1E44EC691}" type="presParOf" srcId="{C62D5D37-71B6-4FD8-83AA-2A0568612ED9}" destId="{9CCAC339-C414-4F94-A655-06BB8ADFA818}" srcOrd="2" destOrd="0" presId="urn:microsoft.com/office/officeart/2018/2/layout/IconVerticalSolidList"/>
    <dgm:cxn modelId="{269873C0-2A37-4C9C-9E41-DE51635F9CF8}" type="presParOf" srcId="{C62D5D37-71B6-4FD8-83AA-2A0568612ED9}" destId="{504B2CAD-A6D8-4052-8314-F5A6C2E6D32F}" srcOrd="3" destOrd="0" presId="urn:microsoft.com/office/officeart/2018/2/layout/IconVerticalSolidList"/>
    <dgm:cxn modelId="{623D9B92-23F7-41AC-94B6-22D0A96D6CCA}" type="presParOf" srcId="{57213DD8-341A-4F47-AE24-6447252BBEC4}" destId="{0D4501CA-D7E0-4CD7-A663-3B130ED696CB}" srcOrd="1" destOrd="0" presId="urn:microsoft.com/office/officeart/2018/2/layout/IconVerticalSolidList"/>
    <dgm:cxn modelId="{0D8B92F4-0443-4C13-B4CB-8DF7012FBC7E}" type="presParOf" srcId="{57213DD8-341A-4F47-AE24-6447252BBEC4}" destId="{5BDCC293-D402-4E17-B6B6-DE409ACEDC50}" srcOrd="2" destOrd="0" presId="urn:microsoft.com/office/officeart/2018/2/layout/IconVerticalSolidList"/>
    <dgm:cxn modelId="{0B757D10-65E7-45B7-872C-E83B371AE3CF}" type="presParOf" srcId="{5BDCC293-D402-4E17-B6B6-DE409ACEDC50}" destId="{009E9AC2-0120-430E-AD89-0755EDB8C064}" srcOrd="0" destOrd="0" presId="urn:microsoft.com/office/officeart/2018/2/layout/IconVerticalSolidList"/>
    <dgm:cxn modelId="{E76491EB-84BA-4030-B592-27A7D571CB0C}" type="presParOf" srcId="{5BDCC293-D402-4E17-B6B6-DE409ACEDC50}" destId="{06894446-D8F1-4F57-B5B8-C9D483094839}" srcOrd="1" destOrd="0" presId="urn:microsoft.com/office/officeart/2018/2/layout/IconVerticalSolidList"/>
    <dgm:cxn modelId="{FA253DE5-6390-4E3A-9D99-85349D819440}" type="presParOf" srcId="{5BDCC293-D402-4E17-B6B6-DE409ACEDC50}" destId="{44814C18-8399-46B7-96CE-E4403688527A}" srcOrd="2" destOrd="0" presId="urn:microsoft.com/office/officeart/2018/2/layout/IconVerticalSolidList"/>
    <dgm:cxn modelId="{B75C5B68-2624-4B05-81B7-77638791674B}" type="presParOf" srcId="{5BDCC293-D402-4E17-B6B6-DE409ACEDC50}" destId="{D77EB367-639E-4ACF-BE65-D5E7851DFAF2}" srcOrd="3" destOrd="0" presId="urn:microsoft.com/office/officeart/2018/2/layout/IconVerticalSolidList"/>
    <dgm:cxn modelId="{D5871C66-597C-45AD-9DA7-9F7B9B1365DE}" type="presParOf" srcId="{57213DD8-341A-4F47-AE24-6447252BBEC4}" destId="{9588AD60-8DE7-4803-AE56-BEAFC46C113B}" srcOrd="3" destOrd="0" presId="urn:microsoft.com/office/officeart/2018/2/layout/IconVerticalSolidList"/>
    <dgm:cxn modelId="{ECC6F64D-D83E-4776-A721-C6E153B6C9CE}" type="presParOf" srcId="{57213DD8-341A-4F47-AE24-6447252BBEC4}" destId="{F83DCA34-81E0-439E-AD6E-56BBFF0A679A}" srcOrd="4" destOrd="0" presId="urn:microsoft.com/office/officeart/2018/2/layout/IconVerticalSolidList"/>
    <dgm:cxn modelId="{17A7951F-363A-4741-8FAA-A5B4D8F915E8}" type="presParOf" srcId="{F83DCA34-81E0-439E-AD6E-56BBFF0A679A}" destId="{4A212D56-7EDF-427D-B6D9-886745D2771C}" srcOrd="0" destOrd="0" presId="urn:microsoft.com/office/officeart/2018/2/layout/IconVerticalSolidList"/>
    <dgm:cxn modelId="{CDE58703-06F1-4526-8ACA-87A14EFAB5D6}" type="presParOf" srcId="{F83DCA34-81E0-439E-AD6E-56BBFF0A679A}" destId="{2B3F13C0-494F-4EBC-A2A1-354C580A3145}" srcOrd="1" destOrd="0" presId="urn:microsoft.com/office/officeart/2018/2/layout/IconVerticalSolidList"/>
    <dgm:cxn modelId="{CB591A1C-E0EA-4DE1-B1A7-0BF9C1B30CD5}" type="presParOf" srcId="{F83DCA34-81E0-439E-AD6E-56BBFF0A679A}" destId="{9DCD0D08-F345-4E58-B85D-BB69CFAE5BB1}" srcOrd="2" destOrd="0" presId="urn:microsoft.com/office/officeart/2018/2/layout/IconVerticalSolidList"/>
    <dgm:cxn modelId="{35E09A6D-3595-4214-8537-9DDFF7F6892E}" type="presParOf" srcId="{F83DCA34-81E0-439E-AD6E-56BBFF0A679A}" destId="{E2B6DBCF-BBCB-49F6-9BB4-BEF438E95D1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021A65-016B-4AD9-8C89-33E7770446D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BF7FC72-465D-4D34-A4A2-8AC0E71B4D25}">
      <dgm:prSet/>
      <dgm:spPr/>
      <dgm:t>
        <a:bodyPr/>
        <a:lstStyle/>
        <a:p>
          <a:r>
            <a:rPr lang="en-US"/>
            <a:t>Rigidbody is a part you add to a game object in Unity that makes it move and act like a real thing—like falling, pushing, or bouncing—using physics rules.</a:t>
          </a:r>
        </a:p>
      </dgm:t>
    </dgm:pt>
    <dgm:pt modelId="{3AE1C84A-EBCA-434F-BDA1-729F0F993856}" type="parTrans" cxnId="{2875E173-883F-48B2-9986-42CFED123AE0}">
      <dgm:prSet/>
      <dgm:spPr/>
      <dgm:t>
        <a:bodyPr/>
        <a:lstStyle/>
        <a:p>
          <a:endParaRPr lang="en-US"/>
        </a:p>
      </dgm:t>
    </dgm:pt>
    <dgm:pt modelId="{5B7782FF-015A-4704-89EE-191147D2396A}" type="sibTrans" cxnId="{2875E173-883F-48B2-9986-42CFED123AE0}">
      <dgm:prSet/>
      <dgm:spPr/>
      <dgm:t>
        <a:bodyPr/>
        <a:lstStyle/>
        <a:p>
          <a:endParaRPr lang="en-US"/>
        </a:p>
      </dgm:t>
    </dgm:pt>
    <dgm:pt modelId="{F96DF6D1-6112-40F2-9DD2-A8BC239F6871}">
      <dgm:prSet/>
      <dgm:spPr/>
      <dgm:t>
        <a:bodyPr/>
        <a:lstStyle/>
        <a:p>
          <a:r>
            <a:rPr lang="en-US"/>
            <a:t>Works with forces and velocity it means  you can push, pull, or set the speed of an object using Rigidbody methods.</a:t>
          </a:r>
        </a:p>
      </dgm:t>
    </dgm:pt>
    <dgm:pt modelId="{C25B0CFC-677D-4F54-9F54-2D7BE26ED84C}" type="parTrans" cxnId="{1317471D-0DE0-4E58-A41B-8CDC7B1021DE}">
      <dgm:prSet/>
      <dgm:spPr/>
      <dgm:t>
        <a:bodyPr/>
        <a:lstStyle/>
        <a:p>
          <a:endParaRPr lang="en-US"/>
        </a:p>
      </dgm:t>
    </dgm:pt>
    <dgm:pt modelId="{8FC2A7C2-7EFF-4553-9AFB-18C606069267}" type="sibTrans" cxnId="{1317471D-0DE0-4E58-A41B-8CDC7B1021DE}">
      <dgm:prSet/>
      <dgm:spPr/>
      <dgm:t>
        <a:bodyPr/>
        <a:lstStyle/>
        <a:p>
          <a:endParaRPr lang="en-US"/>
        </a:p>
      </dgm:t>
    </dgm:pt>
    <dgm:pt modelId="{9E945199-B41E-468F-ADD8-84C0EAF84B88}">
      <dgm:prSet/>
      <dgm:spPr/>
      <dgm:t>
        <a:bodyPr/>
        <a:lstStyle/>
        <a:p>
          <a:r>
            <a:rPr lang="en-US"/>
            <a:t>Has properties like mass and drag:</a:t>
          </a:r>
          <a:br>
            <a:rPr lang="en-US"/>
          </a:br>
          <a:r>
            <a:rPr lang="en-US"/>
            <a:t>  </a:t>
          </a:r>
          <a:r>
            <a:rPr lang="en-US">
              <a:sym typeface="Wingdings" panose="05000000000000000000" pitchFamily="2" charset="2"/>
            </a:rPr>
            <a:t></a:t>
          </a:r>
          <a:r>
            <a:rPr lang="en-US"/>
            <a:t>Mass affects how heavy the object feels.</a:t>
          </a:r>
          <a:br>
            <a:rPr lang="en-US"/>
          </a:br>
          <a:r>
            <a:rPr lang="en-US"/>
            <a:t>  </a:t>
          </a:r>
          <a:r>
            <a:rPr lang="en-US">
              <a:sym typeface="Wingdings" panose="05000000000000000000" pitchFamily="2" charset="2"/>
            </a:rPr>
            <a:t></a:t>
          </a:r>
          <a:r>
            <a:rPr lang="en-US"/>
            <a:t>Drag slows down movement over time (like air resistance).</a:t>
          </a:r>
        </a:p>
      </dgm:t>
    </dgm:pt>
    <dgm:pt modelId="{B2CF90C4-DA12-4125-8F83-EC26D8B12106}" type="parTrans" cxnId="{D6A5FFBD-B5F6-4A78-AF2F-BA90AF515AA3}">
      <dgm:prSet/>
      <dgm:spPr/>
      <dgm:t>
        <a:bodyPr/>
        <a:lstStyle/>
        <a:p>
          <a:endParaRPr lang="en-US"/>
        </a:p>
      </dgm:t>
    </dgm:pt>
    <dgm:pt modelId="{3C744C28-5CE1-4E28-8BD0-55924B3F6D46}" type="sibTrans" cxnId="{D6A5FFBD-B5F6-4A78-AF2F-BA90AF515AA3}">
      <dgm:prSet/>
      <dgm:spPr/>
      <dgm:t>
        <a:bodyPr/>
        <a:lstStyle/>
        <a:p>
          <a:endParaRPr lang="en-US"/>
        </a:p>
      </dgm:t>
    </dgm:pt>
    <dgm:pt modelId="{7002D8DD-9A66-455D-957E-A6F67ECA1E52}">
      <dgm:prSet/>
      <dgm:spPr/>
      <dgm:t>
        <a:bodyPr/>
        <a:lstStyle/>
        <a:p>
          <a:r>
            <a:rPr lang="en-IN"/>
            <a:t>Collisions require Rigidbody:</a:t>
          </a:r>
          <a:br>
            <a:rPr lang="en-IN"/>
          </a:br>
          <a:r>
            <a:rPr lang="en-IN"/>
            <a:t>  </a:t>
          </a:r>
          <a:r>
            <a:rPr lang="en-IN">
              <a:sym typeface="Wingdings" panose="05000000000000000000" pitchFamily="2" charset="2"/>
            </a:rPr>
            <a:t></a:t>
          </a:r>
          <a:r>
            <a:rPr lang="en-US"/>
            <a:t>To detect collisions properly and have realistic reactions, objects usually need Rigidbody attached</a:t>
          </a:r>
        </a:p>
      </dgm:t>
    </dgm:pt>
    <dgm:pt modelId="{7E28EC8C-429F-412A-83C9-81C86EC4FB27}" type="parTrans" cxnId="{F525B575-73A1-4677-837E-E68B8EB6E429}">
      <dgm:prSet/>
      <dgm:spPr/>
      <dgm:t>
        <a:bodyPr/>
        <a:lstStyle/>
        <a:p>
          <a:endParaRPr lang="en-US"/>
        </a:p>
      </dgm:t>
    </dgm:pt>
    <dgm:pt modelId="{7D1862F6-90B8-497B-8F61-1B96666B9AE8}" type="sibTrans" cxnId="{F525B575-73A1-4677-837E-E68B8EB6E429}">
      <dgm:prSet/>
      <dgm:spPr/>
      <dgm:t>
        <a:bodyPr/>
        <a:lstStyle/>
        <a:p>
          <a:endParaRPr lang="en-US"/>
        </a:p>
      </dgm:t>
    </dgm:pt>
    <dgm:pt modelId="{031922CE-E3DC-4E53-8C18-BD5150168199}" type="pres">
      <dgm:prSet presAssocID="{4A021A65-016B-4AD9-8C89-33E7770446D7}" presName="linear" presStyleCnt="0">
        <dgm:presLayoutVars>
          <dgm:animLvl val="lvl"/>
          <dgm:resizeHandles val="exact"/>
        </dgm:presLayoutVars>
      </dgm:prSet>
      <dgm:spPr/>
    </dgm:pt>
    <dgm:pt modelId="{49CB07F1-57B7-4C3D-9839-5ECC1EE8ABB0}" type="pres">
      <dgm:prSet presAssocID="{1BF7FC72-465D-4D34-A4A2-8AC0E71B4D25}" presName="parentText" presStyleLbl="node1" presStyleIdx="0" presStyleCnt="4">
        <dgm:presLayoutVars>
          <dgm:chMax val="0"/>
          <dgm:bulletEnabled val="1"/>
        </dgm:presLayoutVars>
      </dgm:prSet>
      <dgm:spPr/>
    </dgm:pt>
    <dgm:pt modelId="{C9DB9C0C-681E-4E2E-9D2C-2717D69C4370}" type="pres">
      <dgm:prSet presAssocID="{5B7782FF-015A-4704-89EE-191147D2396A}" presName="spacer" presStyleCnt="0"/>
      <dgm:spPr/>
    </dgm:pt>
    <dgm:pt modelId="{09E2F0CA-BFAE-463F-9BF2-EFFABC21F58E}" type="pres">
      <dgm:prSet presAssocID="{F96DF6D1-6112-40F2-9DD2-A8BC239F6871}" presName="parentText" presStyleLbl="node1" presStyleIdx="1" presStyleCnt="4">
        <dgm:presLayoutVars>
          <dgm:chMax val="0"/>
          <dgm:bulletEnabled val="1"/>
        </dgm:presLayoutVars>
      </dgm:prSet>
      <dgm:spPr/>
    </dgm:pt>
    <dgm:pt modelId="{62AD85B8-5A91-43E4-9087-315CE28AD4B8}" type="pres">
      <dgm:prSet presAssocID="{8FC2A7C2-7EFF-4553-9AFB-18C606069267}" presName="spacer" presStyleCnt="0"/>
      <dgm:spPr/>
    </dgm:pt>
    <dgm:pt modelId="{3E45B7BC-E8C1-424C-B27A-A2E36F3D5D9B}" type="pres">
      <dgm:prSet presAssocID="{9E945199-B41E-468F-ADD8-84C0EAF84B88}" presName="parentText" presStyleLbl="node1" presStyleIdx="2" presStyleCnt="4">
        <dgm:presLayoutVars>
          <dgm:chMax val="0"/>
          <dgm:bulletEnabled val="1"/>
        </dgm:presLayoutVars>
      </dgm:prSet>
      <dgm:spPr/>
    </dgm:pt>
    <dgm:pt modelId="{D3CB78F0-0D20-4454-A7E4-51F804CAD5CD}" type="pres">
      <dgm:prSet presAssocID="{3C744C28-5CE1-4E28-8BD0-55924B3F6D46}" presName="spacer" presStyleCnt="0"/>
      <dgm:spPr/>
    </dgm:pt>
    <dgm:pt modelId="{D6ED3839-4793-412C-B1A4-A67B27DF19EF}" type="pres">
      <dgm:prSet presAssocID="{7002D8DD-9A66-455D-957E-A6F67ECA1E52}" presName="parentText" presStyleLbl="node1" presStyleIdx="3" presStyleCnt="4">
        <dgm:presLayoutVars>
          <dgm:chMax val="0"/>
          <dgm:bulletEnabled val="1"/>
        </dgm:presLayoutVars>
      </dgm:prSet>
      <dgm:spPr/>
    </dgm:pt>
  </dgm:ptLst>
  <dgm:cxnLst>
    <dgm:cxn modelId="{1317471D-0DE0-4E58-A41B-8CDC7B1021DE}" srcId="{4A021A65-016B-4AD9-8C89-33E7770446D7}" destId="{F96DF6D1-6112-40F2-9DD2-A8BC239F6871}" srcOrd="1" destOrd="0" parTransId="{C25B0CFC-677D-4F54-9F54-2D7BE26ED84C}" sibTransId="{8FC2A7C2-7EFF-4553-9AFB-18C606069267}"/>
    <dgm:cxn modelId="{FD182528-4B66-4C09-A8EB-2D8256F1613C}" type="presOf" srcId="{1BF7FC72-465D-4D34-A4A2-8AC0E71B4D25}" destId="{49CB07F1-57B7-4C3D-9839-5ECC1EE8ABB0}" srcOrd="0" destOrd="0" presId="urn:microsoft.com/office/officeart/2005/8/layout/vList2"/>
    <dgm:cxn modelId="{2875E173-883F-48B2-9986-42CFED123AE0}" srcId="{4A021A65-016B-4AD9-8C89-33E7770446D7}" destId="{1BF7FC72-465D-4D34-A4A2-8AC0E71B4D25}" srcOrd="0" destOrd="0" parTransId="{3AE1C84A-EBCA-434F-BDA1-729F0F993856}" sibTransId="{5B7782FF-015A-4704-89EE-191147D2396A}"/>
    <dgm:cxn modelId="{F525B575-73A1-4677-837E-E68B8EB6E429}" srcId="{4A021A65-016B-4AD9-8C89-33E7770446D7}" destId="{7002D8DD-9A66-455D-957E-A6F67ECA1E52}" srcOrd="3" destOrd="0" parTransId="{7E28EC8C-429F-412A-83C9-81C86EC4FB27}" sibTransId="{7D1862F6-90B8-497B-8F61-1B96666B9AE8}"/>
    <dgm:cxn modelId="{05FCBD82-0455-430D-B111-FF1BCD3C8446}" type="presOf" srcId="{F96DF6D1-6112-40F2-9DD2-A8BC239F6871}" destId="{09E2F0CA-BFAE-463F-9BF2-EFFABC21F58E}" srcOrd="0" destOrd="0" presId="urn:microsoft.com/office/officeart/2005/8/layout/vList2"/>
    <dgm:cxn modelId="{DD21B58D-525D-49C7-878B-CD371F88B125}" type="presOf" srcId="{9E945199-B41E-468F-ADD8-84C0EAF84B88}" destId="{3E45B7BC-E8C1-424C-B27A-A2E36F3D5D9B}" srcOrd="0" destOrd="0" presId="urn:microsoft.com/office/officeart/2005/8/layout/vList2"/>
    <dgm:cxn modelId="{35373ABB-87ED-42EC-BFCE-34C70047D65C}" type="presOf" srcId="{4A021A65-016B-4AD9-8C89-33E7770446D7}" destId="{031922CE-E3DC-4E53-8C18-BD5150168199}" srcOrd="0" destOrd="0" presId="urn:microsoft.com/office/officeart/2005/8/layout/vList2"/>
    <dgm:cxn modelId="{D6A5FFBD-B5F6-4A78-AF2F-BA90AF515AA3}" srcId="{4A021A65-016B-4AD9-8C89-33E7770446D7}" destId="{9E945199-B41E-468F-ADD8-84C0EAF84B88}" srcOrd="2" destOrd="0" parTransId="{B2CF90C4-DA12-4125-8F83-EC26D8B12106}" sibTransId="{3C744C28-5CE1-4E28-8BD0-55924B3F6D46}"/>
    <dgm:cxn modelId="{67FD95DD-C13F-4FB7-9BBB-F6F722FE44C4}" type="presOf" srcId="{7002D8DD-9A66-455D-957E-A6F67ECA1E52}" destId="{D6ED3839-4793-412C-B1A4-A67B27DF19EF}" srcOrd="0" destOrd="0" presId="urn:microsoft.com/office/officeart/2005/8/layout/vList2"/>
    <dgm:cxn modelId="{E70683FE-E611-46D4-8EBB-4DCF1907E211}" type="presParOf" srcId="{031922CE-E3DC-4E53-8C18-BD5150168199}" destId="{49CB07F1-57B7-4C3D-9839-5ECC1EE8ABB0}" srcOrd="0" destOrd="0" presId="urn:microsoft.com/office/officeart/2005/8/layout/vList2"/>
    <dgm:cxn modelId="{38CBE61A-B5E4-42AB-BE05-777A1631FE6F}" type="presParOf" srcId="{031922CE-E3DC-4E53-8C18-BD5150168199}" destId="{C9DB9C0C-681E-4E2E-9D2C-2717D69C4370}" srcOrd="1" destOrd="0" presId="urn:microsoft.com/office/officeart/2005/8/layout/vList2"/>
    <dgm:cxn modelId="{253FC0FE-A3BA-4FA1-B589-5F7345CE453A}" type="presParOf" srcId="{031922CE-E3DC-4E53-8C18-BD5150168199}" destId="{09E2F0CA-BFAE-463F-9BF2-EFFABC21F58E}" srcOrd="2" destOrd="0" presId="urn:microsoft.com/office/officeart/2005/8/layout/vList2"/>
    <dgm:cxn modelId="{5B3C12A5-D36A-41CC-AEC4-B2C33CA3B9DE}" type="presParOf" srcId="{031922CE-E3DC-4E53-8C18-BD5150168199}" destId="{62AD85B8-5A91-43E4-9087-315CE28AD4B8}" srcOrd="3" destOrd="0" presId="urn:microsoft.com/office/officeart/2005/8/layout/vList2"/>
    <dgm:cxn modelId="{6EE42D85-8D71-4A43-B5A2-F5B06FAE10B3}" type="presParOf" srcId="{031922CE-E3DC-4E53-8C18-BD5150168199}" destId="{3E45B7BC-E8C1-424C-B27A-A2E36F3D5D9B}" srcOrd="4" destOrd="0" presId="urn:microsoft.com/office/officeart/2005/8/layout/vList2"/>
    <dgm:cxn modelId="{402478B9-B7C8-4BC8-98DF-BECB12F99096}" type="presParOf" srcId="{031922CE-E3DC-4E53-8C18-BD5150168199}" destId="{D3CB78F0-0D20-4454-A7E4-51F804CAD5CD}" srcOrd="5" destOrd="0" presId="urn:microsoft.com/office/officeart/2005/8/layout/vList2"/>
    <dgm:cxn modelId="{966E0D62-B130-41BA-AB60-13883A737AB2}" type="presParOf" srcId="{031922CE-E3DC-4E53-8C18-BD5150168199}" destId="{D6ED3839-4793-412C-B1A4-A67B27DF19E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90F1726-2D6D-4F8D-9FE8-79E6F384931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474A3A0-F0D3-4711-A795-6BB4A3BBA67F}">
      <dgm:prSet/>
      <dgm:spPr/>
      <dgm:t>
        <a:bodyPr/>
        <a:lstStyle/>
        <a:p>
          <a:r>
            <a:rPr lang="en-US"/>
            <a:t>To have realistic collisions where objects bounce or push each other, at least one object involved must have a Rigidbody. </a:t>
          </a:r>
        </a:p>
      </dgm:t>
    </dgm:pt>
    <dgm:pt modelId="{768CC898-61DD-420E-8AC3-4B101484E0DC}" type="parTrans" cxnId="{BE57ECF3-89BC-4B31-937B-215485432195}">
      <dgm:prSet/>
      <dgm:spPr/>
      <dgm:t>
        <a:bodyPr/>
        <a:lstStyle/>
        <a:p>
          <a:endParaRPr lang="en-US"/>
        </a:p>
      </dgm:t>
    </dgm:pt>
    <dgm:pt modelId="{73D02661-06FF-4DB5-8E9D-22301ED6A15C}" type="sibTrans" cxnId="{BE57ECF3-89BC-4B31-937B-215485432195}">
      <dgm:prSet/>
      <dgm:spPr/>
      <dgm:t>
        <a:bodyPr/>
        <a:lstStyle/>
        <a:p>
          <a:endParaRPr lang="en-US"/>
        </a:p>
      </dgm:t>
    </dgm:pt>
    <dgm:pt modelId="{C13EB446-3063-4FE5-BA54-0695E3DE4F07}">
      <dgm:prSet/>
      <dgm:spPr/>
      <dgm:t>
        <a:bodyPr/>
        <a:lstStyle/>
        <a:p>
          <a:r>
            <a:rPr lang="en-US"/>
            <a:t>If both objects only have colliders but no Rigidbody, Unity treats them as static and they won’t move or react. </a:t>
          </a:r>
        </a:p>
      </dgm:t>
    </dgm:pt>
    <dgm:pt modelId="{2B4A92A1-AB6A-4609-A47F-C1FAB5E7628B}" type="parTrans" cxnId="{7B644CE7-8B7A-4288-AB86-FD11E6F8FFB1}">
      <dgm:prSet/>
      <dgm:spPr/>
      <dgm:t>
        <a:bodyPr/>
        <a:lstStyle/>
        <a:p>
          <a:endParaRPr lang="en-US"/>
        </a:p>
      </dgm:t>
    </dgm:pt>
    <dgm:pt modelId="{0350BFF5-B1C9-4067-A7BC-97044251B758}" type="sibTrans" cxnId="{7B644CE7-8B7A-4288-AB86-FD11E6F8FFB1}">
      <dgm:prSet/>
      <dgm:spPr/>
      <dgm:t>
        <a:bodyPr/>
        <a:lstStyle/>
        <a:p>
          <a:endParaRPr lang="en-US"/>
        </a:p>
      </dgm:t>
    </dgm:pt>
    <dgm:pt modelId="{AD75A3BD-14EF-423B-9FE2-67D30B7362D7}">
      <dgm:prSet/>
      <dgm:spPr/>
      <dgm:t>
        <a:bodyPr/>
        <a:lstStyle/>
        <a:p>
          <a:r>
            <a:rPr lang="en-US"/>
            <a:t>Rigidbody makes sure objects can be pushed, fall, or respond to hits properly in the physics system.</a:t>
          </a:r>
        </a:p>
      </dgm:t>
    </dgm:pt>
    <dgm:pt modelId="{C36448B8-832D-4050-BD35-9CFD5982E917}" type="parTrans" cxnId="{C34CA86C-89B7-4C39-9488-688D4C0C5706}">
      <dgm:prSet/>
      <dgm:spPr/>
      <dgm:t>
        <a:bodyPr/>
        <a:lstStyle/>
        <a:p>
          <a:endParaRPr lang="en-US"/>
        </a:p>
      </dgm:t>
    </dgm:pt>
    <dgm:pt modelId="{8524017B-1BDB-4B15-B806-4D322DFFF250}" type="sibTrans" cxnId="{C34CA86C-89B7-4C39-9488-688D4C0C5706}">
      <dgm:prSet/>
      <dgm:spPr/>
      <dgm:t>
        <a:bodyPr/>
        <a:lstStyle/>
        <a:p>
          <a:endParaRPr lang="en-US"/>
        </a:p>
      </dgm:t>
    </dgm:pt>
    <dgm:pt modelId="{0425B341-72C8-4FFB-BE22-8240AD53C0B6}" type="pres">
      <dgm:prSet presAssocID="{690F1726-2D6D-4F8D-9FE8-79E6F384931D}" presName="linear" presStyleCnt="0">
        <dgm:presLayoutVars>
          <dgm:animLvl val="lvl"/>
          <dgm:resizeHandles val="exact"/>
        </dgm:presLayoutVars>
      </dgm:prSet>
      <dgm:spPr/>
    </dgm:pt>
    <dgm:pt modelId="{D3EB393B-C21D-4345-8740-BE5B42D193CA}" type="pres">
      <dgm:prSet presAssocID="{E474A3A0-F0D3-4711-A795-6BB4A3BBA67F}" presName="parentText" presStyleLbl="node1" presStyleIdx="0" presStyleCnt="3">
        <dgm:presLayoutVars>
          <dgm:chMax val="0"/>
          <dgm:bulletEnabled val="1"/>
        </dgm:presLayoutVars>
      </dgm:prSet>
      <dgm:spPr/>
    </dgm:pt>
    <dgm:pt modelId="{8B916229-1E1E-471E-9926-88EDD7F31FF5}" type="pres">
      <dgm:prSet presAssocID="{73D02661-06FF-4DB5-8E9D-22301ED6A15C}" presName="spacer" presStyleCnt="0"/>
      <dgm:spPr/>
    </dgm:pt>
    <dgm:pt modelId="{F294479E-E05C-4472-90CC-1D20F3BDABA2}" type="pres">
      <dgm:prSet presAssocID="{C13EB446-3063-4FE5-BA54-0695E3DE4F07}" presName="parentText" presStyleLbl="node1" presStyleIdx="1" presStyleCnt="3">
        <dgm:presLayoutVars>
          <dgm:chMax val="0"/>
          <dgm:bulletEnabled val="1"/>
        </dgm:presLayoutVars>
      </dgm:prSet>
      <dgm:spPr/>
    </dgm:pt>
    <dgm:pt modelId="{07FBE727-99FF-49F5-BC9B-98BCB88BB23C}" type="pres">
      <dgm:prSet presAssocID="{0350BFF5-B1C9-4067-A7BC-97044251B758}" presName="spacer" presStyleCnt="0"/>
      <dgm:spPr/>
    </dgm:pt>
    <dgm:pt modelId="{34195E39-2BE4-418E-9717-923B24DBC654}" type="pres">
      <dgm:prSet presAssocID="{AD75A3BD-14EF-423B-9FE2-67D30B7362D7}" presName="parentText" presStyleLbl="node1" presStyleIdx="2" presStyleCnt="3">
        <dgm:presLayoutVars>
          <dgm:chMax val="0"/>
          <dgm:bulletEnabled val="1"/>
        </dgm:presLayoutVars>
      </dgm:prSet>
      <dgm:spPr/>
    </dgm:pt>
  </dgm:ptLst>
  <dgm:cxnLst>
    <dgm:cxn modelId="{A5C5810C-FA0D-4E04-BAC5-0845196A8742}" type="presOf" srcId="{E474A3A0-F0D3-4711-A795-6BB4A3BBA67F}" destId="{D3EB393B-C21D-4345-8740-BE5B42D193CA}" srcOrd="0" destOrd="0" presId="urn:microsoft.com/office/officeart/2005/8/layout/vList2"/>
    <dgm:cxn modelId="{0838D065-1052-4C82-9070-8F7B03CC9C54}" type="presOf" srcId="{C13EB446-3063-4FE5-BA54-0695E3DE4F07}" destId="{F294479E-E05C-4472-90CC-1D20F3BDABA2}" srcOrd="0" destOrd="0" presId="urn:microsoft.com/office/officeart/2005/8/layout/vList2"/>
    <dgm:cxn modelId="{C34CA86C-89B7-4C39-9488-688D4C0C5706}" srcId="{690F1726-2D6D-4F8D-9FE8-79E6F384931D}" destId="{AD75A3BD-14EF-423B-9FE2-67D30B7362D7}" srcOrd="2" destOrd="0" parTransId="{C36448B8-832D-4050-BD35-9CFD5982E917}" sibTransId="{8524017B-1BDB-4B15-B806-4D322DFFF250}"/>
    <dgm:cxn modelId="{7B644CE7-8B7A-4288-AB86-FD11E6F8FFB1}" srcId="{690F1726-2D6D-4F8D-9FE8-79E6F384931D}" destId="{C13EB446-3063-4FE5-BA54-0695E3DE4F07}" srcOrd="1" destOrd="0" parTransId="{2B4A92A1-AB6A-4609-A47F-C1FAB5E7628B}" sibTransId="{0350BFF5-B1C9-4067-A7BC-97044251B758}"/>
    <dgm:cxn modelId="{BE57ECF3-89BC-4B31-937B-215485432195}" srcId="{690F1726-2D6D-4F8D-9FE8-79E6F384931D}" destId="{E474A3A0-F0D3-4711-A795-6BB4A3BBA67F}" srcOrd="0" destOrd="0" parTransId="{768CC898-61DD-420E-8AC3-4B101484E0DC}" sibTransId="{73D02661-06FF-4DB5-8E9D-22301ED6A15C}"/>
    <dgm:cxn modelId="{850242F7-00C3-40BE-BF14-F7732F606CAB}" type="presOf" srcId="{690F1726-2D6D-4F8D-9FE8-79E6F384931D}" destId="{0425B341-72C8-4FFB-BE22-8240AD53C0B6}" srcOrd="0" destOrd="0" presId="urn:microsoft.com/office/officeart/2005/8/layout/vList2"/>
    <dgm:cxn modelId="{D2B1BDFA-C72F-4B4C-934B-AF8840CC193C}" type="presOf" srcId="{AD75A3BD-14EF-423B-9FE2-67D30B7362D7}" destId="{34195E39-2BE4-418E-9717-923B24DBC654}" srcOrd="0" destOrd="0" presId="urn:microsoft.com/office/officeart/2005/8/layout/vList2"/>
    <dgm:cxn modelId="{6AFA11D3-ABF4-41FD-9A6C-C378A1F6A93C}" type="presParOf" srcId="{0425B341-72C8-4FFB-BE22-8240AD53C0B6}" destId="{D3EB393B-C21D-4345-8740-BE5B42D193CA}" srcOrd="0" destOrd="0" presId="urn:microsoft.com/office/officeart/2005/8/layout/vList2"/>
    <dgm:cxn modelId="{D97CFC33-A8C9-4F47-BB60-DB856EA7BB29}" type="presParOf" srcId="{0425B341-72C8-4FFB-BE22-8240AD53C0B6}" destId="{8B916229-1E1E-471E-9926-88EDD7F31FF5}" srcOrd="1" destOrd="0" presId="urn:microsoft.com/office/officeart/2005/8/layout/vList2"/>
    <dgm:cxn modelId="{8C20ABC3-3BA2-4B34-818F-A851AEE9B7BE}" type="presParOf" srcId="{0425B341-72C8-4FFB-BE22-8240AD53C0B6}" destId="{F294479E-E05C-4472-90CC-1D20F3BDABA2}" srcOrd="2" destOrd="0" presId="urn:microsoft.com/office/officeart/2005/8/layout/vList2"/>
    <dgm:cxn modelId="{34C9D176-0D45-4DB1-B8F4-706E0A0B194A}" type="presParOf" srcId="{0425B341-72C8-4FFB-BE22-8240AD53C0B6}" destId="{07FBE727-99FF-49F5-BC9B-98BCB88BB23C}" srcOrd="3" destOrd="0" presId="urn:microsoft.com/office/officeart/2005/8/layout/vList2"/>
    <dgm:cxn modelId="{E06A81FF-CC31-4EAC-B616-3300F7FFA719}" type="presParOf" srcId="{0425B341-72C8-4FFB-BE22-8240AD53C0B6}" destId="{34195E39-2BE4-418E-9717-923B24DBC65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22658F8-4155-4508-8743-C959877597C8}"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en-US"/>
        </a:p>
      </dgm:t>
    </dgm:pt>
    <dgm:pt modelId="{70EABEB3-D644-441C-B3CB-21AAC4A16027}">
      <dgm:prSet/>
      <dgm:spPr/>
      <dgm:t>
        <a:bodyPr/>
        <a:lstStyle/>
        <a:p>
          <a:r>
            <a:rPr lang="en-IN" b="1"/>
            <a:t>AddForce(Vector3 force, ForceMode mode = ForceMode.Force)</a:t>
          </a:r>
          <a:br>
            <a:rPr lang="en-IN" b="1"/>
          </a:br>
          <a:r>
            <a:rPr lang="en-IN" b="1"/>
            <a:t>  What it does:-</a:t>
          </a:r>
          <a:r>
            <a:rPr lang="en-IN"/>
            <a:t>Pushes the Rigidbody in a direction with a certain strength.</a:t>
          </a:r>
          <a:br>
            <a:rPr lang="en-IN"/>
          </a:br>
          <a:r>
            <a:rPr lang="en-IN"/>
            <a:t>   </a:t>
          </a:r>
          <a:r>
            <a:rPr lang="en-IN">
              <a:sym typeface="Wingdings" panose="05000000000000000000" pitchFamily="2" charset="2"/>
            </a:rPr>
            <a:t></a:t>
          </a:r>
          <a:r>
            <a:rPr lang="en-US"/>
            <a:t>rb.AddForce(Vector3.up * 10 ,</a:t>
          </a:r>
          <a:r>
            <a:rPr lang="en-IN"/>
            <a:t>  ForceMode.Force</a:t>
          </a:r>
          <a:r>
            <a:rPr lang="en-US"/>
            <a:t>) it means that Vector3.up * 10: Push up with strength 10.</a:t>
          </a:r>
        </a:p>
      </dgm:t>
    </dgm:pt>
    <dgm:pt modelId="{68E77751-0B0C-4806-9F18-CA6E3D3165CD}" type="parTrans" cxnId="{C7760FE5-A2AE-4374-9ECD-0F25817C1F4E}">
      <dgm:prSet/>
      <dgm:spPr/>
      <dgm:t>
        <a:bodyPr/>
        <a:lstStyle/>
        <a:p>
          <a:endParaRPr lang="en-US"/>
        </a:p>
      </dgm:t>
    </dgm:pt>
    <dgm:pt modelId="{F2086300-A52A-4483-A37E-214591E2F6B3}" type="sibTrans" cxnId="{C7760FE5-A2AE-4374-9ECD-0F25817C1F4E}">
      <dgm:prSet/>
      <dgm:spPr/>
      <dgm:t>
        <a:bodyPr/>
        <a:lstStyle/>
        <a:p>
          <a:endParaRPr lang="en-US"/>
        </a:p>
      </dgm:t>
    </dgm:pt>
    <dgm:pt modelId="{70280481-F8AE-4CB5-9378-4C0B5D797618}">
      <dgm:prSet/>
      <dgm:spPr/>
      <dgm:t>
        <a:bodyPr/>
        <a:lstStyle/>
        <a:p>
          <a:r>
            <a:rPr lang="en-IN"/>
            <a:t>There are different Force mode Available like:-</a:t>
          </a:r>
          <a:br>
            <a:rPr lang="en-IN"/>
          </a:br>
          <a:r>
            <a:rPr lang="en-IN"/>
            <a:t> </a:t>
          </a:r>
          <a:r>
            <a:rPr lang="en-IN">
              <a:sym typeface="Wingdings" panose="05000000000000000000" pitchFamily="2" charset="2"/>
            </a:rPr>
            <a:t></a:t>
          </a:r>
          <a:r>
            <a:rPr lang="en-IN"/>
            <a:t>ForceMode.Force: Push like a gentle continuous force. </a:t>
          </a:r>
          <a:br>
            <a:rPr lang="en-IN"/>
          </a:br>
          <a:r>
            <a:rPr lang="en-IN"/>
            <a:t> </a:t>
          </a:r>
          <a:r>
            <a:rPr lang="en-IN">
              <a:sym typeface="Wingdings" panose="05000000000000000000" pitchFamily="2" charset="2"/>
            </a:rPr>
            <a:t></a:t>
          </a:r>
          <a:r>
            <a:rPr lang="en-IN"/>
            <a:t>ForceMode.Impulse: Push like a quick strong hit (e.g., jump)|</a:t>
          </a:r>
          <a:br>
            <a:rPr lang="en-IN"/>
          </a:br>
          <a:r>
            <a:rPr lang="en-IN"/>
            <a:t> </a:t>
          </a:r>
          <a:r>
            <a:rPr lang="en-IN">
              <a:sym typeface="Wingdings" panose="05000000000000000000" pitchFamily="2" charset="2"/>
            </a:rPr>
            <a:t></a:t>
          </a:r>
          <a:r>
            <a:rPr lang="en-IN"/>
            <a:t> ForceMode.VelocityChange: Change speed immediately</a:t>
          </a:r>
          <a:br>
            <a:rPr lang="en-IN"/>
          </a:br>
          <a:r>
            <a:rPr lang="en-IN"/>
            <a:t> </a:t>
          </a:r>
          <a:r>
            <a:rPr lang="en-IN">
              <a:sym typeface="Wingdings" panose="05000000000000000000" pitchFamily="2" charset="2"/>
            </a:rPr>
            <a:t></a:t>
          </a:r>
          <a:r>
            <a:rPr lang="en-IN"/>
            <a:t> ForceMode.Acceleration: Push ignoring mass</a:t>
          </a:r>
          <a:endParaRPr lang="en-US"/>
        </a:p>
      </dgm:t>
    </dgm:pt>
    <dgm:pt modelId="{C4C3E175-B061-4543-84DB-601C3A4B1DBD}" type="parTrans" cxnId="{C9B60083-81ED-4602-B5D1-5623329A8CDD}">
      <dgm:prSet/>
      <dgm:spPr/>
      <dgm:t>
        <a:bodyPr/>
        <a:lstStyle/>
        <a:p>
          <a:endParaRPr lang="en-US"/>
        </a:p>
      </dgm:t>
    </dgm:pt>
    <dgm:pt modelId="{5BF72BBD-BC40-430C-9EB1-230333F72AC4}" type="sibTrans" cxnId="{C9B60083-81ED-4602-B5D1-5623329A8CDD}">
      <dgm:prSet/>
      <dgm:spPr/>
      <dgm:t>
        <a:bodyPr/>
        <a:lstStyle/>
        <a:p>
          <a:endParaRPr lang="en-US"/>
        </a:p>
      </dgm:t>
    </dgm:pt>
    <dgm:pt modelId="{A792A748-4102-493C-8A99-F084476109DC}">
      <dgm:prSet/>
      <dgm:spPr/>
      <dgm:t>
        <a:bodyPr/>
        <a:lstStyle/>
        <a:p>
          <a:r>
            <a:rPr lang="en-US" dirty="0"/>
            <a:t>There are different vectors available:-</a:t>
          </a:r>
          <a:endParaRPr lang="en-IN" dirty="0"/>
        </a:p>
        <a:p>
          <a:r>
            <a:rPr lang="en-US" dirty="0"/>
            <a:t>Vector3.down = (0, -1, 0) — straight down</a:t>
          </a:r>
          <a:endParaRPr lang="en-IN" dirty="0"/>
        </a:p>
        <a:p>
          <a:r>
            <a:rPr lang="en-US" dirty="0"/>
            <a:t>Vector3.left = (-1, 0, 0) — left</a:t>
          </a:r>
          <a:endParaRPr lang="en-IN" dirty="0"/>
        </a:p>
        <a:p>
          <a:r>
            <a:rPr lang="en-US" dirty="0"/>
            <a:t>Vector3.right = (1, 0, 0) — right</a:t>
          </a:r>
          <a:endParaRPr lang="en-IN" dirty="0"/>
        </a:p>
        <a:p>
          <a:r>
            <a:rPr lang="en-US" dirty="0"/>
            <a:t>Vector3.forward = (0, 0, 1) — forward</a:t>
          </a:r>
          <a:endParaRPr lang="en-IN" dirty="0"/>
        </a:p>
        <a:p>
          <a:r>
            <a:rPr lang="en-US" dirty="0"/>
            <a:t>Vector3.back = (0, 0, -1) — backward</a:t>
          </a:r>
          <a:endParaRPr lang="en-IN" dirty="0"/>
        </a:p>
        <a:p>
          <a:endParaRPr lang="en-US" dirty="0"/>
        </a:p>
      </dgm:t>
    </dgm:pt>
    <dgm:pt modelId="{49020F2B-E274-44FB-9749-54A15C6DC650}" type="parTrans" cxnId="{FB95F783-EE77-43A1-BC1B-CF29F04314E9}">
      <dgm:prSet/>
      <dgm:spPr/>
      <dgm:t>
        <a:bodyPr/>
        <a:lstStyle/>
        <a:p>
          <a:endParaRPr lang="en-IN"/>
        </a:p>
      </dgm:t>
    </dgm:pt>
    <dgm:pt modelId="{A9F5482A-A588-48FE-88FD-F174409AEA51}" type="sibTrans" cxnId="{FB95F783-EE77-43A1-BC1B-CF29F04314E9}">
      <dgm:prSet/>
      <dgm:spPr/>
      <dgm:t>
        <a:bodyPr/>
        <a:lstStyle/>
        <a:p>
          <a:endParaRPr lang="en-IN"/>
        </a:p>
      </dgm:t>
    </dgm:pt>
    <dgm:pt modelId="{57B23ACA-9480-4DDE-BDAE-637B1262E8D4}" type="pres">
      <dgm:prSet presAssocID="{A22658F8-4155-4508-8743-C959877597C8}" presName="hierChild1" presStyleCnt="0">
        <dgm:presLayoutVars>
          <dgm:chPref val="1"/>
          <dgm:dir/>
          <dgm:animOne val="branch"/>
          <dgm:animLvl val="lvl"/>
          <dgm:resizeHandles/>
        </dgm:presLayoutVars>
      </dgm:prSet>
      <dgm:spPr/>
    </dgm:pt>
    <dgm:pt modelId="{9DD7E9AD-5916-43B0-931F-B0CA73695A3B}" type="pres">
      <dgm:prSet presAssocID="{70EABEB3-D644-441C-B3CB-21AAC4A16027}" presName="hierRoot1" presStyleCnt="0"/>
      <dgm:spPr/>
    </dgm:pt>
    <dgm:pt modelId="{1605637F-ED4D-4DA6-9417-85ADDE0C4748}" type="pres">
      <dgm:prSet presAssocID="{70EABEB3-D644-441C-B3CB-21AAC4A16027}" presName="composite" presStyleCnt="0"/>
      <dgm:spPr/>
    </dgm:pt>
    <dgm:pt modelId="{54AF0D9A-0045-4268-AD53-275AED114F66}" type="pres">
      <dgm:prSet presAssocID="{70EABEB3-D644-441C-B3CB-21AAC4A16027}" presName="background" presStyleLbl="node0" presStyleIdx="0" presStyleCnt="2"/>
      <dgm:spPr/>
    </dgm:pt>
    <dgm:pt modelId="{7AF24773-EFEA-42D6-BCC3-43F62591CC0E}" type="pres">
      <dgm:prSet presAssocID="{70EABEB3-D644-441C-B3CB-21AAC4A16027}" presName="text" presStyleLbl="fgAcc0" presStyleIdx="0" presStyleCnt="2">
        <dgm:presLayoutVars>
          <dgm:chPref val="3"/>
        </dgm:presLayoutVars>
      </dgm:prSet>
      <dgm:spPr/>
    </dgm:pt>
    <dgm:pt modelId="{CF55A81C-31FA-4F6B-BC66-5201B308E246}" type="pres">
      <dgm:prSet presAssocID="{70EABEB3-D644-441C-B3CB-21AAC4A16027}" presName="hierChild2" presStyleCnt="0"/>
      <dgm:spPr/>
    </dgm:pt>
    <dgm:pt modelId="{F78227C0-3E9F-4E5C-B6F8-8279EA7E53D2}" type="pres">
      <dgm:prSet presAssocID="{70280481-F8AE-4CB5-9378-4C0B5D797618}" presName="hierRoot1" presStyleCnt="0"/>
      <dgm:spPr/>
    </dgm:pt>
    <dgm:pt modelId="{4C21F090-3729-4811-AFDE-78879BD826F4}" type="pres">
      <dgm:prSet presAssocID="{70280481-F8AE-4CB5-9378-4C0B5D797618}" presName="composite" presStyleCnt="0"/>
      <dgm:spPr/>
    </dgm:pt>
    <dgm:pt modelId="{8C7A6DAA-12F3-4974-869F-66A11DC82EB6}" type="pres">
      <dgm:prSet presAssocID="{70280481-F8AE-4CB5-9378-4C0B5D797618}" presName="background" presStyleLbl="node0" presStyleIdx="1" presStyleCnt="2"/>
      <dgm:spPr/>
    </dgm:pt>
    <dgm:pt modelId="{C13E7A57-8C49-40D7-9232-BD375EBC11F4}" type="pres">
      <dgm:prSet presAssocID="{70280481-F8AE-4CB5-9378-4C0B5D797618}" presName="text" presStyleLbl="fgAcc0" presStyleIdx="1" presStyleCnt="2">
        <dgm:presLayoutVars>
          <dgm:chPref val="3"/>
        </dgm:presLayoutVars>
      </dgm:prSet>
      <dgm:spPr/>
    </dgm:pt>
    <dgm:pt modelId="{A39CA30D-6707-4EC7-B4A3-D8068FFB7450}" type="pres">
      <dgm:prSet presAssocID="{70280481-F8AE-4CB5-9378-4C0B5D797618}" presName="hierChild2" presStyleCnt="0"/>
      <dgm:spPr/>
    </dgm:pt>
    <dgm:pt modelId="{95143F82-FED6-4380-A90B-0AA054F5868F}" type="pres">
      <dgm:prSet presAssocID="{49020F2B-E274-44FB-9749-54A15C6DC650}" presName="Name10" presStyleLbl="parChTrans1D2" presStyleIdx="0" presStyleCnt="1"/>
      <dgm:spPr/>
    </dgm:pt>
    <dgm:pt modelId="{EB12437F-C0B8-4F47-A721-992807CABE45}" type="pres">
      <dgm:prSet presAssocID="{A792A748-4102-493C-8A99-F084476109DC}" presName="hierRoot2" presStyleCnt="0"/>
      <dgm:spPr/>
    </dgm:pt>
    <dgm:pt modelId="{AA195929-3752-4830-A9A5-370FFAADF18C}" type="pres">
      <dgm:prSet presAssocID="{A792A748-4102-493C-8A99-F084476109DC}" presName="composite2" presStyleCnt="0"/>
      <dgm:spPr/>
    </dgm:pt>
    <dgm:pt modelId="{B8C2104C-FF65-48CA-B975-E2CABAE32750}" type="pres">
      <dgm:prSet presAssocID="{A792A748-4102-493C-8A99-F084476109DC}" presName="background2" presStyleLbl="node2" presStyleIdx="0" presStyleCnt="1"/>
      <dgm:spPr/>
    </dgm:pt>
    <dgm:pt modelId="{4201B127-CD38-4184-8C37-5D1331AD1BB3}" type="pres">
      <dgm:prSet presAssocID="{A792A748-4102-493C-8A99-F084476109DC}" presName="text2" presStyleLbl="fgAcc2" presStyleIdx="0" presStyleCnt="1">
        <dgm:presLayoutVars>
          <dgm:chPref val="3"/>
        </dgm:presLayoutVars>
      </dgm:prSet>
      <dgm:spPr/>
    </dgm:pt>
    <dgm:pt modelId="{F03CAE5D-7C62-49B9-AA9D-FC4930F9FB91}" type="pres">
      <dgm:prSet presAssocID="{A792A748-4102-493C-8A99-F084476109DC}" presName="hierChild3" presStyleCnt="0"/>
      <dgm:spPr/>
    </dgm:pt>
  </dgm:ptLst>
  <dgm:cxnLst>
    <dgm:cxn modelId="{7CFC4D62-5BA9-46AF-9F31-43368ED856C9}" type="presOf" srcId="{A22658F8-4155-4508-8743-C959877597C8}" destId="{57B23ACA-9480-4DDE-BDAE-637B1262E8D4}" srcOrd="0" destOrd="0" presId="urn:microsoft.com/office/officeart/2005/8/layout/hierarchy1"/>
    <dgm:cxn modelId="{87940169-6D65-444F-80DD-B3E2041C4F45}" type="presOf" srcId="{49020F2B-E274-44FB-9749-54A15C6DC650}" destId="{95143F82-FED6-4380-A90B-0AA054F5868F}" srcOrd="0" destOrd="0" presId="urn:microsoft.com/office/officeart/2005/8/layout/hierarchy1"/>
    <dgm:cxn modelId="{D5BF104F-035A-48DB-BD03-35AABAD59F70}" type="presOf" srcId="{70EABEB3-D644-441C-B3CB-21AAC4A16027}" destId="{7AF24773-EFEA-42D6-BCC3-43F62591CC0E}" srcOrd="0" destOrd="0" presId="urn:microsoft.com/office/officeart/2005/8/layout/hierarchy1"/>
    <dgm:cxn modelId="{56586881-2B50-4D75-B21A-4631D8ADC78F}" type="presOf" srcId="{70280481-F8AE-4CB5-9378-4C0B5D797618}" destId="{C13E7A57-8C49-40D7-9232-BD375EBC11F4}" srcOrd="0" destOrd="0" presId="urn:microsoft.com/office/officeart/2005/8/layout/hierarchy1"/>
    <dgm:cxn modelId="{C9B60083-81ED-4602-B5D1-5623329A8CDD}" srcId="{A22658F8-4155-4508-8743-C959877597C8}" destId="{70280481-F8AE-4CB5-9378-4C0B5D797618}" srcOrd="1" destOrd="0" parTransId="{C4C3E175-B061-4543-84DB-601C3A4B1DBD}" sibTransId="{5BF72BBD-BC40-430C-9EB1-230333F72AC4}"/>
    <dgm:cxn modelId="{FB95F783-EE77-43A1-BC1B-CF29F04314E9}" srcId="{70280481-F8AE-4CB5-9378-4C0B5D797618}" destId="{A792A748-4102-493C-8A99-F084476109DC}" srcOrd="0" destOrd="0" parTransId="{49020F2B-E274-44FB-9749-54A15C6DC650}" sibTransId="{A9F5482A-A588-48FE-88FD-F174409AEA51}"/>
    <dgm:cxn modelId="{34E8488E-4C2E-4693-8F04-61A53AEBBDE9}" type="presOf" srcId="{A792A748-4102-493C-8A99-F084476109DC}" destId="{4201B127-CD38-4184-8C37-5D1331AD1BB3}" srcOrd="0" destOrd="0" presId="urn:microsoft.com/office/officeart/2005/8/layout/hierarchy1"/>
    <dgm:cxn modelId="{C7760FE5-A2AE-4374-9ECD-0F25817C1F4E}" srcId="{A22658F8-4155-4508-8743-C959877597C8}" destId="{70EABEB3-D644-441C-B3CB-21AAC4A16027}" srcOrd="0" destOrd="0" parTransId="{68E77751-0B0C-4806-9F18-CA6E3D3165CD}" sibTransId="{F2086300-A52A-4483-A37E-214591E2F6B3}"/>
    <dgm:cxn modelId="{C1529F7F-CB18-481B-89F9-F6CEA55D408A}" type="presParOf" srcId="{57B23ACA-9480-4DDE-BDAE-637B1262E8D4}" destId="{9DD7E9AD-5916-43B0-931F-B0CA73695A3B}" srcOrd="0" destOrd="0" presId="urn:microsoft.com/office/officeart/2005/8/layout/hierarchy1"/>
    <dgm:cxn modelId="{1147DF65-276F-45ED-99DA-99EA3C071B1B}" type="presParOf" srcId="{9DD7E9AD-5916-43B0-931F-B0CA73695A3B}" destId="{1605637F-ED4D-4DA6-9417-85ADDE0C4748}" srcOrd="0" destOrd="0" presId="urn:microsoft.com/office/officeart/2005/8/layout/hierarchy1"/>
    <dgm:cxn modelId="{05E12FAF-2A17-4A6A-87F9-060F5E492FB9}" type="presParOf" srcId="{1605637F-ED4D-4DA6-9417-85ADDE0C4748}" destId="{54AF0D9A-0045-4268-AD53-275AED114F66}" srcOrd="0" destOrd="0" presId="urn:microsoft.com/office/officeart/2005/8/layout/hierarchy1"/>
    <dgm:cxn modelId="{3EB5F54A-F0C6-49A2-9A81-C5D876F82C4D}" type="presParOf" srcId="{1605637F-ED4D-4DA6-9417-85ADDE0C4748}" destId="{7AF24773-EFEA-42D6-BCC3-43F62591CC0E}" srcOrd="1" destOrd="0" presId="urn:microsoft.com/office/officeart/2005/8/layout/hierarchy1"/>
    <dgm:cxn modelId="{FC0A3886-B984-421A-9CAE-475004A3EA7D}" type="presParOf" srcId="{9DD7E9AD-5916-43B0-931F-B0CA73695A3B}" destId="{CF55A81C-31FA-4F6B-BC66-5201B308E246}" srcOrd="1" destOrd="0" presId="urn:microsoft.com/office/officeart/2005/8/layout/hierarchy1"/>
    <dgm:cxn modelId="{7A82216F-9528-4295-9503-113127BA8BE3}" type="presParOf" srcId="{57B23ACA-9480-4DDE-BDAE-637B1262E8D4}" destId="{F78227C0-3E9F-4E5C-B6F8-8279EA7E53D2}" srcOrd="1" destOrd="0" presId="urn:microsoft.com/office/officeart/2005/8/layout/hierarchy1"/>
    <dgm:cxn modelId="{507C0598-362C-4AA3-AFF4-330E24A9BD1F}" type="presParOf" srcId="{F78227C0-3E9F-4E5C-B6F8-8279EA7E53D2}" destId="{4C21F090-3729-4811-AFDE-78879BD826F4}" srcOrd="0" destOrd="0" presId="urn:microsoft.com/office/officeart/2005/8/layout/hierarchy1"/>
    <dgm:cxn modelId="{4E0AE9F5-38C6-42BF-AB4A-4B9B7F5B4B5E}" type="presParOf" srcId="{4C21F090-3729-4811-AFDE-78879BD826F4}" destId="{8C7A6DAA-12F3-4974-869F-66A11DC82EB6}" srcOrd="0" destOrd="0" presId="urn:microsoft.com/office/officeart/2005/8/layout/hierarchy1"/>
    <dgm:cxn modelId="{8A126CC1-A3FA-4D88-A9BE-E9FC0798D10C}" type="presParOf" srcId="{4C21F090-3729-4811-AFDE-78879BD826F4}" destId="{C13E7A57-8C49-40D7-9232-BD375EBC11F4}" srcOrd="1" destOrd="0" presId="urn:microsoft.com/office/officeart/2005/8/layout/hierarchy1"/>
    <dgm:cxn modelId="{3D174986-F70C-497D-AEE7-3F95C8E45C3D}" type="presParOf" srcId="{F78227C0-3E9F-4E5C-B6F8-8279EA7E53D2}" destId="{A39CA30D-6707-4EC7-B4A3-D8068FFB7450}" srcOrd="1" destOrd="0" presId="urn:microsoft.com/office/officeart/2005/8/layout/hierarchy1"/>
    <dgm:cxn modelId="{64A34C2C-BAFE-4F3E-967D-DE51DEF9B352}" type="presParOf" srcId="{A39CA30D-6707-4EC7-B4A3-D8068FFB7450}" destId="{95143F82-FED6-4380-A90B-0AA054F5868F}" srcOrd="0" destOrd="0" presId="urn:microsoft.com/office/officeart/2005/8/layout/hierarchy1"/>
    <dgm:cxn modelId="{E682CD1F-3ADA-46D2-BB3D-275AE7C86CF9}" type="presParOf" srcId="{A39CA30D-6707-4EC7-B4A3-D8068FFB7450}" destId="{EB12437F-C0B8-4F47-A721-992807CABE45}" srcOrd="1" destOrd="0" presId="urn:microsoft.com/office/officeart/2005/8/layout/hierarchy1"/>
    <dgm:cxn modelId="{EAE9A3B6-207F-4F9E-84A6-F6C40FA58A28}" type="presParOf" srcId="{EB12437F-C0B8-4F47-A721-992807CABE45}" destId="{AA195929-3752-4830-A9A5-370FFAADF18C}" srcOrd="0" destOrd="0" presId="urn:microsoft.com/office/officeart/2005/8/layout/hierarchy1"/>
    <dgm:cxn modelId="{A8C445E5-4289-4CE8-B4B5-8B4448B145C4}" type="presParOf" srcId="{AA195929-3752-4830-A9A5-370FFAADF18C}" destId="{B8C2104C-FF65-48CA-B975-E2CABAE32750}" srcOrd="0" destOrd="0" presId="urn:microsoft.com/office/officeart/2005/8/layout/hierarchy1"/>
    <dgm:cxn modelId="{C1C46DF3-B212-48C4-AB56-628CF85CC917}" type="presParOf" srcId="{AA195929-3752-4830-A9A5-370FFAADF18C}" destId="{4201B127-CD38-4184-8C37-5D1331AD1BB3}" srcOrd="1" destOrd="0" presId="urn:microsoft.com/office/officeart/2005/8/layout/hierarchy1"/>
    <dgm:cxn modelId="{C0355A54-BD2A-4D64-8BE8-8A55E76742B3}" type="presParOf" srcId="{EB12437F-C0B8-4F47-A721-992807CABE45}" destId="{F03CAE5D-7C62-49B9-AA9D-FC4930F9FB9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E14DC9F-75B3-4211-9085-5D82EB6B6BE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3095145-8CB8-493D-BE6C-D2E0D6634694}">
      <dgm:prSet/>
      <dgm:spPr/>
      <dgm:t>
        <a:bodyPr/>
        <a:lstStyle/>
        <a:p>
          <a:r>
            <a:rPr lang="en-US" b="0" i="0" baseline="0"/>
            <a:t>Select your 3D object (e.g., a rock or house).</a:t>
          </a:r>
          <a:endParaRPr lang="en-US"/>
        </a:p>
      </dgm:t>
    </dgm:pt>
    <dgm:pt modelId="{3AD5890C-4AF8-49D6-972A-9A54401EE891}" type="parTrans" cxnId="{63EC80F3-A469-4D5F-9A39-08B61E4CEA73}">
      <dgm:prSet/>
      <dgm:spPr/>
      <dgm:t>
        <a:bodyPr/>
        <a:lstStyle/>
        <a:p>
          <a:endParaRPr lang="en-US"/>
        </a:p>
      </dgm:t>
    </dgm:pt>
    <dgm:pt modelId="{80EF1734-F8B4-429D-B0AE-4DFAD6832A16}" type="sibTrans" cxnId="{63EC80F3-A469-4D5F-9A39-08B61E4CEA73}">
      <dgm:prSet/>
      <dgm:spPr/>
      <dgm:t>
        <a:bodyPr/>
        <a:lstStyle/>
        <a:p>
          <a:endParaRPr lang="en-US"/>
        </a:p>
      </dgm:t>
    </dgm:pt>
    <dgm:pt modelId="{EAF553E1-130D-407B-9C4E-992A0D1411D7}">
      <dgm:prSet/>
      <dgm:spPr/>
      <dgm:t>
        <a:bodyPr/>
        <a:lstStyle/>
        <a:p>
          <a:r>
            <a:rPr lang="en-US" b="0" i="0" baseline="0"/>
            <a:t>In the Inspector, click Add Component → Mesh Collider.</a:t>
          </a:r>
          <a:endParaRPr lang="en-US"/>
        </a:p>
      </dgm:t>
    </dgm:pt>
    <dgm:pt modelId="{23893A1B-E07F-4366-A3A3-C72553410426}" type="parTrans" cxnId="{1656854B-3B2F-47A3-A022-9D8E38E1E8F2}">
      <dgm:prSet/>
      <dgm:spPr/>
      <dgm:t>
        <a:bodyPr/>
        <a:lstStyle/>
        <a:p>
          <a:endParaRPr lang="en-US"/>
        </a:p>
      </dgm:t>
    </dgm:pt>
    <dgm:pt modelId="{F02C086C-CEDD-4CA6-89F1-D5D3F6DCAD30}" type="sibTrans" cxnId="{1656854B-3B2F-47A3-A022-9D8E38E1E8F2}">
      <dgm:prSet/>
      <dgm:spPr/>
      <dgm:t>
        <a:bodyPr/>
        <a:lstStyle/>
        <a:p>
          <a:endParaRPr lang="en-US"/>
        </a:p>
      </dgm:t>
    </dgm:pt>
    <dgm:pt modelId="{EF5083AF-588A-4733-A087-025401B8A899}">
      <dgm:prSet/>
      <dgm:spPr/>
      <dgm:t>
        <a:bodyPr/>
        <a:lstStyle/>
        <a:p>
          <a:r>
            <a:rPr lang="en-US" b="0" i="0" baseline="0"/>
            <a:t>Unity will use the object’s mesh (its real shape) to create the collider.</a:t>
          </a:r>
          <a:endParaRPr lang="en-US"/>
        </a:p>
      </dgm:t>
    </dgm:pt>
    <dgm:pt modelId="{4339C808-7A42-40D8-A728-F0528B281D12}" type="parTrans" cxnId="{3D4340BF-84AC-4981-B61F-3BC58F78CAE2}">
      <dgm:prSet/>
      <dgm:spPr/>
      <dgm:t>
        <a:bodyPr/>
        <a:lstStyle/>
        <a:p>
          <a:endParaRPr lang="en-US"/>
        </a:p>
      </dgm:t>
    </dgm:pt>
    <dgm:pt modelId="{E0C60646-0233-4810-938C-045878029737}" type="sibTrans" cxnId="{3D4340BF-84AC-4981-B61F-3BC58F78CAE2}">
      <dgm:prSet/>
      <dgm:spPr/>
      <dgm:t>
        <a:bodyPr/>
        <a:lstStyle/>
        <a:p>
          <a:endParaRPr lang="en-US"/>
        </a:p>
      </dgm:t>
    </dgm:pt>
    <dgm:pt modelId="{B04FD82C-EF3C-4F0E-9FAF-055523D350EB}" type="pres">
      <dgm:prSet presAssocID="{AE14DC9F-75B3-4211-9085-5D82EB6B6BEC}" presName="root" presStyleCnt="0">
        <dgm:presLayoutVars>
          <dgm:dir/>
          <dgm:resizeHandles val="exact"/>
        </dgm:presLayoutVars>
      </dgm:prSet>
      <dgm:spPr/>
    </dgm:pt>
    <dgm:pt modelId="{15C884A8-EB54-4B4E-ADE6-3AF377A9F95D}" type="pres">
      <dgm:prSet presAssocID="{73095145-8CB8-493D-BE6C-D2E0D6634694}" presName="compNode" presStyleCnt="0"/>
      <dgm:spPr/>
    </dgm:pt>
    <dgm:pt modelId="{24127D02-046C-4A56-B34F-9AB972B49108}" type="pres">
      <dgm:prSet presAssocID="{73095145-8CB8-493D-BE6C-D2E0D6634694}" presName="bgRect" presStyleLbl="bgShp" presStyleIdx="0" presStyleCnt="3"/>
      <dgm:spPr/>
    </dgm:pt>
    <dgm:pt modelId="{AA8CEE84-D42F-4EAE-B052-937C47FD9478}" type="pres">
      <dgm:prSet presAssocID="{73095145-8CB8-493D-BE6C-D2E0D663469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untains"/>
        </a:ext>
      </dgm:extLst>
    </dgm:pt>
    <dgm:pt modelId="{599EFBF7-9578-40C7-BC8E-501006501C77}" type="pres">
      <dgm:prSet presAssocID="{73095145-8CB8-493D-BE6C-D2E0D6634694}" presName="spaceRect" presStyleCnt="0"/>
      <dgm:spPr/>
    </dgm:pt>
    <dgm:pt modelId="{B0A9C274-CACC-4DB3-BE71-FDCD28F83E43}" type="pres">
      <dgm:prSet presAssocID="{73095145-8CB8-493D-BE6C-D2E0D6634694}" presName="parTx" presStyleLbl="revTx" presStyleIdx="0" presStyleCnt="3">
        <dgm:presLayoutVars>
          <dgm:chMax val="0"/>
          <dgm:chPref val="0"/>
        </dgm:presLayoutVars>
      </dgm:prSet>
      <dgm:spPr/>
    </dgm:pt>
    <dgm:pt modelId="{F9EB7868-DD80-4486-81AD-528B86C94719}" type="pres">
      <dgm:prSet presAssocID="{80EF1734-F8B4-429D-B0AE-4DFAD6832A16}" presName="sibTrans" presStyleCnt="0"/>
      <dgm:spPr/>
    </dgm:pt>
    <dgm:pt modelId="{8D2F2563-3172-468D-A717-4D23D52D4376}" type="pres">
      <dgm:prSet presAssocID="{EAF553E1-130D-407B-9C4E-992A0D1411D7}" presName="compNode" presStyleCnt="0"/>
      <dgm:spPr/>
    </dgm:pt>
    <dgm:pt modelId="{71A23F44-C3E6-4F0C-A6A4-AB878932C700}" type="pres">
      <dgm:prSet presAssocID="{EAF553E1-130D-407B-9C4E-992A0D1411D7}" presName="bgRect" presStyleLbl="bgShp" presStyleIdx="1" presStyleCnt="3"/>
      <dgm:spPr/>
    </dgm:pt>
    <dgm:pt modelId="{5627CFF7-7E9F-4DB2-9A87-4477B4C431D2}" type="pres">
      <dgm:prSet presAssocID="{EAF553E1-130D-407B-9C4E-992A0D1411D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tective"/>
        </a:ext>
      </dgm:extLst>
    </dgm:pt>
    <dgm:pt modelId="{40A2460F-3A64-48B8-B628-400A75C24E2F}" type="pres">
      <dgm:prSet presAssocID="{EAF553E1-130D-407B-9C4E-992A0D1411D7}" presName="spaceRect" presStyleCnt="0"/>
      <dgm:spPr/>
    </dgm:pt>
    <dgm:pt modelId="{6FB97F5B-6933-4C79-9B1E-C75673B0A353}" type="pres">
      <dgm:prSet presAssocID="{EAF553E1-130D-407B-9C4E-992A0D1411D7}" presName="parTx" presStyleLbl="revTx" presStyleIdx="1" presStyleCnt="3">
        <dgm:presLayoutVars>
          <dgm:chMax val="0"/>
          <dgm:chPref val="0"/>
        </dgm:presLayoutVars>
      </dgm:prSet>
      <dgm:spPr/>
    </dgm:pt>
    <dgm:pt modelId="{1B05F763-2FDA-43E4-B6CA-0513AEE0AFE4}" type="pres">
      <dgm:prSet presAssocID="{F02C086C-CEDD-4CA6-89F1-D5D3F6DCAD30}" presName="sibTrans" presStyleCnt="0"/>
      <dgm:spPr/>
    </dgm:pt>
    <dgm:pt modelId="{69EEBA98-D5FD-4737-B001-77B35DFFF09D}" type="pres">
      <dgm:prSet presAssocID="{EF5083AF-588A-4733-A087-025401B8A899}" presName="compNode" presStyleCnt="0"/>
      <dgm:spPr/>
    </dgm:pt>
    <dgm:pt modelId="{3635150B-FBDF-4ADB-8BCC-3F49CBB834CE}" type="pres">
      <dgm:prSet presAssocID="{EF5083AF-588A-4733-A087-025401B8A899}" presName="bgRect" presStyleLbl="bgShp" presStyleIdx="2" presStyleCnt="3"/>
      <dgm:spPr/>
    </dgm:pt>
    <dgm:pt modelId="{3C5E9A95-AA59-431F-B0DC-DE5185F19911}" type="pres">
      <dgm:prSet presAssocID="{EF5083AF-588A-4733-A087-025401B8A89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FD9667BA-E9A5-453D-938A-9124B0D84F57}" type="pres">
      <dgm:prSet presAssocID="{EF5083AF-588A-4733-A087-025401B8A899}" presName="spaceRect" presStyleCnt="0"/>
      <dgm:spPr/>
    </dgm:pt>
    <dgm:pt modelId="{DBECF533-7E29-4B0E-ACC7-F9FF03B5C74A}" type="pres">
      <dgm:prSet presAssocID="{EF5083AF-588A-4733-A087-025401B8A899}" presName="parTx" presStyleLbl="revTx" presStyleIdx="2" presStyleCnt="3">
        <dgm:presLayoutVars>
          <dgm:chMax val="0"/>
          <dgm:chPref val="0"/>
        </dgm:presLayoutVars>
      </dgm:prSet>
      <dgm:spPr/>
    </dgm:pt>
  </dgm:ptLst>
  <dgm:cxnLst>
    <dgm:cxn modelId="{10234001-1A74-4979-A465-F0171B6146FE}" type="presOf" srcId="{73095145-8CB8-493D-BE6C-D2E0D6634694}" destId="{B0A9C274-CACC-4DB3-BE71-FDCD28F83E43}" srcOrd="0" destOrd="0" presId="urn:microsoft.com/office/officeart/2018/2/layout/IconVerticalSolidList"/>
    <dgm:cxn modelId="{B9388B06-40E5-4E5C-9E42-DC93FC250064}" type="presOf" srcId="{EF5083AF-588A-4733-A087-025401B8A899}" destId="{DBECF533-7E29-4B0E-ACC7-F9FF03B5C74A}" srcOrd="0" destOrd="0" presId="urn:microsoft.com/office/officeart/2018/2/layout/IconVerticalSolidList"/>
    <dgm:cxn modelId="{F6A0930A-6048-4C79-BC5C-9554F4AC3285}" type="presOf" srcId="{AE14DC9F-75B3-4211-9085-5D82EB6B6BEC}" destId="{B04FD82C-EF3C-4F0E-9FAF-055523D350EB}" srcOrd="0" destOrd="0" presId="urn:microsoft.com/office/officeart/2018/2/layout/IconVerticalSolidList"/>
    <dgm:cxn modelId="{1656854B-3B2F-47A3-A022-9D8E38E1E8F2}" srcId="{AE14DC9F-75B3-4211-9085-5D82EB6B6BEC}" destId="{EAF553E1-130D-407B-9C4E-992A0D1411D7}" srcOrd="1" destOrd="0" parTransId="{23893A1B-E07F-4366-A3A3-C72553410426}" sibTransId="{F02C086C-CEDD-4CA6-89F1-D5D3F6DCAD30}"/>
    <dgm:cxn modelId="{3D4340BF-84AC-4981-B61F-3BC58F78CAE2}" srcId="{AE14DC9F-75B3-4211-9085-5D82EB6B6BEC}" destId="{EF5083AF-588A-4733-A087-025401B8A899}" srcOrd="2" destOrd="0" parTransId="{4339C808-7A42-40D8-A728-F0528B281D12}" sibTransId="{E0C60646-0233-4810-938C-045878029737}"/>
    <dgm:cxn modelId="{2CF728ED-B0FE-4DCC-8F83-399E29C5758E}" type="presOf" srcId="{EAF553E1-130D-407B-9C4E-992A0D1411D7}" destId="{6FB97F5B-6933-4C79-9B1E-C75673B0A353}" srcOrd="0" destOrd="0" presId="urn:microsoft.com/office/officeart/2018/2/layout/IconVerticalSolidList"/>
    <dgm:cxn modelId="{63EC80F3-A469-4D5F-9A39-08B61E4CEA73}" srcId="{AE14DC9F-75B3-4211-9085-5D82EB6B6BEC}" destId="{73095145-8CB8-493D-BE6C-D2E0D6634694}" srcOrd="0" destOrd="0" parTransId="{3AD5890C-4AF8-49D6-972A-9A54401EE891}" sibTransId="{80EF1734-F8B4-429D-B0AE-4DFAD6832A16}"/>
    <dgm:cxn modelId="{1F438BCA-40BE-4FE2-8EBF-A04766D11483}" type="presParOf" srcId="{B04FD82C-EF3C-4F0E-9FAF-055523D350EB}" destId="{15C884A8-EB54-4B4E-ADE6-3AF377A9F95D}" srcOrd="0" destOrd="0" presId="urn:microsoft.com/office/officeart/2018/2/layout/IconVerticalSolidList"/>
    <dgm:cxn modelId="{FD2B9B21-E2A7-4B53-8828-2F0F47C14497}" type="presParOf" srcId="{15C884A8-EB54-4B4E-ADE6-3AF377A9F95D}" destId="{24127D02-046C-4A56-B34F-9AB972B49108}" srcOrd="0" destOrd="0" presId="urn:microsoft.com/office/officeart/2018/2/layout/IconVerticalSolidList"/>
    <dgm:cxn modelId="{3EC605BC-4E99-4C96-B562-8EEB262D69A5}" type="presParOf" srcId="{15C884A8-EB54-4B4E-ADE6-3AF377A9F95D}" destId="{AA8CEE84-D42F-4EAE-B052-937C47FD9478}" srcOrd="1" destOrd="0" presId="urn:microsoft.com/office/officeart/2018/2/layout/IconVerticalSolidList"/>
    <dgm:cxn modelId="{1A7EAB8B-5399-4150-932F-631A6C229F20}" type="presParOf" srcId="{15C884A8-EB54-4B4E-ADE6-3AF377A9F95D}" destId="{599EFBF7-9578-40C7-BC8E-501006501C77}" srcOrd="2" destOrd="0" presId="urn:microsoft.com/office/officeart/2018/2/layout/IconVerticalSolidList"/>
    <dgm:cxn modelId="{AE64CF93-A936-48DE-8614-A4172B917D55}" type="presParOf" srcId="{15C884A8-EB54-4B4E-ADE6-3AF377A9F95D}" destId="{B0A9C274-CACC-4DB3-BE71-FDCD28F83E43}" srcOrd="3" destOrd="0" presId="urn:microsoft.com/office/officeart/2018/2/layout/IconVerticalSolidList"/>
    <dgm:cxn modelId="{A802981C-8256-4285-9B09-4F00B8E073EB}" type="presParOf" srcId="{B04FD82C-EF3C-4F0E-9FAF-055523D350EB}" destId="{F9EB7868-DD80-4486-81AD-528B86C94719}" srcOrd="1" destOrd="0" presId="urn:microsoft.com/office/officeart/2018/2/layout/IconVerticalSolidList"/>
    <dgm:cxn modelId="{C83E9BC5-399C-45EC-9910-FC2767642533}" type="presParOf" srcId="{B04FD82C-EF3C-4F0E-9FAF-055523D350EB}" destId="{8D2F2563-3172-468D-A717-4D23D52D4376}" srcOrd="2" destOrd="0" presId="urn:microsoft.com/office/officeart/2018/2/layout/IconVerticalSolidList"/>
    <dgm:cxn modelId="{3DB199DE-AE4E-4526-94DC-1ED9818CDB71}" type="presParOf" srcId="{8D2F2563-3172-468D-A717-4D23D52D4376}" destId="{71A23F44-C3E6-4F0C-A6A4-AB878932C700}" srcOrd="0" destOrd="0" presId="urn:microsoft.com/office/officeart/2018/2/layout/IconVerticalSolidList"/>
    <dgm:cxn modelId="{DEBBE8AF-16AB-44D9-971B-A76B00E55E44}" type="presParOf" srcId="{8D2F2563-3172-468D-A717-4D23D52D4376}" destId="{5627CFF7-7E9F-4DB2-9A87-4477B4C431D2}" srcOrd="1" destOrd="0" presId="urn:microsoft.com/office/officeart/2018/2/layout/IconVerticalSolidList"/>
    <dgm:cxn modelId="{2A4884CE-55FE-46B4-A633-518F3D721E7E}" type="presParOf" srcId="{8D2F2563-3172-468D-A717-4D23D52D4376}" destId="{40A2460F-3A64-48B8-B628-400A75C24E2F}" srcOrd="2" destOrd="0" presId="urn:microsoft.com/office/officeart/2018/2/layout/IconVerticalSolidList"/>
    <dgm:cxn modelId="{E2683D2A-2852-4FAF-94B0-30C56E65A731}" type="presParOf" srcId="{8D2F2563-3172-468D-A717-4D23D52D4376}" destId="{6FB97F5B-6933-4C79-9B1E-C75673B0A353}" srcOrd="3" destOrd="0" presId="urn:microsoft.com/office/officeart/2018/2/layout/IconVerticalSolidList"/>
    <dgm:cxn modelId="{B5E1C354-AD7A-4197-B037-F469218DE92A}" type="presParOf" srcId="{B04FD82C-EF3C-4F0E-9FAF-055523D350EB}" destId="{1B05F763-2FDA-43E4-B6CA-0513AEE0AFE4}" srcOrd="3" destOrd="0" presId="urn:microsoft.com/office/officeart/2018/2/layout/IconVerticalSolidList"/>
    <dgm:cxn modelId="{9EBE4A0D-BFEE-47FC-8B91-BFB936670FEA}" type="presParOf" srcId="{B04FD82C-EF3C-4F0E-9FAF-055523D350EB}" destId="{69EEBA98-D5FD-4737-B001-77B35DFFF09D}" srcOrd="4" destOrd="0" presId="urn:microsoft.com/office/officeart/2018/2/layout/IconVerticalSolidList"/>
    <dgm:cxn modelId="{3C958927-F253-4391-A0F4-7A171E34C94C}" type="presParOf" srcId="{69EEBA98-D5FD-4737-B001-77B35DFFF09D}" destId="{3635150B-FBDF-4ADB-8BCC-3F49CBB834CE}" srcOrd="0" destOrd="0" presId="urn:microsoft.com/office/officeart/2018/2/layout/IconVerticalSolidList"/>
    <dgm:cxn modelId="{8CAD91D5-87A2-4990-BEC4-960275C19567}" type="presParOf" srcId="{69EEBA98-D5FD-4737-B001-77B35DFFF09D}" destId="{3C5E9A95-AA59-431F-B0DC-DE5185F19911}" srcOrd="1" destOrd="0" presId="urn:microsoft.com/office/officeart/2018/2/layout/IconVerticalSolidList"/>
    <dgm:cxn modelId="{7B4998C6-EEC1-4D2E-9E15-B0480252E97E}" type="presParOf" srcId="{69EEBA98-D5FD-4737-B001-77B35DFFF09D}" destId="{FD9667BA-E9A5-453D-938A-9124B0D84F57}" srcOrd="2" destOrd="0" presId="urn:microsoft.com/office/officeart/2018/2/layout/IconVerticalSolidList"/>
    <dgm:cxn modelId="{7CF59ECB-3228-44D2-9A57-2FCECEAFB01B}" type="presParOf" srcId="{69EEBA98-D5FD-4737-B001-77B35DFFF09D}" destId="{DBECF533-7E29-4B0E-ACC7-F9FF03B5C74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CE1C48-D7FD-4CC2-8182-C059897DF5D7}"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B72E8AC4-AF1D-4DA5-9790-7F5C22D91B89}">
      <dgm:prSet/>
      <dgm:spPr/>
      <dgm:t>
        <a:bodyPr/>
        <a:lstStyle/>
        <a:p>
          <a:r>
            <a:rPr lang="en-US"/>
            <a:t>Awake()</a:t>
          </a:r>
        </a:p>
      </dgm:t>
    </dgm:pt>
    <dgm:pt modelId="{ADF53067-3E4B-4D1B-80CA-C4A1E9434E2D}" type="parTrans" cxnId="{F582C276-322B-4654-B74D-94861D11DB45}">
      <dgm:prSet/>
      <dgm:spPr/>
      <dgm:t>
        <a:bodyPr/>
        <a:lstStyle/>
        <a:p>
          <a:endParaRPr lang="en-US"/>
        </a:p>
      </dgm:t>
    </dgm:pt>
    <dgm:pt modelId="{B5BDA844-FF6F-4FD9-806D-9D6191C22BEA}" type="sibTrans" cxnId="{F582C276-322B-4654-B74D-94861D11DB45}">
      <dgm:prSet/>
      <dgm:spPr/>
      <dgm:t>
        <a:bodyPr/>
        <a:lstStyle/>
        <a:p>
          <a:endParaRPr lang="en-US"/>
        </a:p>
      </dgm:t>
    </dgm:pt>
    <dgm:pt modelId="{D9747559-4F84-49E9-BC0B-6CFA784B8803}">
      <dgm:prSet/>
      <dgm:spPr/>
      <dgm:t>
        <a:bodyPr/>
        <a:lstStyle/>
        <a:p>
          <a:r>
            <a:rPr lang="en-IN"/>
            <a:t>OnEnable()</a:t>
          </a:r>
          <a:endParaRPr lang="en-US"/>
        </a:p>
      </dgm:t>
    </dgm:pt>
    <dgm:pt modelId="{08816273-B9E6-4BDE-948C-8AA08B3062F9}" type="parTrans" cxnId="{53AAF177-B52E-4942-9686-5A554DC325E5}">
      <dgm:prSet/>
      <dgm:spPr/>
      <dgm:t>
        <a:bodyPr/>
        <a:lstStyle/>
        <a:p>
          <a:endParaRPr lang="en-US"/>
        </a:p>
      </dgm:t>
    </dgm:pt>
    <dgm:pt modelId="{74D02E47-6798-4362-95DF-29EA1D3EA33A}" type="sibTrans" cxnId="{53AAF177-B52E-4942-9686-5A554DC325E5}">
      <dgm:prSet/>
      <dgm:spPr/>
      <dgm:t>
        <a:bodyPr/>
        <a:lstStyle/>
        <a:p>
          <a:endParaRPr lang="en-US"/>
        </a:p>
      </dgm:t>
    </dgm:pt>
    <dgm:pt modelId="{24DE554B-CBE9-46DE-ACB0-D6D840A26BC8}">
      <dgm:prSet/>
      <dgm:spPr/>
      <dgm:t>
        <a:bodyPr/>
        <a:lstStyle/>
        <a:p>
          <a:r>
            <a:rPr lang="en-IN"/>
            <a:t>Start()</a:t>
          </a:r>
          <a:endParaRPr lang="en-US"/>
        </a:p>
      </dgm:t>
    </dgm:pt>
    <dgm:pt modelId="{C3A3A379-CC42-46E2-A995-56F923357FE1}" type="parTrans" cxnId="{5A740206-85EC-43EB-ABD7-270641820AEC}">
      <dgm:prSet/>
      <dgm:spPr/>
      <dgm:t>
        <a:bodyPr/>
        <a:lstStyle/>
        <a:p>
          <a:endParaRPr lang="en-US"/>
        </a:p>
      </dgm:t>
    </dgm:pt>
    <dgm:pt modelId="{81564191-CA22-4163-BD10-BAC0B48312E9}" type="sibTrans" cxnId="{5A740206-85EC-43EB-ABD7-270641820AEC}">
      <dgm:prSet/>
      <dgm:spPr/>
      <dgm:t>
        <a:bodyPr/>
        <a:lstStyle/>
        <a:p>
          <a:endParaRPr lang="en-US"/>
        </a:p>
      </dgm:t>
    </dgm:pt>
    <dgm:pt modelId="{060DA9D8-D7F5-4EDE-BAD7-96BA5C19DC19}">
      <dgm:prSet/>
      <dgm:spPr/>
      <dgm:t>
        <a:bodyPr/>
        <a:lstStyle/>
        <a:p>
          <a:r>
            <a:rPr lang="en-IN"/>
            <a:t>Update()</a:t>
          </a:r>
          <a:endParaRPr lang="en-US"/>
        </a:p>
      </dgm:t>
    </dgm:pt>
    <dgm:pt modelId="{960B180B-45A3-4260-9FFA-4AA0046FA4BB}" type="parTrans" cxnId="{6008FAF9-571C-4005-99E2-E9DE745105FD}">
      <dgm:prSet/>
      <dgm:spPr/>
      <dgm:t>
        <a:bodyPr/>
        <a:lstStyle/>
        <a:p>
          <a:endParaRPr lang="en-US"/>
        </a:p>
      </dgm:t>
    </dgm:pt>
    <dgm:pt modelId="{A0406599-8B44-4C0E-B7D9-4CB84DFB5248}" type="sibTrans" cxnId="{6008FAF9-571C-4005-99E2-E9DE745105FD}">
      <dgm:prSet/>
      <dgm:spPr/>
      <dgm:t>
        <a:bodyPr/>
        <a:lstStyle/>
        <a:p>
          <a:endParaRPr lang="en-US"/>
        </a:p>
      </dgm:t>
    </dgm:pt>
    <dgm:pt modelId="{E8A50A7B-10D6-405A-B53C-FD223AFE4F8C}">
      <dgm:prSet/>
      <dgm:spPr/>
      <dgm:t>
        <a:bodyPr/>
        <a:lstStyle/>
        <a:p>
          <a:r>
            <a:rPr lang="en-IN"/>
            <a:t>FixedUpdate()</a:t>
          </a:r>
          <a:endParaRPr lang="en-US"/>
        </a:p>
      </dgm:t>
    </dgm:pt>
    <dgm:pt modelId="{B65E5E12-78B1-4E9A-9150-066B07DDFDCA}" type="parTrans" cxnId="{681D7074-B95D-438E-A0AD-EC229A3E8FC1}">
      <dgm:prSet/>
      <dgm:spPr/>
      <dgm:t>
        <a:bodyPr/>
        <a:lstStyle/>
        <a:p>
          <a:endParaRPr lang="en-US"/>
        </a:p>
      </dgm:t>
    </dgm:pt>
    <dgm:pt modelId="{3294EBD3-16E9-4EF5-8610-369B3D8857FD}" type="sibTrans" cxnId="{681D7074-B95D-438E-A0AD-EC229A3E8FC1}">
      <dgm:prSet/>
      <dgm:spPr/>
      <dgm:t>
        <a:bodyPr/>
        <a:lstStyle/>
        <a:p>
          <a:endParaRPr lang="en-US"/>
        </a:p>
      </dgm:t>
    </dgm:pt>
    <dgm:pt modelId="{31446C7A-33DC-43DA-BE8B-5F6BDA21E084}">
      <dgm:prSet/>
      <dgm:spPr/>
      <dgm:t>
        <a:bodyPr/>
        <a:lstStyle/>
        <a:p>
          <a:r>
            <a:rPr lang="en-IN"/>
            <a:t>LateUpdate()</a:t>
          </a:r>
          <a:endParaRPr lang="en-US"/>
        </a:p>
      </dgm:t>
    </dgm:pt>
    <dgm:pt modelId="{42EB2206-A84D-466A-9ECB-FE464A91CA13}" type="parTrans" cxnId="{CD477AFC-2F5A-4F31-99EC-495AAFABEEA2}">
      <dgm:prSet/>
      <dgm:spPr/>
      <dgm:t>
        <a:bodyPr/>
        <a:lstStyle/>
        <a:p>
          <a:endParaRPr lang="en-US"/>
        </a:p>
      </dgm:t>
    </dgm:pt>
    <dgm:pt modelId="{F826832C-9510-48AA-8A61-A8599B459CBA}" type="sibTrans" cxnId="{CD477AFC-2F5A-4F31-99EC-495AAFABEEA2}">
      <dgm:prSet/>
      <dgm:spPr/>
      <dgm:t>
        <a:bodyPr/>
        <a:lstStyle/>
        <a:p>
          <a:endParaRPr lang="en-US"/>
        </a:p>
      </dgm:t>
    </dgm:pt>
    <dgm:pt modelId="{90C68F28-FF5B-4583-BC0F-B1BA4BD9FC4F}">
      <dgm:prSet/>
      <dgm:spPr/>
      <dgm:t>
        <a:bodyPr/>
        <a:lstStyle/>
        <a:p>
          <a:r>
            <a:rPr lang="en-IN"/>
            <a:t>OnDisable()</a:t>
          </a:r>
          <a:endParaRPr lang="en-US"/>
        </a:p>
      </dgm:t>
    </dgm:pt>
    <dgm:pt modelId="{719416D3-AB2A-4744-9CF4-2BDF99454373}" type="parTrans" cxnId="{7FC6DBC2-2B13-4382-8C8D-7A90A9E321A2}">
      <dgm:prSet/>
      <dgm:spPr/>
      <dgm:t>
        <a:bodyPr/>
        <a:lstStyle/>
        <a:p>
          <a:endParaRPr lang="en-US"/>
        </a:p>
      </dgm:t>
    </dgm:pt>
    <dgm:pt modelId="{FE18B607-1F43-40A1-B29E-2C2D0D32B270}" type="sibTrans" cxnId="{7FC6DBC2-2B13-4382-8C8D-7A90A9E321A2}">
      <dgm:prSet/>
      <dgm:spPr/>
      <dgm:t>
        <a:bodyPr/>
        <a:lstStyle/>
        <a:p>
          <a:endParaRPr lang="en-US"/>
        </a:p>
      </dgm:t>
    </dgm:pt>
    <dgm:pt modelId="{4336B9F4-F1A4-439B-A3BE-E0F06F210373}">
      <dgm:prSet/>
      <dgm:spPr/>
      <dgm:t>
        <a:bodyPr/>
        <a:lstStyle/>
        <a:p>
          <a:r>
            <a:rPr lang="en-IN"/>
            <a:t>OnDestroy()</a:t>
          </a:r>
          <a:endParaRPr lang="en-US"/>
        </a:p>
      </dgm:t>
    </dgm:pt>
    <dgm:pt modelId="{89ABF7C8-EDC4-4A31-902D-3A30933E555C}" type="parTrans" cxnId="{4F081C6F-D433-4446-A669-E490509A8D50}">
      <dgm:prSet/>
      <dgm:spPr/>
      <dgm:t>
        <a:bodyPr/>
        <a:lstStyle/>
        <a:p>
          <a:endParaRPr lang="en-US"/>
        </a:p>
      </dgm:t>
    </dgm:pt>
    <dgm:pt modelId="{B14DCBD1-98AF-4D70-A699-B16F359FE75C}" type="sibTrans" cxnId="{4F081C6F-D433-4446-A669-E490509A8D50}">
      <dgm:prSet/>
      <dgm:spPr/>
      <dgm:t>
        <a:bodyPr/>
        <a:lstStyle/>
        <a:p>
          <a:endParaRPr lang="en-US"/>
        </a:p>
      </dgm:t>
    </dgm:pt>
    <dgm:pt modelId="{0FFC01E8-A714-455D-869A-94A06195EFB0}" type="pres">
      <dgm:prSet presAssocID="{95CE1C48-D7FD-4CC2-8182-C059897DF5D7}" presName="Name0" presStyleCnt="0">
        <dgm:presLayoutVars>
          <dgm:dir/>
          <dgm:resizeHandles val="exact"/>
        </dgm:presLayoutVars>
      </dgm:prSet>
      <dgm:spPr/>
    </dgm:pt>
    <dgm:pt modelId="{C2E41758-B5C8-426D-A208-D6F6B659EE02}" type="pres">
      <dgm:prSet presAssocID="{B72E8AC4-AF1D-4DA5-9790-7F5C22D91B89}" presName="node" presStyleLbl="node1" presStyleIdx="0" presStyleCnt="8">
        <dgm:presLayoutVars>
          <dgm:bulletEnabled val="1"/>
        </dgm:presLayoutVars>
      </dgm:prSet>
      <dgm:spPr/>
    </dgm:pt>
    <dgm:pt modelId="{EB06ADC1-D048-447A-B893-A0E4D2353E5A}" type="pres">
      <dgm:prSet presAssocID="{B5BDA844-FF6F-4FD9-806D-9D6191C22BEA}" presName="sibTrans" presStyleLbl="sibTrans1D1" presStyleIdx="0" presStyleCnt="7"/>
      <dgm:spPr/>
    </dgm:pt>
    <dgm:pt modelId="{567C13B4-14DE-492C-91BD-576F30213ABB}" type="pres">
      <dgm:prSet presAssocID="{B5BDA844-FF6F-4FD9-806D-9D6191C22BEA}" presName="connectorText" presStyleLbl="sibTrans1D1" presStyleIdx="0" presStyleCnt="7"/>
      <dgm:spPr/>
    </dgm:pt>
    <dgm:pt modelId="{37D62078-7949-4993-B88C-BF5E622AA62A}" type="pres">
      <dgm:prSet presAssocID="{D9747559-4F84-49E9-BC0B-6CFA784B8803}" presName="node" presStyleLbl="node1" presStyleIdx="1" presStyleCnt="8">
        <dgm:presLayoutVars>
          <dgm:bulletEnabled val="1"/>
        </dgm:presLayoutVars>
      </dgm:prSet>
      <dgm:spPr/>
    </dgm:pt>
    <dgm:pt modelId="{A4FA057A-A79E-4E8D-B0EC-55E9DB9ACB15}" type="pres">
      <dgm:prSet presAssocID="{74D02E47-6798-4362-95DF-29EA1D3EA33A}" presName="sibTrans" presStyleLbl="sibTrans1D1" presStyleIdx="1" presStyleCnt="7"/>
      <dgm:spPr/>
    </dgm:pt>
    <dgm:pt modelId="{AE787D04-8397-4BC1-8F6B-49352D5A1705}" type="pres">
      <dgm:prSet presAssocID="{74D02E47-6798-4362-95DF-29EA1D3EA33A}" presName="connectorText" presStyleLbl="sibTrans1D1" presStyleIdx="1" presStyleCnt="7"/>
      <dgm:spPr/>
    </dgm:pt>
    <dgm:pt modelId="{199CDE28-E167-44B4-AF20-DE68AE104B39}" type="pres">
      <dgm:prSet presAssocID="{24DE554B-CBE9-46DE-ACB0-D6D840A26BC8}" presName="node" presStyleLbl="node1" presStyleIdx="2" presStyleCnt="8">
        <dgm:presLayoutVars>
          <dgm:bulletEnabled val="1"/>
        </dgm:presLayoutVars>
      </dgm:prSet>
      <dgm:spPr/>
    </dgm:pt>
    <dgm:pt modelId="{B20F93A5-DC90-42CF-AAC1-14C216005716}" type="pres">
      <dgm:prSet presAssocID="{81564191-CA22-4163-BD10-BAC0B48312E9}" presName="sibTrans" presStyleLbl="sibTrans1D1" presStyleIdx="2" presStyleCnt="7"/>
      <dgm:spPr/>
    </dgm:pt>
    <dgm:pt modelId="{B5679D9A-1C28-4933-A541-F61128980453}" type="pres">
      <dgm:prSet presAssocID="{81564191-CA22-4163-BD10-BAC0B48312E9}" presName="connectorText" presStyleLbl="sibTrans1D1" presStyleIdx="2" presStyleCnt="7"/>
      <dgm:spPr/>
    </dgm:pt>
    <dgm:pt modelId="{5CDA3DDE-ED81-4548-90C2-B4FC93BCECA9}" type="pres">
      <dgm:prSet presAssocID="{060DA9D8-D7F5-4EDE-BAD7-96BA5C19DC19}" presName="node" presStyleLbl="node1" presStyleIdx="3" presStyleCnt="8">
        <dgm:presLayoutVars>
          <dgm:bulletEnabled val="1"/>
        </dgm:presLayoutVars>
      </dgm:prSet>
      <dgm:spPr/>
    </dgm:pt>
    <dgm:pt modelId="{4E2C0F5D-384B-4B20-AC73-6618C337FF05}" type="pres">
      <dgm:prSet presAssocID="{A0406599-8B44-4C0E-B7D9-4CB84DFB5248}" presName="sibTrans" presStyleLbl="sibTrans1D1" presStyleIdx="3" presStyleCnt="7"/>
      <dgm:spPr/>
    </dgm:pt>
    <dgm:pt modelId="{26A64E10-B297-4899-82CE-9B944A5902CB}" type="pres">
      <dgm:prSet presAssocID="{A0406599-8B44-4C0E-B7D9-4CB84DFB5248}" presName="connectorText" presStyleLbl="sibTrans1D1" presStyleIdx="3" presStyleCnt="7"/>
      <dgm:spPr/>
    </dgm:pt>
    <dgm:pt modelId="{50C4B1E1-B6EE-416B-9104-ABD891373964}" type="pres">
      <dgm:prSet presAssocID="{E8A50A7B-10D6-405A-B53C-FD223AFE4F8C}" presName="node" presStyleLbl="node1" presStyleIdx="4" presStyleCnt="8">
        <dgm:presLayoutVars>
          <dgm:bulletEnabled val="1"/>
        </dgm:presLayoutVars>
      </dgm:prSet>
      <dgm:spPr/>
    </dgm:pt>
    <dgm:pt modelId="{E8CA683C-DC33-446F-A75C-E619F68C1931}" type="pres">
      <dgm:prSet presAssocID="{3294EBD3-16E9-4EF5-8610-369B3D8857FD}" presName="sibTrans" presStyleLbl="sibTrans1D1" presStyleIdx="4" presStyleCnt="7"/>
      <dgm:spPr/>
    </dgm:pt>
    <dgm:pt modelId="{314E15AB-5D97-415F-A5A5-C02D36251AB0}" type="pres">
      <dgm:prSet presAssocID="{3294EBD3-16E9-4EF5-8610-369B3D8857FD}" presName="connectorText" presStyleLbl="sibTrans1D1" presStyleIdx="4" presStyleCnt="7"/>
      <dgm:spPr/>
    </dgm:pt>
    <dgm:pt modelId="{8B6410FC-96EB-4177-A2E4-AA5FBBADEAC7}" type="pres">
      <dgm:prSet presAssocID="{31446C7A-33DC-43DA-BE8B-5F6BDA21E084}" presName="node" presStyleLbl="node1" presStyleIdx="5" presStyleCnt="8">
        <dgm:presLayoutVars>
          <dgm:bulletEnabled val="1"/>
        </dgm:presLayoutVars>
      </dgm:prSet>
      <dgm:spPr/>
    </dgm:pt>
    <dgm:pt modelId="{B1DA385E-B62C-4113-AF2A-AC4C9329BCAC}" type="pres">
      <dgm:prSet presAssocID="{F826832C-9510-48AA-8A61-A8599B459CBA}" presName="sibTrans" presStyleLbl="sibTrans1D1" presStyleIdx="5" presStyleCnt="7"/>
      <dgm:spPr/>
    </dgm:pt>
    <dgm:pt modelId="{88274800-62F4-475B-B5C8-82198601FCAD}" type="pres">
      <dgm:prSet presAssocID="{F826832C-9510-48AA-8A61-A8599B459CBA}" presName="connectorText" presStyleLbl="sibTrans1D1" presStyleIdx="5" presStyleCnt="7"/>
      <dgm:spPr/>
    </dgm:pt>
    <dgm:pt modelId="{0E0B1D72-87A9-41FE-98E5-3F8E8118C71D}" type="pres">
      <dgm:prSet presAssocID="{90C68F28-FF5B-4583-BC0F-B1BA4BD9FC4F}" presName="node" presStyleLbl="node1" presStyleIdx="6" presStyleCnt="8">
        <dgm:presLayoutVars>
          <dgm:bulletEnabled val="1"/>
        </dgm:presLayoutVars>
      </dgm:prSet>
      <dgm:spPr/>
    </dgm:pt>
    <dgm:pt modelId="{E9BAE703-10CD-487A-B7F5-04A4CD62B44F}" type="pres">
      <dgm:prSet presAssocID="{FE18B607-1F43-40A1-B29E-2C2D0D32B270}" presName="sibTrans" presStyleLbl="sibTrans1D1" presStyleIdx="6" presStyleCnt="7"/>
      <dgm:spPr/>
    </dgm:pt>
    <dgm:pt modelId="{20AA6892-226C-4DDC-AC3E-5E4E2D9C78BE}" type="pres">
      <dgm:prSet presAssocID="{FE18B607-1F43-40A1-B29E-2C2D0D32B270}" presName="connectorText" presStyleLbl="sibTrans1D1" presStyleIdx="6" presStyleCnt="7"/>
      <dgm:spPr/>
    </dgm:pt>
    <dgm:pt modelId="{BFD34B7A-85F8-4AA1-8143-4B7A8C9115D4}" type="pres">
      <dgm:prSet presAssocID="{4336B9F4-F1A4-439B-A3BE-E0F06F210373}" presName="node" presStyleLbl="node1" presStyleIdx="7" presStyleCnt="8">
        <dgm:presLayoutVars>
          <dgm:bulletEnabled val="1"/>
        </dgm:presLayoutVars>
      </dgm:prSet>
      <dgm:spPr/>
    </dgm:pt>
  </dgm:ptLst>
  <dgm:cxnLst>
    <dgm:cxn modelId="{5A740206-85EC-43EB-ABD7-270641820AEC}" srcId="{95CE1C48-D7FD-4CC2-8182-C059897DF5D7}" destId="{24DE554B-CBE9-46DE-ACB0-D6D840A26BC8}" srcOrd="2" destOrd="0" parTransId="{C3A3A379-CC42-46E2-A995-56F923357FE1}" sibTransId="{81564191-CA22-4163-BD10-BAC0B48312E9}"/>
    <dgm:cxn modelId="{A4E6510C-1EAF-475D-8754-2722B1623129}" type="presOf" srcId="{90C68F28-FF5B-4583-BC0F-B1BA4BD9FC4F}" destId="{0E0B1D72-87A9-41FE-98E5-3F8E8118C71D}" srcOrd="0" destOrd="0" presId="urn:microsoft.com/office/officeart/2016/7/layout/RepeatingBendingProcessNew"/>
    <dgm:cxn modelId="{D1244C0D-D8DE-44E1-B766-18851DD7D15C}" type="presOf" srcId="{3294EBD3-16E9-4EF5-8610-369B3D8857FD}" destId="{E8CA683C-DC33-446F-A75C-E619F68C1931}" srcOrd="0" destOrd="0" presId="urn:microsoft.com/office/officeart/2016/7/layout/RepeatingBendingProcessNew"/>
    <dgm:cxn modelId="{81CC502B-8831-4838-A236-01BC96255364}" type="presOf" srcId="{B5BDA844-FF6F-4FD9-806D-9D6191C22BEA}" destId="{567C13B4-14DE-492C-91BD-576F30213ABB}" srcOrd="1" destOrd="0" presId="urn:microsoft.com/office/officeart/2016/7/layout/RepeatingBendingProcessNew"/>
    <dgm:cxn modelId="{B0CC1336-03AA-4CC6-8BB0-C0C3B1AD89E0}" type="presOf" srcId="{3294EBD3-16E9-4EF5-8610-369B3D8857FD}" destId="{314E15AB-5D97-415F-A5A5-C02D36251AB0}" srcOrd="1" destOrd="0" presId="urn:microsoft.com/office/officeart/2016/7/layout/RepeatingBendingProcessNew"/>
    <dgm:cxn modelId="{EFE99338-8D7A-4E98-952F-3BC60FCBB00F}" type="presOf" srcId="{A0406599-8B44-4C0E-B7D9-4CB84DFB5248}" destId="{4E2C0F5D-384B-4B20-AC73-6618C337FF05}" srcOrd="0" destOrd="0" presId="urn:microsoft.com/office/officeart/2016/7/layout/RepeatingBendingProcessNew"/>
    <dgm:cxn modelId="{0D088C3E-63F1-4F39-A8D6-455925E5D869}" type="presOf" srcId="{F826832C-9510-48AA-8A61-A8599B459CBA}" destId="{88274800-62F4-475B-B5C8-82198601FCAD}" srcOrd="1" destOrd="0" presId="urn:microsoft.com/office/officeart/2016/7/layout/RepeatingBendingProcessNew"/>
    <dgm:cxn modelId="{457C7F42-1FF2-4476-94B2-0AC228A223F4}" type="presOf" srcId="{74D02E47-6798-4362-95DF-29EA1D3EA33A}" destId="{AE787D04-8397-4BC1-8F6B-49352D5A1705}" srcOrd="1" destOrd="0" presId="urn:microsoft.com/office/officeart/2016/7/layout/RepeatingBendingProcessNew"/>
    <dgm:cxn modelId="{66A6AA62-14B1-45D8-A4C3-FC9E9E071B50}" type="presOf" srcId="{31446C7A-33DC-43DA-BE8B-5F6BDA21E084}" destId="{8B6410FC-96EB-4177-A2E4-AA5FBBADEAC7}" srcOrd="0" destOrd="0" presId="urn:microsoft.com/office/officeart/2016/7/layout/RepeatingBendingProcessNew"/>
    <dgm:cxn modelId="{7782D163-0152-4E6C-BC37-E1DC0252415A}" type="presOf" srcId="{060DA9D8-D7F5-4EDE-BAD7-96BA5C19DC19}" destId="{5CDA3DDE-ED81-4548-90C2-B4FC93BCECA9}" srcOrd="0" destOrd="0" presId="urn:microsoft.com/office/officeart/2016/7/layout/RepeatingBendingProcessNew"/>
    <dgm:cxn modelId="{A4E76F4A-E5C3-47D8-BD2D-7E26E87F6247}" type="presOf" srcId="{FE18B607-1F43-40A1-B29E-2C2D0D32B270}" destId="{E9BAE703-10CD-487A-B7F5-04A4CD62B44F}" srcOrd="0" destOrd="0" presId="urn:microsoft.com/office/officeart/2016/7/layout/RepeatingBendingProcessNew"/>
    <dgm:cxn modelId="{4F081C6F-D433-4446-A669-E490509A8D50}" srcId="{95CE1C48-D7FD-4CC2-8182-C059897DF5D7}" destId="{4336B9F4-F1A4-439B-A3BE-E0F06F210373}" srcOrd="7" destOrd="0" parTransId="{89ABF7C8-EDC4-4A31-902D-3A30933E555C}" sibTransId="{B14DCBD1-98AF-4D70-A699-B16F359FE75C}"/>
    <dgm:cxn modelId="{951A7153-7020-44C4-B1B8-B9BE0FCC56BA}" type="presOf" srcId="{F826832C-9510-48AA-8A61-A8599B459CBA}" destId="{B1DA385E-B62C-4113-AF2A-AC4C9329BCAC}" srcOrd="0" destOrd="0" presId="urn:microsoft.com/office/officeart/2016/7/layout/RepeatingBendingProcessNew"/>
    <dgm:cxn modelId="{681D7074-B95D-438E-A0AD-EC229A3E8FC1}" srcId="{95CE1C48-D7FD-4CC2-8182-C059897DF5D7}" destId="{E8A50A7B-10D6-405A-B53C-FD223AFE4F8C}" srcOrd="4" destOrd="0" parTransId="{B65E5E12-78B1-4E9A-9150-066B07DDFDCA}" sibTransId="{3294EBD3-16E9-4EF5-8610-369B3D8857FD}"/>
    <dgm:cxn modelId="{1CCB6C75-E005-4D12-8AA8-DEAB0853AD09}" type="presOf" srcId="{B72E8AC4-AF1D-4DA5-9790-7F5C22D91B89}" destId="{C2E41758-B5C8-426D-A208-D6F6B659EE02}" srcOrd="0" destOrd="0" presId="urn:microsoft.com/office/officeart/2016/7/layout/RepeatingBendingProcessNew"/>
    <dgm:cxn modelId="{F582C276-322B-4654-B74D-94861D11DB45}" srcId="{95CE1C48-D7FD-4CC2-8182-C059897DF5D7}" destId="{B72E8AC4-AF1D-4DA5-9790-7F5C22D91B89}" srcOrd="0" destOrd="0" parTransId="{ADF53067-3E4B-4D1B-80CA-C4A1E9434E2D}" sibTransId="{B5BDA844-FF6F-4FD9-806D-9D6191C22BEA}"/>
    <dgm:cxn modelId="{53AAF177-B52E-4942-9686-5A554DC325E5}" srcId="{95CE1C48-D7FD-4CC2-8182-C059897DF5D7}" destId="{D9747559-4F84-49E9-BC0B-6CFA784B8803}" srcOrd="1" destOrd="0" parTransId="{08816273-B9E6-4BDE-948C-8AA08B3062F9}" sibTransId="{74D02E47-6798-4362-95DF-29EA1D3EA33A}"/>
    <dgm:cxn modelId="{4DEA8158-BBF2-4AF2-AEEF-AC6E74A0BEDB}" type="presOf" srcId="{81564191-CA22-4163-BD10-BAC0B48312E9}" destId="{B5679D9A-1C28-4933-A541-F61128980453}" srcOrd="1" destOrd="0" presId="urn:microsoft.com/office/officeart/2016/7/layout/RepeatingBendingProcessNew"/>
    <dgm:cxn modelId="{F2544390-0AFD-4BF6-AB44-B254711FC900}" type="presOf" srcId="{95CE1C48-D7FD-4CC2-8182-C059897DF5D7}" destId="{0FFC01E8-A714-455D-869A-94A06195EFB0}" srcOrd="0" destOrd="0" presId="urn:microsoft.com/office/officeart/2016/7/layout/RepeatingBendingProcessNew"/>
    <dgm:cxn modelId="{33BCBA95-FB72-4A80-B236-93A132994A9F}" type="presOf" srcId="{4336B9F4-F1A4-439B-A3BE-E0F06F210373}" destId="{BFD34B7A-85F8-4AA1-8143-4B7A8C9115D4}" srcOrd="0" destOrd="0" presId="urn:microsoft.com/office/officeart/2016/7/layout/RepeatingBendingProcessNew"/>
    <dgm:cxn modelId="{B2508FB1-A66C-4C2E-B121-C7AA612109AC}" type="presOf" srcId="{FE18B607-1F43-40A1-B29E-2C2D0D32B270}" destId="{20AA6892-226C-4DDC-AC3E-5E4E2D9C78BE}" srcOrd="1" destOrd="0" presId="urn:microsoft.com/office/officeart/2016/7/layout/RepeatingBendingProcessNew"/>
    <dgm:cxn modelId="{7FC6DBC2-2B13-4382-8C8D-7A90A9E321A2}" srcId="{95CE1C48-D7FD-4CC2-8182-C059897DF5D7}" destId="{90C68F28-FF5B-4583-BC0F-B1BA4BD9FC4F}" srcOrd="6" destOrd="0" parTransId="{719416D3-AB2A-4744-9CF4-2BDF99454373}" sibTransId="{FE18B607-1F43-40A1-B29E-2C2D0D32B270}"/>
    <dgm:cxn modelId="{EA9357C7-87DB-4AA9-B405-2D580C049537}" type="presOf" srcId="{81564191-CA22-4163-BD10-BAC0B48312E9}" destId="{B20F93A5-DC90-42CF-AAC1-14C216005716}" srcOrd="0" destOrd="0" presId="urn:microsoft.com/office/officeart/2016/7/layout/RepeatingBendingProcessNew"/>
    <dgm:cxn modelId="{F691F3D1-2E74-4580-A398-19AFF218CA28}" type="presOf" srcId="{74D02E47-6798-4362-95DF-29EA1D3EA33A}" destId="{A4FA057A-A79E-4E8D-B0EC-55E9DB9ACB15}" srcOrd="0" destOrd="0" presId="urn:microsoft.com/office/officeart/2016/7/layout/RepeatingBendingProcessNew"/>
    <dgm:cxn modelId="{B4B1E6DC-2967-4A86-B3DE-F0E671816E4F}" type="presOf" srcId="{A0406599-8B44-4C0E-B7D9-4CB84DFB5248}" destId="{26A64E10-B297-4899-82CE-9B944A5902CB}" srcOrd="1" destOrd="0" presId="urn:microsoft.com/office/officeart/2016/7/layout/RepeatingBendingProcessNew"/>
    <dgm:cxn modelId="{07AF2BE5-0A66-4769-859D-A47B5B0664B6}" type="presOf" srcId="{B5BDA844-FF6F-4FD9-806D-9D6191C22BEA}" destId="{EB06ADC1-D048-447A-B893-A0E4D2353E5A}" srcOrd="0" destOrd="0" presId="urn:microsoft.com/office/officeart/2016/7/layout/RepeatingBendingProcessNew"/>
    <dgm:cxn modelId="{CC427BEC-1EB9-42A9-9622-CE98FED172A5}" type="presOf" srcId="{E8A50A7B-10D6-405A-B53C-FD223AFE4F8C}" destId="{50C4B1E1-B6EE-416B-9104-ABD891373964}" srcOrd="0" destOrd="0" presId="urn:microsoft.com/office/officeart/2016/7/layout/RepeatingBendingProcessNew"/>
    <dgm:cxn modelId="{9D9361EE-AB94-4E7B-B155-93CB62285795}" type="presOf" srcId="{D9747559-4F84-49E9-BC0B-6CFA784B8803}" destId="{37D62078-7949-4993-B88C-BF5E622AA62A}" srcOrd="0" destOrd="0" presId="urn:microsoft.com/office/officeart/2016/7/layout/RepeatingBendingProcessNew"/>
    <dgm:cxn modelId="{5B3D01EF-0B2B-42B7-8F36-F5428FF294F6}" type="presOf" srcId="{24DE554B-CBE9-46DE-ACB0-D6D840A26BC8}" destId="{199CDE28-E167-44B4-AF20-DE68AE104B39}" srcOrd="0" destOrd="0" presId="urn:microsoft.com/office/officeart/2016/7/layout/RepeatingBendingProcessNew"/>
    <dgm:cxn modelId="{6008FAF9-571C-4005-99E2-E9DE745105FD}" srcId="{95CE1C48-D7FD-4CC2-8182-C059897DF5D7}" destId="{060DA9D8-D7F5-4EDE-BAD7-96BA5C19DC19}" srcOrd="3" destOrd="0" parTransId="{960B180B-45A3-4260-9FFA-4AA0046FA4BB}" sibTransId="{A0406599-8B44-4C0E-B7D9-4CB84DFB5248}"/>
    <dgm:cxn modelId="{CD477AFC-2F5A-4F31-99EC-495AAFABEEA2}" srcId="{95CE1C48-D7FD-4CC2-8182-C059897DF5D7}" destId="{31446C7A-33DC-43DA-BE8B-5F6BDA21E084}" srcOrd="5" destOrd="0" parTransId="{42EB2206-A84D-466A-9ECB-FE464A91CA13}" sibTransId="{F826832C-9510-48AA-8A61-A8599B459CBA}"/>
    <dgm:cxn modelId="{FC67A2D7-0A64-4457-BDDA-14FB9BCAA21B}" type="presParOf" srcId="{0FFC01E8-A714-455D-869A-94A06195EFB0}" destId="{C2E41758-B5C8-426D-A208-D6F6B659EE02}" srcOrd="0" destOrd="0" presId="urn:microsoft.com/office/officeart/2016/7/layout/RepeatingBendingProcessNew"/>
    <dgm:cxn modelId="{E1E3E972-14F3-4F8D-8E27-9E82AF9D7F24}" type="presParOf" srcId="{0FFC01E8-A714-455D-869A-94A06195EFB0}" destId="{EB06ADC1-D048-447A-B893-A0E4D2353E5A}" srcOrd="1" destOrd="0" presId="urn:microsoft.com/office/officeart/2016/7/layout/RepeatingBendingProcessNew"/>
    <dgm:cxn modelId="{57DAD694-9BF4-415E-B827-A682FE9886ED}" type="presParOf" srcId="{EB06ADC1-D048-447A-B893-A0E4D2353E5A}" destId="{567C13B4-14DE-492C-91BD-576F30213ABB}" srcOrd="0" destOrd="0" presId="urn:microsoft.com/office/officeart/2016/7/layout/RepeatingBendingProcessNew"/>
    <dgm:cxn modelId="{032DC91A-1E83-4BF6-92C2-DFD6B40743B8}" type="presParOf" srcId="{0FFC01E8-A714-455D-869A-94A06195EFB0}" destId="{37D62078-7949-4993-B88C-BF5E622AA62A}" srcOrd="2" destOrd="0" presId="urn:microsoft.com/office/officeart/2016/7/layout/RepeatingBendingProcessNew"/>
    <dgm:cxn modelId="{63EC9615-94FC-4C95-9B38-0E849D61ED07}" type="presParOf" srcId="{0FFC01E8-A714-455D-869A-94A06195EFB0}" destId="{A4FA057A-A79E-4E8D-B0EC-55E9DB9ACB15}" srcOrd="3" destOrd="0" presId="urn:microsoft.com/office/officeart/2016/7/layout/RepeatingBendingProcessNew"/>
    <dgm:cxn modelId="{86A7EA65-2EFB-4F58-939B-5152D98BD9BA}" type="presParOf" srcId="{A4FA057A-A79E-4E8D-B0EC-55E9DB9ACB15}" destId="{AE787D04-8397-4BC1-8F6B-49352D5A1705}" srcOrd="0" destOrd="0" presId="urn:microsoft.com/office/officeart/2016/7/layout/RepeatingBendingProcessNew"/>
    <dgm:cxn modelId="{FCA26177-CF13-4CA0-925D-87B3C3B0402A}" type="presParOf" srcId="{0FFC01E8-A714-455D-869A-94A06195EFB0}" destId="{199CDE28-E167-44B4-AF20-DE68AE104B39}" srcOrd="4" destOrd="0" presId="urn:microsoft.com/office/officeart/2016/7/layout/RepeatingBendingProcessNew"/>
    <dgm:cxn modelId="{7F54FDC3-79C3-4A3E-89B1-0D0F91D73148}" type="presParOf" srcId="{0FFC01E8-A714-455D-869A-94A06195EFB0}" destId="{B20F93A5-DC90-42CF-AAC1-14C216005716}" srcOrd="5" destOrd="0" presId="urn:microsoft.com/office/officeart/2016/7/layout/RepeatingBendingProcessNew"/>
    <dgm:cxn modelId="{DB211E1C-D2EA-4209-91DE-812DDFB18AF9}" type="presParOf" srcId="{B20F93A5-DC90-42CF-AAC1-14C216005716}" destId="{B5679D9A-1C28-4933-A541-F61128980453}" srcOrd="0" destOrd="0" presId="urn:microsoft.com/office/officeart/2016/7/layout/RepeatingBendingProcessNew"/>
    <dgm:cxn modelId="{D7E89F09-C1B1-4002-9FDC-80AE2774E43A}" type="presParOf" srcId="{0FFC01E8-A714-455D-869A-94A06195EFB0}" destId="{5CDA3DDE-ED81-4548-90C2-B4FC93BCECA9}" srcOrd="6" destOrd="0" presId="urn:microsoft.com/office/officeart/2016/7/layout/RepeatingBendingProcessNew"/>
    <dgm:cxn modelId="{0F5A42C2-1E17-4043-B561-76C419B2B60E}" type="presParOf" srcId="{0FFC01E8-A714-455D-869A-94A06195EFB0}" destId="{4E2C0F5D-384B-4B20-AC73-6618C337FF05}" srcOrd="7" destOrd="0" presId="urn:microsoft.com/office/officeart/2016/7/layout/RepeatingBendingProcessNew"/>
    <dgm:cxn modelId="{611FA4BF-8C40-4FB6-BCDA-DFC647A2038D}" type="presParOf" srcId="{4E2C0F5D-384B-4B20-AC73-6618C337FF05}" destId="{26A64E10-B297-4899-82CE-9B944A5902CB}" srcOrd="0" destOrd="0" presId="urn:microsoft.com/office/officeart/2016/7/layout/RepeatingBendingProcessNew"/>
    <dgm:cxn modelId="{AADD2553-6E1E-447A-845F-5655A02F29D8}" type="presParOf" srcId="{0FFC01E8-A714-455D-869A-94A06195EFB0}" destId="{50C4B1E1-B6EE-416B-9104-ABD891373964}" srcOrd="8" destOrd="0" presId="urn:microsoft.com/office/officeart/2016/7/layout/RepeatingBendingProcessNew"/>
    <dgm:cxn modelId="{93A71477-D6EB-4B86-B209-0F6E5B504AFD}" type="presParOf" srcId="{0FFC01E8-A714-455D-869A-94A06195EFB0}" destId="{E8CA683C-DC33-446F-A75C-E619F68C1931}" srcOrd="9" destOrd="0" presId="urn:microsoft.com/office/officeart/2016/7/layout/RepeatingBendingProcessNew"/>
    <dgm:cxn modelId="{6173CB7E-0F2A-441B-ACB2-37F9A46C613E}" type="presParOf" srcId="{E8CA683C-DC33-446F-A75C-E619F68C1931}" destId="{314E15AB-5D97-415F-A5A5-C02D36251AB0}" srcOrd="0" destOrd="0" presId="urn:microsoft.com/office/officeart/2016/7/layout/RepeatingBendingProcessNew"/>
    <dgm:cxn modelId="{D0DE6EFE-CD1E-4600-9602-9FD3DA1CAF76}" type="presParOf" srcId="{0FFC01E8-A714-455D-869A-94A06195EFB0}" destId="{8B6410FC-96EB-4177-A2E4-AA5FBBADEAC7}" srcOrd="10" destOrd="0" presId="urn:microsoft.com/office/officeart/2016/7/layout/RepeatingBendingProcessNew"/>
    <dgm:cxn modelId="{1180239F-E66A-488E-B17A-C7BEC112449C}" type="presParOf" srcId="{0FFC01E8-A714-455D-869A-94A06195EFB0}" destId="{B1DA385E-B62C-4113-AF2A-AC4C9329BCAC}" srcOrd="11" destOrd="0" presId="urn:microsoft.com/office/officeart/2016/7/layout/RepeatingBendingProcessNew"/>
    <dgm:cxn modelId="{38824F53-4BE0-4AD8-88E3-5E14CA7B9A4D}" type="presParOf" srcId="{B1DA385E-B62C-4113-AF2A-AC4C9329BCAC}" destId="{88274800-62F4-475B-B5C8-82198601FCAD}" srcOrd="0" destOrd="0" presId="urn:microsoft.com/office/officeart/2016/7/layout/RepeatingBendingProcessNew"/>
    <dgm:cxn modelId="{5B516269-8550-46F1-ACBA-6639F3E3638C}" type="presParOf" srcId="{0FFC01E8-A714-455D-869A-94A06195EFB0}" destId="{0E0B1D72-87A9-41FE-98E5-3F8E8118C71D}" srcOrd="12" destOrd="0" presId="urn:microsoft.com/office/officeart/2016/7/layout/RepeatingBendingProcessNew"/>
    <dgm:cxn modelId="{D201D1CD-6913-493B-BEAA-6BD7DFBE1AA4}" type="presParOf" srcId="{0FFC01E8-A714-455D-869A-94A06195EFB0}" destId="{E9BAE703-10CD-487A-B7F5-04A4CD62B44F}" srcOrd="13" destOrd="0" presId="urn:microsoft.com/office/officeart/2016/7/layout/RepeatingBendingProcessNew"/>
    <dgm:cxn modelId="{CC086056-1F86-4F12-942E-0DBBEEE33AF1}" type="presParOf" srcId="{E9BAE703-10CD-487A-B7F5-04A4CD62B44F}" destId="{20AA6892-226C-4DDC-AC3E-5E4E2D9C78BE}" srcOrd="0" destOrd="0" presId="urn:microsoft.com/office/officeart/2016/7/layout/RepeatingBendingProcessNew"/>
    <dgm:cxn modelId="{7AEDE55B-45E7-47EC-B7B3-7F1D4088DF50}" type="presParOf" srcId="{0FFC01E8-A714-455D-869A-94A06195EFB0}" destId="{BFD34B7A-85F8-4AA1-8143-4B7A8C9115D4}"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BB48E-52F7-4351-BAE1-8059A45A6C34}">
      <dsp:nvSpPr>
        <dsp:cNvPr id="0" name=""/>
        <dsp:cNvSpPr/>
      </dsp:nvSpPr>
      <dsp:spPr>
        <a:xfrm>
          <a:off x="9083" y="1218701"/>
          <a:ext cx="2715047" cy="162902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Rigidbody2D rb = GetComponent&lt;Rigidbody2D&gt;();</a:t>
          </a:r>
          <a:endParaRPr lang="en-US" sz="1300" kern="1200"/>
        </a:p>
      </dsp:txBody>
      <dsp:txXfrm>
        <a:off x="56796" y="1266414"/>
        <a:ext cx="2619621" cy="1533602"/>
      </dsp:txXfrm>
    </dsp:sp>
    <dsp:sp modelId="{299CFE0D-32C1-442F-928E-EF9B40EF61B6}">
      <dsp:nvSpPr>
        <dsp:cNvPr id="0" name=""/>
        <dsp:cNvSpPr/>
      </dsp:nvSpPr>
      <dsp:spPr>
        <a:xfrm>
          <a:off x="2963056" y="1696549"/>
          <a:ext cx="575590" cy="67333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963056" y="1831215"/>
        <a:ext cx="402913" cy="403999"/>
      </dsp:txXfrm>
    </dsp:sp>
    <dsp:sp modelId="{318FF478-353B-497E-8CFB-3F773BCE7414}">
      <dsp:nvSpPr>
        <dsp:cNvPr id="0" name=""/>
        <dsp:cNvSpPr/>
      </dsp:nvSpPr>
      <dsp:spPr>
        <a:xfrm>
          <a:off x="3810151" y="1218701"/>
          <a:ext cx="2715047" cy="162902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rb.angularDrag = 1f;  // Sets how quickly spinning slows down</a:t>
          </a:r>
          <a:endParaRPr lang="en-US" sz="1300" kern="1200"/>
        </a:p>
      </dsp:txBody>
      <dsp:txXfrm>
        <a:off x="3857864" y="1266414"/>
        <a:ext cx="2619621" cy="1533602"/>
      </dsp:txXfrm>
    </dsp:sp>
    <dsp:sp modelId="{749921CF-FFC6-4845-B835-62514110D80D}">
      <dsp:nvSpPr>
        <dsp:cNvPr id="0" name=""/>
        <dsp:cNvSpPr/>
      </dsp:nvSpPr>
      <dsp:spPr>
        <a:xfrm>
          <a:off x="6764123" y="1696549"/>
          <a:ext cx="575590" cy="67333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764123" y="1831215"/>
        <a:ext cx="402913" cy="403999"/>
      </dsp:txXfrm>
    </dsp:sp>
    <dsp:sp modelId="{16DDE2DA-57CA-4B9A-A666-61FA8ADD77B7}">
      <dsp:nvSpPr>
        <dsp:cNvPr id="0" name=""/>
        <dsp:cNvSpPr/>
      </dsp:nvSpPr>
      <dsp:spPr>
        <a:xfrm>
          <a:off x="7611218" y="1218701"/>
          <a:ext cx="2715047" cy="162902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rb.AddTorque(500f);    // Make the object spin</a:t>
          </a:r>
          <a:endParaRPr lang="en-US" sz="1300" kern="1200"/>
        </a:p>
      </dsp:txBody>
      <dsp:txXfrm>
        <a:off x="7658931" y="1266414"/>
        <a:ext cx="2619621" cy="15336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07AA6-70E6-4A9F-AB38-2DBCF8B964DE}">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B765BD-AC16-4FCC-BBD2-D8F136D3A86E}">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B2CAD-A6D8-4052-8314-F5A6C2E6D32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rb.mass = 2f;               // Make object heavier</a:t>
          </a:r>
        </a:p>
      </dsp:txBody>
      <dsp:txXfrm>
        <a:off x="1435590" y="531"/>
        <a:ext cx="9080009" cy="1242935"/>
      </dsp:txXfrm>
    </dsp:sp>
    <dsp:sp modelId="{009E9AC2-0120-430E-AD89-0755EDB8C064}">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894446-D8F1-4F57-B5B8-C9D483094839}">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7EB367-639E-4ACF-BE65-D5E7851DFAF2}">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rb.useGravity = false;      // Turn off gravity for this object</a:t>
          </a:r>
        </a:p>
      </dsp:txBody>
      <dsp:txXfrm>
        <a:off x="1435590" y="1554201"/>
        <a:ext cx="9080009" cy="1242935"/>
      </dsp:txXfrm>
    </dsp:sp>
    <dsp:sp modelId="{4A212D56-7EDF-427D-B6D9-886745D2771C}">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3F13C0-494F-4EBC-A2A1-354C580A3145}">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B6DBCF-BBCB-49F6-9BB4-BEF438E95D13}">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rb.isKinematic = true;      // Stop physics from moving it (you move manually)</a:t>
          </a:r>
        </a:p>
      </dsp:txBody>
      <dsp:txXfrm>
        <a:off x="1435590" y="3107870"/>
        <a:ext cx="9080009" cy="1242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B07F1-57B7-4C3D-9839-5ECC1EE8ABB0}">
      <dsp:nvSpPr>
        <dsp:cNvPr id="0" name=""/>
        <dsp:cNvSpPr/>
      </dsp:nvSpPr>
      <dsp:spPr>
        <a:xfrm>
          <a:off x="0" y="84393"/>
          <a:ext cx="9998214" cy="8950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Rigidbody is a part you add to a game object in Unity that makes it move and act like a real thing—like falling, pushing, or bouncing—using physics rules.</a:t>
          </a:r>
        </a:p>
      </dsp:txBody>
      <dsp:txXfrm>
        <a:off x="43693" y="128086"/>
        <a:ext cx="9910828" cy="807664"/>
      </dsp:txXfrm>
    </dsp:sp>
    <dsp:sp modelId="{09E2F0CA-BFAE-463F-9BF2-EFFABC21F58E}">
      <dsp:nvSpPr>
        <dsp:cNvPr id="0" name=""/>
        <dsp:cNvSpPr/>
      </dsp:nvSpPr>
      <dsp:spPr>
        <a:xfrm>
          <a:off x="0" y="1025523"/>
          <a:ext cx="9998214" cy="8950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Works with forces and velocity it means  you can push, pull, or set the speed of an object using Rigidbody methods.</a:t>
          </a:r>
        </a:p>
      </dsp:txBody>
      <dsp:txXfrm>
        <a:off x="43693" y="1069216"/>
        <a:ext cx="9910828" cy="807664"/>
      </dsp:txXfrm>
    </dsp:sp>
    <dsp:sp modelId="{3E45B7BC-E8C1-424C-B27A-A2E36F3D5D9B}">
      <dsp:nvSpPr>
        <dsp:cNvPr id="0" name=""/>
        <dsp:cNvSpPr/>
      </dsp:nvSpPr>
      <dsp:spPr>
        <a:xfrm>
          <a:off x="0" y="1966654"/>
          <a:ext cx="9998214" cy="8950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Has properties like mass and drag:</a:t>
          </a:r>
          <a:br>
            <a:rPr lang="en-US" sz="1600" kern="1200"/>
          </a:br>
          <a:r>
            <a:rPr lang="en-US" sz="1600" kern="1200"/>
            <a:t>  </a:t>
          </a:r>
          <a:r>
            <a:rPr lang="en-US" sz="1600" kern="1200">
              <a:sym typeface="Wingdings" panose="05000000000000000000" pitchFamily="2" charset="2"/>
            </a:rPr>
            <a:t></a:t>
          </a:r>
          <a:r>
            <a:rPr lang="en-US" sz="1600" kern="1200"/>
            <a:t>Mass affects how heavy the object feels.</a:t>
          </a:r>
          <a:br>
            <a:rPr lang="en-US" sz="1600" kern="1200"/>
          </a:br>
          <a:r>
            <a:rPr lang="en-US" sz="1600" kern="1200"/>
            <a:t>  </a:t>
          </a:r>
          <a:r>
            <a:rPr lang="en-US" sz="1600" kern="1200">
              <a:sym typeface="Wingdings" panose="05000000000000000000" pitchFamily="2" charset="2"/>
            </a:rPr>
            <a:t></a:t>
          </a:r>
          <a:r>
            <a:rPr lang="en-US" sz="1600" kern="1200"/>
            <a:t>Drag slows down movement over time (like air resistance).</a:t>
          </a:r>
        </a:p>
      </dsp:txBody>
      <dsp:txXfrm>
        <a:off x="43693" y="2010347"/>
        <a:ext cx="9910828" cy="807664"/>
      </dsp:txXfrm>
    </dsp:sp>
    <dsp:sp modelId="{D6ED3839-4793-412C-B1A4-A67B27DF19EF}">
      <dsp:nvSpPr>
        <dsp:cNvPr id="0" name=""/>
        <dsp:cNvSpPr/>
      </dsp:nvSpPr>
      <dsp:spPr>
        <a:xfrm>
          <a:off x="0" y="2907783"/>
          <a:ext cx="9998214" cy="8950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Collisions require Rigidbody:</a:t>
          </a:r>
          <a:br>
            <a:rPr lang="en-IN" sz="1600" kern="1200"/>
          </a:br>
          <a:r>
            <a:rPr lang="en-IN" sz="1600" kern="1200"/>
            <a:t>  </a:t>
          </a:r>
          <a:r>
            <a:rPr lang="en-IN" sz="1600" kern="1200">
              <a:sym typeface="Wingdings" panose="05000000000000000000" pitchFamily="2" charset="2"/>
            </a:rPr>
            <a:t></a:t>
          </a:r>
          <a:r>
            <a:rPr lang="en-US" sz="1600" kern="1200"/>
            <a:t>To detect collisions properly and have realistic reactions, objects usually need Rigidbody attached</a:t>
          </a:r>
        </a:p>
      </dsp:txBody>
      <dsp:txXfrm>
        <a:off x="43693" y="2951476"/>
        <a:ext cx="9910828" cy="8076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B393B-C21D-4345-8740-BE5B42D193CA}">
      <dsp:nvSpPr>
        <dsp:cNvPr id="0" name=""/>
        <dsp:cNvSpPr/>
      </dsp:nvSpPr>
      <dsp:spPr>
        <a:xfrm>
          <a:off x="0" y="417733"/>
          <a:ext cx="6949440" cy="15947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To have realistic collisions where objects bounce or push each other, at least one object involved must have a Rigidbody. </a:t>
          </a:r>
        </a:p>
      </dsp:txBody>
      <dsp:txXfrm>
        <a:off x="77847" y="495580"/>
        <a:ext cx="6793746" cy="1439016"/>
      </dsp:txXfrm>
    </dsp:sp>
    <dsp:sp modelId="{F294479E-E05C-4472-90CC-1D20F3BDABA2}">
      <dsp:nvSpPr>
        <dsp:cNvPr id="0" name=""/>
        <dsp:cNvSpPr/>
      </dsp:nvSpPr>
      <dsp:spPr>
        <a:xfrm>
          <a:off x="0" y="2095963"/>
          <a:ext cx="6949440" cy="159471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If both objects only have colliders but no Rigidbody, Unity treats them as static and they won’t move or react. </a:t>
          </a:r>
        </a:p>
      </dsp:txBody>
      <dsp:txXfrm>
        <a:off x="77847" y="2173810"/>
        <a:ext cx="6793746" cy="1439016"/>
      </dsp:txXfrm>
    </dsp:sp>
    <dsp:sp modelId="{34195E39-2BE4-418E-9717-923B24DBC654}">
      <dsp:nvSpPr>
        <dsp:cNvPr id="0" name=""/>
        <dsp:cNvSpPr/>
      </dsp:nvSpPr>
      <dsp:spPr>
        <a:xfrm>
          <a:off x="0" y="3774194"/>
          <a:ext cx="6949440" cy="159471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Rigidbody makes sure objects can be pushed, fall, or respond to hits properly in the physics system.</a:t>
          </a:r>
        </a:p>
      </dsp:txBody>
      <dsp:txXfrm>
        <a:off x="77847" y="3852041"/>
        <a:ext cx="6793746" cy="14390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143F82-FED6-4380-A90B-0AA054F5868F}">
      <dsp:nvSpPr>
        <dsp:cNvPr id="0" name=""/>
        <dsp:cNvSpPr/>
      </dsp:nvSpPr>
      <dsp:spPr>
        <a:xfrm>
          <a:off x="6936210" y="1808706"/>
          <a:ext cx="91440" cy="827113"/>
        </a:xfrm>
        <a:custGeom>
          <a:avLst/>
          <a:gdLst/>
          <a:ahLst/>
          <a:cxnLst/>
          <a:rect l="0" t="0" r="0" b="0"/>
          <a:pathLst>
            <a:path>
              <a:moveTo>
                <a:pt x="45720" y="0"/>
              </a:moveTo>
              <a:lnTo>
                <a:pt x="45720" y="827113"/>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AF0D9A-0045-4268-AD53-275AED114F66}">
      <dsp:nvSpPr>
        <dsp:cNvPr id="0" name=""/>
        <dsp:cNvSpPr/>
      </dsp:nvSpPr>
      <dsp:spPr>
        <a:xfrm>
          <a:off x="2084028" y="2802"/>
          <a:ext cx="2843943" cy="180590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F24773-EFEA-42D6-BCC3-43F62591CC0E}">
      <dsp:nvSpPr>
        <dsp:cNvPr id="0" name=""/>
        <dsp:cNvSpPr/>
      </dsp:nvSpPr>
      <dsp:spPr>
        <a:xfrm>
          <a:off x="2400022" y="302996"/>
          <a:ext cx="2843943" cy="180590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1" kern="1200"/>
            <a:t>AddForce(Vector3 force, ForceMode mode = ForceMode.Force)</a:t>
          </a:r>
          <a:br>
            <a:rPr lang="en-IN" sz="1100" b="1" kern="1200"/>
          </a:br>
          <a:r>
            <a:rPr lang="en-IN" sz="1100" b="1" kern="1200"/>
            <a:t>  What it does:-</a:t>
          </a:r>
          <a:r>
            <a:rPr lang="en-IN" sz="1100" kern="1200"/>
            <a:t>Pushes the Rigidbody in a direction with a certain strength.</a:t>
          </a:r>
          <a:br>
            <a:rPr lang="en-IN" sz="1100" kern="1200"/>
          </a:br>
          <a:r>
            <a:rPr lang="en-IN" sz="1100" kern="1200"/>
            <a:t>   </a:t>
          </a:r>
          <a:r>
            <a:rPr lang="en-IN" sz="1100" kern="1200">
              <a:sym typeface="Wingdings" panose="05000000000000000000" pitchFamily="2" charset="2"/>
            </a:rPr>
            <a:t></a:t>
          </a:r>
          <a:r>
            <a:rPr lang="en-US" sz="1100" kern="1200"/>
            <a:t>rb.AddForce(Vector3.up * 10 ,</a:t>
          </a:r>
          <a:r>
            <a:rPr lang="en-IN" sz="1100" kern="1200"/>
            <a:t>  ForceMode.Force</a:t>
          </a:r>
          <a:r>
            <a:rPr lang="en-US" sz="1100" kern="1200"/>
            <a:t>) it means that Vector3.up * 10: Push up with strength 10.</a:t>
          </a:r>
        </a:p>
      </dsp:txBody>
      <dsp:txXfrm>
        <a:off x="2452915" y="355889"/>
        <a:ext cx="2738157" cy="1700117"/>
      </dsp:txXfrm>
    </dsp:sp>
    <dsp:sp modelId="{8C7A6DAA-12F3-4974-869F-66A11DC82EB6}">
      <dsp:nvSpPr>
        <dsp:cNvPr id="0" name=""/>
        <dsp:cNvSpPr/>
      </dsp:nvSpPr>
      <dsp:spPr>
        <a:xfrm>
          <a:off x="5559958" y="2802"/>
          <a:ext cx="2843943" cy="180590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3E7A57-8C49-40D7-9232-BD375EBC11F4}">
      <dsp:nvSpPr>
        <dsp:cNvPr id="0" name=""/>
        <dsp:cNvSpPr/>
      </dsp:nvSpPr>
      <dsp:spPr>
        <a:xfrm>
          <a:off x="5875952" y="302996"/>
          <a:ext cx="2843943" cy="180590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There are different Force mode Available like:-</a:t>
          </a:r>
          <a:br>
            <a:rPr lang="en-IN" sz="1100" kern="1200"/>
          </a:br>
          <a:r>
            <a:rPr lang="en-IN" sz="1100" kern="1200"/>
            <a:t> </a:t>
          </a:r>
          <a:r>
            <a:rPr lang="en-IN" sz="1100" kern="1200">
              <a:sym typeface="Wingdings" panose="05000000000000000000" pitchFamily="2" charset="2"/>
            </a:rPr>
            <a:t></a:t>
          </a:r>
          <a:r>
            <a:rPr lang="en-IN" sz="1100" kern="1200"/>
            <a:t>ForceMode.Force: Push like a gentle continuous force. </a:t>
          </a:r>
          <a:br>
            <a:rPr lang="en-IN" sz="1100" kern="1200"/>
          </a:br>
          <a:r>
            <a:rPr lang="en-IN" sz="1100" kern="1200"/>
            <a:t> </a:t>
          </a:r>
          <a:r>
            <a:rPr lang="en-IN" sz="1100" kern="1200">
              <a:sym typeface="Wingdings" panose="05000000000000000000" pitchFamily="2" charset="2"/>
            </a:rPr>
            <a:t></a:t>
          </a:r>
          <a:r>
            <a:rPr lang="en-IN" sz="1100" kern="1200"/>
            <a:t>ForceMode.Impulse: Push like a quick strong hit (e.g., jump)|</a:t>
          </a:r>
          <a:br>
            <a:rPr lang="en-IN" sz="1100" kern="1200"/>
          </a:br>
          <a:r>
            <a:rPr lang="en-IN" sz="1100" kern="1200"/>
            <a:t> </a:t>
          </a:r>
          <a:r>
            <a:rPr lang="en-IN" sz="1100" kern="1200">
              <a:sym typeface="Wingdings" panose="05000000000000000000" pitchFamily="2" charset="2"/>
            </a:rPr>
            <a:t></a:t>
          </a:r>
          <a:r>
            <a:rPr lang="en-IN" sz="1100" kern="1200"/>
            <a:t> ForceMode.VelocityChange: Change speed immediately</a:t>
          </a:r>
          <a:br>
            <a:rPr lang="en-IN" sz="1100" kern="1200"/>
          </a:br>
          <a:r>
            <a:rPr lang="en-IN" sz="1100" kern="1200"/>
            <a:t> </a:t>
          </a:r>
          <a:r>
            <a:rPr lang="en-IN" sz="1100" kern="1200">
              <a:sym typeface="Wingdings" panose="05000000000000000000" pitchFamily="2" charset="2"/>
            </a:rPr>
            <a:t></a:t>
          </a:r>
          <a:r>
            <a:rPr lang="en-IN" sz="1100" kern="1200"/>
            <a:t> ForceMode.Acceleration: Push ignoring mass</a:t>
          </a:r>
          <a:endParaRPr lang="en-US" sz="1100" kern="1200"/>
        </a:p>
      </dsp:txBody>
      <dsp:txXfrm>
        <a:off x="5928845" y="355889"/>
        <a:ext cx="2738157" cy="1700117"/>
      </dsp:txXfrm>
    </dsp:sp>
    <dsp:sp modelId="{B8C2104C-FF65-48CA-B975-E2CABAE32750}">
      <dsp:nvSpPr>
        <dsp:cNvPr id="0" name=""/>
        <dsp:cNvSpPr/>
      </dsp:nvSpPr>
      <dsp:spPr>
        <a:xfrm>
          <a:off x="5559958" y="2635819"/>
          <a:ext cx="2843943" cy="180590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1B127-CD38-4184-8C37-5D1331AD1BB3}">
      <dsp:nvSpPr>
        <dsp:cNvPr id="0" name=""/>
        <dsp:cNvSpPr/>
      </dsp:nvSpPr>
      <dsp:spPr>
        <a:xfrm>
          <a:off x="5875952" y="2936013"/>
          <a:ext cx="2843943" cy="1805903"/>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There are different vectors available:-</a:t>
          </a:r>
          <a:endParaRPr lang="en-IN" sz="1100" kern="1200" dirty="0"/>
        </a:p>
        <a:p>
          <a:pPr marL="0" lvl="0" indent="0" algn="ctr" defTabSz="488950">
            <a:lnSpc>
              <a:spcPct val="90000"/>
            </a:lnSpc>
            <a:spcBef>
              <a:spcPct val="0"/>
            </a:spcBef>
            <a:spcAft>
              <a:spcPct val="35000"/>
            </a:spcAft>
            <a:buNone/>
          </a:pPr>
          <a:r>
            <a:rPr lang="en-US" sz="1100" kern="1200" dirty="0"/>
            <a:t>Vector3.down = (0, -1, 0) — straight down</a:t>
          </a:r>
          <a:endParaRPr lang="en-IN" sz="1100" kern="1200" dirty="0"/>
        </a:p>
        <a:p>
          <a:pPr marL="0" lvl="0" indent="0" algn="ctr" defTabSz="488950">
            <a:lnSpc>
              <a:spcPct val="90000"/>
            </a:lnSpc>
            <a:spcBef>
              <a:spcPct val="0"/>
            </a:spcBef>
            <a:spcAft>
              <a:spcPct val="35000"/>
            </a:spcAft>
            <a:buNone/>
          </a:pPr>
          <a:r>
            <a:rPr lang="en-US" sz="1100" kern="1200" dirty="0"/>
            <a:t>Vector3.left = (-1, 0, 0) — left</a:t>
          </a:r>
          <a:endParaRPr lang="en-IN" sz="1100" kern="1200" dirty="0"/>
        </a:p>
        <a:p>
          <a:pPr marL="0" lvl="0" indent="0" algn="ctr" defTabSz="488950">
            <a:lnSpc>
              <a:spcPct val="90000"/>
            </a:lnSpc>
            <a:spcBef>
              <a:spcPct val="0"/>
            </a:spcBef>
            <a:spcAft>
              <a:spcPct val="35000"/>
            </a:spcAft>
            <a:buNone/>
          </a:pPr>
          <a:r>
            <a:rPr lang="en-US" sz="1100" kern="1200" dirty="0"/>
            <a:t>Vector3.right = (1, 0, 0) — right</a:t>
          </a:r>
          <a:endParaRPr lang="en-IN" sz="1100" kern="1200" dirty="0"/>
        </a:p>
        <a:p>
          <a:pPr marL="0" lvl="0" indent="0" algn="ctr" defTabSz="488950">
            <a:lnSpc>
              <a:spcPct val="90000"/>
            </a:lnSpc>
            <a:spcBef>
              <a:spcPct val="0"/>
            </a:spcBef>
            <a:spcAft>
              <a:spcPct val="35000"/>
            </a:spcAft>
            <a:buNone/>
          </a:pPr>
          <a:r>
            <a:rPr lang="en-US" sz="1100" kern="1200" dirty="0"/>
            <a:t>Vector3.forward = (0, 0, 1) — forward</a:t>
          </a:r>
          <a:endParaRPr lang="en-IN" sz="1100" kern="1200" dirty="0"/>
        </a:p>
        <a:p>
          <a:pPr marL="0" lvl="0" indent="0" algn="ctr" defTabSz="488950">
            <a:lnSpc>
              <a:spcPct val="90000"/>
            </a:lnSpc>
            <a:spcBef>
              <a:spcPct val="0"/>
            </a:spcBef>
            <a:spcAft>
              <a:spcPct val="35000"/>
            </a:spcAft>
            <a:buNone/>
          </a:pPr>
          <a:r>
            <a:rPr lang="en-US" sz="1100" kern="1200" dirty="0"/>
            <a:t>Vector3.back = (0, 0, -1) — backward</a:t>
          </a:r>
          <a:endParaRPr lang="en-IN" sz="1100" kern="1200" dirty="0"/>
        </a:p>
        <a:p>
          <a:pPr marL="0" lvl="0" indent="0" algn="ctr" defTabSz="488950">
            <a:lnSpc>
              <a:spcPct val="90000"/>
            </a:lnSpc>
            <a:spcBef>
              <a:spcPct val="0"/>
            </a:spcBef>
            <a:spcAft>
              <a:spcPct val="35000"/>
            </a:spcAft>
            <a:buNone/>
          </a:pPr>
          <a:endParaRPr lang="en-US" sz="1100" kern="1200" dirty="0"/>
        </a:p>
      </dsp:txBody>
      <dsp:txXfrm>
        <a:off x="5928845" y="2988906"/>
        <a:ext cx="2738157" cy="17001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27D02-046C-4A56-B34F-9AB972B49108}">
      <dsp:nvSpPr>
        <dsp:cNvPr id="0" name=""/>
        <dsp:cNvSpPr/>
      </dsp:nvSpPr>
      <dsp:spPr>
        <a:xfrm>
          <a:off x="0" y="706"/>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8CEE84-D42F-4EAE-B052-937C47FD9478}">
      <dsp:nvSpPr>
        <dsp:cNvPr id="0" name=""/>
        <dsp:cNvSpPr/>
      </dsp:nvSpPr>
      <dsp:spPr>
        <a:xfrm>
          <a:off x="500008" y="372613"/>
          <a:ext cx="909106" cy="9091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A9C274-CACC-4DB3-BE71-FDCD28F83E43}">
      <dsp:nvSpPr>
        <dsp:cNvPr id="0" name=""/>
        <dsp:cNvSpPr/>
      </dsp:nvSpPr>
      <dsp:spPr>
        <a:xfrm>
          <a:off x="1909124" y="706"/>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111250">
            <a:lnSpc>
              <a:spcPct val="90000"/>
            </a:lnSpc>
            <a:spcBef>
              <a:spcPct val="0"/>
            </a:spcBef>
            <a:spcAft>
              <a:spcPct val="35000"/>
            </a:spcAft>
            <a:buNone/>
          </a:pPr>
          <a:r>
            <a:rPr lang="en-US" sz="2500" b="0" i="0" kern="1200" baseline="0"/>
            <a:t>Select your 3D object (e.g., a rock or house).</a:t>
          </a:r>
          <a:endParaRPr lang="en-US" sz="2500" kern="1200"/>
        </a:p>
      </dsp:txBody>
      <dsp:txXfrm>
        <a:off x="1909124" y="706"/>
        <a:ext cx="5040315" cy="1652921"/>
      </dsp:txXfrm>
    </dsp:sp>
    <dsp:sp modelId="{71A23F44-C3E6-4F0C-A6A4-AB878932C700}">
      <dsp:nvSpPr>
        <dsp:cNvPr id="0" name=""/>
        <dsp:cNvSpPr/>
      </dsp:nvSpPr>
      <dsp:spPr>
        <a:xfrm>
          <a:off x="0" y="2066858"/>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7CFF7-7E9F-4DB2-9A87-4477B4C431D2}">
      <dsp:nvSpPr>
        <dsp:cNvPr id="0" name=""/>
        <dsp:cNvSpPr/>
      </dsp:nvSpPr>
      <dsp:spPr>
        <a:xfrm>
          <a:off x="500008" y="2438765"/>
          <a:ext cx="909106" cy="9091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B97F5B-6933-4C79-9B1E-C75673B0A353}">
      <dsp:nvSpPr>
        <dsp:cNvPr id="0" name=""/>
        <dsp:cNvSpPr/>
      </dsp:nvSpPr>
      <dsp:spPr>
        <a:xfrm>
          <a:off x="1909124" y="2066858"/>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111250">
            <a:lnSpc>
              <a:spcPct val="90000"/>
            </a:lnSpc>
            <a:spcBef>
              <a:spcPct val="0"/>
            </a:spcBef>
            <a:spcAft>
              <a:spcPct val="35000"/>
            </a:spcAft>
            <a:buNone/>
          </a:pPr>
          <a:r>
            <a:rPr lang="en-US" sz="2500" b="0" i="0" kern="1200" baseline="0"/>
            <a:t>In the Inspector, click Add Component → Mesh Collider.</a:t>
          </a:r>
          <a:endParaRPr lang="en-US" sz="2500" kern="1200"/>
        </a:p>
      </dsp:txBody>
      <dsp:txXfrm>
        <a:off x="1909124" y="2066858"/>
        <a:ext cx="5040315" cy="1652921"/>
      </dsp:txXfrm>
    </dsp:sp>
    <dsp:sp modelId="{3635150B-FBDF-4ADB-8BCC-3F49CBB834CE}">
      <dsp:nvSpPr>
        <dsp:cNvPr id="0" name=""/>
        <dsp:cNvSpPr/>
      </dsp:nvSpPr>
      <dsp:spPr>
        <a:xfrm>
          <a:off x="0" y="4133010"/>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5E9A95-AA59-431F-B0DC-DE5185F19911}">
      <dsp:nvSpPr>
        <dsp:cNvPr id="0" name=""/>
        <dsp:cNvSpPr/>
      </dsp:nvSpPr>
      <dsp:spPr>
        <a:xfrm>
          <a:off x="500008" y="4504917"/>
          <a:ext cx="909106" cy="9091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ECF533-7E29-4B0E-ACC7-F9FF03B5C74A}">
      <dsp:nvSpPr>
        <dsp:cNvPr id="0" name=""/>
        <dsp:cNvSpPr/>
      </dsp:nvSpPr>
      <dsp:spPr>
        <a:xfrm>
          <a:off x="1909124" y="4133010"/>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111250">
            <a:lnSpc>
              <a:spcPct val="90000"/>
            </a:lnSpc>
            <a:spcBef>
              <a:spcPct val="0"/>
            </a:spcBef>
            <a:spcAft>
              <a:spcPct val="35000"/>
            </a:spcAft>
            <a:buNone/>
          </a:pPr>
          <a:r>
            <a:rPr lang="en-US" sz="2500" b="0" i="0" kern="1200" baseline="0"/>
            <a:t>Unity will use the object’s mesh (its real shape) to create the collider.</a:t>
          </a:r>
          <a:endParaRPr lang="en-US" sz="2500" kern="1200"/>
        </a:p>
      </dsp:txBody>
      <dsp:txXfrm>
        <a:off x="1909124" y="4133010"/>
        <a:ext cx="5040315" cy="16529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06ADC1-D048-447A-B893-A0E4D2353E5A}">
      <dsp:nvSpPr>
        <dsp:cNvPr id="0" name=""/>
        <dsp:cNvSpPr/>
      </dsp:nvSpPr>
      <dsp:spPr>
        <a:xfrm>
          <a:off x="2227083" y="588617"/>
          <a:ext cx="454359" cy="91440"/>
        </a:xfrm>
        <a:custGeom>
          <a:avLst/>
          <a:gdLst/>
          <a:ahLst/>
          <a:cxnLst/>
          <a:rect l="0" t="0" r="0" b="0"/>
          <a:pathLst>
            <a:path>
              <a:moveTo>
                <a:pt x="0" y="45720"/>
              </a:moveTo>
              <a:lnTo>
                <a:pt x="45435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2139" y="631912"/>
        <a:ext cx="24247" cy="4849"/>
      </dsp:txXfrm>
    </dsp:sp>
    <dsp:sp modelId="{C2E41758-B5C8-426D-A208-D6F6B659EE02}">
      <dsp:nvSpPr>
        <dsp:cNvPr id="0" name=""/>
        <dsp:cNvSpPr/>
      </dsp:nvSpPr>
      <dsp:spPr>
        <a:xfrm>
          <a:off x="120365" y="178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US" sz="2400" kern="1200"/>
            <a:t>Awake()</a:t>
          </a:r>
        </a:p>
      </dsp:txBody>
      <dsp:txXfrm>
        <a:off x="120365" y="1781"/>
        <a:ext cx="2108517" cy="1265110"/>
      </dsp:txXfrm>
    </dsp:sp>
    <dsp:sp modelId="{A4FA057A-A79E-4E8D-B0EC-55E9DB9ACB15}">
      <dsp:nvSpPr>
        <dsp:cNvPr id="0" name=""/>
        <dsp:cNvSpPr/>
      </dsp:nvSpPr>
      <dsp:spPr>
        <a:xfrm>
          <a:off x="4820560" y="588617"/>
          <a:ext cx="454359" cy="91440"/>
        </a:xfrm>
        <a:custGeom>
          <a:avLst/>
          <a:gdLst/>
          <a:ahLst/>
          <a:cxnLst/>
          <a:rect l="0" t="0" r="0" b="0"/>
          <a:pathLst>
            <a:path>
              <a:moveTo>
                <a:pt x="0" y="45720"/>
              </a:moveTo>
              <a:lnTo>
                <a:pt x="45435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5615" y="631912"/>
        <a:ext cx="24247" cy="4849"/>
      </dsp:txXfrm>
    </dsp:sp>
    <dsp:sp modelId="{37D62078-7949-4993-B88C-BF5E622AA62A}">
      <dsp:nvSpPr>
        <dsp:cNvPr id="0" name=""/>
        <dsp:cNvSpPr/>
      </dsp:nvSpPr>
      <dsp:spPr>
        <a:xfrm>
          <a:off x="2713842" y="178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OnEnable()</a:t>
          </a:r>
          <a:endParaRPr lang="en-US" sz="2400" kern="1200"/>
        </a:p>
      </dsp:txBody>
      <dsp:txXfrm>
        <a:off x="2713842" y="1781"/>
        <a:ext cx="2108517" cy="1265110"/>
      </dsp:txXfrm>
    </dsp:sp>
    <dsp:sp modelId="{B20F93A5-DC90-42CF-AAC1-14C216005716}">
      <dsp:nvSpPr>
        <dsp:cNvPr id="0" name=""/>
        <dsp:cNvSpPr/>
      </dsp:nvSpPr>
      <dsp:spPr>
        <a:xfrm>
          <a:off x="1174624" y="1265092"/>
          <a:ext cx="5186953" cy="454359"/>
        </a:xfrm>
        <a:custGeom>
          <a:avLst/>
          <a:gdLst/>
          <a:ahLst/>
          <a:cxnLst/>
          <a:rect l="0" t="0" r="0" b="0"/>
          <a:pathLst>
            <a:path>
              <a:moveTo>
                <a:pt x="5186953" y="0"/>
              </a:moveTo>
              <a:lnTo>
                <a:pt x="5186953" y="244279"/>
              </a:lnTo>
              <a:lnTo>
                <a:pt x="0" y="244279"/>
              </a:lnTo>
              <a:lnTo>
                <a:pt x="0" y="454359"/>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7862" y="1489847"/>
        <a:ext cx="260478" cy="4849"/>
      </dsp:txXfrm>
    </dsp:sp>
    <dsp:sp modelId="{199CDE28-E167-44B4-AF20-DE68AE104B39}">
      <dsp:nvSpPr>
        <dsp:cNvPr id="0" name=""/>
        <dsp:cNvSpPr/>
      </dsp:nvSpPr>
      <dsp:spPr>
        <a:xfrm>
          <a:off x="5307319" y="178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Start()</a:t>
          </a:r>
          <a:endParaRPr lang="en-US" sz="2400" kern="1200"/>
        </a:p>
      </dsp:txBody>
      <dsp:txXfrm>
        <a:off x="5307319" y="1781"/>
        <a:ext cx="2108517" cy="1265110"/>
      </dsp:txXfrm>
    </dsp:sp>
    <dsp:sp modelId="{4E2C0F5D-384B-4B20-AC73-6618C337FF05}">
      <dsp:nvSpPr>
        <dsp:cNvPr id="0" name=""/>
        <dsp:cNvSpPr/>
      </dsp:nvSpPr>
      <dsp:spPr>
        <a:xfrm>
          <a:off x="2227083" y="2338687"/>
          <a:ext cx="454359" cy="91440"/>
        </a:xfrm>
        <a:custGeom>
          <a:avLst/>
          <a:gdLst/>
          <a:ahLst/>
          <a:cxnLst/>
          <a:rect l="0" t="0" r="0" b="0"/>
          <a:pathLst>
            <a:path>
              <a:moveTo>
                <a:pt x="0" y="45720"/>
              </a:moveTo>
              <a:lnTo>
                <a:pt x="45435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2139" y="2381982"/>
        <a:ext cx="24247" cy="4849"/>
      </dsp:txXfrm>
    </dsp:sp>
    <dsp:sp modelId="{5CDA3DDE-ED81-4548-90C2-B4FC93BCECA9}">
      <dsp:nvSpPr>
        <dsp:cNvPr id="0" name=""/>
        <dsp:cNvSpPr/>
      </dsp:nvSpPr>
      <dsp:spPr>
        <a:xfrm>
          <a:off x="120365" y="175185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Update()</a:t>
          </a:r>
          <a:endParaRPr lang="en-US" sz="2400" kern="1200"/>
        </a:p>
      </dsp:txBody>
      <dsp:txXfrm>
        <a:off x="120365" y="1751851"/>
        <a:ext cx="2108517" cy="1265110"/>
      </dsp:txXfrm>
    </dsp:sp>
    <dsp:sp modelId="{E8CA683C-DC33-446F-A75C-E619F68C1931}">
      <dsp:nvSpPr>
        <dsp:cNvPr id="0" name=""/>
        <dsp:cNvSpPr/>
      </dsp:nvSpPr>
      <dsp:spPr>
        <a:xfrm>
          <a:off x="4820560" y="2338687"/>
          <a:ext cx="454359" cy="91440"/>
        </a:xfrm>
        <a:custGeom>
          <a:avLst/>
          <a:gdLst/>
          <a:ahLst/>
          <a:cxnLst/>
          <a:rect l="0" t="0" r="0" b="0"/>
          <a:pathLst>
            <a:path>
              <a:moveTo>
                <a:pt x="0" y="45720"/>
              </a:moveTo>
              <a:lnTo>
                <a:pt x="45435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5615" y="2381982"/>
        <a:ext cx="24247" cy="4849"/>
      </dsp:txXfrm>
    </dsp:sp>
    <dsp:sp modelId="{50C4B1E1-B6EE-416B-9104-ABD891373964}">
      <dsp:nvSpPr>
        <dsp:cNvPr id="0" name=""/>
        <dsp:cNvSpPr/>
      </dsp:nvSpPr>
      <dsp:spPr>
        <a:xfrm>
          <a:off x="2713842" y="175185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FixedUpdate()</a:t>
          </a:r>
          <a:endParaRPr lang="en-US" sz="2400" kern="1200"/>
        </a:p>
      </dsp:txBody>
      <dsp:txXfrm>
        <a:off x="2713842" y="1751851"/>
        <a:ext cx="2108517" cy="1265110"/>
      </dsp:txXfrm>
    </dsp:sp>
    <dsp:sp modelId="{B1DA385E-B62C-4113-AF2A-AC4C9329BCAC}">
      <dsp:nvSpPr>
        <dsp:cNvPr id="0" name=""/>
        <dsp:cNvSpPr/>
      </dsp:nvSpPr>
      <dsp:spPr>
        <a:xfrm>
          <a:off x="1174624" y="3015162"/>
          <a:ext cx="5186953" cy="454359"/>
        </a:xfrm>
        <a:custGeom>
          <a:avLst/>
          <a:gdLst/>
          <a:ahLst/>
          <a:cxnLst/>
          <a:rect l="0" t="0" r="0" b="0"/>
          <a:pathLst>
            <a:path>
              <a:moveTo>
                <a:pt x="5186953" y="0"/>
              </a:moveTo>
              <a:lnTo>
                <a:pt x="5186953" y="244279"/>
              </a:lnTo>
              <a:lnTo>
                <a:pt x="0" y="244279"/>
              </a:lnTo>
              <a:lnTo>
                <a:pt x="0" y="454359"/>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7862" y="3239917"/>
        <a:ext cx="260478" cy="4849"/>
      </dsp:txXfrm>
    </dsp:sp>
    <dsp:sp modelId="{8B6410FC-96EB-4177-A2E4-AA5FBBADEAC7}">
      <dsp:nvSpPr>
        <dsp:cNvPr id="0" name=""/>
        <dsp:cNvSpPr/>
      </dsp:nvSpPr>
      <dsp:spPr>
        <a:xfrm>
          <a:off x="5307319" y="175185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LateUpdate()</a:t>
          </a:r>
          <a:endParaRPr lang="en-US" sz="2400" kern="1200"/>
        </a:p>
      </dsp:txBody>
      <dsp:txXfrm>
        <a:off x="5307319" y="1751851"/>
        <a:ext cx="2108517" cy="1265110"/>
      </dsp:txXfrm>
    </dsp:sp>
    <dsp:sp modelId="{E9BAE703-10CD-487A-B7F5-04A4CD62B44F}">
      <dsp:nvSpPr>
        <dsp:cNvPr id="0" name=""/>
        <dsp:cNvSpPr/>
      </dsp:nvSpPr>
      <dsp:spPr>
        <a:xfrm>
          <a:off x="2227083" y="4088756"/>
          <a:ext cx="454359" cy="91440"/>
        </a:xfrm>
        <a:custGeom>
          <a:avLst/>
          <a:gdLst/>
          <a:ahLst/>
          <a:cxnLst/>
          <a:rect l="0" t="0" r="0" b="0"/>
          <a:pathLst>
            <a:path>
              <a:moveTo>
                <a:pt x="0" y="45720"/>
              </a:moveTo>
              <a:lnTo>
                <a:pt x="45435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2139" y="4132051"/>
        <a:ext cx="24247" cy="4849"/>
      </dsp:txXfrm>
    </dsp:sp>
    <dsp:sp modelId="{0E0B1D72-87A9-41FE-98E5-3F8E8118C71D}">
      <dsp:nvSpPr>
        <dsp:cNvPr id="0" name=""/>
        <dsp:cNvSpPr/>
      </dsp:nvSpPr>
      <dsp:spPr>
        <a:xfrm>
          <a:off x="120365" y="350192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OnDisable()</a:t>
          </a:r>
          <a:endParaRPr lang="en-US" sz="2400" kern="1200"/>
        </a:p>
      </dsp:txBody>
      <dsp:txXfrm>
        <a:off x="120365" y="3501921"/>
        <a:ext cx="2108517" cy="1265110"/>
      </dsp:txXfrm>
    </dsp:sp>
    <dsp:sp modelId="{BFD34B7A-85F8-4AA1-8143-4B7A8C9115D4}">
      <dsp:nvSpPr>
        <dsp:cNvPr id="0" name=""/>
        <dsp:cNvSpPr/>
      </dsp:nvSpPr>
      <dsp:spPr>
        <a:xfrm>
          <a:off x="2713842" y="3501921"/>
          <a:ext cx="2108517" cy="12651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3319" tIns="108452" rIns="103319" bIns="108452" numCol="1" spcCol="1270" anchor="ctr" anchorCtr="0">
          <a:noAutofit/>
        </a:bodyPr>
        <a:lstStyle/>
        <a:p>
          <a:pPr marL="0" lvl="0" indent="0" algn="ctr" defTabSz="1066800">
            <a:lnSpc>
              <a:spcPct val="90000"/>
            </a:lnSpc>
            <a:spcBef>
              <a:spcPct val="0"/>
            </a:spcBef>
            <a:spcAft>
              <a:spcPct val="35000"/>
            </a:spcAft>
            <a:buNone/>
          </a:pPr>
          <a:r>
            <a:rPr lang="en-IN" sz="2400" kern="1200"/>
            <a:t>OnDestroy()</a:t>
          </a:r>
          <a:endParaRPr lang="en-US" sz="2400" kern="1200"/>
        </a:p>
      </dsp:txBody>
      <dsp:txXfrm>
        <a:off x="2713842" y="3501921"/>
        <a:ext cx="2108517" cy="126511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3F734-148F-49ED-A43D-06DD375C885F}" type="datetimeFigureOut">
              <a:rPr lang="en-IN" smtClean="0"/>
              <a:t>02-07-2025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DA1955-07D5-463B-B85A-64D906ACE273}" type="slidenum">
              <a:rPr lang="en-IN" smtClean="0"/>
              <a:t>‹#›</a:t>
            </a:fld>
            <a:endParaRPr lang="en-IN"/>
          </a:p>
        </p:txBody>
      </p:sp>
    </p:spTree>
    <p:extLst>
      <p:ext uri="{BB962C8B-B14F-4D97-AF65-F5344CB8AC3E}">
        <p14:creationId xmlns:p14="http://schemas.microsoft.com/office/powerpoint/2010/main" val="291265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934427-9A1D-4A54-B43D-D64BB1DBE656}" type="slidenum">
              <a:rPr lang="en-IN" smtClean="0"/>
              <a:t>7</a:t>
            </a:fld>
            <a:endParaRPr lang="en-IN"/>
          </a:p>
        </p:txBody>
      </p:sp>
    </p:spTree>
    <p:extLst>
      <p:ext uri="{BB962C8B-B14F-4D97-AF65-F5344CB8AC3E}">
        <p14:creationId xmlns:p14="http://schemas.microsoft.com/office/powerpoint/2010/main" val="1891773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934427-9A1D-4A54-B43D-D64BB1DBE656}" type="slidenum">
              <a:rPr lang="en-IN" smtClean="0"/>
              <a:t>9</a:t>
            </a:fld>
            <a:endParaRPr lang="en-IN"/>
          </a:p>
        </p:txBody>
      </p:sp>
    </p:spTree>
    <p:extLst>
      <p:ext uri="{BB962C8B-B14F-4D97-AF65-F5344CB8AC3E}">
        <p14:creationId xmlns:p14="http://schemas.microsoft.com/office/powerpoint/2010/main" val="1929725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812E88-91B5-4CB0-AA71-16FF1CC47E47}" type="slidenum">
              <a:rPr lang="en-IN" smtClean="0"/>
              <a:t>23</a:t>
            </a:fld>
            <a:endParaRPr lang="en-IN"/>
          </a:p>
        </p:txBody>
      </p:sp>
    </p:spTree>
    <p:extLst>
      <p:ext uri="{BB962C8B-B14F-4D97-AF65-F5344CB8AC3E}">
        <p14:creationId xmlns:p14="http://schemas.microsoft.com/office/powerpoint/2010/main" val="4169045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934427-9A1D-4A54-B43D-D64BB1DBE656}" type="slidenum">
              <a:rPr lang="en-IN" smtClean="0"/>
              <a:t>26</a:t>
            </a:fld>
            <a:endParaRPr lang="en-IN"/>
          </a:p>
        </p:txBody>
      </p:sp>
    </p:spTree>
    <p:extLst>
      <p:ext uri="{BB962C8B-B14F-4D97-AF65-F5344CB8AC3E}">
        <p14:creationId xmlns:p14="http://schemas.microsoft.com/office/powerpoint/2010/main" val="1782805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812E88-91B5-4CB0-AA71-16FF1CC47E47}" type="slidenum">
              <a:rPr lang="en-IN" smtClean="0"/>
              <a:t>28</a:t>
            </a:fld>
            <a:endParaRPr lang="en-IN"/>
          </a:p>
        </p:txBody>
      </p:sp>
    </p:spTree>
    <p:extLst>
      <p:ext uri="{BB962C8B-B14F-4D97-AF65-F5344CB8AC3E}">
        <p14:creationId xmlns:p14="http://schemas.microsoft.com/office/powerpoint/2010/main" val="2037167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dirty="0"/>
              <a:t>Imagine you have a smart TV and a remote.</a:t>
            </a:r>
          </a:p>
          <a:p>
            <a:pPr lvl="2"/>
            <a:r>
              <a:rPr lang="en-US" dirty="0"/>
              <a:t>When you press the power button on the remote, the TV turns on.</a:t>
            </a:r>
          </a:p>
          <a:p>
            <a:pPr lvl="2"/>
            <a:r>
              <a:rPr lang="en-US" dirty="0"/>
              <a:t>As soon as the TV turns on, it:</a:t>
            </a:r>
          </a:p>
          <a:p>
            <a:pPr lvl="2"/>
            <a:r>
              <a:rPr lang="en-US" dirty="0"/>
              <a:t>Loads your last-used settings (volume, channel, brightness)</a:t>
            </a:r>
          </a:p>
          <a:p>
            <a:pPr lvl="2"/>
            <a:r>
              <a:rPr lang="en-US" dirty="0"/>
              <a:t>Connects to the internet</a:t>
            </a:r>
          </a:p>
          <a:p>
            <a:pPr lvl="2"/>
            <a:r>
              <a:rPr lang="en-US" dirty="0"/>
              <a:t>Shows your home screen</a:t>
            </a:r>
          </a:p>
          <a:p>
            <a:pPr lvl="2"/>
            <a:r>
              <a:rPr lang="en-US" dirty="0"/>
              <a:t>That automatic behavior when the TV turns on — that’s just like </a:t>
            </a:r>
            <a:r>
              <a:rPr lang="en-US" dirty="0" err="1"/>
              <a:t>OnEnable</a:t>
            </a:r>
            <a:r>
              <a:rPr lang="en-US" dirty="0"/>
              <a:t>() in Unity</a:t>
            </a:r>
            <a:endParaRPr lang="en-IN" dirty="0"/>
          </a:p>
        </p:txBody>
      </p:sp>
      <p:sp>
        <p:nvSpPr>
          <p:cNvPr id="4" name="Slide Number Placeholder 3"/>
          <p:cNvSpPr>
            <a:spLocks noGrp="1"/>
          </p:cNvSpPr>
          <p:nvPr>
            <p:ph type="sldNum" sz="quarter" idx="5"/>
          </p:nvPr>
        </p:nvSpPr>
        <p:spPr/>
        <p:txBody>
          <a:bodyPr/>
          <a:lstStyle/>
          <a:p>
            <a:fld id="{601C6ACE-A016-477B-9A3D-BAF776018A09}" type="slidenum">
              <a:rPr lang="en-IN" smtClean="0"/>
              <a:t>49</a:t>
            </a:fld>
            <a:endParaRPr lang="en-IN"/>
          </a:p>
        </p:txBody>
      </p:sp>
    </p:spTree>
    <p:extLst>
      <p:ext uri="{BB962C8B-B14F-4D97-AF65-F5344CB8AC3E}">
        <p14:creationId xmlns:p14="http://schemas.microsoft.com/office/powerpoint/2010/main" val="1235895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to understand children:</a:t>
            </a:r>
          </a:p>
          <a:p>
            <a:r>
              <a:rPr lang="en-US" dirty="0"/>
              <a:t>Imagine you have this hierarchy in Unity:</a:t>
            </a:r>
          </a:p>
          <a:p>
            <a:pPr>
              <a:buFont typeface="Arial" panose="020B0604020202020204" pitchFamily="34" charset="0"/>
              <a:buChar char="•"/>
            </a:pPr>
            <a:r>
              <a:rPr lang="en-US" b="1" dirty="0"/>
              <a:t>Player (</a:t>
            </a:r>
            <a:r>
              <a:rPr lang="en-US" b="1" dirty="0" err="1"/>
              <a:t>GameObject</a:t>
            </a:r>
            <a:r>
              <a:rPr lang="en-US" b="1" dirty="0"/>
              <a:t>)</a:t>
            </a:r>
            <a:endParaRPr lang="en-US" dirty="0"/>
          </a:p>
          <a:p>
            <a:pPr marL="742950" lvl="1" indent="-285750">
              <a:buFont typeface="Arial" panose="020B0604020202020204" pitchFamily="34" charset="0"/>
              <a:buChar char="•"/>
            </a:pPr>
            <a:r>
              <a:rPr lang="en-US" b="1" dirty="0"/>
              <a:t>Weapon (child </a:t>
            </a:r>
            <a:r>
              <a:rPr lang="en-US" b="1" dirty="0" err="1"/>
              <a:t>GameObject</a:t>
            </a:r>
            <a:r>
              <a:rPr lang="en-US" b="1" dirty="0"/>
              <a:t>)</a:t>
            </a:r>
            <a:endParaRPr lang="en-US" dirty="0"/>
          </a:p>
          <a:p>
            <a:pPr marL="1143000" lvl="2" indent="-228600">
              <a:buFont typeface="Arial" panose="020B0604020202020204" pitchFamily="34" charset="0"/>
              <a:buChar char="•"/>
            </a:pPr>
            <a:r>
              <a:rPr lang="en-US" dirty="0"/>
              <a:t>Has a script called </a:t>
            </a:r>
            <a:r>
              <a:rPr lang="en-US" dirty="0" err="1"/>
              <a:t>GunScript</a:t>
            </a:r>
            <a:endParaRPr lang="en-US" dirty="0"/>
          </a:p>
          <a:p>
            <a:r>
              <a:rPr lang="en-US" dirty="0"/>
              <a:t>If you run </a:t>
            </a:r>
            <a:r>
              <a:rPr lang="en-US" dirty="0" err="1"/>
              <a:t>GetComponent</a:t>
            </a:r>
            <a:r>
              <a:rPr lang="en-US" dirty="0"/>
              <a:t>&lt;</a:t>
            </a:r>
            <a:r>
              <a:rPr lang="en-US" dirty="0" err="1"/>
              <a:t>GunScript</a:t>
            </a:r>
            <a:r>
              <a:rPr lang="en-US" dirty="0"/>
              <a:t>&gt;() on the </a:t>
            </a:r>
            <a:r>
              <a:rPr lang="en-US" b="1" dirty="0"/>
              <a:t>Player</a:t>
            </a:r>
            <a:r>
              <a:rPr lang="en-US" dirty="0"/>
              <a:t>, it will </a:t>
            </a:r>
            <a:r>
              <a:rPr lang="en-US" b="1" dirty="0"/>
              <a:t>NOT</a:t>
            </a:r>
            <a:r>
              <a:rPr lang="en-US" dirty="0"/>
              <a:t> find the script because </a:t>
            </a:r>
            <a:r>
              <a:rPr lang="en-US" dirty="0" err="1"/>
              <a:t>GunScript</a:t>
            </a:r>
            <a:r>
              <a:rPr lang="en-US" dirty="0"/>
              <a:t> is attached to the </a:t>
            </a:r>
            <a:r>
              <a:rPr lang="en-US" b="1" dirty="0"/>
              <a:t>Weapon</a:t>
            </a:r>
            <a:r>
              <a:rPr lang="en-US" dirty="0"/>
              <a:t>, which is a child of Player.</a:t>
            </a:r>
          </a:p>
          <a:p>
            <a:r>
              <a:rPr lang="en-US" dirty="0"/>
              <a:t>But if you run:</a:t>
            </a:r>
          </a:p>
          <a:p>
            <a:r>
              <a:rPr lang="en-IN" dirty="0" err="1"/>
              <a:t>GetComponentInChildren</a:t>
            </a:r>
            <a:r>
              <a:rPr lang="en-IN" dirty="0"/>
              <a:t>&lt;</a:t>
            </a:r>
            <a:r>
              <a:rPr lang="en-IN" dirty="0" err="1"/>
              <a:t>GunScript</a:t>
            </a:r>
            <a:r>
              <a:rPr lang="en-IN" dirty="0"/>
              <a:t>&gt;()</a:t>
            </a:r>
          </a:p>
          <a:p>
            <a:endParaRPr lang="en-IN" dirty="0"/>
          </a:p>
        </p:txBody>
      </p:sp>
      <p:sp>
        <p:nvSpPr>
          <p:cNvPr id="4" name="Slide Number Placeholder 3"/>
          <p:cNvSpPr>
            <a:spLocks noGrp="1"/>
          </p:cNvSpPr>
          <p:nvPr>
            <p:ph type="sldNum" sz="quarter" idx="5"/>
          </p:nvPr>
        </p:nvSpPr>
        <p:spPr/>
        <p:txBody>
          <a:bodyPr/>
          <a:lstStyle/>
          <a:p>
            <a:fld id="{9B06E29B-CD0A-4402-BA77-EA9CE9000470}" type="slidenum">
              <a:rPr lang="en-IN" smtClean="0"/>
              <a:t>90</a:t>
            </a:fld>
            <a:endParaRPr lang="en-IN"/>
          </a:p>
        </p:txBody>
      </p:sp>
    </p:spTree>
    <p:extLst>
      <p:ext uri="{BB962C8B-B14F-4D97-AF65-F5344CB8AC3E}">
        <p14:creationId xmlns:p14="http://schemas.microsoft.com/office/powerpoint/2010/main" val="1637741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06E29B-CD0A-4402-BA77-EA9CE9000470}" type="slidenum">
              <a:rPr lang="en-IN" smtClean="0"/>
              <a:t>135</a:t>
            </a:fld>
            <a:endParaRPr lang="en-IN"/>
          </a:p>
        </p:txBody>
      </p:sp>
    </p:spTree>
    <p:extLst>
      <p:ext uri="{BB962C8B-B14F-4D97-AF65-F5344CB8AC3E}">
        <p14:creationId xmlns:p14="http://schemas.microsoft.com/office/powerpoint/2010/main" val="3403575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4142082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02101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2595358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7CBF05-10FB-4E79-AAD2-36DB7B23C4CC}"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897275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7CBF05-10FB-4E79-AAD2-36DB7B23C4CC}" type="datetimeFigureOut">
              <a:rPr lang="en-IN" smtClean="0"/>
              <a:t>02-07-2025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908910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7CBF05-10FB-4E79-AAD2-36DB7B23C4CC}" type="datetimeFigureOut">
              <a:rPr lang="en-IN" smtClean="0"/>
              <a:t>02-07-2025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096559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CBF05-10FB-4E79-AAD2-36DB7B23C4CC}" type="datetimeFigureOut">
              <a:rPr lang="en-IN" smtClean="0"/>
              <a:t>02-07-2025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747461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7CBF05-10FB-4E79-AAD2-36DB7B23C4CC}" type="datetimeFigureOut">
              <a:rPr lang="en-IN" smtClean="0"/>
              <a:t>02-07-2025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1199252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2EF05D-EF51-4572-9A85-BA686BD1D695}" type="slidenum">
              <a:rPr lang="en-IN" smtClean="0"/>
              <a:t>‹#›</a:t>
            </a:fld>
            <a:endParaRPr lang="en-IN"/>
          </a:p>
        </p:txBody>
      </p:sp>
      <p:sp>
        <p:nvSpPr>
          <p:cNvPr id="5" name="Date Placeholder 4"/>
          <p:cNvSpPr>
            <a:spLocks noGrp="1"/>
          </p:cNvSpPr>
          <p:nvPr>
            <p:ph type="dt" sz="half" idx="10"/>
          </p:nvPr>
        </p:nvSpPr>
        <p:spPr/>
        <p:txBody>
          <a:bodyPr/>
          <a:lstStyle/>
          <a:p>
            <a:fld id="{E67CBF05-10FB-4E79-AAD2-36DB7B23C4CC}" type="datetimeFigureOut">
              <a:rPr lang="en-IN" smtClean="0"/>
              <a:t>02-07-2025</a:t>
            </a:fld>
            <a:endParaRPr lang="en-IN"/>
          </a:p>
        </p:txBody>
      </p:sp>
    </p:spTree>
    <p:extLst>
      <p:ext uri="{BB962C8B-B14F-4D97-AF65-F5344CB8AC3E}">
        <p14:creationId xmlns:p14="http://schemas.microsoft.com/office/powerpoint/2010/main" val="957544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2412048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4363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5843988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77686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454238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480113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7CBF05-10FB-4E79-AAD2-36DB7B23C4CC}" type="datetimeFigureOut">
              <a:rPr lang="en-IN" smtClean="0"/>
              <a:t>02-07-2025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2EF05D-EF51-4572-9A85-BA686BD1D695}" type="slidenum">
              <a:rPr lang="en-IN" smtClean="0"/>
              <a:t>‹#›</a:t>
            </a:fld>
            <a:endParaRPr lang="en-IN"/>
          </a:p>
        </p:txBody>
      </p:sp>
    </p:spTree>
    <p:extLst>
      <p:ext uri="{BB962C8B-B14F-4D97-AF65-F5344CB8AC3E}">
        <p14:creationId xmlns:p14="http://schemas.microsoft.com/office/powerpoint/2010/main" val="3336729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61EA-47E0-B5DD-E981-230E0817F3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1DBA6F-4C01-93C1-D01E-3DB46117A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850169-36CB-F4B6-2F63-35586090D3C2}"/>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5" name="Footer Placeholder 4">
            <a:extLst>
              <a:ext uri="{FF2B5EF4-FFF2-40B4-BE49-F238E27FC236}">
                <a16:creationId xmlns:a16="http://schemas.microsoft.com/office/drawing/2014/main" id="{49EACAB2-3BD2-02A2-1CAD-96DAF7207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1B26E4-B1DB-0E06-67BD-65636EE023DA}"/>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5841976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28206-F6B3-AF02-7CFA-0BC46297C7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A7050E-2682-FA34-EDCB-9A1F15086C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D22DD7-B4CF-B18C-F824-B9AC4510C93D}"/>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5" name="Footer Placeholder 4">
            <a:extLst>
              <a:ext uri="{FF2B5EF4-FFF2-40B4-BE49-F238E27FC236}">
                <a16:creationId xmlns:a16="http://schemas.microsoft.com/office/drawing/2014/main" id="{9FF4AA2F-1316-BAD5-5D6C-59C752407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7AFD70-ED2C-CB0A-5B95-8F814A5850C4}"/>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1752216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0B0B-0820-4241-81E8-5313D5BE18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40865F-4716-1C48-D70D-0611B24333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B6CE5E-C54B-4038-A4D9-81846FEA9F0C}"/>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5" name="Footer Placeholder 4">
            <a:extLst>
              <a:ext uri="{FF2B5EF4-FFF2-40B4-BE49-F238E27FC236}">
                <a16:creationId xmlns:a16="http://schemas.microsoft.com/office/drawing/2014/main" id="{75657CCC-6DDF-FDDC-D5BC-1C47C4CA48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E3E805-A11E-CF36-7C4B-75A706FC8BBF}"/>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18628784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E5CB-AD01-313A-61FF-1FB6F4ACC5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945DB2-2B5B-C49A-DA1D-B97C745D54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2C206A-ECC3-DB93-B55C-47E437BEF4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B29491-32C7-D194-F193-973BD107DF7A}"/>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6" name="Footer Placeholder 5">
            <a:extLst>
              <a:ext uri="{FF2B5EF4-FFF2-40B4-BE49-F238E27FC236}">
                <a16:creationId xmlns:a16="http://schemas.microsoft.com/office/drawing/2014/main" id="{C5D9B878-E05D-2881-C83B-0B4B942C7F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EEE3B2-F329-A332-FFC0-88F1863C912E}"/>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264679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36DAB-A443-83E9-3B8F-955B57C590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D58608-6204-3C75-3357-A3C416C247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B58475-4139-166D-4730-987C458F02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351C9A-245E-ED42-0513-0442D5591E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E994EB-F2B0-DC8E-C0AC-F8F7E7F7B7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661839-BB84-88DC-0494-8B5B38ED2654}"/>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8" name="Footer Placeholder 7">
            <a:extLst>
              <a:ext uri="{FF2B5EF4-FFF2-40B4-BE49-F238E27FC236}">
                <a16:creationId xmlns:a16="http://schemas.microsoft.com/office/drawing/2014/main" id="{BEBF2A4D-935B-7857-0928-D06E2020E6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F58B3F-FE11-434B-5DB5-9573A1616A4E}"/>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887214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A48B-828C-ABD4-9E2B-A306CA8D92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9864B0-30E7-1FF1-E1A1-E30B518FEEBA}"/>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4" name="Footer Placeholder 3">
            <a:extLst>
              <a:ext uri="{FF2B5EF4-FFF2-40B4-BE49-F238E27FC236}">
                <a16:creationId xmlns:a16="http://schemas.microsoft.com/office/drawing/2014/main" id="{036A4CF3-E75D-17F3-B048-F1E9C01569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A4BA12-E2AD-7092-6F95-F43E35696C2B}"/>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3228162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D7420-0B2F-7958-B50E-E260C71B6F02}"/>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3" name="Footer Placeholder 2">
            <a:extLst>
              <a:ext uri="{FF2B5EF4-FFF2-40B4-BE49-F238E27FC236}">
                <a16:creationId xmlns:a16="http://schemas.microsoft.com/office/drawing/2014/main" id="{3D192E71-5EFB-9B26-A732-512641D3963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DABF9B5-56AE-8644-5E94-051FE477C7B9}"/>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15624793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405B-B531-61AD-78D9-23468AE0E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75220B-CA37-9DEE-C982-722C866AF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16D412-B505-057F-818C-128341937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F1C743-7961-E27B-4A83-2AF29FE35813}"/>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6" name="Footer Placeholder 5">
            <a:extLst>
              <a:ext uri="{FF2B5EF4-FFF2-40B4-BE49-F238E27FC236}">
                <a16:creationId xmlns:a16="http://schemas.microsoft.com/office/drawing/2014/main" id="{A303D7EE-FB27-DA4B-8673-50D87103AA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1D9484-9DFB-9383-7566-FDA554904AE1}"/>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324681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FD07B-3DFD-EDBA-4686-AD0BDCA3D2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BDB90D-8C07-D8F3-4BEC-F7519F4686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7B70AF-25A0-6032-C384-279CF12D48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F77069-1159-BBE1-4B17-D6AFD4372390}"/>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6" name="Footer Placeholder 5">
            <a:extLst>
              <a:ext uri="{FF2B5EF4-FFF2-40B4-BE49-F238E27FC236}">
                <a16:creationId xmlns:a16="http://schemas.microsoft.com/office/drawing/2014/main" id="{D9417218-494B-A848-3037-5CB165092B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3D862C-5D87-CB32-3EA9-B9C369F6AF6C}"/>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2362426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6EFF9-DF27-B8BA-051C-6C602A60F7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756E38-7B22-C4B7-67C1-363EA47CAF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092F7F-C72D-71B8-9E01-9978630A17DA}"/>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5" name="Footer Placeholder 4">
            <a:extLst>
              <a:ext uri="{FF2B5EF4-FFF2-40B4-BE49-F238E27FC236}">
                <a16:creationId xmlns:a16="http://schemas.microsoft.com/office/drawing/2014/main" id="{9C129601-3985-20F5-412E-C17B99AE43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B8B1B2-B69A-42D0-B3DD-0C3D76626045}"/>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6181637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5AE747-DC25-C5E1-1224-DB94D5A52F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A47511-E33D-0F6D-1373-8038844C9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5474B6-6C0D-668C-6D91-8A5C6192BEB6}"/>
              </a:ext>
            </a:extLst>
          </p:cNvPr>
          <p:cNvSpPr>
            <a:spLocks noGrp="1"/>
          </p:cNvSpPr>
          <p:nvPr>
            <p:ph type="dt" sz="half" idx="10"/>
          </p:nvPr>
        </p:nvSpPr>
        <p:spPr/>
        <p:txBody>
          <a:bodyPr/>
          <a:lstStyle/>
          <a:p>
            <a:fld id="{1B2A3EC4-7D87-4E94-AB92-CA628A962D7A}" type="datetimeFigureOut">
              <a:rPr lang="en-IN" smtClean="0"/>
              <a:t>02-07-2025</a:t>
            </a:fld>
            <a:endParaRPr lang="en-IN"/>
          </a:p>
        </p:txBody>
      </p:sp>
      <p:sp>
        <p:nvSpPr>
          <p:cNvPr id="5" name="Footer Placeholder 4">
            <a:extLst>
              <a:ext uri="{FF2B5EF4-FFF2-40B4-BE49-F238E27FC236}">
                <a16:creationId xmlns:a16="http://schemas.microsoft.com/office/drawing/2014/main" id="{698AE171-6258-D51B-B542-CE5312D741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968824-314B-1133-CBCC-33F4258E7576}"/>
              </a:ext>
            </a:extLst>
          </p:cNvPr>
          <p:cNvSpPr>
            <a:spLocks noGrp="1"/>
          </p:cNvSpPr>
          <p:nvPr>
            <p:ph type="sldNum" sz="quarter" idx="12"/>
          </p:nvPr>
        </p:nvSpPr>
        <p:spPr/>
        <p:txBody>
          <a:bodyPr/>
          <a:lstStyle/>
          <a:p>
            <a:fld id="{C26117F7-5BA5-4DDD-8AA1-DC5774348D1E}" type="slidenum">
              <a:rPr lang="en-IN" smtClean="0"/>
              <a:t>‹#›</a:t>
            </a:fld>
            <a:endParaRPr lang="en-IN"/>
          </a:p>
        </p:txBody>
      </p:sp>
    </p:spTree>
    <p:extLst>
      <p:ext uri="{BB962C8B-B14F-4D97-AF65-F5344CB8AC3E}">
        <p14:creationId xmlns:p14="http://schemas.microsoft.com/office/powerpoint/2010/main" val="16824193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63B7-981A-4E28-4951-67EC2EBEEF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CA6AC72-3040-7FD5-FBB3-30168282E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50EF04-0F10-F7F0-3CCC-AD752C9F11C7}"/>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5" name="Footer Placeholder 4">
            <a:extLst>
              <a:ext uri="{FF2B5EF4-FFF2-40B4-BE49-F238E27FC236}">
                <a16:creationId xmlns:a16="http://schemas.microsoft.com/office/drawing/2014/main" id="{8F5DDBC2-B1F0-54D2-B3F8-45985EE897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B1F2B-DEE0-6417-D826-5B2898775A91}"/>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1857151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46CAC-6D41-EBB3-025C-A5F8D63165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72CDD5-3EEC-76F9-9574-97C8975486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91DE1A-85CD-7A6E-053E-F51AC208B6E3}"/>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5" name="Footer Placeholder 4">
            <a:extLst>
              <a:ext uri="{FF2B5EF4-FFF2-40B4-BE49-F238E27FC236}">
                <a16:creationId xmlns:a16="http://schemas.microsoft.com/office/drawing/2014/main" id="{64D16265-FA28-AF06-FB45-B39F46027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701644-949D-A732-DC8C-A0DD32DEAE28}"/>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39570977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5636-0F24-E70D-5FD0-4D2FC07D17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2A0FEA-5404-3520-CD72-C055C6AE39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4B010D-2656-BBB3-1082-46671013902B}"/>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5" name="Footer Placeholder 4">
            <a:extLst>
              <a:ext uri="{FF2B5EF4-FFF2-40B4-BE49-F238E27FC236}">
                <a16:creationId xmlns:a16="http://schemas.microsoft.com/office/drawing/2014/main" id="{2225C17A-7863-BFA3-D98A-B4E86786A1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87CE2F-A1D5-F1E0-3EE0-48A811FE5115}"/>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8520118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4EBF-F40A-FC1C-B931-66DF471118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11861C-CE8A-3FF4-9D80-DD60C3EBEA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DF4FD9-5C45-D3E6-E9AF-63C5DEB55E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BD7BDD-038E-E79D-B463-C5274A0718B1}"/>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6" name="Footer Placeholder 5">
            <a:extLst>
              <a:ext uri="{FF2B5EF4-FFF2-40B4-BE49-F238E27FC236}">
                <a16:creationId xmlns:a16="http://schemas.microsoft.com/office/drawing/2014/main" id="{5A230036-5BE1-35A5-E5FE-7CF8F643F7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DEB793-2EC5-B616-8FEE-D2409732E646}"/>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36288385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C144-D4AF-CD70-2D0A-6CA8023AE8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6B481A-6AA3-3689-0D0C-DAF0285C22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A2D6F8-223F-AFFC-3A7C-495F90C09A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DFD273-D19C-5D6E-85E5-99D4714B4D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C19552-81A9-B119-46D1-8DC938AFC4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99C33C3-41BC-9122-7685-CF6254C96DAE}"/>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8" name="Footer Placeholder 7">
            <a:extLst>
              <a:ext uri="{FF2B5EF4-FFF2-40B4-BE49-F238E27FC236}">
                <a16:creationId xmlns:a16="http://schemas.microsoft.com/office/drawing/2014/main" id="{26A5FAB5-7314-B559-5AFA-E1A3702D92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4D7E78-26E5-18E7-D654-6ABB2DCFE1C1}"/>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20092312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61CB-AE81-0A3D-E2D4-596E9DBA71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756D081-7FE3-78FB-82E9-AEBC6C89D443}"/>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4" name="Footer Placeholder 3">
            <a:extLst>
              <a:ext uri="{FF2B5EF4-FFF2-40B4-BE49-F238E27FC236}">
                <a16:creationId xmlns:a16="http://schemas.microsoft.com/office/drawing/2014/main" id="{AD00E79B-996C-7055-B999-72CCF78102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43C447-D614-21D2-D68A-613A15DB1551}"/>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32695937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6E1A21-AA3D-40C9-8157-A94EE4CB9BB2}"/>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3" name="Footer Placeholder 2">
            <a:extLst>
              <a:ext uri="{FF2B5EF4-FFF2-40B4-BE49-F238E27FC236}">
                <a16:creationId xmlns:a16="http://schemas.microsoft.com/office/drawing/2014/main" id="{46ECE649-F7AB-A934-2E6E-A7BE4F8C97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497E8B-37B9-148F-FA7C-B7D7A13308B7}"/>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30822371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0ADB-6999-4F53-C65A-602C973DF4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FDADED-75AD-AA66-DB1B-3CA7FEB13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2775E1-9B58-C178-722B-BC9FEF881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01E535-E804-2DDB-6BAF-288523F58ACE}"/>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6" name="Footer Placeholder 5">
            <a:extLst>
              <a:ext uri="{FF2B5EF4-FFF2-40B4-BE49-F238E27FC236}">
                <a16:creationId xmlns:a16="http://schemas.microsoft.com/office/drawing/2014/main" id="{827DA073-3A29-BA36-533D-BB3CA0121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6B6B1C-B079-CC3B-39D4-E110262742EF}"/>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10945170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78E6-6438-450F-2E06-00591AE0A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6BC0A49-759E-5DF9-7D1B-B748B76B24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135B01-563F-3258-E5F8-38E6EAD79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D442DE-9CA7-4730-7152-C410A24AB45B}"/>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6" name="Footer Placeholder 5">
            <a:extLst>
              <a:ext uri="{FF2B5EF4-FFF2-40B4-BE49-F238E27FC236}">
                <a16:creationId xmlns:a16="http://schemas.microsoft.com/office/drawing/2014/main" id="{7D263EFB-6835-1234-B5AC-BEEF2EEEC1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6B2825-7276-FA0C-77C5-7F88BAFA7EA1}"/>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24477920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EACC-FDC1-2797-0F79-27CF3AD5C4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BCAA83-5B94-2FD8-959E-4C6C193AB2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4F76DE-7E1F-2F4D-2D1B-8C79060399AB}"/>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5" name="Footer Placeholder 4">
            <a:extLst>
              <a:ext uri="{FF2B5EF4-FFF2-40B4-BE49-F238E27FC236}">
                <a16:creationId xmlns:a16="http://schemas.microsoft.com/office/drawing/2014/main" id="{B69EB6EB-D26D-A0EA-9742-BF1C4FC23C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98264B-93F5-EC9A-7DE1-AEAD5D7085FD}"/>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31773405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BA9EDD-D61C-B1CA-F9B6-C3AA05618E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33C295-B16D-B0E0-2FF5-3BDBFD7EE2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0923D7-CCC0-47D3-4DF2-F7C05E12E54B}"/>
              </a:ext>
            </a:extLst>
          </p:cNvPr>
          <p:cNvSpPr>
            <a:spLocks noGrp="1"/>
          </p:cNvSpPr>
          <p:nvPr>
            <p:ph type="dt" sz="half" idx="10"/>
          </p:nvPr>
        </p:nvSpPr>
        <p:spPr/>
        <p:txBody>
          <a:bodyPr/>
          <a:lstStyle/>
          <a:p>
            <a:fld id="{C7703150-200E-4048-81C1-F6D30B490273}" type="datetimeFigureOut">
              <a:rPr lang="en-IN" smtClean="0"/>
              <a:t>02-07-2025</a:t>
            </a:fld>
            <a:endParaRPr lang="en-IN"/>
          </a:p>
        </p:txBody>
      </p:sp>
      <p:sp>
        <p:nvSpPr>
          <p:cNvPr id="5" name="Footer Placeholder 4">
            <a:extLst>
              <a:ext uri="{FF2B5EF4-FFF2-40B4-BE49-F238E27FC236}">
                <a16:creationId xmlns:a16="http://schemas.microsoft.com/office/drawing/2014/main" id="{B4072253-4B4F-6163-1A1B-8DCA18438C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C148C4-D7F2-C074-2DA0-27A4B4F8DD87}"/>
              </a:ext>
            </a:extLst>
          </p:cNvPr>
          <p:cNvSpPr>
            <a:spLocks noGrp="1"/>
          </p:cNvSpPr>
          <p:nvPr>
            <p:ph type="sldNum" sz="quarter" idx="12"/>
          </p:nvPr>
        </p:nvSpPr>
        <p:spPr/>
        <p:txBody>
          <a:bodyPr/>
          <a:lstStyle/>
          <a:p>
            <a:fld id="{FC6E9BBE-25FC-43C9-936D-DE3E4C741F73}" type="slidenum">
              <a:rPr lang="en-IN" smtClean="0"/>
              <a:t>‹#›</a:t>
            </a:fld>
            <a:endParaRPr lang="en-IN"/>
          </a:p>
        </p:txBody>
      </p:sp>
    </p:spTree>
    <p:extLst>
      <p:ext uri="{BB962C8B-B14F-4D97-AF65-F5344CB8AC3E}">
        <p14:creationId xmlns:p14="http://schemas.microsoft.com/office/powerpoint/2010/main" val="15874454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65B3D-6D8D-5DB8-4559-FEB8ADB72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965BA1-973C-76F4-57DB-2E2AF885C5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1975AF-A618-89D4-6381-1462B6F3CAE4}"/>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5" name="Footer Placeholder 4">
            <a:extLst>
              <a:ext uri="{FF2B5EF4-FFF2-40B4-BE49-F238E27FC236}">
                <a16:creationId xmlns:a16="http://schemas.microsoft.com/office/drawing/2014/main" id="{EC12E41B-A437-C050-C71B-D194FCC619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069897-F39E-D3D8-6057-195691F87FF4}"/>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1274996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A6536-5ACE-6996-437F-084323BE1E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F2765D-0FC0-0557-6F28-8628910531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9AF51A-BFA9-5C20-BE0E-5B42D02549A8}"/>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5" name="Footer Placeholder 4">
            <a:extLst>
              <a:ext uri="{FF2B5EF4-FFF2-40B4-BE49-F238E27FC236}">
                <a16:creationId xmlns:a16="http://schemas.microsoft.com/office/drawing/2014/main" id="{70F66D5A-EDA3-6A9E-848C-1BB48BA810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463A0E-88E4-81BC-9A64-0187B078CB0D}"/>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14851127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54310-9D5C-65EA-B231-BE5A95DC2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2A36FA-24D6-0F1B-66BE-342A4A2189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36C1B4-40A5-036F-CBBA-BF2CAFC7E23C}"/>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5" name="Footer Placeholder 4">
            <a:extLst>
              <a:ext uri="{FF2B5EF4-FFF2-40B4-BE49-F238E27FC236}">
                <a16:creationId xmlns:a16="http://schemas.microsoft.com/office/drawing/2014/main" id="{C652C56E-7B55-0B30-E5AF-41D477E2A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FDA580-F2D3-419E-99AE-83333F7ABC2F}"/>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36208889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01F8-25C4-3C03-C8E6-9D616CF1E0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399477-B06D-FEE9-9271-F741D0491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94568C-884D-EEA0-E199-411A78927E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6B4284-8A1F-6FCE-ACF0-BEC8D07BDCC4}"/>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6" name="Footer Placeholder 5">
            <a:extLst>
              <a:ext uri="{FF2B5EF4-FFF2-40B4-BE49-F238E27FC236}">
                <a16:creationId xmlns:a16="http://schemas.microsoft.com/office/drawing/2014/main" id="{814F2581-BBEC-DB1D-ED53-98387A8E62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2F4EF5-9ACF-A447-A16F-8FB0EC7862FD}"/>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29799785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E446-39DF-42BD-E626-05B97A0098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09FFA1-D5C0-EBC5-6BCD-20DDDC503C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2C588E-C581-6885-D271-A59C0D07CD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FA18E3-BB8D-6ADC-EF18-A8145255D7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83756E-69E9-37D2-8D0D-0438DC6D9C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B9B3A8-4D0E-C5B4-E2F5-47EEDB425BAA}"/>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8" name="Footer Placeholder 7">
            <a:extLst>
              <a:ext uri="{FF2B5EF4-FFF2-40B4-BE49-F238E27FC236}">
                <a16:creationId xmlns:a16="http://schemas.microsoft.com/office/drawing/2014/main" id="{8BBE89B1-82E5-581F-06BD-687144FEF9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AA0026-CEF9-ADCD-FC94-1F3361429DA5}"/>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137321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4C372-D0ED-E72E-FFB9-82C6CBF7FE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9848BC-B6D3-77C7-6456-3FDFCC6F78A5}"/>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4" name="Footer Placeholder 3">
            <a:extLst>
              <a:ext uri="{FF2B5EF4-FFF2-40B4-BE49-F238E27FC236}">
                <a16:creationId xmlns:a16="http://schemas.microsoft.com/office/drawing/2014/main" id="{982C1719-446E-DE72-EEF0-1C7649BEFB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93AC50-97A4-A6AB-2561-48B8A28BE13A}"/>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36620173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42CC0D-ED8E-8BC9-FC15-19093324CCE4}"/>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3" name="Footer Placeholder 2">
            <a:extLst>
              <a:ext uri="{FF2B5EF4-FFF2-40B4-BE49-F238E27FC236}">
                <a16:creationId xmlns:a16="http://schemas.microsoft.com/office/drawing/2014/main" id="{E5C2388A-8E8D-7385-FBED-A0FF60B039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6CDF953-16A1-1ED2-77D8-2093750A57EE}"/>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4037696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C82B-7249-3985-EA2A-BFA0104F5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1603A1-73D3-45E8-0767-E6DD84C18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388E8B-CB6A-1AF1-93EE-D02DD8254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D2CC0-3970-768E-C83B-C53DE370E0FA}"/>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6" name="Footer Placeholder 5">
            <a:extLst>
              <a:ext uri="{FF2B5EF4-FFF2-40B4-BE49-F238E27FC236}">
                <a16:creationId xmlns:a16="http://schemas.microsoft.com/office/drawing/2014/main" id="{C20D5B3C-C221-4483-6A92-32B14CED3B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5DB720-1F07-98E3-9EAE-B50F61656137}"/>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28534004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6023-C6D0-3A8B-35B0-0B87D9BAB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6C16F4-B127-B557-61D0-F8E5352DE3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80B40D-FF19-DDAD-2E2B-1E24A9875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4ECC7-B2D0-DCDA-F767-1FB2AA33332F}"/>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6" name="Footer Placeholder 5">
            <a:extLst>
              <a:ext uri="{FF2B5EF4-FFF2-40B4-BE49-F238E27FC236}">
                <a16:creationId xmlns:a16="http://schemas.microsoft.com/office/drawing/2014/main" id="{CB941FF5-DB68-75AC-A432-3647D64F3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99182-7930-D56F-786F-8B82F191D456}"/>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22712317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3DAD9-7CD3-CB4D-65E1-0435C18572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D059A5-FB85-8AB9-51BC-6DEB6D46E5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980AC7-A1F1-D42D-D69E-799C2EBB4DC1}"/>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5" name="Footer Placeholder 4">
            <a:extLst>
              <a:ext uri="{FF2B5EF4-FFF2-40B4-BE49-F238E27FC236}">
                <a16:creationId xmlns:a16="http://schemas.microsoft.com/office/drawing/2014/main" id="{9E87538F-8F8F-46BA-A624-33B19CE17B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80FA8A-F15E-2020-36E3-3C03635D45E2}"/>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23601245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64B237-80CA-1C46-6CF6-A41B96888A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3B337A-4BAE-D6D2-D044-D3CC489CAC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B326F0-503D-F8F5-6040-75A032378E2C}"/>
              </a:ext>
            </a:extLst>
          </p:cNvPr>
          <p:cNvSpPr>
            <a:spLocks noGrp="1"/>
          </p:cNvSpPr>
          <p:nvPr>
            <p:ph type="dt" sz="half" idx="10"/>
          </p:nvPr>
        </p:nvSpPr>
        <p:spPr/>
        <p:txBody>
          <a:bodyPr/>
          <a:lstStyle/>
          <a:p>
            <a:fld id="{A4429272-B12F-485D-9B5C-002006D9DABC}" type="datetimeFigureOut">
              <a:rPr lang="en-IN" smtClean="0"/>
              <a:t>02-07-2025</a:t>
            </a:fld>
            <a:endParaRPr lang="en-IN"/>
          </a:p>
        </p:txBody>
      </p:sp>
      <p:sp>
        <p:nvSpPr>
          <p:cNvPr id="5" name="Footer Placeholder 4">
            <a:extLst>
              <a:ext uri="{FF2B5EF4-FFF2-40B4-BE49-F238E27FC236}">
                <a16:creationId xmlns:a16="http://schemas.microsoft.com/office/drawing/2014/main" id="{A033B799-4F63-B0C7-06FC-A46E5367E3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70F687-A664-477E-2F71-979E249D976B}"/>
              </a:ext>
            </a:extLst>
          </p:cNvPr>
          <p:cNvSpPr>
            <a:spLocks noGrp="1"/>
          </p:cNvSpPr>
          <p:nvPr>
            <p:ph type="sldNum" sz="quarter" idx="12"/>
          </p:nvPr>
        </p:nvSpPr>
        <p:spPr/>
        <p:txBody>
          <a:bodyPr/>
          <a:lstStyle/>
          <a:p>
            <a:fld id="{4852AF9F-4E6B-400B-B800-7CCBFE844CC8}" type="slidenum">
              <a:rPr lang="en-IN" smtClean="0"/>
              <a:t>‹#›</a:t>
            </a:fld>
            <a:endParaRPr lang="en-IN"/>
          </a:p>
        </p:txBody>
      </p:sp>
    </p:spTree>
    <p:extLst>
      <p:ext uri="{BB962C8B-B14F-4D97-AF65-F5344CB8AC3E}">
        <p14:creationId xmlns:p14="http://schemas.microsoft.com/office/powerpoint/2010/main" val="17142162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09EC-A934-347B-75A9-5A639592FB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CEFEA9-A693-A360-5C89-21534D2E12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DA7E2C-6126-2463-DFF8-F10387357741}"/>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5" name="Footer Placeholder 4">
            <a:extLst>
              <a:ext uri="{FF2B5EF4-FFF2-40B4-BE49-F238E27FC236}">
                <a16:creationId xmlns:a16="http://schemas.microsoft.com/office/drawing/2014/main" id="{8069AB6D-C2AF-C42B-6B8C-51F9DE4CE4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D75F29-7866-43EB-65BC-0C32691D15DD}"/>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16013529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54B9F-5F81-DBF0-A7AA-B81CC8F728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016308-E941-E11D-CE5A-9E92A30EA8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C48E2E-DA55-992B-B929-3EA974487AB4}"/>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5" name="Footer Placeholder 4">
            <a:extLst>
              <a:ext uri="{FF2B5EF4-FFF2-40B4-BE49-F238E27FC236}">
                <a16:creationId xmlns:a16="http://schemas.microsoft.com/office/drawing/2014/main" id="{BD0A2285-D36F-792F-C8FC-32C31F4C3E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C03EFB-DE65-3A17-EEB1-99B86204264B}"/>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15074276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CACBE-5B75-46E3-1970-D911CCF9DA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21456E-91EC-CF76-5C82-D7B6A18CB8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C55FD1-D7A6-9727-C0F6-F2F9A20E3D4F}"/>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5" name="Footer Placeholder 4">
            <a:extLst>
              <a:ext uri="{FF2B5EF4-FFF2-40B4-BE49-F238E27FC236}">
                <a16:creationId xmlns:a16="http://schemas.microsoft.com/office/drawing/2014/main" id="{5D9ED0C2-AA3F-D58B-094A-DB6BD096E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843492-0EB1-B367-76AB-E33CCE177A82}"/>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18763183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634E0-46F6-798F-6C90-85200866DB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988F08-BF65-058E-841D-E03C98FD44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EACED1-76CC-3162-9BEE-3BFAC136E8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EBFD41-69B5-51E9-94B6-EE7AF93AD58C}"/>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6" name="Footer Placeholder 5">
            <a:extLst>
              <a:ext uri="{FF2B5EF4-FFF2-40B4-BE49-F238E27FC236}">
                <a16:creationId xmlns:a16="http://schemas.microsoft.com/office/drawing/2014/main" id="{F289BD2D-3B16-9299-8116-97F6E845EA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6F4060-A28D-B945-A529-647CF84153C5}"/>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17013591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AA88-6907-468D-E009-5613B33C67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C9BFD7-6E7D-0214-112F-2E9DE6AE21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5A5442-9DA9-4FE3-0D9C-C4B9DBE152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BAF011-07F8-306E-14A8-48891F8E74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7E37F2-293A-5287-D4DE-8DCDCE805F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DE7100-E55B-CBDF-FC93-9A9747DFC54B}"/>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8" name="Footer Placeholder 7">
            <a:extLst>
              <a:ext uri="{FF2B5EF4-FFF2-40B4-BE49-F238E27FC236}">
                <a16:creationId xmlns:a16="http://schemas.microsoft.com/office/drawing/2014/main" id="{9AD3F788-FC46-EB79-C0E7-D56B88FC70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4F4CD3-8C97-618E-7A32-18A6E6D2F434}"/>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42645084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715A-AE68-CD87-5075-69C190EC20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1A533B-08BB-57C8-615E-E65C9B59CA02}"/>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4" name="Footer Placeholder 3">
            <a:extLst>
              <a:ext uri="{FF2B5EF4-FFF2-40B4-BE49-F238E27FC236}">
                <a16:creationId xmlns:a16="http://schemas.microsoft.com/office/drawing/2014/main" id="{99453F51-2CBF-A2D4-DD5D-0E08F03567D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A46A4F-8B82-58E4-8CE7-30D440A5BEB4}"/>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7342880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406E9A-C6C1-44FF-C0FA-32B29C37E109}"/>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3" name="Footer Placeholder 2">
            <a:extLst>
              <a:ext uri="{FF2B5EF4-FFF2-40B4-BE49-F238E27FC236}">
                <a16:creationId xmlns:a16="http://schemas.microsoft.com/office/drawing/2014/main" id="{C347E194-4A7F-F489-079D-2BCC3E3FA7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52F48C-A76D-B384-022D-46FB6FB79F70}"/>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30154026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D7159-91BA-7D34-D9B2-A4B748ACE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E92D3A-0AB2-BDA4-AE9B-5EE166859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693DA1-B8A7-336B-E8F2-CA1C719EA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C412FD-1601-EB14-4160-56235D37DB92}"/>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6" name="Footer Placeholder 5">
            <a:extLst>
              <a:ext uri="{FF2B5EF4-FFF2-40B4-BE49-F238E27FC236}">
                <a16:creationId xmlns:a16="http://schemas.microsoft.com/office/drawing/2014/main" id="{D07F034B-DFF6-12DC-F94C-95513C4CB7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905683-4D33-F253-05A2-8CE1065F18EB}"/>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10058207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26AC-3615-E35E-390B-02175595F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65679B-BD0A-DA30-6CC5-64FCA5B9B8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52D34A-5219-E862-333C-BC6D3252B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F7A82-469E-A164-BBE3-D2443202311C}"/>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6" name="Footer Placeholder 5">
            <a:extLst>
              <a:ext uri="{FF2B5EF4-FFF2-40B4-BE49-F238E27FC236}">
                <a16:creationId xmlns:a16="http://schemas.microsoft.com/office/drawing/2014/main" id="{215ECEB1-1AC5-F305-ABE4-46E0D2969F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72666D-9206-F68A-57D7-B761134224AE}"/>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22944294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C880-50E6-6D67-5D09-10E735DAAB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3223BD-7FC2-2D43-0DDB-CEFF602388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94DB1F-01C0-247F-093B-FEFA9A8B940D}"/>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5" name="Footer Placeholder 4">
            <a:extLst>
              <a:ext uri="{FF2B5EF4-FFF2-40B4-BE49-F238E27FC236}">
                <a16:creationId xmlns:a16="http://schemas.microsoft.com/office/drawing/2014/main" id="{656D389E-A856-AE11-304F-755EAE9353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5AE056-DCA4-7153-E200-CBD77771F109}"/>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1237231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B584C2-8B25-392E-AAF5-11CF4F92E2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D3910-D025-9857-ED4E-37E30FDE0D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6D5945-7D53-6E4D-0611-0F78AA557D44}"/>
              </a:ext>
            </a:extLst>
          </p:cNvPr>
          <p:cNvSpPr>
            <a:spLocks noGrp="1"/>
          </p:cNvSpPr>
          <p:nvPr>
            <p:ph type="dt" sz="half" idx="10"/>
          </p:nvPr>
        </p:nvSpPr>
        <p:spPr/>
        <p:txBody>
          <a:bodyPr/>
          <a:lstStyle/>
          <a:p>
            <a:fld id="{899FDD63-C1AF-4770-989A-CFC4770C10BD}" type="datetimeFigureOut">
              <a:rPr lang="en-IN" smtClean="0"/>
              <a:t>02-07-2025</a:t>
            </a:fld>
            <a:endParaRPr lang="en-IN"/>
          </a:p>
        </p:txBody>
      </p:sp>
      <p:sp>
        <p:nvSpPr>
          <p:cNvPr id="5" name="Footer Placeholder 4">
            <a:extLst>
              <a:ext uri="{FF2B5EF4-FFF2-40B4-BE49-F238E27FC236}">
                <a16:creationId xmlns:a16="http://schemas.microsoft.com/office/drawing/2014/main" id="{A9D3D96B-2A52-C256-8283-BA1003B6B1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490010-4F20-20B7-5304-63C85E41F997}"/>
              </a:ext>
            </a:extLst>
          </p:cNvPr>
          <p:cNvSpPr>
            <a:spLocks noGrp="1"/>
          </p:cNvSpPr>
          <p:nvPr>
            <p:ph type="sldNum" sz="quarter" idx="12"/>
          </p:nvPr>
        </p:nvSpPr>
        <p:spPr/>
        <p:txBody>
          <a:bodyPr/>
          <a:lstStyle/>
          <a:p>
            <a:fld id="{43EFC166-F2A6-48DF-9D8E-D3FA873EE59A}" type="slidenum">
              <a:rPr lang="en-IN" smtClean="0"/>
              <a:t>‹#›</a:t>
            </a:fld>
            <a:endParaRPr lang="en-IN"/>
          </a:p>
        </p:txBody>
      </p:sp>
    </p:spTree>
    <p:extLst>
      <p:ext uri="{BB962C8B-B14F-4D97-AF65-F5344CB8AC3E}">
        <p14:creationId xmlns:p14="http://schemas.microsoft.com/office/powerpoint/2010/main" val="378604603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B6A29-EB1C-B2E0-18FC-2E3F883BD5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64D718-6E6C-6BA0-0802-D0626417C4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FA7520-592E-A754-39B3-43CF99EBDE34}"/>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5" name="Footer Placeholder 4">
            <a:extLst>
              <a:ext uri="{FF2B5EF4-FFF2-40B4-BE49-F238E27FC236}">
                <a16:creationId xmlns:a16="http://schemas.microsoft.com/office/drawing/2014/main" id="{C958B0B5-4F64-A15C-B2B8-972B6586CB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F962E3-4349-062B-57FE-79CC846F7909}"/>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15045699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C169-9E0F-9104-4269-BFF915D64C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C9CFBF-8612-C082-8464-9F78751FC4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DFE615-862F-DA1E-FC48-CBDF5233C234}"/>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5" name="Footer Placeholder 4">
            <a:extLst>
              <a:ext uri="{FF2B5EF4-FFF2-40B4-BE49-F238E27FC236}">
                <a16:creationId xmlns:a16="http://schemas.microsoft.com/office/drawing/2014/main" id="{1A312EF7-5EF6-74E6-E231-A166532D6C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33D67-1E22-786A-5391-A588DAD35A4C}"/>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323980205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180AF-E177-52A0-04C8-98F1598F0B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C35AA6-FA59-7DEA-AF55-8725648934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4FA08C-8413-7485-B88F-29BE961EC7FA}"/>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5" name="Footer Placeholder 4">
            <a:extLst>
              <a:ext uri="{FF2B5EF4-FFF2-40B4-BE49-F238E27FC236}">
                <a16:creationId xmlns:a16="http://schemas.microsoft.com/office/drawing/2014/main" id="{B1C814AF-7B3C-D28A-235E-272A125A33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D07550-B3CA-F810-DC15-10F33BAFEFF5}"/>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21746550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AB32-137E-1BED-4849-BCBD040F7C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78AF83-446B-F6CB-14F8-B46A508DEF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F2E44-9244-00FE-E4CA-3EE178B57E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3AEF9D5-D437-9E1C-EDA7-0A20C8B74387}"/>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6" name="Footer Placeholder 5">
            <a:extLst>
              <a:ext uri="{FF2B5EF4-FFF2-40B4-BE49-F238E27FC236}">
                <a16:creationId xmlns:a16="http://schemas.microsoft.com/office/drawing/2014/main" id="{A26C4D3E-9D08-9277-DD25-1CA04292D6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DE28FE-BA9B-4A10-B806-02B858FC1EC8}"/>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40699934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C92D3-666F-6A0A-1A8F-47038D3922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C5A4E8-033A-EFA1-D2D4-750539D8C0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ED032F-7C0D-6DFD-17F6-E0BAB9A967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E3B3ECF-631D-1941-0546-2A000CB32E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FDF810-5F8E-C162-3B50-4591477B91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44E852-23DC-83DE-DB15-C46FD3D323FE}"/>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8" name="Footer Placeholder 7">
            <a:extLst>
              <a:ext uri="{FF2B5EF4-FFF2-40B4-BE49-F238E27FC236}">
                <a16:creationId xmlns:a16="http://schemas.microsoft.com/office/drawing/2014/main" id="{D8B48CC1-4495-7FC9-2C02-F86DB256B1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DE4927-873B-A3AD-BC29-A98A14B010C4}"/>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33948647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06DDD-4ED9-B0B0-BDC1-1F04281624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BB83CC-0612-572D-E4DA-D04F2B0FCDFD}"/>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4" name="Footer Placeholder 3">
            <a:extLst>
              <a:ext uri="{FF2B5EF4-FFF2-40B4-BE49-F238E27FC236}">
                <a16:creationId xmlns:a16="http://schemas.microsoft.com/office/drawing/2014/main" id="{A7698E5E-EB06-126A-6768-867F5EE4E3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386DE4-D69D-21B1-93E7-91EF8315749E}"/>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21135424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9EBED5-BAA7-B0D5-8EDD-F228839541D5}"/>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3" name="Footer Placeholder 2">
            <a:extLst>
              <a:ext uri="{FF2B5EF4-FFF2-40B4-BE49-F238E27FC236}">
                <a16:creationId xmlns:a16="http://schemas.microsoft.com/office/drawing/2014/main" id="{1D9D7A2C-2B78-66E6-9783-959F9684FD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F7CE25-8761-F041-61FF-B084C918F31B}"/>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7645847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EAA2-9B69-8AFC-5A49-D7D128F5BC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A2009B-3DD6-43DC-9134-3C18D31FE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D0490F-D7E3-F147-7245-96927C990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0D0121-7CAE-0564-E384-9696B85C84CB}"/>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6" name="Footer Placeholder 5">
            <a:extLst>
              <a:ext uri="{FF2B5EF4-FFF2-40B4-BE49-F238E27FC236}">
                <a16:creationId xmlns:a16="http://schemas.microsoft.com/office/drawing/2014/main" id="{6E5B406A-167B-8E21-5D68-1D055D594F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C54B1A-8EDE-1416-F84A-5CFD0DD138FE}"/>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334680500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ED979-EAC2-8216-4B3D-EC8CA86EB3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1B89E2-7CF8-55FB-E4DD-8C2A53B926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90001F-0233-460B-B88E-4476C53A58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265B6-DA6D-15D8-EDA5-AC571627AA1A}"/>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6" name="Footer Placeholder 5">
            <a:extLst>
              <a:ext uri="{FF2B5EF4-FFF2-40B4-BE49-F238E27FC236}">
                <a16:creationId xmlns:a16="http://schemas.microsoft.com/office/drawing/2014/main" id="{9EB48F46-EF7B-0902-30D0-952BF6D93E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E38A9D-6D51-B8B5-BE44-855B4DC6BB4C}"/>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18773669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F8614-A9FF-08C5-6A5A-42BFC3D919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CFA17B-1536-D87B-C4F0-813FEE2DE8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597F39-25B4-A5F6-3741-6F2C4F591F08}"/>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5" name="Footer Placeholder 4">
            <a:extLst>
              <a:ext uri="{FF2B5EF4-FFF2-40B4-BE49-F238E27FC236}">
                <a16:creationId xmlns:a16="http://schemas.microsoft.com/office/drawing/2014/main" id="{EB58F8A4-50E9-4ABF-EE57-D30005FEED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1B5515-29D1-6004-AEDB-1908E1B65160}"/>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238076887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863396-8FA9-5249-E66D-20B6CCAB37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8C937F-0EDE-4541-F249-B130AF11B1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FF8DC6-1AA6-E202-AEE3-901254FED7FE}"/>
              </a:ext>
            </a:extLst>
          </p:cNvPr>
          <p:cNvSpPr>
            <a:spLocks noGrp="1"/>
          </p:cNvSpPr>
          <p:nvPr>
            <p:ph type="dt" sz="half" idx="10"/>
          </p:nvPr>
        </p:nvSpPr>
        <p:spPr/>
        <p:txBody>
          <a:bodyPr/>
          <a:lstStyle/>
          <a:p>
            <a:fld id="{7FD79A7F-39BA-421F-AE42-A57CD0F54F19}" type="datetimeFigureOut">
              <a:rPr lang="en-IN" smtClean="0"/>
              <a:t>02-07-2025</a:t>
            </a:fld>
            <a:endParaRPr lang="en-IN"/>
          </a:p>
        </p:txBody>
      </p:sp>
      <p:sp>
        <p:nvSpPr>
          <p:cNvPr id="5" name="Footer Placeholder 4">
            <a:extLst>
              <a:ext uri="{FF2B5EF4-FFF2-40B4-BE49-F238E27FC236}">
                <a16:creationId xmlns:a16="http://schemas.microsoft.com/office/drawing/2014/main" id="{0F8862B3-E46C-79B6-7CAD-0E4B03A9B7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3166EC-B048-CADB-C554-B888AD7AFD10}"/>
              </a:ext>
            </a:extLst>
          </p:cNvPr>
          <p:cNvSpPr>
            <a:spLocks noGrp="1"/>
          </p:cNvSpPr>
          <p:nvPr>
            <p:ph type="sldNum" sz="quarter" idx="12"/>
          </p:nvPr>
        </p:nvSpPr>
        <p:spPr/>
        <p:txBody>
          <a:bodyPr/>
          <a:lstStyle/>
          <a:p>
            <a:fld id="{1CCB45CF-3843-4A2C-892A-A686E3EC6C37}" type="slidenum">
              <a:rPr lang="en-IN" smtClean="0"/>
              <a:t>‹#›</a:t>
            </a:fld>
            <a:endParaRPr lang="en-IN"/>
          </a:p>
        </p:txBody>
      </p:sp>
    </p:spTree>
    <p:extLst>
      <p:ext uri="{BB962C8B-B14F-4D97-AF65-F5344CB8AC3E}">
        <p14:creationId xmlns:p14="http://schemas.microsoft.com/office/powerpoint/2010/main" val="347449760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4A806-0F09-399D-3C86-AC86DF7A4A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13A76F-F199-DBA8-CBED-D8B12DAD3F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B93C36-DB8B-FDF6-F81E-6F57379F5340}"/>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5" name="Footer Placeholder 4">
            <a:extLst>
              <a:ext uri="{FF2B5EF4-FFF2-40B4-BE49-F238E27FC236}">
                <a16:creationId xmlns:a16="http://schemas.microsoft.com/office/drawing/2014/main" id="{8A77E75E-2A21-02C7-F3FE-351A07BB2E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D49F39-8A44-2777-D472-CC64FA713D1D}"/>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40621751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E7872-4810-544A-9290-69599931E1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95A784-2DE2-95E7-0874-6C2B319476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1B5F4E-5578-8F82-6E14-7B4B3B55C26F}"/>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5" name="Footer Placeholder 4">
            <a:extLst>
              <a:ext uri="{FF2B5EF4-FFF2-40B4-BE49-F238E27FC236}">
                <a16:creationId xmlns:a16="http://schemas.microsoft.com/office/drawing/2014/main" id="{C05BC526-D1B5-606C-523C-10E5B82FD3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A108AE-3585-20F1-C6C3-0F8B8EB89E4D}"/>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912691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9B024-E687-ABBB-BF3E-D386C08444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C21468-7733-AD96-7829-F3F2F71BCA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4636FD-B923-3656-DC01-EE00B73BE627}"/>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5" name="Footer Placeholder 4">
            <a:extLst>
              <a:ext uri="{FF2B5EF4-FFF2-40B4-BE49-F238E27FC236}">
                <a16:creationId xmlns:a16="http://schemas.microsoft.com/office/drawing/2014/main" id="{FF32BB4D-BE9B-3C69-0819-2A4CA940B5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42CEF9-8AAE-7564-36B2-D04ACC5775D8}"/>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332675717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4308-409D-741B-C2E0-023FE20D8C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5587DB-652D-E82C-F3C5-41AB0FC711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1AACC0-55B8-3E87-1FD1-F6C818536B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924A929-7699-2064-1913-FF5941D302C6}"/>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6" name="Footer Placeholder 5">
            <a:extLst>
              <a:ext uri="{FF2B5EF4-FFF2-40B4-BE49-F238E27FC236}">
                <a16:creationId xmlns:a16="http://schemas.microsoft.com/office/drawing/2014/main" id="{28DC79F7-DD7C-E3FF-955D-39DC7CB34B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A65E3F-2F1B-DFFC-4FEF-EE50E21CA886}"/>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36091803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E0259-CCA6-7BC2-65E8-E96CF0F68B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B7DB78-6BFA-975A-B46F-1730BD6C52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97F4CE-8A46-9A04-8C93-EBD6FBEA99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C4B4B2-D698-B32D-48A2-66F100A83C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DE6D51-413E-525C-B283-3E4EAAF4AC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55FA2D-32CB-EB62-2E2D-551D748508E9}"/>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8" name="Footer Placeholder 7">
            <a:extLst>
              <a:ext uri="{FF2B5EF4-FFF2-40B4-BE49-F238E27FC236}">
                <a16:creationId xmlns:a16="http://schemas.microsoft.com/office/drawing/2014/main" id="{A494BC50-D5F5-8611-A7C5-F8A9FADD5F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DA9223-E687-10D4-614B-824EDF968C62}"/>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35268660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17412-E9B5-BDFC-F0E3-DC38E49D9B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090064-2C98-B8DB-9A1D-EBF814295454}"/>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4" name="Footer Placeholder 3">
            <a:extLst>
              <a:ext uri="{FF2B5EF4-FFF2-40B4-BE49-F238E27FC236}">
                <a16:creationId xmlns:a16="http://schemas.microsoft.com/office/drawing/2014/main" id="{4B9BEC65-E735-3442-F79F-2DAAD4452C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B4BD6D-C51A-6819-B478-BF3756407636}"/>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335398243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B034CC-2478-2777-C26F-FE29DDFDD6B2}"/>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3" name="Footer Placeholder 2">
            <a:extLst>
              <a:ext uri="{FF2B5EF4-FFF2-40B4-BE49-F238E27FC236}">
                <a16:creationId xmlns:a16="http://schemas.microsoft.com/office/drawing/2014/main" id="{9EE2C5C5-52CA-31AD-CBE7-F2E206D29A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26C60C-57B9-FC75-D1D7-B4EB70BDF632}"/>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24344327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B7D8-F65D-94FA-517E-61E22B4EE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A6ACFA-2E90-291E-6872-19BB9406C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BDE32D-0EE2-F044-383E-A35B809A67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F8E80-4259-1418-42D0-F4855A68459A}"/>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6" name="Footer Placeholder 5">
            <a:extLst>
              <a:ext uri="{FF2B5EF4-FFF2-40B4-BE49-F238E27FC236}">
                <a16:creationId xmlns:a16="http://schemas.microsoft.com/office/drawing/2014/main" id="{05FD9F3C-F544-F194-E5C0-D6780BBFA9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0B7352-9CB2-67A8-839E-D42E7899791A}"/>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357441537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7694-E350-945E-013D-C3FF0ED23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B7FE0E-3857-187B-08C7-C1DB236CC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E70120-D3E0-5461-94D1-713245154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61058D-681A-692B-CFFB-5FBBA4D1C13D}"/>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6" name="Footer Placeholder 5">
            <a:extLst>
              <a:ext uri="{FF2B5EF4-FFF2-40B4-BE49-F238E27FC236}">
                <a16:creationId xmlns:a16="http://schemas.microsoft.com/office/drawing/2014/main" id="{E459E843-BC19-4989-A149-A5E1F9E8A8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BAC8CA-DFF0-0A63-55E1-B3459F0C84B8}"/>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11559468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C309A-3407-9389-F0C8-C070F39EE0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6AE5B2-F380-0989-FEF8-5AFD42BE6C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CAF2DE-2698-B981-1921-F8CBEBBDFBCE}"/>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5" name="Footer Placeholder 4">
            <a:extLst>
              <a:ext uri="{FF2B5EF4-FFF2-40B4-BE49-F238E27FC236}">
                <a16:creationId xmlns:a16="http://schemas.microsoft.com/office/drawing/2014/main" id="{7C3F7968-A522-96DB-FD62-3A04B06E19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73812A-0728-05F1-E009-B14936C48520}"/>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40722085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372B47-2085-3811-6FB5-ABB4E028E1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1E50E6-C448-1EEF-0268-29A32044CD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3525EE-9546-99E1-7A8F-6C854A2249EF}"/>
              </a:ext>
            </a:extLst>
          </p:cNvPr>
          <p:cNvSpPr>
            <a:spLocks noGrp="1"/>
          </p:cNvSpPr>
          <p:nvPr>
            <p:ph type="dt" sz="half" idx="10"/>
          </p:nvPr>
        </p:nvSpPr>
        <p:spPr/>
        <p:txBody>
          <a:bodyPr/>
          <a:lstStyle/>
          <a:p>
            <a:fld id="{61CC1424-7B45-41FC-B3A5-985503D3A24E}" type="datetimeFigureOut">
              <a:rPr lang="en-IN" smtClean="0"/>
              <a:t>02-07-2025</a:t>
            </a:fld>
            <a:endParaRPr lang="en-IN"/>
          </a:p>
        </p:txBody>
      </p:sp>
      <p:sp>
        <p:nvSpPr>
          <p:cNvPr id="5" name="Footer Placeholder 4">
            <a:extLst>
              <a:ext uri="{FF2B5EF4-FFF2-40B4-BE49-F238E27FC236}">
                <a16:creationId xmlns:a16="http://schemas.microsoft.com/office/drawing/2014/main" id="{982B9AF1-9407-AC5C-B2A7-5A75832713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81127F-3F0A-2806-5B0A-543ABE23D5C5}"/>
              </a:ext>
            </a:extLst>
          </p:cNvPr>
          <p:cNvSpPr>
            <a:spLocks noGrp="1"/>
          </p:cNvSpPr>
          <p:nvPr>
            <p:ph type="sldNum" sz="quarter" idx="12"/>
          </p:nvPr>
        </p:nvSpPr>
        <p:spPr/>
        <p:txBody>
          <a:bodyPr/>
          <a:lstStyle/>
          <a:p>
            <a:fld id="{B278768D-C717-4911-AFE5-1BA988BFD84F}" type="slidenum">
              <a:rPr lang="en-IN" smtClean="0"/>
              <a:t>‹#›</a:t>
            </a:fld>
            <a:endParaRPr lang="en-IN"/>
          </a:p>
        </p:txBody>
      </p:sp>
    </p:spTree>
    <p:extLst>
      <p:ext uri="{BB962C8B-B14F-4D97-AF65-F5344CB8AC3E}">
        <p14:creationId xmlns:p14="http://schemas.microsoft.com/office/powerpoint/2010/main" val="226589892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0DAD7-3E2C-0997-9E78-E0A4A20679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A2F052-970A-E8C4-DECE-D8CDFBBAEE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3A81E7-1C29-B094-A40F-9197285EED25}"/>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5" name="Footer Placeholder 4">
            <a:extLst>
              <a:ext uri="{FF2B5EF4-FFF2-40B4-BE49-F238E27FC236}">
                <a16:creationId xmlns:a16="http://schemas.microsoft.com/office/drawing/2014/main" id="{5A3C727C-6FC1-00A6-1355-F7A6B62534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85BA7F-7928-EF86-AEB0-FB7E43D532BC}"/>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358714499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6EEB3-7078-913C-3FC5-EF67F2B922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EE1DF4-4645-BD4A-24F7-BD196E25C9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FFC76E-48A5-BABA-1F69-1F2D695502DF}"/>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5" name="Footer Placeholder 4">
            <a:extLst>
              <a:ext uri="{FF2B5EF4-FFF2-40B4-BE49-F238E27FC236}">
                <a16:creationId xmlns:a16="http://schemas.microsoft.com/office/drawing/2014/main" id="{0EE4432B-E820-F715-8875-841417538F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5AC2CA-881A-42EC-57FF-4D269E4ABB81}"/>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313183207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AF5CA-A3FA-9A37-869B-E108ECF54C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6B2BAB-890C-9792-2864-3535AD46A2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7196A2-AA7F-B3EE-12C2-43E96B908ABA}"/>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5" name="Footer Placeholder 4">
            <a:extLst>
              <a:ext uri="{FF2B5EF4-FFF2-40B4-BE49-F238E27FC236}">
                <a16:creationId xmlns:a16="http://schemas.microsoft.com/office/drawing/2014/main" id="{33B97F0C-EF2E-0B0B-5987-6FD600A1C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17A709-85AB-BD5C-35F9-4140ADEAED7F}"/>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392768184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2047-5259-DD4A-7C6C-ABF1F99A26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E67392-700C-4DA1-6D50-F455EB49BF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217ECD-833C-D1A3-32CB-1FC7248955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787CAB-2B62-3999-FCC4-5368EA1E980C}"/>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6" name="Footer Placeholder 5">
            <a:extLst>
              <a:ext uri="{FF2B5EF4-FFF2-40B4-BE49-F238E27FC236}">
                <a16:creationId xmlns:a16="http://schemas.microsoft.com/office/drawing/2014/main" id="{62114D07-19B1-F85D-BD8A-7C19FAFC2D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14291-EA6D-816F-FF77-E7DC2B28C620}"/>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340195246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3A8C-96C1-F343-7E04-51FA8C838F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F73F8A-C265-86FD-E71A-CF71C6C08B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A8632F-651F-8B8E-488B-1FA18EDA96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7FD2E0-58CC-B9E2-1EA7-5BE76EDE8C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07F12A-8057-25E0-03A4-6D0271002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C0021C-832B-BD04-47EF-ABF1592573BF}"/>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8" name="Footer Placeholder 7">
            <a:extLst>
              <a:ext uri="{FF2B5EF4-FFF2-40B4-BE49-F238E27FC236}">
                <a16:creationId xmlns:a16="http://schemas.microsoft.com/office/drawing/2014/main" id="{56E509A0-C7D2-3419-F8EE-F1830F1434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175F6D-5E0A-14FD-3608-6834B5B26C59}"/>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167453795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D8B28-A0C2-E9E0-2E87-EDDD8E63BD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B8A969-9A36-FFFC-6917-101A4875687A}"/>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4" name="Footer Placeholder 3">
            <a:extLst>
              <a:ext uri="{FF2B5EF4-FFF2-40B4-BE49-F238E27FC236}">
                <a16:creationId xmlns:a16="http://schemas.microsoft.com/office/drawing/2014/main" id="{96E4D3A3-25F9-FA9F-3FD1-9360123EDC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2353CB-28C2-E88E-7647-C2B9249AC1A9}"/>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8369380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0D3EA4-6363-4BFA-5912-3EFAD88B8B84}"/>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3" name="Footer Placeholder 2">
            <a:extLst>
              <a:ext uri="{FF2B5EF4-FFF2-40B4-BE49-F238E27FC236}">
                <a16:creationId xmlns:a16="http://schemas.microsoft.com/office/drawing/2014/main" id="{E619EAD9-7132-2DFF-A1B6-3F2E15BBB4B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8E4A43-3A8F-03B9-F103-3B70ADE4BD5D}"/>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257500801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D0E1D-9A23-8AF6-94F9-6206F8B82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C2FEC2-5DA8-25FD-E510-F9A5166164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B7C9A8-2CE0-F698-0AC5-01D2B3F3B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AE654C-E08B-159D-E88B-7F7F15611FF6}"/>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6" name="Footer Placeholder 5">
            <a:extLst>
              <a:ext uri="{FF2B5EF4-FFF2-40B4-BE49-F238E27FC236}">
                <a16:creationId xmlns:a16="http://schemas.microsoft.com/office/drawing/2014/main" id="{92C4F4A5-384F-DFEC-9E14-9C84BC7C9D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8BA55C-1B59-686E-BA47-CB9A46155927}"/>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35823076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AAAA-CBD4-E94A-4C97-1DB182438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8B65B6-EF79-B638-E9A6-834FBC4DD9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F795DE-6064-4086-45A7-2B5581A23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51A8BC-FEFB-50C4-6E99-6525CE276C12}"/>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6" name="Footer Placeholder 5">
            <a:extLst>
              <a:ext uri="{FF2B5EF4-FFF2-40B4-BE49-F238E27FC236}">
                <a16:creationId xmlns:a16="http://schemas.microsoft.com/office/drawing/2014/main" id="{A5CC3989-C518-5F8F-C0BF-C477A8B48C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0BDA71-CF2A-76B5-9548-FB7F7379D62B}"/>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90104986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B5D17-BB49-65CB-B2BF-CD46658982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DB8F23-FB82-15BB-75F4-0135787147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876DF0-4EE5-5E52-E8BA-38969B6C9516}"/>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5" name="Footer Placeholder 4">
            <a:extLst>
              <a:ext uri="{FF2B5EF4-FFF2-40B4-BE49-F238E27FC236}">
                <a16:creationId xmlns:a16="http://schemas.microsoft.com/office/drawing/2014/main" id="{DBE239ED-4BE5-48D0-F8B1-CDDC5096BC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B34A53-6538-EB78-93D3-3078D1F3C603}"/>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137129275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7C4CFA-AEA8-910D-25A0-B99BE868C7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D3C26D-1F7A-3181-0785-44B05D258A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7AF6EC-09E1-9AE3-78FB-2267B5E49D17}"/>
              </a:ext>
            </a:extLst>
          </p:cNvPr>
          <p:cNvSpPr>
            <a:spLocks noGrp="1"/>
          </p:cNvSpPr>
          <p:nvPr>
            <p:ph type="dt" sz="half" idx="10"/>
          </p:nvPr>
        </p:nvSpPr>
        <p:spPr/>
        <p:txBody>
          <a:bodyPr/>
          <a:lstStyle/>
          <a:p>
            <a:fld id="{7A0C2C62-5A59-421D-A4BC-5FCF8F619860}" type="datetimeFigureOut">
              <a:rPr lang="en-IN" smtClean="0"/>
              <a:t>02-07-2025</a:t>
            </a:fld>
            <a:endParaRPr lang="en-IN"/>
          </a:p>
        </p:txBody>
      </p:sp>
      <p:sp>
        <p:nvSpPr>
          <p:cNvPr id="5" name="Footer Placeholder 4">
            <a:extLst>
              <a:ext uri="{FF2B5EF4-FFF2-40B4-BE49-F238E27FC236}">
                <a16:creationId xmlns:a16="http://schemas.microsoft.com/office/drawing/2014/main" id="{85D14434-194E-A163-AFAB-DB3122A8A4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3A7E67-781D-54B2-7842-EF610FCC6BB7}"/>
              </a:ext>
            </a:extLst>
          </p:cNvPr>
          <p:cNvSpPr>
            <a:spLocks noGrp="1"/>
          </p:cNvSpPr>
          <p:nvPr>
            <p:ph type="sldNum" sz="quarter" idx="12"/>
          </p:nvPr>
        </p:nvSpPr>
        <p:spPr/>
        <p:txBody>
          <a:bodyPr/>
          <a:lstStyle/>
          <a:p>
            <a:fld id="{A1404EF7-F8B9-4AD1-BEF5-9A269D3A2B56}" type="slidenum">
              <a:rPr lang="en-IN" smtClean="0"/>
              <a:t>‹#›</a:t>
            </a:fld>
            <a:endParaRPr lang="en-IN"/>
          </a:p>
        </p:txBody>
      </p:sp>
    </p:spTree>
    <p:extLst>
      <p:ext uri="{BB962C8B-B14F-4D97-AF65-F5344CB8AC3E}">
        <p14:creationId xmlns:p14="http://schemas.microsoft.com/office/powerpoint/2010/main" val="215284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5.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theme" Target="../theme/theme7.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theme" Target="../theme/theme8.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7CBF05-10FB-4E79-AAD2-36DB7B23C4CC}" type="datetimeFigureOut">
              <a:rPr lang="en-IN" smtClean="0"/>
              <a:t>02-07-2025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62EF05D-EF51-4572-9A85-BA686BD1D695}" type="slidenum">
              <a:rPr lang="en-IN" smtClean="0"/>
              <a:t>‹#›</a:t>
            </a:fld>
            <a:endParaRPr lang="en-IN"/>
          </a:p>
        </p:txBody>
      </p:sp>
    </p:spTree>
    <p:extLst>
      <p:ext uri="{BB962C8B-B14F-4D97-AF65-F5344CB8AC3E}">
        <p14:creationId xmlns:p14="http://schemas.microsoft.com/office/powerpoint/2010/main" val="91358848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46D1C2-8934-033F-7532-E10C0AFE47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26345D-2769-A50B-CA3E-58CB721198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06FAC5-2D91-9634-6F10-8B22869CF5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2A3EC4-7D87-4E94-AB92-CA628A962D7A}" type="datetimeFigureOut">
              <a:rPr lang="en-IN" smtClean="0"/>
              <a:t>02-07-2025</a:t>
            </a:fld>
            <a:endParaRPr lang="en-IN"/>
          </a:p>
        </p:txBody>
      </p:sp>
      <p:sp>
        <p:nvSpPr>
          <p:cNvPr id="5" name="Footer Placeholder 4">
            <a:extLst>
              <a:ext uri="{FF2B5EF4-FFF2-40B4-BE49-F238E27FC236}">
                <a16:creationId xmlns:a16="http://schemas.microsoft.com/office/drawing/2014/main" id="{DAEF113C-DB6C-0829-3FA2-07C5E544E0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ADD5748-C75A-C82B-33EF-1F5E2FB8F5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6117F7-5BA5-4DDD-8AA1-DC5774348D1E}" type="slidenum">
              <a:rPr lang="en-IN" smtClean="0"/>
              <a:t>‹#›</a:t>
            </a:fld>
            <a:endParaRPr lang="en-IN"/>
          </a:p>
        </p:txBody>
      </p:sp>
    </p:spTree>
    <p:extLst>
      <p:ext uri="{BB962C8B-B14F-4D97-AF65-F5344CB8AC3E}">
        <p14:creationId xmlns:p14="http://schemas.microsoft.com/office/powerpoint/2010/main" val="67468429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11A5E0-33A2-1BA0-7BC0-58629B4AE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69C888-94F5-90C6-0220-5B4171B7CF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53599E-C9E4-12F1-C6FF-6F282419AB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703150-200E-4048-81C1-F6D30B490273}" type="datetimeFigureOut">
              <a:rPr lang="en-IN" smtClean="0"/>
              <a:t>02-07-2025</a:t>
            </a:fld>
            <a:endParaRPr lang="en-IN"/>
          </a:p>
        </p:txBody>
      </p:sp>
      <p:sp>
        <p:nvSpPr>
          <p:cNvPr id="5" name="Footer Placeholder 4">
            <a:extLst>
              <a:ext uri="{FF2B5EF4-FFF2-40B4-BE49-F238E27FC236}">
                <a16:creationId xmlns:a16="http://schemas.microsoft.com/office/drawing/2014/main" id="{8B99BF1C-5635-B758-D8BC-833778340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A9720D1-434D-380A-1CFE-CC9291C569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6E9BBE-25FC-43C9-936D-DE3E4C741F73}" type="slidenum">
              <a:rPr lang="en-IN" smtClean="0"/>
              <a:t>‹#›</a:t>
            </a:fld>
            <a:endParaRPr lang="en-IN"/>
          </a:p>
        </p:txBody>
      </p:sp>
    </p:spTree>
    <p:extLst>
      <p:ext uri="{BB962C8B-B14F-4D97-AF65-F5344CB8AC3E}">
        <p14:creationId xmlns:p14="http://schemas.microsoft.com/office/powerpoint/2010/main" val="290821001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FAFC9C-E724-D547-F60E-5E40A3F425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EB3307-1CF4-F47A-4F84-941A226D95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21B509-BC6D-484F-5D37-FFC6129A8B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429272-B12F-485D-9B5C-002006D9DABC}" type="datetimeFigureOut">
              <a:rPr lang="en-IN" smtClean="0"/>
              <a:t>02-07-2025</a:t>
            </a:fld>
            <a:endParaRPr lang="en-IN"/>
          </a:p>
        </p:txBody>
      </p:sp>
      <p:sp>
        <p:nvSpPr>
          <p:cNvPr id="5" name="Footer Placeholder 4">
            <a:extLst>
              <a:ext uri="{FF2B5EF4-FFF2-40B4-BE49-F238E27FC236}">
                <a16:creationId xmlns:a16="http://schemas.microsoft.com/office/drawing/2014/main" id="{9F68288A-8559-F7AF-A5C0-F1846A09A8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DB20207-0180-4F0E-5FBB-A6CAE45AEE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2AF9F-4E6B-400B-B800-7CCBFE844CC8}" type="slidenum">
              <a:rPr lang="en-IN" smtClean="0"/>
              <a:t>‹#›</a:t>
            </a:fld>
            <a:endParaRPr lang="en-IN"/>
          </a:p>
        </p:txBody>
      </p:sp>
    </p:spTree>
    <p:extLst>
      <p:ext uri="{BB962C8B-B14F-4D97-AF65-F5344CB8AC3E}">
        <p14:creationId xmlns:p14="http://schemas.microsoft.com/office/powerpoint/2010/main" val="1635601252"/>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3A6718-F185-8B08-3B8C-13B0267307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6BEB65-73E0-3301-49FE-4CC108E09F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D38D20-EA83-8D57-6155-13634FB7E3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9FDD63-C1AF-4770-989A-CFC4770C10BD}" type="datetimeFigureOut">
              <a:rPr lang="en-IN" smtClean="0"/>
              <a:t>02-07-2025</a:t>
            </a:fld>
            <a:endParaRPr lang="en-IN"/>
          </a:p>
        </p:txBody>
      </p:sp>
      <p:sp>
        <p:nvSpPr>
          <p:cNvPr id="5" name="Footer Placeholder 4">
            <a:extLst>
              <a:ext uri="{FF2B5EF4-FFF2-40B4-BE49-F238E27FC236}">
                <a16:creationId xmlns:a16="http://schemas.microsoft.com/office/drawing/2014/main" id="{23DF10E8-C467-04C8-7171-211AF03705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B053967-7644-E079-11B3-4C285CC1CA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EFC166-F2A6-48DF-9D8E-D3FA873EE59A}" type="slidenum">
              <a:rPr lang="en-IN" smtClean="0"/>
              <a:t>‹#›</a:t>
            </a:fld>
            <a:endParaRPr lang="en-IN"/>
          </a:p>
        </p:txBody>
      </p:sp>
    </p:spTree>
    <p:extLst>
      <p:ext uri="{BB962C8B-B14F-4D97-AF65-F5344CB8AC3E}">
        <p14:creationId xmlns:p14="http://schemas.microsoft.com/office/powerpoint/2010/main" val="36849208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9D616F-5E96-93EB-B3C9-EC1F9393FD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88080B-C2FD-98F0-B540-F6F37A4BB2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7F2475-846F-761B-3168-C62778C11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D79A7F-39BA-421F-AE42-A57CD0F54F19}" type="datetimeFigureOut">
              <a:rPr lang="en-IN" smtClean="0"/>
              <a:t>02-07-2025</a:t>
            </a:fld>
            <a:endParaRPr lang="en-IN"/>
          </a:p>
        </p:txBody>
      </p:sp>
      <p:sp>
        <p:nvSpPr>
          <p:cNvPr id="5" name="Footer Placeholder 4">
            <a:extLst>
              <a:ext uri="{FF2B5EF4-FFF2-40B4-BE49-F238E27FC236}">
                <a16:creationId xmlns:a16="http://schemas.microsoft.com/office/drawing/2014/main" id="{8A00F34B-AEA7-9C08-2D2B-66AF2904F0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6C103EC-62EE-85CC-64E1-5D82555E5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CB45CF-3843-4A2C-892A-A686E3EC6C37}" type="slidenum">
              <a:rPr lang="en-IN" smtClean="0"/>
              <a:t>‹#›</a:t>
            </a:fld>
            <a:endParaRPr lang="en-IN"/>
          </a:p>
        </p:txBody>
      </p:sp>
    </p:spTree>
    <p:extLst>
      <p:ext uri="{BB962C8B-B14F-4D97-AF65-F5344CB8AC3E}">
        <p14:creationId xmlns:p14="http://schemas.microsoft.com/office/powerpoint/2010/main" val="40863291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A3D6C9-874F-5F12-0D2F-3D7A63ED2A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A80969-D137-F929-6A2E-4A326E549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09006-CD6E-7269-929A-B6A1E4BF0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CC1424-7B45-41FC-B3A5-985503D3A24E}" type="datetimeFigureOut">
              <a:rPr lang="en-IN" smtClean="0"/>
              <a:t>02-07-2025</a:t>
            </a:fld>
            <a:endParaRPr lang="en-IN"/>
          </a:p>
        </p:txBody>
      </p:sp>
      <p:sp>
        <p:nvSpPr>
          <p:cNvPr id="5" name="Footer Placeholder 4">
            <a:extLst>
              <a:ext uri="{FF2B5EF4-FFF2-40B4-BE49-F238E27FC236}">
                <a16:creationId xmlns:a16="http://schemas.microsoft.com/office/drawing/2014/main" id="{C993ED87-AE00-8C41-E33E-1DFB963694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4A5537E-4B43-560A-D584-C5D9B6E51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78768D-C717-4911-AFE5-1BA988BFD84F}" type="slidenum">
              <a:rPr lang="en-IN" smtClean="0"/>
              <a:t>‹#›</a:t>
            </a:fld>
            <a:endParaRPr lang="en-IN"/>
          </a:p>
        </p:txBody>
      </p:sp>
    </p:spTree>
    <p:extLst>
      <p:ext uri="{BB962C8B-B14F-4D97-AF65-F5344CB8AC3E}">
        <p14:creationId xmlns:p14="http://schemas.microsoft.com/office/powerpoint/2010/main" val="24412220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219521-3459-4FA9-054C-A3DC1C6966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487531-BDDF-05AC-510B-A385EE87B7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57E6D6-32CB-C798-B119-2557A44A1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0C2C62-5A59-421D-A4BC-5FCF8F619860}" type="datetimeFigureOut">
              <a:rPr lang="en-IN" smtClean="0"/>
              <a:t>02-07-2025</a:t>
            </a:fld>
            <a:endParaRPr lang="en-IN"/>
          </a:p>
        </p:txBody>
      </p:sp>
      <p:sp>
        <p:nvSpPr>
          <p:cNvPr id="5" name="Footer Placeholder 4">
            <a:extLst>
              <a:ext uri="{FF2B5EF4-FFF2-40B4-BE49-F238E27FC236}">
                <a16:creationId xmlns:a16="http://schemas.microsoft.com/office/drawing/2014/main" id="{16802E71-1305-99BF-4D2C-C312371E5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D48A99B-CFE2-4335-9871-1BE4E399B6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404EF7-F8B9-4AD1-BEF5-9A269D3A2B56}" type="slidenum">
              <a:rPr lang="en-IN" smtClean="0"/>
              <a:t>‹#›</a:t>
            </a:fld>
            <a:endParaRPr lang="en-IN"/>
          </a:p>
        </p:txBody>
      </p:sp>
    </p:spTree>
    <p:extLst>
      <p:ext uri="{BB962C8B-B14F-4D97-AF65-F5344CB8AC3E}">
        <p14:creationId xmlns:p14="http://schemas.microsoft.com/office/powerpoint/2010/main" val="2500589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3.xml"/></Relationships>
</file>

<file path=ppt/slides/_rels/slide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9.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3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0"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4" name="Freeform: Shape 13">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5" name="Freeform: Shape 14">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8191BE8-25A9-52AB-099D-33BABC2BFC6B}"/>
              </a:ext>
            </a:extLst>
          </p:cNvPr>
          <p:cNvSpPr>
            <a:spLocks noGrp="1"/>
          </p:cNvSpPr>
          <p:nvPr>
            <p:ph type="ctrTitle"/>
          </p:nvPr>
        </p:nvSpPr>
        <p:spPr>
          <a:xfrm>
            <a:off x="789708" y="666351"/>
            <a:ext cx="10558405" cy="3044335"/>
          </a:xfrm>
        </p:spPr>
        <p:txBody>
          <a:bodyPr anchor="b">
            <a:normAutofit/>
          </a:bodyPr>
          <a:lstStyle/>
          <a:p>
            <a:r>
              <a:rPr lang="en-US" sz="4800">
                <a:solidFill>
                  <a:schemeClr val="bg1"/>
                </a:solidFill>
              </a:rPr>
              <a:t>Weak 1</a:t>
            </a:r>
            <a:endParaRPr lang="en-IN" sz="4800">
              <a:solidFill>
                <a:schemeClr val="bg1"/>
              </a:solidFill>
            </a:endParaRPr>
          </a:p>
        </p:txBody>
      </p:sp>
    </p:spTree>
    <p:extLst>
      <p:ext uri="{BB962C8B-B14F-4D97-AF65-F5344CB8AC3E}">
        <p14:creationId xmlns:p14="http://schemas.microsoft.com/office/powerpoint/2010/main" val="228661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216" name="Group 215">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A8A02A66-EE96-F356-50EF-BFB437162626}"/>
              </a:ext>
            </a:extLst>
          </p:cNvPr>
          <p:cNvSpPr>
            <a:spLocks noGrp="1"/>
          </p:cNvSpPr>
          <p:nvPr>
            <p:ph type="ctrTitle"/>
          </p:nvPr>
        </p:nvSpPr>
        <p:spPr>
          <a:xfrm>
            <a:off x="838199" y="1120676"/>
            <a:ext cx="7021513" cy="2308324"/>
          </a:xfrm>
        </p:spPr>
        <p:txBody>
          <a:bodyPr>
            <a:normAutofit/>
          </a:bodyPr>
          <a:lstStyle/>
          <a:p>
            <a:pPr algn="l"/>
            <a:r>
              <a:rPr lang="en-US" sz="7200" dirty="0">
                <a:solidFill>
                  <a:schemeClr val="bg1"/>
                </a:solidFill>
              </a:rPr>
              <a:t>Computer Graphics</a:t>
            </a:r>
            <a:endParaRPr lang="en-IN" sz="7200" dirty="0">
              <a:solidFill>
                <a:schemeClr val="bg1"/>
              </a:solidFill>
            </a:endParaRPr>
          </a:p>
        </p:txBody>
      </p:sp>
      <p:sp>
        <p:nvSpPr>
          <p:cNvPr id="3" name="Subtitle 2">
            <a:extLst>
              <a:ext uri="{FF2B5EF4-FFF2-40B4-BE49-F238E27FC236}">
                <a16:creationId xmlns:a16="http://schemas.microsoft.com/office/drawing/2014/main" id="{0EBB5097-53AA-2AD9-05CA-51134686C845}"/>
              </a:ext>
            </a:extLst>
          </p:cNvPr>
          <p:cNvSpPr>
            <a:spLocks noGrp="1"/>
          </p:cNvSpPr>
          <p:nvPr>
            <p:ph type="subTitle" idx="1"/>
          </p:nvPr>
        </p:nvSpPr>
        <p:spPr>
          <a:xfrm>
            <a:off x="835024" y="3809999"/>
            <a:ext cx="7025753" cy="1012778"/>
          </a:xfrm>
        </p:spPr>
        <p:txBody>
          <a:bodyPr>
            <a:normAutofit/>
          </a:bodyPr>
          <a:lstStyle/>
          <a:p>
            <a:pPr algn="l"/>
            <a:endParaRPr lang="en-US" dirty="0">
              <a:solidFill>
                <a:schemeClr val="bg1"/>
              </a:solidFill>
            </a:endParaRPr>
          </a:p>
          <a:p>
            <a:pPr algn="l"/>
            <a:endParaRPr lang="en-IN" dirty="0">
              <a:solidFill>
                <a:schemeClr val="bg1"/>
              </a:solidFill>
            </a:endParaRPr>
          </a:p>
        </p:txBody>
      </p:sp>
    </p:spTree>
    <p:extLst>
      <p:ext uri="{BB962C8B-B14F-4D97-AF65-F5344CB8AC3E}">
        <p14:creationId xmlns:p14="http://schemas.microsoft.com/office/powerpoint/2010/main" val="252382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F6BA8-2324-EFB8-4DF3-8C774A8E53CF}"/>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9229D932-301A-2BB2-4258-FB5E8AF6F724}"/>
              </a:ext>
            </a:extLst>
          </p:cNvPr>
          <p:cNvSpPr>
            <a:spLocks noGrp="1"/>
          </p:cNvSpPr>
          <p:nvPr>
            <p:ph idx="1"/>
          </p:nvPr>
        </p:nvSpPr>
        <p:spPr>
          <a:xfrm>
            <a:off x="838200" y="1825625"/>
            <a:ext cx="10673080" cy="4595495"/>
          </a:xfrm>
        </p:spPr>
        <p:txBody>
          <a:bodyPr>
            <a:normAutofit fontScale="70000" lnSpcReduction="20000"/>
          </a:bodyPr>
          <a:lstStyle/>
          <a:p>
            <a:pPr>
              <a:lnSpc>
                <a:spcPct val="120000"/>
              </a:lnSpc>
            </a:pPr>
            <a:r>
              <a:rPr lang="en-US" dirty="0"/>
              <a:t>What is Computer graphics ?      </a:t>
            </a:r>
          </a:p>
          <a:p>
            <a:pPr>
              <a:lnSpc>
                <a:spcPct val="120000"/>
              </a:lnSpc>
            </a:pPr>
            <a:r>
              <a:rPr lang="en-US" dirty="0"/>
              <a:t>Computer Graphics is  the Representation of data object as visual images. </a:t>
            </a:r>
          </a:p>
          <a:p>
            <a:pPr>
              <a:lnSpc>
                <a:spcPct val="120000"/>
              </a:lnSpc>
            </a:pPr>
            <a:r>
              <a:rPr lang="en-US" dirty="0"/>
              <a:t>Basic Terminology Used in CG:-</a:t>
            </a:r>
          </a:p>
          <a:p>
            <a:pPr>
              <a:lnSpc>
                <a:spcPct val="120000"/>
              </a:lnSpc>
            </a:pPr>
            <a:r>
              <a:rPr lang="en-US" dirty="0"/>
              <a:t>Pixels – smallest dots in the Screen</a:t>
            </a:r>
          </a:p>
          <a:p>
            <a:pPr marL="0" indent="0">
              <a:lnSpc>
                <a:spcPct val="120000"/>
              </a:lnSpc>
              <a:buNone/>
            </a:pPr>
            <a:r>
              <a:rPr lang="en-US" dirty="0"/>
              <a:t>                        -Each dots has RGB color</a:t>
            </a:r>
          </a:p>
          <a:p>
            <a:pPr marL="0" indent="0">
              <a:lnSpc>
                <a:spcPct val="120000"/>
              </a:lnSpc>
              <a:buNone/>
            </a:pPr>
            <a:r>
              <a:rPr lang="en-US" dirty="0"/>
              <a:t>                        - More Pixels More clear Images</a:t>
            </a:r>
          </a:p>
          <a:p>
            <a:pPr>
              <a:lnSpc>
                <a:spcPct val="120000"/>
              </a:lnSpc>
            </a:pPr>
            <a:r>
              <a:rPr lang="en-US" dirty="0"/>
              <a:t>Resolution – How many Pixels in the screen (height * width )</a:t>
            </a:r>
            <a:br>
              <a:rPr lang="en-US" dirty="0"/>
            </a:br>
            <a:r>
              <a:rPr lang="en-US" dirty="0"/>
              <a:t>higher resolution means more  details in the object</a:t>
            </a:r>
            <a:br>
              <a:rPr lang="en-US" dirty="0"/>
            </a:br>
            <a:endParaRPr lang="en-US" dirty="0"/>
          </a:p>
          <a:p>
            <a:pPr marL="0" indent="0">
              <a:buNone/>
            </a:pPr>
            <a:r>
              <a:rPr lang="en-US" dirty="0"/>
              <a:t>         </a:t>
            </a:r>
          </a:p>
          <a:p>
            <a:pPr marL="0" indent="0">
              <a:buNone/>
            </a:pPr>
            <a:r>
              <a:rPr lang="en-US" dirty="0"/>
              <a:t> </a:t>
            </a:r>
            <a:endParaRPr lang="en-IN" dirty="0"/>
          </a:p>
        </p:txBody>
      </p:sp>
    </p:spTree>
    <p:extLst>
      <p:ext uri="{BB962C8B-B14F-4D97-AF65-F5344CB8AC3E}">
        <p14:creationId xmlns:p14="http://schemas.microsoft.com/office/powerpoint/2010/main" val="3312708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682C-2CAC-5DAA-527E-15FF45BD328A}"/>
              </a:ext>
            </a:extLst>
          </p:cNvPr>
          <p:cNvSpPr>
            <a:spLocks noGrp="1"/>
          </p:cNvSpPr>
          <p:nvPr>
            <p:ph type="title"/>
          </p:nvPr>
        </p:nvSpPr>
        <p:spPr>
          <a:xfrm>
            <a:off x="613611" y="500062"/>
            <a:ext cx="10515600" cy="1325563"/>
          </a:xfrm>
        </p:spPr>
        <p:txBody>
          <a:bodyPr/>
          <a:lstStyle/>
          <a:p>
            <a:r>
              <a:rPr lang="en-US" dirty="0"/>
              <a:t>Types Of Graphics</a:t>
            </a:r>
            <a:endParaRPr lang="en-IN" dirty="0"/>
          </a:p>
        </p:txBody>
      </p:sp>
      <p:sp>
        <p:nvSpPr>
          <p:cNvPr id="3" name="Content Placeholder 2">
            <a:extLst>
              <a:ext uri="{FF2B5EF4-FFF2-40B4-BE49-F238E27FC236}">
                <a16:creationId xmlns:a16="http://schemas.microsoft.com/office/drawing/2014/main" id="{0CBF2DCA-F7B4-2F48-51F2-94D7C4531ED2}"/>
              </a:ext>
            </a:extLst>
          </p:cNvPr>
          <p:cNvSpPr>
            <a:spLocks noGrp="1"/>
          </p:cNvSpPr>
          <p:nvPr>
            <p:ph idx="1"/>
          </p:nvPr>
        </p:nvSpPr>
        <p:spPr/>
        <p:txBody>
          <a:bodyPr>
            <a:normAutofit fontScale="85000" lnSpcReduction="20000"/>
          </a:bodyPr>
          <a:lstStyle/>
          <a:p>
            <a:r>
              <a:rPr lang="en-US" dirty="0"/>
              <a:t>There are Two types of Graphics</a:t>
            </a:r>
            <a:endParaRPr lang="en-IN" dirty="0"/>
          </a:p>
          <a:p>
            <a:r>
              <a:rPr lang="en-IN" dirty="0"/>
              <a:t>Raster Graphics and Vector Graphics</a:t>
            </a:r>
          </a:p>
          <a:p>
            <a:r>
              <a:rPr lang="en-IN" dirty="0"/>
              <a:t>Raster Graphics is the graphical or visual  representation of the data or we can say see image  as a collection of  tiny dots called pixels.</a:t>
            </a:r>
          </a:p>
          <a:p>
            <a:r>
              <a:rPr lang="en-US" dirty="0"/>
              <a:t>Raster Graphics is used when we want to show Realistic Appearance in the Application.</a:t>
            </a:r>
          </a:p>
          <a:p>
            <a:r>
              <a:rPr lang="en-US" dirty="0"/>
              <a:t>We can visualize raster Graphics in 2Dimensional as well as 3Dimensional.</a:t>
            </a:r>
          </a:p>
          <a:p>
            <a:r>
              <a:rPr lang="en-US" dirty="0"/>
              <a:t>For images we used 2D and For the videos we used 3D</a:t>
            </a:r>
          </a:p>
          <a:p>
            <a:r>
              <a:rPr lang="en-US" dirty="0"/>
              <a:t>Characters’ clothing, skin textures, and environments use high-resolution raster images.</a:t>
            </a:r>
          </a:p>
          <a:p>
            <a:pPr marL="0" indent="0">
              <a:buNone/>
            </a:pPr>
            <a:br>
              <a:rPr lang="en-US" dirty="0"/>
            </a:br>
            <a:endParaRPr lang="en-US" dirty="0"/>
          </a:p>
        </p:txBody>
      </p:sp>
    </p:spTree>
    <p:extLst>
      <p:ext uri="{BB962C8B-B14F-4D97-AF65-F5344CB8AC3E}">
        <p14:creationId xmlns:p14="http://schemas.microsoft.com/office/powerpoint/2010/main" val="3853442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B40E2-DC5B-E7FB-2F39-B02E7F4980EF}"/>
              </a:ext>
            </a:extLst>
          </p:cNvPr>
          <p:cNvSpPr>
            <a:spLocks noGrp="1"/>
          </p:cNvSpPr>
          <p:nvPr>
            <p:ph type="title"/>
          </p:nvPr>
        </p:nvSpPr>
        <p:spPr/>
        <p:txBody>
          <a:bodyPr/>
          <a:lstStyle/>
          <a:p>
            <a:r>
              <a:rPr lang="en-US" dirty="0"/>
              <a:t>Vector Graphics</a:t>
            </a:r>
            <a:endParaRPr lang="en-IN" dirty="0"/>
          </a:p>
        </p:txBody>
      </p:sp>
      <p:sp>
        <p:nvSpPr>
          <p:cNvPr id="3" name="Content Placeholder 2">
            <a:extLst>
              <a:ext uri="{FF2B5EF4-FFF2-40B4-BE49-F238E27FC236}">
                <a16:creationId xmlns:a16="http://schemas.microsoft.com/office/drawing/2014/main" id="{FB4F7D45-3744-8670-D36F-9A9C36CBA84A}"/>
              </a:ext>
            </a:extLst>
          </p:cNvPr>
          <p:cNvSpPr>
            <a:spLocks noGrp="1"/>
          </p:cNvSpPr>
          <p:nvPr>
            <p:ph idx="1"/>
          </p:nvPr>
        </p:nvSpPr>
        <p:spPr/>
        <p:txBody>
          <a:bodyPr/>
          <a:lstStyle/>
          <a:p>
            <a:r>
              <a:rPr lang="en-US" dirty="0"/>
              <a:t>Vector Graphics are based on Geometric Shapes like curves, shapes, points without losing its image Quality.</a:t>
            </a:r>
          </a:p>
          <a:p>
            <a:r>
              <a:rPr lang="en-US" dirty="0"/>
              <a:t>In vector Graphics When you Enlarge the Image as We want it does not affect its Quality.it remain same.</a:t>
            </a:r>
          </a:p>
          <a:p>
            <a:r>
              <a:rPr lang="en-US" dirty="0"/>
              <a:t>Vector Graphics are independent from resolution</a:t>
            </a:r>
          </a:p>
          <a:p>
            <a:r>
              <a:rPr lang="en-IN" dirty="0"/>
              <a:t>We can use this graphics to Develop the clean UI elements</a:t>
            </a:r>
            <a:br>
              <a:rPr lang="en-IN" dirty="0"/>
            </a:br>
            <a:r>
              <a:rPr lang="en-IN" dirty="0"/>
              <a:t>Real Time use :-</a:t>
            </a:r>
            <a:br>
              <a:rPr lang="en-IN" dirty="0"/>
            </a:br>
            <a:r>
              <a:rPr lang="en-IN" dirty="0"/>
              <a:t>   </a:t>
            </a:r>
            <a:r>
              <a:rPr lang="en-IN" dirty="0">
                <a:sym typeface="Wingdings" panose="05000000000000000000" pitchFamily="2" charset="2"/>
              </a:rPr>
              <a:t>Creating UI</a:t>
            </a:r>
            <a:endParaRPr lang="en-IN" dirty="0"/>
          </a:p>
        </p:txBody>
      </p:sp>
    </p:spTree>
    <p:extLst>
      <p:ext uri="{BB962C8B-B14F-4D97-AF65-F5344CB8AC3E}">
        <p14:creationId xmlns:p14="http://schemas.microsoft.com/office/powerpoint/2010/main" val="1011688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8B71-F3BC-79C7-D2FF-369DDB3FC7C4}"/>
              </a:ext>
            </a:extLst>
          </p:cNvPr>
          <p:cNvSpPr>
            <a:spLocks noGrp="1"/>
          </p:cNvSpPr>
          <p:nvPr>
            <p:ph type="title"/>
          </p:nvPr>
        </p:nvSpPr>
        <p:spPr/>
        <p:txBody>
          <a:bodyPr/>
          <a:lstStyle/>
          <a:p>
            <a:r>
              <a:rPr lang="en-US" dirty="0"/>
              <a:t>Basic of Computer Graphics</a:t>
            </a:r>
            <a:endParaRPr lang="en-IN" dirty="0"/>
          </a:p>
        </p:txBody>
      </p:sp>
      <p:sp>
        <p:nvSpPr>
          <p:cNvPr id="3" name="Content Placeholder 2">
            <a:extLst>
              <a:ext uri="{FF2B5EF4-FFF2-40B4-BE49-F238E27FC236}">
                <a16:creationId xmlns:a16="http://schemas.microsoft.com/office/drawing/2014/main" id="{EEAF759B-FE8C-4D98-C860-C205870975D4}"/>
              </a:ext>
            </a:extLst>
          </p:cNvPr>
          <p:cNvSpPr>
            <a:spLocks noGrp="1"/>
          </p:cNvSpPr>
          <p:nvPr>
            <p:ph idx="1"/>
          </p:nvPr>
        </p:nvSpPr>
        <p:spPr/>
        <p:txBody>
          <a:bodyPr>
            <a:normAutofit fontScale="92500" lnSpcReduction="20000"/>
          </a:bodyPr>
          <a:lstStyle/>
          <a:p>
            <a:r>
              <a:rPr lang="en-US" dirty="0"/>
              <a:t>Rendering</a:t>
            </a:r>
          </a:p>
          <a:p>
            <a:pPr marL="0" indent="0">
              <a:buNone/>
            </a:pPr>
            <a:r>
              <a:rPr lang="en-US" dirty="0"/>
              <a:t>   </a:t>
            </a:r>
            <a:r>
              <a:rPr lang="en-US" dirty="0">
                <a:sym typeface="Wingdings" panose="05000000000000000000" pitchFamily="2" charset="2"/>
              </a:rPr>
              <a:t></a:t>
            </a:r>
            <a:r>
              <a:rPr lang="en-US" dirty="0"/>
              <a:t> rendering is the concept of generating 2D images of 3D objects or Modals.</a:t>
            </a:r>
          </a:p>
          <a:p>
            <a:pPr marL="0" indent="0">
              <a:buNone/>
            </a:pPr>
            <a:r>
              <a:rPr lang="en-US" b="1" dirty="0"/>
              <a:t>Frame:</a:t>
            </a:r>
            <a:br>
              <a:rPr lang="en-US" dirty="0"/>
            </a:br>
            <a:r>
              <a:rPr lang="en-US" dirty="0"/>
              <a:t>  </a:t>
            </a:r>
            <a:r>
              <a:rPr lang="en-US" dirty="0">
                <a:sym typeface="Wingdings" panose="05000000000000000000" pitchFamily="2" charset="2"/>
              </a:rPr>
              <a:t></a:t>
            </a:r>
            <a:r>
              <a:rPr lang="en-US" dirty="0"/>
              <a:t>A single image in a sequence of images. When many frames are shown quickly one after another, they create motion</a:t>
            </a:r>
          </a:p>
          <a:p>
            <a:r>
              <a:rPr lang="en-US" dirty="0"/>
              <a:t>Shadowing</a:t>
            </a:r>
          </a:p>
          <a:p>
            <a:pPr marL="0" indent="0">
              <a:buNone/>
            </a:pPr>
            <a:r>
              <a:rPr lang="en-US" dirty="0"/>
              <a:t>   </a:t>
            </a:r>
            <a:r>
              <a:rPr lang="en-US" dirty="0">
                <a:sym typeface="Wingdings" panose="05000000000000000000" pitchFamily="2" charset="2"/>
              </a:rPr>
              <a:t></a:t>
            </a:r>
            <a:r>
              <a:rPr lang="en-US" dirty="0"/>
              <a:t> shadowing is the concept of controlling the Dark Area when any objects blocks the rays or lights .</a:t>
            </a:r>
          </a:p>
          <a:p>
            <a:pPr marL="0" indent="0">
              <a:buNone/>
            </a:pPr>
            <a:r>
              <a:rPr lang="en-IN" dirty="0"/>
              <a:t>Ex- Standing in Sunlight.</a:t>
            </a:r>
          </a:p>
          <a:p>
            <a:pPr marL="0" indent="0">
              <a:buNone/>
            </a:pPr>
            <a:r>
              <a:rPr lang="en-IN" dirty="0">
                <a:sym typeface="Wingdings" panose="05000000000000000000" pitchFamily="2" charset="2"/>
              </a:rPr>
              <a:t>    We can create Shadow in Computer Graphics by using Some mathematical </a:t>
            </a:r>
            <a:r>
              <a:rPr lang="en-IN" dirty="0" err="1">
                <a:sym typeface="Wingdings" panose="05000000000000000000" pitchFamily="2" charset="2"/>
              </a:rPr>
              <a:t>calculatons,lights</a:t>
            </a:r>
            <a:r>
              <a:rPr lang="en-IN" dirty="0">
                <a:sym typeface="Wingdings" panose="05000000000000000000" pitchFamily="2" charset="2"/>
              </a:rPr>
              <a:t> and also we need object.</a:t>
            </a:r>
            <a:endParaRPr lang="en-IN" dirty="0"/>
          </a:p>
          <a:p>
            <a:pPr marL="0" indent="0">
              <a:buNone/>
            </a:pPr>
            <a:endParaRPr lang="en-IN" dirty="0"/>
          </a:p>
        </p:txBody>
      </p:sp>
    </p:spTree>
    <p:extLst>
      <p:ext uri="{BB962C8B-B14F-4D97-AF65-F5344CB8AC3E}">
        <p14:creationId xmlns:p14="http://schemas.microsoft.com/office/powerpoint/2010/main" val="3916939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EBB0-0509-E1CE-4721-ADA6F239F3F3}"/>
              </a:ext>
            </a:extLst>
          </p:cNvPr>
          <p:cNvSpPr>
            <a:spLocks noGrp="1"/>
          </p:cNvSpPr>
          <p:nvPr>
            <p:ph type="title"/>
          </p:nvPr>
        </p:nvSpPr>
        <p:spPr/>
        <p:txBody>
          <a:bodyPr/>
          <a:lstStyle/>
          <a:p>
            <a:r>
              <a:rPr lang="en-US" dirty="0"/>
              <a:t>Graphics Pipeline</a:t>
            </a:r>
            <a:endParaRPr lang="en-IN" dirty="0"/>
          </a:p>
        </p:txBody>
      </p:sp>
      <p:sp>
        <p:nvSpPr>
          <p:cNvPr id="3" name="Content Placeholder 2">
            <a:extLst>
              <a:ext uri="{FF2B5EF4-FFF2-40B4-BE49-F238E27FC236}">
                <a16:creationId xmlns:a16="http://schemas.microsoft.com/office/drawing/2014/main" id="{8A6A70CB-4B92-A18C-B616-D7E4AABEEA11}"/>
              </a:ext>
            </a:extLst>
          </p:cNvPr>
          <p:cNvSpPr>
            <a:spLocks noGrp="1"/>
          </p:cNvSpPr>
          <p:nvPr>
            <p:ph idx="1"/>
          </p:nvPr>
        </p:nvSpPr>
        <p:spPr>
          <a:xfrm>
            <a:off x="838200" y="1836511"/>
            <a:ext cx="10515600" cy="4351338"/>
          </a:xfrm>
        </p:spPr>
        <p:txBody>
          <a:bodyPr>
            <a:normAutofit lnSpcReduction="10000"/>
          </a:bodyPr>
          <a:lstStyle/>
          <a:p>
            <a:r>
              <a:rPr lang="en-US" dirty="0"/>
              <a:t>Pipeline means the steps involved where the output of the one steps become the output of the other steps or we can say that pipeline means the sequence of steps.</a:t>
            </a:r>
          </a:p>
          <a:p>
            <a:r>
              <a:rPr lang="en-US" dirty="0"/>
              <a:t>Graphics Pipeline is the step by step  process   Generating 2D images on screen from the 3D object.</a:t>
            </a:r>
          </a:p>
          <a:p>
            <a:r>
              <a:rPr lang="en-US" dirty="0"/>
              <a:t>There are different stages involved in Graphic pipelines </a:t>
            </a:r>
          </a:p>
          <a:p>
            <a:r>
              <a:rPr lang="en-US" dirty="0">
                <a:sym typeface="Wingdings" panose="05000000000000000000" pitchFamily="2" charset="2"/>
              </a:rPr>
              <a:t>Vertex </a:t>
            </a:r>
            <a:r>
              <a:rPr lang="en-US" dirty="0" err="1">
                <a:sym typeface="Wingdings" panose="05000000000000000000" pitchFamily="2" charset="2"/>
              </a:rPr>
              <a:t>processingTessellationPrimitive</a:t>
            </a:r>
            <a:r>
              <a:rPr lang="en-US" dirty="0">
                <a:sym typeface="Wingdings" panose="05000000000000000000" pitchFamily="2" charset="2"/>
              </a:rPr>
              <a:t> </a:t>
            </a:r>
            <a:r>
              <a:rPr lang="en-US" dirty="0" err="1">
                <a:sym typeface="Wingdings" panose="05000000000000000000" pitchFamily="2" charset="2"/>
              </a:rPr>
              <a:t>ProcessingRasterization</a:t>
            </a:r>
            <a:r>
              <a:rPr lang="en-US" dirty="0">
                <a:sym typeface="Wingdings" panose="05000000000000000000" pitchFamily="2" charset="2"/>
              </a:rPr>
              <a:t>-&gt;Fragment processing-&gt;pixel </a:t>
            </a:r>
            <a:r>
              <a:rPr lang="en-US" dirty="0" err="1">
                <a:sym typeface="Wingdings" panose="05000000000000000000" pitchFamily="2" charset="2"/>
              </a:rPr>
              <a:t>procesing</a:t>
            </a:r>
            <a:endParaRPr lang="en-US" dirty="0"/>
          </a:p>
          <a:p>
            <a:r>
              <a:rPr lang="en-IN" dirty="0"/>
              <a:t>Vertex processing also know as Input Processing</a:t>
            </a:r>
          </a:p>
        </p:txBody>
      </p:sp>
    </p:spTree>
    <p:extLst>
      <p:ext uri="{BB962C8B-B14F-4D97-AF65-F5344CB8AC3E}">
        <p14:creationId xmlns:p14="http://schemas.microsoft.com/office/powerpoint/2010/main" val="129820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CBA3-311C-9927-D40F-1FEE01C5E64E}"/>
              </a:ext>
            </a:extLst>
          </p:cNvPr>
          <p:cNvSpPr>
            <a:spLocks noGrp="1"/>
          </p:cNvSpPr>
          <p:nvPr>
            <p:ph type="title"/>
          </p:nvPr>
        </p:nvSpPr>
        <p:spPr/>
        <p:txBody>
          <a:bodyPr/>
          <a:lstStyle/>
          <a:p>
            <a:r>
              <a:rPr lang="en-US" dirty="0"/>
              <a:t>Vertex processing</a:t>
            </a:r>
            <a:endParaRPr lang="en-IN" dirty="0"/>
          </a:p>
        </p:txBody>
      </p:sp>
      <p:sp>
        <p:nvSpPr>
          <p:cNvPr id="3" name="Content Placeholder 2">
            <a:extLst>
              <a:ext uri="{FF2B5EF4-FFF2-40B4-BE49-F238E27FC236}">
                <a16:creationId xmlns:a16="http://schemas.microsoft.com/office/drawing/2014/main" id="{17695EB0-39B3-C8E1-14F2-257EC31B2661}"/>
              </a:ext>
            </a:extLst>
          </p:cNvPr>
          <p:cNvSpPr>
            <a:spLocks noGrp="1"/>
          </p:cNvSpPr>
          <p:nvPr>
            <p:ph idx="1"/>
          </p:nvPr>
        </p:nvSpPr>
        <p:spPr/>
        <p:txBody>
          <a:bodyPr>
            <a:normAutofit/>
          </a:bodyPr>
          <a:lstStyle/>
          <a:p>
            <a:r>
              <a:rPr lang="en-US" dirty="0"/>
              <a:t>Vertex Processing -  vertex means point in 3D space.</a:t>
            </a:r>
          </a:p>
          <a:p>
            <a:r>
              <a:rPr lang="en-US" dirty="0"/>
              <a:t>This steps also know as Input processing where we take input as 3D objects.</a:t>
            </a:r>
          </a:p>
          <a:p>
            <a:r>
              <a:rPr lang="en-US" dirty="0"/>
              <a:t>What happens in this stage.</a:t>
            </a:r>
            <a:br>
              <a:rPr lang="en-US" dirty="0"/>
            </a:br>
            <a:r>
              <a:rPr lang="en-US" dirty="0"/>
              <a:t>    </a:t>
            </a:r>
            <a:r>
              <a:rPr lang="en-US" dirty="0">
                <a:sym typeface="Wingdings" panose="05000000000000000000" pitchFamily="2" charset="2"/>
              </a:rPr>
              <a:t></a:t>
            </a:r>
            <a:r>
              <a:rPr lang="en-US" dirty="0"/>
              <a:t>It takes the decision where we have to display the Images in Screen decide the vertex in the Screen and also Take care of it </a:t>
            </a:r>
            <a:r>
              <a:rPr lang="en-US" dirty="0" err="1"/>
              <a:t>colors,texture,Details</a:t>
            </a:r>
            <a:r>
              <a:rPr lang="en-US" dirty="0"/>
              <a:t> of the object.</a:t>
            </a:r>
          </a:p>
          <a:p>
            <a:r>
              <a:rPr lang="en-US" dirty="0"/>
              <a:t>Why:- to convert the 3D object into 2D object</a:t>
            </a:r>
            <a:endParaRPr lang="en-IN" dirty="0"/>
          </a:p>
        </p:txBody>
      </p:sp>
    </p:spTree>
    <p:extLst>
      <p:ext uri="{BB962C8B-B14F-4D97-AF65-F5344CB8AC3E}">
        <p14:creationId xmlns:p14="http://schemas.microsoft.com/office/powerpoint/2010/main" val="319709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DC4C0-608B-3A79-226F-C7BEDF90E1F5}"/>
              </a:ext>
            </a:extLst>
          </p:cNvPr>
          <p:cNvSpPr>
            <a:spLocks noGrp="1"/>
          </p:cNvSpPr>
          <p:nvPr>
            <p:ph type="title"/>
          </p:nvPr>
        </p:nvSpPr>
        <p:spPr/>
        <p:txBody>
          <a:bodyPr/>
          <a:lstStyle/>
          <a:p>
            <a:r>
              <a:rPr lang="en-US" u="sng" dirty="0"/>
              <a:t>Tessellation processing</a:t>
            </a:r>
            <a:endParaRPr lang="en-IN" u="sng" dirty="0"/>
          </a:p>
        </p:txBody>
      </p:sp>
      <p:sp>
        <p:nvSpPr>
          <p:cNvPr id="3" name="Content Placeholder 2">
            <a:extLst>
              <a:ext uri="{FF2B5EF4-FFF2-40B4-BE49-F238E27FC236}">
                <a16:creationId xmlns:a16="http://schemas.microsoft.com/office/drawing/2014/main" id="{68C186E5-6824-D5D3-3874-234BB51529EA}"/>
              </a:ext>
            </a:extLst>
          </p:cNvPr>
          <p:cNvSpPr>
            <a:spLocks noGrp="1"/>
          </p:cNvSpPr>
          <p:nvPr>
            <p:ph idx="1"/>
          </p:nvPr>
        </p:nvSpPr>
        <p:spPr/>
        <p:txBody>
          <a:bodyPr/>
          <a:lstStyle/>
          <a:p>
            <a:r>
              <a:rPr lang="en-US" dirty="0"/>
              <a:t>Tessellation means dividing  the complex shapes into smaller ones .</a:t>
            </a:r>
          </a:p>
          <a:p>
            <a:r>
              <a:rPr lang="en-US" dirty="0"/>
              <a:t>This process is helpful to enhance the visual Quality of Objects and realistic textures.</a:t>
            </a:r>
          </a:p>
          <a:p>
            <a:r>
              <a:rPr lang="en-US" dirty="0"/>
              <a:t>Everything in 3D graphics are made from combining </a:t>
            </a:r>
            <a:r>
              <a:rPr lang="en-US" dirty="0" err="1"/>
              <a:t>points,lines</a:t>
            </a:r>
            <a:r>
              <a:rPr lang="en-US" dirty="0"/>
              <a:t> and triangle. </a:t>
            </a:r>
            <a:endParaRPr lang="en-IN" dirty="0"/>
          </a:p>
        </p:txBody>
      </p:sp>
    </p:spTree>
    <p:extLst>
      <p:ext uri="{BB962C8B-B14F-4D97-AF65-F5344CB8AC3E}">
        <p14:creationId xmlns:p14="http://schemas.microsoft.com/office/powerpoint/2010/main" val="4245995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C1191-F596-2BB3-488B-9D47F2676870}"/>
              </a:ext>
            </a:extLst>
          </p:cNvPr>
          <p:cNvSpPr>
            <a:spLocks noGrp="1"/>
          </p:cNvSpPr>
          <p:nvPr>
            <p:ph type="title"/>
          </p:nvPr>
        </p:nvSpPr>
        <p:spPr/>
        <p:txBody>
          <a:bodyPr/>
          <a:lstStyle/>
          <a:p>
            <a:r>
              <a:rPr lang="en-US" u="sng" dirty="0"/>
              <a:t>Rasterization process</a:t>
            </a:r>
            <a:endParaRPr lang="en-IN" u="sng" dirty="0"/>
          </a:p>
        </p:txBody>
      </p:sp>
      <p:sp>
        <p:nvSpPr>
          <p:cNvPr id="3" name="Content Placeholder 2">
            <a:extLst>
              <a:ext uri="{FF2B5EF4-FFF2-40B4-BE49-F238E27FC236}">
                <a16:creationId xmlns:a16="http://schemas.microsoft.com/office/drawing/2014/main" id="{48B3789B-65CF-36A0-40DB-D1CA223154D3}"/>
              </a:ext>
            </a:extLst>
          </p:cNvPr>
          <p:cNvSpPr>
            <a:spLocks noGrp="1"/>
          </p:cNvSpPr>
          <p:nvPr>
            <p:ph idx="1"/>
          </p:nvPr>
        </p:nvSpPr>
        <p:spPr/>
        <p:txBody>
          <a:bodyPr/>
          <a:lstStyle/>
          <a:p>
            <a:r>
              <a:rPr lang="en-US" dirty="0"/>
              <a:t>It is the concept of Converting Vector Graphics into raster Graphics </a:t>
            </a:r>
          </a:p>
          <a:p>
            <a:r>
              <a:rPr lang="en-IN" dirty="0"/>
              <a:t>This process is helpful in Displaying the </a:t>
            </a:r>
            <a:r>
              <a:rPr lang="en-IN" dirty="0" err="1"/>
              <a:t>images,videos</a:t>
            </a:r>
            <a:r>
              <a:rPr lang="en-IN" dirty="0"/>
              <a:t> on screen.</a:t>
            </a:r>
          </a:p>
          <a:p>
            <a:r>
              <a:rPr lang="en-IN" dirty="0"/>
              <a:t>Different types of Rasterization</a:t>
            </a:r>
          </a:p>
          <a:p>
            <a:r>
              <a:rPr lang="en-IN" dirty="0"/>
              <a:t>2D rasterization is used to  converting </a:t>
            </a:r>
            <a:r>
              <a:rPr lang="en-IN" dirty="0" err="1"/>
              <a:t>line,cirlcle</a:t>
            </a:r>
            <a:r>
              <a:rPr lang="en-IN" dirty="0"/>
              <a:t>  any shapes into the pixels</a:t>
            </a:r>
          </a:p>
          <a:p>
            <a:r>
              <a:rPr lang="en-IN" dirty="0"/>
              <a:t>3D rasterization is displaying 3D objects onto 2D plane</a:t>
            </a:r>
          </a:p>
        </p:txBody>
      </p:sp>
    </p:spTree>
    <p:extLst>
      <p:ext uri="{BB962C8B-B14F-4D97-AF65-F5344CB8AC3E}">
        <p14:creationId xmlns:p14="http://schemas.microsoft.com/office/powerpoint/2010/main" val="385385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FA5B-2A45-6E3D-23E2-561367250DEC}"/>
              </a:ext>
            </a:extLst>
          </p:cNvPr>
          <p:cNvSpPr>
            <a:spLocks noGrp="1"/>
          </p:cNvSpPr>
          <p:nvPr>
            <p:ph type="title"/>
          </p:nvPr>
        </p:nvSpPr>
        <p:spPr/>
        <p:txBody>
          <a:bodyPr/>
          <a:lstStyle/>
          <a:p>
            <a:r>
              <a:rPr lang="en-US" u="sng" dirty="0"/>
              <a:t>Pixel Shading</a:t>
            </a:r>
            <a:endParaRPr lang="en-IN" u="sng" dirty="0"/>
          </a:p>
        </p:txBody>
      </p:sp>
      <p:sp>
        <p:nvSpPr>
          <p:cNvPr id="3" name="Content Placeholder 2">
            <a:extLst>
              <a:ext uri="{FF2B5EF4-FFF2-40B4-BE49-F238E27FC236}">
                <a16:creationId xmlns:a16="http://schemas.microsoft.com/office/drawing/2014/main" id="{391D683C-2929-6E2A-4BCC-5C2333AAE447}"/>
              </a:ext>
            </a:extLst>
          </p:cNvPr>
          <p:cNvSpPr>
            <a:spLocks noGrp="1"/>
          </p:cNvSpPr>
          <p:nvPr>
            <p:ph idx="1"/>
          </p:nvPr>
        </p:nvSpPr>
        <p:spPr/>
        <p:txBody>
          <a:bodyPr/>
          <a:lstStyle/>
          <a:p>
            <a:pPr marL="0" indent="0">
              <a:buNone/>
            </a:pPr>
            <a:r>
              <a:rPr lang="en-US" dirty="0">
                <a:sym typeface="Wingdings" panose="05000000000000000000" pitchFamily="2" charset="2"/>
              </a:rPr>
              <a:t> </a:t>
            </a:r>
            <a:r>
              <a:rPr lang="en-US" dirty="0"/>
              <a:t>A pixel shading is the part of rendering pipeline .</a:t>
            </a:r>
          </a:p>
          <a:p>
            <a:pPr marL="0" indent="0">
              <a:buNone/>
            </a:pPr>
            <a:r>
              <a:rPr lang="en-US" dirty="0">
                <a:sym typeface="Wingdings" panose="05000000000000000000" pitchFamily="2" charset="2"/>
              </a:rPr>
              <a:t>A </a:t>
            </a:r>
            <a:r>
              <a:rPr lang="en-US" dirty="0" err="1">
                <a:sym typeface="Wingdings" panose="05000000000000000000" pitchFamily="2" charset="2"/>
              </a:rPr>
              <a:t>pixal</a:t>
            </a:r>
            <a:r>
              <a:rPr lang="en-US" dirty="0">
                <a:sym typeface="Wingdings" panose="05000000000000000000" pitchFamily="2" charset="2"/>
              </a:rPr>
              <a:t> shader is a program that runs for each pixel.</a:t>
            </a:r>
          </a:p>
          <a:p>
            <a:pPr marL="0" indent="0">
              <a:buNone/>
            </a:pPr>
            <a:r>
              <a:rPr lang="en-US" dirty="0">
                <a:sym typeface="Wingdings" panose="05000000000000000000" pitchFamily="2" charset="2"/>
              </a:rPr>
              <a:t></a:t>
            </a:r>
            <a:r>
              <a:rPr lang="en-US" dirty="0">
                <a:solidFill>
                  <a:srgbClr val="0D0D0D"/>
                </a:solidFill>
                <a:latin typeface="ui-sans-serif"/>
                <a:sym typeface="Wingdings" panose="05000000000000000000" pitchFamily="2" charset="2"/>
              </a:rPr>
              <a:t> </a:t>
            </a:r>
            <a:r>
              <a:rPr lang="en-US" dirty="0"/>
              <a:t>Runs per-pixel, figures out color, lighting, effects</a:t>
            </a:r>
            <a:r>
              <a:rPr lang="en-US" dirty="0">
                <a:solidFill>
                  <a:srgbClr val="0D0D0D"/>
                </a:solidFill>
                <a:latin typeface="ui-sans-serif"/>
              </a:rPr>
              <a:t> </a:t>
            </a:r>
            <a:r>
              <a:rPr lang="en-US" dirty="0" err="1">
                <a:solidFill>
                  <a:srgbClr val="0D0D0D"/>
                </a:solidFill>
                <a:latin typeface="ui-sans-serif"/>
              </a:rPr>
              <a:t>etc</a:t>
            </a:r>
            <a:endParaRPr lang="en-US" dirty="0"/>
          </a:p>
        </p:txBody>
      </p:sp>
    </p:spTree>
    <p:extLst>
      <p:ext uri="{BB962C8B-B14F-4D97-AF65-F5344CB8AC3E}">
        <p14:creationId xmlns:p14="http://schemas.microsoft.com/office/powerpoint/2010/main" val="4093294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C1B7-91BA-608D-CD1D-4893BBCA5331}"/>
              </a:ext>
            </a:extLst>
          </p:cNvPr>
          <p:cNvSpPr>
            <a:spLocks noGrp="1"/>
          </p:cNvSpPr>
          <p:nvPr>
            <p:ph type="title"/>
          </p:nvPr>
        </p:nvSpPr>
        <p:spPr/>
        <p:txBody>
          <a:bodyPr/>
          <a:lstStyle/>
          <a:p>
            <a:r>
              <a:rPr lang="en-US" dirty="0"/>
              <a:t>Frame Buffers</a:t>
            </a:r>
            <a:endParaRPr lang="en-IN" dirty="0"/>
          </a:p>
        </p:txBody>
      </p:sp>
      <p:sp>
        <p:nvSpPr>
          <p:cNvPr id="3" name="Content Placeholder 2">
            <a:extLst>
              <a:ext uri="{FF2B5EF4-FFF2-40B4-BE49-F238E27FC236}">
                <a16:creationId xmlns:a16="http://schemas.microsoft.com/office/drawing/2014/main" id="{D7A915F9-D668-6465-D609-D116873555A5}"/>
              </a:ext>
            </a:extLst>
          </p:cNvPr>
          <p:cNvSpPr>
            <a:spLocks noGrp="1"/>
          </p:cNvSpPr>
          <p:nvPr>
            <p:ph idx="1"/>
          </p:nvPr>
        </p:nvSpPr>
        <p:spPr/>
        <p:txBody>
          <a:bodyPr/>
          <a:lstStyle/>
          <a:p>
            <a:r>
              <a:rPr lang="en-US" dirty="0"/>
              <a:t>Frame Buffer is the Memory holding the picture Which shown in the display </a:t>
            </a:r>
          </a:p>
          <a:p>
            <a:r>
              <a:rPr lang="en-US" dirty="0"/>
              <a:t>It Store the pixels data like </a:t>
            </a:r>
            <a:r>
              <a:rPr lang="en-US" dirty="0" err="1"/>
              <a:t>color,textures</a:t>
            </a:r>
            <a:r>
              <a:rPr lang="en-US" dirty="0"/>
              <a:t> and depth etc.</a:t>
            </a:r>
          </a:p>
          <a:p>
            <a:r>
              <a:rPr lang="en-US" dirty="0"/>
              <a:t>Frame Buffer hold the Final output data which are shown in the Screen</a:t>
            </a:r>
          </a:p>
          <a:p>
            <a:r>
              <a:rPr lang="en-US" dirty="0"/>
              <a:t>Uses :-</a:t>
            </a:r>
          </a:p>
          <a:p>
            <a:pPr marL="0" indent="0">
              <a:buNone/>
            </a:pPr>
            <a:r>
              <a:rPr lang="en-US" dirty="0"/>
              <a:t>        </a:t>
            </a:r>
            <a:r>
              <a:rPr lang="en-US" dirty="0">
                <a:sym typeface="Wingdings" panose="05000000000000000000" pitchFamily="2" charset="2"/>
              </a:rPr>
              <a:t></a:t>
            </a:r>
            <a:r>
              <a:rPr lang="en-US" dirty="0"/>
              <a:t> when rendering graphics</a:t>
            </a:r>
          </a:p>
          <a:p>
            <a:endParaRPr lang="en-IN" dirty="0"/>
          </a:p>
        </p:txBody>
      </p:sp>
    </p:spTree>
    <p:extLst>
      <p:ext uri="{BB962C8B-B14F-4D97-AF65-F5344CB8AC3E}">
        <p14:creationId xmlns:p14="http://schemas.microsoft.com/office/powerpoint/2010/main" val="3173174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0EEA5-5116-511F-4321-A1B604314632}"/>
              </a:ext>
            </a:extLst>
          </p:cNvPr>
          <p:cNvSpPr>
            <a:spLocks noGrp="1"/>
          </p:cNvSpPr>
          <p:nvPr>
            <p:ph type="title"/>
          </p:nvPr>
        </p:nvSpPr>
        <p:spPr/>
        <p:txBody>
          <a:bodyPr/>
          <a:lstStyle/>
          <a:p>
            <a:r>
              <a:rPr lang="en-US" u="sng" dirty="0"/>
              <a:t>Back buffers.</a:t>
            </a:r>
            <a:endParaRPr lang="en-IN" u="sng" dirty="0"/>
          </a:p>
        </p:txBody>
      </p:sp>
      <p:sp>
        <p:nvSpPr>
          <p:cNvPr id="3" name="Content Placeholder 2">
            <a:extLst>
              <a:ext uri="{FF2B5EF4-FFF2-40B4-BE49-F238E27FC236}">
                <a16:creationId xmlns:a16="http://schemas.microsoft.com/office/drawing/2014/main" id="{BA7A8176-AB80-21CE-94B0-73BDBDB4D5B6}"/>
              </a:ext>
            </a:extLst>
          </p:cNvPr>
          <p:cNvSpPr>
            <a:spLocks noGrp="1"/>
          </p:cNvSpPr>
          <p:nvPr>
            <p:ph idx="1"/>
          </p:nvPr>
        </p:nvSpPr>
        <p:spPr/>
        <p:txBody>
          <a:bodyPr/>
          <a:lstStyle/>
          <a:p>
            <a:r>
              <a:rPr lang="en-US" dirty="0"/>
              <a:t>Back buffers is rendering process where rendering is done  off screen before the image shown in the display.</a:t>
            </a:r>
          </a:p>
          <a:p>
            <a:r>
              <a:rPr lang="en-US" dirty="0"/>
              <a:t>It responsible for generation of next  image is display in the frame Buffers.</a:t>
            </a:r>
          </a:p>
          <a:p>
            <a:r>
              <a:rPr lang="en-US" dirty="0"/>
              <a:t>Back buffers avoid </a:t>
            </a:r>
            <a:r>
              <a:rPr lang="en-US" dirty="0" err="1"/>
              <a:t>flickring</a:t>
            </a:r>
            <a:r>
              <a:rPr lang="en-US" dirty="0"/>
              <a:t> and provides smooth animation in the </a:t>
            </a:r>
            <a:r>
              <a:rPr lang="en-US" dirty="0" err="1"/>
              <a:t>screen.like</a:t>
            </a:r>
            <a:r>
              <a:rPr lang="en-US" dirty="0"/>
              <a:t> in video games</a:t>
            </a:r>
          </a:p>
          <a:p>
            <a:endParaRPr lang="en-IN" dirty="0"/>
          </a:p>
        </p:txBody>
      </p:sp>
    </p:spTree>
    <p:extLst>
      <p:ext uri="{BB962C8B-B14F-4D97-AF65-F5344CB8AC3E}">
        <p14:creationId xmlns:p14="http://schemas.microsoft.com/office/powerpoint/2010/main" val="2947300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7CDB-AC1C-FA57-93D8-AB62A2CF2DC8}"/>
              </a:ext>
            </a:extLst>
          </p:cNvPr>
          <p:cNvSpPr>
            <a:spLocks noGrp="1"/>
          </p:cNvSpPr>
          <p:nvPr>
            <p:ph type="title"/>
          </p:nvPr>
        </p:nvSpPr>
        <p:spPr/>
        <p:txBody>
          <a:bodyPr/>
          <a:lstStyle/>
          <a:p>
            <a:r>
              <a:rPr lang="en-IN" u="sng" dirty="0"/>
              <a:t>Depth</a:t>
            </a:r>
            <a:r>
              <a:rPr lang="en-US" u="sng" dirty="0"/>
              <a:t> Buffers or Z-buffers</a:t>
            </a:r>
            <a:endParaRPr lang="en-IN" u="sng" dirty="0"/>
          </a:p>
        </p:txBody>
      </p:sp>
      <p:sp>
        <p:nvSpPr>
          <p:cNvPr id="3" name="Content Placeholder 2">
            <a:extLst>
              <a:ext uri="{FF2B5EF4-FFF2-40B4-BE49-F238E27FC236}">
                <a16:creationId xmlns:a16="http://schemas.microsoft.com/office/drawing/2014/main" id="{F55E1CA6-A516-8229-3ED3-2829A7D133D2}"/>
              </a:ext>
            </a:extLst>
          </p:cNvPr>
          <p:cNvSpPr>
            <a:spLocks noGrp="1"/>
          </p:cNvSpPr>
          <p:nvPr>
            <p:ph idx="1"/>
          </p:nvPr>
        </p:nvSpPr>
        <p:spPr/>
        <p:txBody>
          <a:bodyPr/>
          <a:lstStyle/>
          <a:p>
            <a:r>
              <a:rPr lang="en-US" dirty="0"/>
              <a:t>Depth Buffers are the parts of memory where it stores the depth of Every pixels of Screen.</a:t>
            </a:r>
          </a:p>
          <a:p>
            <a:r>
              <a:rPr lang="en-US" dirty="0"/>
              <a:t>Z-axis measures the depth of image.</a:t>
            </a:r>
          </a:p>
          <a:p>
            <a:r>
              <a:rPr lang="en-US" dirty="0"/>
              <a:t>Less z-value </a:t>
            </a:r>
            <a:r>
              <a:rPr lang="en-US" dirty="0">
                <a:sym typeface="Wingdings" panose="05000000000000000000" pitchFamily="2" charset="2"/>
              </a:rPr>
              <a:t> More Closer</a:t>
            </a:r>
          </a:p>
          <a:p>
            <a:endParaRPr lang="en-US" dirty="0"/>
          </a:p>
        </p:txBody>
      </p:sp>
    </p:spTree>
    <p:extLst>
      <p:ext uri="{BB962C8B-B14F-4D97-AF65-F5344CB8AC3E}">
        <p14:creationId xmlns:p14="http://schemas.microsoft.com/office/powerpoint/2010/main" val="2325441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7A1F-0B08-582E-7CFB-35D7646A76D2}"/>
              </a:ext>
            </a:extLst>
          </p:cNvPr>
          <p:cNvSpPr>
            <a:spLocks noGrp="1"/>
          </p:cNvSpPr>
          <p:nvPr>
            <p:ph type="title"/>
          </p:nvPr>
        </p:nvSpPr>
        <p:spPr/>
        <p:txBody>
          <a:bodyPr/>
          <a:lstStyle/>
          <a:p>
            <a:r>
              <a:rPr lang="en-US" u="sng" dirty="0"/>
              <a:t>Stencil Buffer</a:t>
            </a:r>
            <a:endParaRPr lang="en-IN" u="sng" dirty="0"/>
          </a:p>
        </p:txBody>
      </p:sp>
      <p:sp>
        <p:nvSpPr>
          <p:cNvPr id="3" name="Content Placeholder 2">
            <a:extLst>
              <a:ext uri="{FF2B5EF4-FFF2-40B4-BE49-F238E27FC236}">
                <a16:creationId xmlns:a16="http://schemas.microsoft.com/office/drawing/2014/main" id="{1C20DFEB-44FD-B767-8A19-454F0B828D76}"/>
              </a:ext>
            </a:extLst>
          </p:cNvPr>
          <p:cNvSpPr>
            <a:spLocks noGrp="1"/>
          </p:cNvSpPr>
          <p:nvPr>
            <p:ph idx="1"/>
          </p:nvPr>
        </p:nvSpPr>
        <p:spPr/>
        <p:txBody>
          <a:bodyPr>
            <a:normAutofit fontScale="92500"/>
          </a:bodyPr>
          <a:lstStyle/>
          <a:p>
            <a:r>
              <a:rPr lang="en-US" dirty="0"/>
              <a:t>Stencil Buffers are used to rendering the specific parts of the screen.</a:t>
            </a:r>
          </a:p>
          <a:p>
            <a:r>
              <a:rPr lang="en-US" dirty="0"/>
              <a:t>We can also say that it is responsible for taking the decision which parts of the screen will render or not.</a:t>
            </a:r>
          </a:p>
          <a:p>
            <a:r>
              <a:rPr lang="en-US" dirty="0"/>
              <a:t>We use Stencil rendering when we need :-</a:t>
            </a:r>
          </a:p>
          <a:p>
            <a:pPr marL="0" indent="0">
              <a:buNone/>
            </a:pPr>
            <a:r>
              <a:rPr lang="en-US" dirty="0"/>
              <a:t>         </a:t>
            </a:r>
            <a:r>
              <a:rPr lang="en-US" dirty="0">
                <a:sym typeface="Wingdings" panose="05000000000000000000" pitchFamily="2" charset="2"/>
              </a:rPr>
              <a:t>Partial rendering on screen </a:t>
            </a:r>
          </a:p>
          <a:p>
            <a:pPr marL="0" indent="0">
              <a:buNone/>
            </a:pPr>
            <a:r>
              <a:rPr lang="en-US" dirty="0">
                <a:sym typeface="Wingdings" panose="05000000000000000000" pitchFamily="2" charset="2"/>
              </a:rPr>
              <a:t>         Special Effect on screen like </a:t>
            </a:r>
            <a:r>
              <a:rPr lang="en-US" dirty="0" err="1">
                <a:sym typeface="Wingdings" panose="05000000000000000000" pitchFamily="2" charset="2"/>
              </a:rPr>
              <a:t>reflection,shadow,outline</a:t>
            </a:r>
            <a:r>
              <a:rPr lang="en-US" dirty="0">
                <a:sym typeface="Wingdings" panose="05000000000000000000" pitchFamily="2" charset="2"/>
              </a:rPr>
              <a:t> etc.</a:t>
            </a:r>
          </a:p>
          <a:p>
            <a:pPr marL="0" indent="0">
              <a:buNone/>
            </a:pPr>
            <a:r>
              <a:rPr lang="en-US" dirty="0">
                <a:sym typeface="Wingdings" panose="05000000000000000000" pitchFamily="2" charset="2"/>
              </a:rPr>
              <a:t>Note:-</a:t>
            </a:r>
          </a:p>
          <a:p>
            <a:pPr marL="0" indent="0">
              <a:buNone/>
            </a:pPr>
            <a:r>
              <a:rPr lang="en-US" dirty="0">
                <a:sym typeface="Wingdings" panose="05000000000000000000" pitchFamily="2" charset="2"/>
              </a:rPr>
              <a:t>The Value of Stencil Buffer is Integer type 0-255 usually 8Bit depth.</a:t>
            </a:r>
          </a:p>
          <a:p>
            <a:pPr marL="0" indent="0">
              <a:buNone/>
            </a:pPr>
            <a:r>
              <a:rPr lang="en-US" dirty="0">
                <a:sym typeface="Wingdings" panose="05000000000000000000" pitchFamily="2" charset="2"/>
              </a:rPr>
              <a:t> </a:t>
            </a:r>
            <a:endParaRPr lang="en-US" dirty="0"/>
          </a:p>
          <a:p>
            <a:endParaRPr lang="en-IN" dirty="0"/>
          </a:p>
        </p:txBody>
      </p:sp>
    </p:spTree>
    <p:extLst>
      <p:ext uri="{BB962C8B-B14F-4D97-AF65-F5344CB8AC3E}">
        <p14:creationId xmlns:p14="http://schemas.microsoft.com/office/powerpoint/2010/main" val="2721279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D4B96A-C965-264E-8E46-6AF55C35400D}"/>
              </a:ext>
            </a:extLst>
          </p:cNvPr>
          <p:cNvSpPr>
            <a:spLocks noGrp="1"/>
          </p:cNvSpPr>
          <p:nvPr>
            <p:ph type="ctrTitle"/>
          </p:nvPr>
        </p:nvSpPr>
        <p:spPr>
          <a:xfrm>
            <a:off x="1524003" y="1999615"/>
            <a:ext cx="9144000" cy="2764028"/>
          </a:xfrm>
        </p:spPr>
        <p:txBody>
          <a:bodyPr anchor="ctr">
            <a:normAutofit/>
          </a:bodyPr>
          <a:lstStyle/>
          <a:p>
            <a:r>
              <a:rPr lang="en-IN" sz="4500"/>
              <a:t>Understanding how data flows through the pipeline, from the input vertices to the final rendered image.</a:t>
            </a:r>
            <a:br>
              <a:rPr lang="en-IN" sz="4500"/>
            </a:br>
            <a:endParaRPr lang="en-IN" sz="4500"/>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343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C56A36-3CD4-715E-8462-790025C84CDB}"/>
              </a:ext>
            </a:extLst>
          </p:cNvPr>
          <p:cNvSpPr txBox="1"/>
          <p:nvPr/>
        </p:nvSpPr>
        <p:spPr>
          <a:xfrm>
            <a:off x="132080" y="365760"/>
            <a:ext cx="10424160" cy="400110"/>
          </a:xfrm>
          <a:prstGeom prst="rect">
            <a:avLst/>
          </a:prstGeom>
          <a:noFill/>
        </p:spPr>
        <p:txBody>
          <a:bodyPr wrap="square">
            <a:spAutoFit/>
          </a:bodyPr>
          <a:lstStyle/>
          <a:p>
            <a:r>
              <a:rPr lang="en-US" sz="2000" b="1" dirty="0">
                <a:solidFill>
                  <a:schemeClr val="accent3"/>
                </a:solidFill>
              </a:rPr>
              <a:t>Input Assembly </a:t>
            </a:r>
            <a:r>
              <a:rPr lang="en-US" sz="2000" dirty="0">
                <a:solidFill>
                  <a:schemeClr val="accent3"/>
                </a:solidFill>
                <a:sym typeface="Wingdings" panose="05000000000000000000" pitchFamily="2" charset="2"/>
              </a:rPr>
              <a:t> </a:t>
            </a:r>
            <a:r>
              <a:rPr lang="en-US" sz="2000" b="1" dirty="0">
                <a:solidFill>
                  <a:schemeClr val="accent3"/>
                </a:solidFill>
              </a:rPr>
              <a:t>Vertex Shader</a:t>
            </a:r>
            <a:r>
              <a:rPr lang="en-US" sz="2000" b="1" dirty="0">
                <a:solidFill>
                  <a:schemeClr val="accent3"/>
                </a:solidFill>
                <a:sym typeface="Wingdings" panose="05000000000000000000" pitchFamily="2" charset="2"/>
              </a:rPr>
              <a:t> </a:t>
            </a:r>
            <a:r>
              <a:rPr lang="en-US" sz="2000" b="1" dirty="0">
                <a:solidFill>
                  <a:schemeClr val="accent3"/>
                </a:solidFill>
              </a:rPr>
              <a:t>Rasterization  </a:t>
            </a:r>
            <a:r>
              <a:rPr lang="en-US" sz="2000" b="1" dirty="0">
                <a:solidFill>
                  <a:schemeClr val="accent3"/>
                </a:solidFill>
                <a:sym typeface="Wingdings" panose="05000000000000000000" pitchFamily="2" charset="2"/>
              </a:rPr>
              <a:t> </a:t>
            </a:r>
            <a:r>
              <a:rPr lang="en-US" sz="2000" b="1" dirty="0">
                <a:solidFill>
                  <a:schemeClr val="accent3"/>
                </a:solidFill>
              </a:rPr>
              <a:t>Fragment Shader</a:t>
            </a:r>
            <a:r>
              <a:rPr lang="en-US" sz="2000" b="1" dirty="0">
                <a:solidFill>
                  <a:schemeClr val="accent3"/>
                </a:solidFill>
                <a:sym typeface="Wingdings" panose="05000000000000000000" pitchFamily="2" charset="2"/>
              </a:rPr>
              <a:t> </a:t>
            </a:r>
            <a:r>
              <a:rPr lang="en-US" sz="2000" b="1" dirty="0">
                <a:solidFill>
                  <a:schemeClr val="accent3"/>
                </a:solidFill>
              </a:rPr>
              <a:t>Output</a:t>
            </a:r>
            <a:endParaRPr lang="en-US" sz="2000" dirty="0">
              <a:solidFill>
                <a:schemeClr val="accent3"/>
              </a:solidFill>
            </a:endParaRPr>
          </a:p>
        </p:txBody>
      </p:sp>
      <p:graphicFrame>
        <p:nvGraphicFramePr>
          <p:cNvPr id="3" name="Table 2">
            <a:extLst>
              <a:ext uri="{FF2B5EF4-FFF2-40B4-BE49-F238E27FC236}">
                <a16:creationId xmlns:a16="http://schemas.microsoft.com/office/drawing/2014/main" id="{1C72FAC7-4871-08B8-4966-7AE990165D22}"/>
              </a:ext>
            </a:extLst>
          </p:cNvPr>
          <p:cNvGraphicFramePr>
            <a:graphicFrameLocks noGrp="1"/>
          </p:cNvGraphicFramePr>
          <p:nvPr/>
        </p:nvGraphicFramePr>
        <p:xfrm>
          <a:off x="223520" y="1065107"/>
          <a:ext cx="11064240" cy="5549054"/>
        </p:xfrm>
        <a:graphic>
          <a:graphicData uri="http://schemas.openxmlformats.org/drawingml/2006/table">
            <a:tbl>
              <a:tblPr firstRow="1" bandRow="1">
                <a:tableStyleId>{00A15C55-8517-42AA-B614-E9B94910E393}</a:tableStyleId>
              </a:tblPr>
              <a:tblGrid>
                <a:gridCol w="5532120">
                  <a:extLst>
                    <a:ext uri="{9D8B030D-6E8A-4147-A177-3AD203B41FA5}">
                      <a16:colId xmlns:a16="http://schemas.microsoft.com/office/drawing/2014/main" val="2165858878"/>
                    </a:ext>
                  </a:extLst>
                </a:gridCol>
                <a:gridCol w="5532120">
                  <a:extLst>
                    <a:ext uri="{9D8B030D-6E8A-4147-A177-3AD203B41FA5}">
                      <a16:colId xmlns:a16="http://schemas.microsoft.com/office/drawing/2014/main" val="1451377811"/>
                    </a:ext>
                  </a:extLst>
                </a:gridCol>
              </a:tblGrid>
              <a:tr h="377570">
                <a:tc>
                  <a:txBody>
                    <a:bodyPr/>
                    <a:lstStyle/>
                    <a:p>
                      <a:r>
                        <a:rPr lang="en-US" dirty="0"/>
                        <a:t>Steps</a:t>
                      </a:r>
                      <a:endParaRPr lang="en-IN" dirty="0"/>
                    </a:p>
                  </a:txBody>
                  <a:tcPr/>
                </a:tc>
                <a:tc>
                  <a:txBody>
                    <a:bodyPr/>
                    <a:lstStyle/>
                    <a:p>
                      <a:r>
                        <a:rPr lang="en-US" dirty="0"/>
                        <a:t>What’s happening </a:t>
                      </a:r>
                      <a:endParaRPr lang="en-IN" dirty="0"/>
                    </a:p>
                  </a:txBody>
                  <a:tcPr/>
                </a:tc>
                <a:extLst>
                  <a:ext uri="{0D108BD9-81ED-4DB2-BD59-A6C34878D82A}">
                    <a16:rowId xmlns:a16="http://schemas.microsoft.com/office/drawing/2014/main" val="1967214720"/>
                  </a:ext>
                </a:extLst>
              </a:tr>
              <a:tr h="90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effectLst/>
                        </a:rPr>
                        <a:t>Input Assembly (IA)</a:t>
                      </a:r>
                      <a:endParaRPr lang="en-IN" sz="1800" kern="1200" dirty="0">
                        <a:solidFill>
                          <a:schemeClr val="dk1"/>
                        </a:solidFill>
                        <a:effectLst/>
                        <a:latin typeface="+mn-lt"/>
                        <a:ea typeface="+mn-ea"/>
                        <a:cs typeface="+mn-cs"/>
                      </a:endParaRPr>
                    </a:p>
                  </a:txBody>
                  <a:tcPr/>
                </a:tc>
                <a:tc>
                  <a:txBody>
                    <a:bodyPr/>
                    <a:lstStyle/>
                    <a:p>
                      <a:r>
                        <a:rPr lang="en-US" dirty="0"/>
                        <a:t>Gather all the information related to object like vertices like points (</a:t>
                      </a:r>
                      <a:r>
                        <a:rPr lang="en-US" dirty="0" err="1"/>
                        <a:t>x,y,z</a:t>
                      </a:r>
                      <a:r>
                        <a:rPr lang="en-US" dirty="0"/>
                        <a:t>) Color(</a:t>
                      </a:r>
                      <a:r>
                        <a:rPr lang="en-US" dirty="0" err="1"/>
                        <a:t>r,g,b</a:t>
                      </a:r>
                      <a:r>
                        <a:rPr lang="en-US" dirty="0"/>
                        <a:t>) and texture </a:t>
                      </a:r>
                      <a:r>
                        <a:rPr lang="en-US" dirty="0" err="1"/>
                        <a:t>etc</a:t>
                      </a:r>
                      <a:endParaRPr lang="en-IN" dirty="0"/>
                    </a:p>
                  </a:txBody>
                  <a:tcPr/>
                </a:tc>
                <a:extLst>
                  <a:ext uri="{0D108BD9-81ED-4DB2-BD59-A6C34878D82A}">
                    <a16:rowId xmlns:a16="http://schemas.microsoft.com/office/drawing/2014/main" val="1341884567"/>
                  </a:ext>
                </a:extLst>
              </a:tr>
              <a:tr h="17934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effectLst/>
                        </a:rPr>
                        <a:t>Vertex Shader (VS)</a:t>
                      </a:r>
                      <a:endParaRPr lang="en-IN" sz="1800" kern="1200" dirty="0">
                        <a:solidFill>
                          <a:schemeClr val="dk1"/>
                        </a:solidFill>
                        <a:effectLst/>
                        <a:latin typeface="+mn-lt"/>
                        <a:ea typeface="+mn-ea"/>
                        <a:cs typeface="+mn-cs"/>
                      </a:endParaRPr>
                    </a:p>
                  </a:txBody>
                  <a:tcPr/>
                </a:tc>
                <a:tc>
                  <a:txBody>
                    <a:bodyPr/>
                    <a:lstStyle/>
                    <a:p>
                      <a:r>
                        <a:rPr lang="en-US" dirty="0"/>
                        <a:t>A small program that decides where should each point vertex should be placed on screen</a:t>
                      </a:r>
                      <a:br>
                        <a:rPr lang="en-US" dirty="0"/>
                      </a:br>
                      <a:r>
                        <a:rPr lang="en-US" dirty="0"/>
                        <a:t>Calculating data like,</a:t>
                      </a:r>
                    </a:p>
                    <a:p>
                      <a:r>
                        <a:rPr lang="en-US" dirty="0"/>
                        <a:t>Position in </a:t>
                      </a:r>
                      <a:r>
                        <a:rPr lang="en-US" dirty="0" err="1"/>
                        <a:t>space,Lighting</a:t>
                      </a:r>
                      <a:r>
                        <a:rPr lang="en-US" dirty="0"/>
                        <a:t> </a:t>
                      </a:r>
                      <a:r>
                        <a:rPr lang="en-US" dirty="0" err="1"/>
                        <a:t>info,Texture</a:t>
                      </a:r>
                      <a:r>
                        <a:rPr lang="en-US" dirty="0"/>
                        <a:t> coordinates ,Colors per vertex</a:t>
                      </a:r>
                    </a:p>
                    <a:p>
                      <a:endParaRPr lang="en-IN" dirty="0"/>
                    </a:p>
                  </a:txBody>
                  <a:tcPr/>
                </a:tc>
                <a:extLst>
                  <a:ext uri="{0D108BD9-81ED-4DB2-BD59-A6C34878D82A}">
                    <a16:rowId xmlns:a16="http://schemas.microsoft.com/office/drawing/2014/main" val="2333218321"/>
                  </a:ext>
                </a:extLst>
              </a:tr>
              <a:tr h="1177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effectLst/>
                        </a:rPr>
                        <a:t>Rasterization</a:t>
                      </a:r>
                      <a:endParaRPr lang="en-IN" sz="1800" kern="1200" dirty="0">
                        <a:solidFill>
                          <a:schemeClr val="dk1"/>
                        </a:solidFill>
                        <a:effectLst/>
                        <a:latin typeface="+mn-lt"/>
                        <a:ea typeface="+mn-ea"/>
                        <a:cs typeface="+mn-cs"/>
                      </a:endParaRPr>
                    </a:p>
                  </a:txBody>
                  <a:tcPr/>
                </a:tc>
                <a:tc>
                  <a:txBody>
                    <a:bodyPr/>
                    <a:lstStyle/>
                    <a:p>
                      <a:r>
                        <a:rPr lang="en-US" dirty="0"/>
                        <a:t>The object which are made of 3D objects get converted into 2D plane. Its like taking a picture of 3D world and displaying in flat surface.</a:t>
                      </a:r>
                      <a:endParaRPr lang="en-IN" dirty="0"/>
                    </a:p>
                  </a:txBody>
                  <a:tcPr/>
                </a:tc>
                <a:extLst>
                  <a:ext uri="{0D108BD9-81ED-4DB2-BD59-A6C34878D82A}">
                    <a16:rowId xmlns:a16="http://schemas.microsoft.com/office/drawing/2014/main" val="1959091375"/>
                  </a:ext>
                </a:extLst>
              </a:tr>
              <a:tr h="634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effectLst/>
                        </a:rPr>
                        <a:t>Fragment Shader</a:t>
                      </a:r>
                      <a:endParaRPr lang="en-IN" sz="1800" kern="1200" dirty="0">
                        <a:solidFill>
                          <a:schemeClr val="dk1"/>
                        </a:solidFill>
                        <a:effectLst/>
                        <a:latin typeface="+mn-lt"/>
                        <a:ea typeface="+mn-ea"/>
                        <a:cs typeface="+mn-cs"/>
                      </a:endParaRPr>
                    </a:p>
                  </a:txBody>
                  <a:tcPr/>
                </a:tc>
                <a:tc>
                  <a:txBody>
                    <a:bodyPr/>
                    <a:lstStyle/>
                    <a:p>
                      <a:r>
                        <a:rPr lang="en-US" dirty="0"/>
                        <a:t>Fragment Shader  decides the color of Each pixels</a:t>
                      </a:r>
                      <a:endParaRPr lang="en-IN" dirty="0"/>
                    </a:p>
                  </a:txBody>
                  <a:tcPr/>
                </a:tc>
                <a:extLst>
                  <a:ext uri="{0D108BD9-81ED-4DB2-BD59-A6C34878D82A}">
                    <a16:rowId xmlns:a16="http://schemas.microsoft.com/office/drawing/2014/main" val="3256638850"/>
                  </a:ext>
                </a:extLst>
              </a:tr>
              <a:tr h="660747">
                <a:tc>
                  <a:txBody>
                    <a:bodyPr/>
                    <a:lstStyle/>
                    <a:p>
                      <a:r>
                        <a:rPr lang="en-US" b="1" dirty="0"/>
                        <a:t>Output </a:t>
                      </a:r>
                      <a:endParaRPr lang="en-IN" b="1" dirty="0"/>
                    </a:p>
                  </a:txBody>
                  <a:tcPr/>
                </a:tc>
                <a:tc>
                  <a:txBody>
                    <a:bodyPr/>
                    <a:lstStyle/>
                    <a:p>
                      <a:r>
                        <a:rPr lang="en-US" dirty="0"/>
                        <a:t>After all these process the final image is display in the screen</a:t>
                      </a:r>
                      <a:endParaRPr lang="en-IN" dirty="0"/>
                    </a:p>
                  </a:txBody>
                  <a:tcPr/>
                </a:tc>
                <a:extLst>
                  <a:ext uri="{0D108BD9-81ED-4DB2-BD59-A6C34878D82A}">
                    <a16:rowId xmlns:a16="http://schemas.microsoft.com/office/drawing/2014/main" val="2121956344"/>
                  </a:ext>
                </a:extLst>
              </a:tr>
            </a:tbl>
          </a:graphicData>
        </a:graphic>
      </p:graphicFrame>
    </p:spTree>
    <p:extLst>
      <p:ext uri="{BB962C8B-B14F-4D97-AF65-F5344CB8AC3E}">
        <p14:creationId xmlns:p14="http://schemas.microsoft.com/office/powerpoint/2010/main" val="2363596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E354-BE79-294D-5602-14958CB85C25}"/>
              </a:ext>
            </a:extLst>
          </p:cNvPr>
          <p:cNvSpPr>
            <a:spLocks noGrp="1"/>
          </p:cNvSpPr>
          <p:nvPr>
            <p:ph type="title"/>
          </p:nvPr>
        </p:nvSpPr>
        <p:spPr/>
        <p:txBody>
          <a:bodyPr/>
          <a:lstStyle/>
          <a:p>
            <a:r>
              <a:rPr lang="en-US" u="sng" dirty="0"/>
              <a:t>Differentiating between the programmable and fixed graphics pipelines.</a:t>
            </a:r>
            <a:endParaRPr lang="en-IN" u="sng" dirty="0"/>
          </a:p>
        </p:txBody>
      </p:sp>
      <p:sp>
        <p:nvSpPr>
          <p:cNvPr id="3" name="Content Placeholder 2">
            <a:extLst>
              <a:ext uri="{FF2B5EF4-FFF2-40B4-BE49-F238E27FC236}">
                <a16:creationId xmlns:a16="http://schemas.microsoft.com/office/drawing/2014/main" id="{7D69CEFB-4A16-7DB7-099D-85E663A3AC3F}"/>
              </a:ext>
            </a:extLst>
          </p:cNvPr>
          <p:cNvSpPr>
            <a:spLocks noGrp="1"/>
          </p:cNvSpPr>
          <p:nvPr>
            <p:ph idx="1"/>
          </p:nvPr>
        </p:nvSpPr>
        <p:spPr/>
        <p:txBody>
          <a:bodyPr/>
          <a:lstStyle/>
          <a:p>
            <a:r>
              <a:rPr lang="en-US" dirty="0"/>
              <a:t>Fixed graphic pipelines is the predefined series of steps in the GPU used to  render  graphics.</a:t>
            </a:r>
          </a:p>
          <a:p>
            <a:pPr marL="0" indent="0">
              <a:buNone/>
            </a:pPr>
            <a:r>
              <a:rPr lang="en-US" dirty="0"/>
              <a:t>            </a:t>
            </a:r>
            <a:r>
              <a:rPr lang="en-US" dirty="0">
                <a:sym typeface="Wingdings" panose="05000000000000000000" pitchFamily="2" charset="2"/>
              </a:rPr>
              <a:t></a:t>
            </a:r>
            <a:r>
              <a:rPr lang="en-IN" dirty="0"/>
              <a:t>Predefined </a:t>
            </a:r>
            <a:r>
              <a:rPr lang="en-IN" dirty="0" err="1"/>
              <a:t>behaviors</a:t>
            </a:r>
            <a:r>
              <a:rPr lang="en-IN" dirty="0"/>
              <a:t>.</a:t>
            </a:r>
          </a:p>
          <a:p>
            <a:pPr marL="0" indent="0">
              <a:buNone/>
            </a:pPr>
            <a:r>
              <a:rPr lang="en-IN" dirty="0"/>
              <a:t>            </a:t>
            </a:r>
            <a:r>
              <a:rPr lang="en-IN" dirty="0">
                <a:sym typeface="Wingdings" panose="05000000000000000000" pitchFamily="2" charset="2"/>
              </a:rPr>
              <a:t></a:t>
            </a:r>
            <a:r>
              <a:rPr lang="en-IN" dirty="0"/>
              <a:t>Limited flexibility. Configure with Api call</a:t>
            </a:r>
          </a:p>
          <a:p>
            <a:pPr marL="0" indent="0">
              <a:buNone/>
            </a:pPr>
            <a:r>
              <a:rPr lang="en-IN" dirty="0"/>
              <a:t>            </a:t>
            </a:r>
            <a:r>
              <a:rPr lang="en-IN" dirty="0">
                <a:sym typeface="Wingdings" panose="05000000000000000000" pitchFamily="2" charset="2"/>
              </a:rPr>
              <a:t></a:t>
            </a:r>
            <a:r>
              <a:rPr lang="en-US" dirty="0"/>
              <a:t>No custom shaders: you cannot write custom vertex or pixel processing logic.</a:t>
            </a:r>
          </a:p>
        </p:txBody>
      </p:sp>
    </p:spTree>
    <p:extLst>
      <p:ext uri="{BB962C8B-B14F-4D97-AF65-F5344CB8AC3E}">
        <p14:creationId xmlns:p14="http://schemas.microsoft.com/office/powerpoint/2010/main" val="753898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5D6C-41EC-33DA-8511-F6440540C520}"/>
              </a:ext>
            </a:extLst>
          </p:cNvPr>
          <p:cNvSpPr>
            <a:spLocks noGrp="1"/>
          </p:cNvSpPr>
          <p:nvPr>
            <p:ph type="title"/>
          </p:nvPr>
        </p:nvSpPr>
        <p:spPr/>
        <p:txBody>
          <a:bodyPr/>
          <a:lstStyle/>
          <a:p>
            <a:r>
              <a:rPr lang="en-US" u="sng" dirty="0"/>
              <a:t>Programmable graphics pipelines.</a:t>
            </a:r>
            <a:endParaRPr lang="en-IN" u="sng" dirty="0"/>
          </a:p>
        </p:txBody>
      </p:sp>
      <p:sp>
        <p:nvSpPr>
          <p:cNvPr id="3" name="Content Placeholder 2">
            <a:extLst>
              <a:ext uri="{FF2B5EF4-FFF2-40B4-BE49-F238E27FC236}">
                <a16:creationId xmlns:a16="http://schemas.microsoft.com/office/drawing/2014/main" id="{3BB1BD9A-3693-F7B5-B30B-1024CF3E3846}"/>
              </a:ext>
            </a:extLst>
          </p:cNvPr>
          <p:cNvSpPr>
            <a:spLocks noGrp="1"/>
          </p:cNvSpPr>
          <p:nvPr>
            <p:ph idx="1"/>
          </p:nvPr>
        </p:nvSpPr>
        <p:spPr/>
        <p:txBody>
          <a:bodyPr/>
          <a:lstStyle/>
          <a:p>
            <a:r>
              <a:rPr lang="en-US" dirty="0"/>
              <a:t>Programmable  graphics allow programmers to write various custom  programs to control the various stage of rendering</a:t>
            </a:r>
            <a:endParaRPr lang="en-IN" dirty="0"/>
          </a:p>
          <a:p>
            <a:r>
              <a:rPr lang="en-IN" dirty="0"/>
              <a:t>Allow custom graphic rendering .</a:t>
            </a:r>
          </a:p>
          <a:p>
            <a:r>
              <a:rPr lang="en-IN" dirty="0"/>
              <a:t>Full control in the </a:t>
            </a:r>
            <a:r>
              <a:rPr lang="en-IN" dirty="0" err="1"/>
              <a:t>programers</a:t>
            </a:r>
            <a:r>
              <a:rPr lang="en-IN" dirty="0"/>
              <a:t>. </a:t>
            </a:r>
          </a:p>
        </p:txBody>
      </p:sp>
    </p:spTree>
    <p:extLst>
      <p:ext uri="{BB962C8B-B14F-4D97-AF65-F5344CB8AC3E}">
        <p14:creationId xmlns:p14="http://schemas.microsoft.com/office/powerpoint/2010/main" val="896036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D8560-09B6-F061-26AF-DD0F896C4C32}"/>
              </a:ext>
            </a:extLst>
          </p:cNvPr>
          <p:cNvSpPr>
            <a:spLocks noGrp="1"/>
          </p:cNvSpPr>
          <p:nvPr>
            <p:ph type="title"/>
          </p:nvPr>
        </p:nvSpPr>
        <p:spPr/>
        <p:txBody>
          <a:bodyPr>
            <a:normAutofit fontScale="90000"/>
          </a:bodyPr>
          <a:lstStyle/>
          <a:p>
            <a:r>
              <a:rPr lang="en-US" sz="3100" u="sng" dirty="0"/>
              <a:t>Understanding the advantages of the programmable pipeline in terms of flexibility and customization.</a:t>
            </a:r>
            <a:br>
              <a:rPr lang="en-US" u="sng" dirty="0"/>
            </a:br>
            <a:endParaRPr lang="en-IN" u="sng" dirty="0"/>
          </a:p>
        </p:txBody>
      </p:sp>
      <p:sp>
        <p:nvSpPr>
          <p:cNvPr id="3" name="Content Placeholder 2">
            <a:extLst>
              <a:ext uri="{FF2B5EF4-FFF2-40B4-BE49-F238E27FC236}">
                <a16:creationId xmlns:a16="http://schemas.microsoft.com/office/drawing/2014/main" id="{ABC487C9-3520-726D-080B-7ADDF60C805E}"/>
              </a:ext>
            </a:extLst>
          </p:cNvPr>
          <p:cNvSpPr>
            <a:spLocks noGrp="1"/>
          </p:cNvSpPr>
          <p:nvPr>
            <p:ph idx="1"/>
          </p:nvPr>
        </p:nvSpPr>
        <p:spPr/>
        <p:txBody>
          <a:bodyPr/>
          <a:lstStyle/>
          <a:p>
            <a:r>
              <a:rPr lang="en-US" dirty="0"/>
              <a:t>Full flexibility:- your rule your game.</a:t>
            </a:r>
          </a:p>
          <a:p>
            <a:r>
              <a:rPr lang="en-US" dirty="0"/>
              <a:t>In </a:t>
            </a:r>
            <a:r>
              <a:rPr lang="en-US" sz="2800" dirty="0"/>
              <a:t>programmable pipeline we can decide:-</a:t>
            </a:r>
          </a:p>
          <a:p>
            <a:pPr marL="0" indent="0">
              <a:buNone/>
            </a:pPr>
            <a:r>
              <a:rPr lang="en-US" dirty="0"/>
              <a:t>        </a:t>
            </a:r>
            <a:r>
              <a:rPr lang="en-US" dirty="0">
                <a:sym typeface="Wingdings" panose="05000000000000000000" pitchFamily="2" charset="2"/>
              </a:rPr>
              <a:t>Light, Color,</a:t>
            </a:r>
            <a:r>
              <a:rPr lang="en-IN" dirty="0"/>
              <a:t>Shadow</a:t>
            </a:r>
            <a:r>
              <a:rPr lang="en-US" dirty="0">
                <a:sym typeface="Wingdings" panose="05000000000000000000" pitchFamily="2" charset="2"/>
              </a:rPr>
              <a:t> ,Geometry</a:t>
            </a:r>
          </a:p>
          <a:p>
            <a:r>
              <a:rPr lang="en-US" dirty="0">
                <a:sym typeface="Wingdings" panose="05000000000000000000" pitchFamily="2" charset="2"/>
              </a:rPr>
              <a:t>We can also Write custom shader:-</a:t>
            </a:r>
          </a:p>
          <a:p>
            <a:pPr marL="0" indent="0">
              <a:buNone/>
            </a:pPr>
            <a:r>
              <a:rPr lang="en-US" dirty="0">
                <a:sym typeface="Wingdings" panose="05000000000000000000" pitchFamily="2" charset="2"/>
              </a:rPr>
              <a:t>      Vertex shader(shape position ), Fragment shader(every pixels color decide),Geometry shader(Extra shape), fragment shader(Heavy calculation through GPU).</a:t>
            </a:r>
          </a:p>
          <a:p>
            <a:pPr marL="0" indent="0">
              <a:buNone/>
            </a:pPr>
            <a:endParaRPr lang="en-IN" dirty="0"/>
          </a:p>
        </p:txBody>
      </p:sp>
    </p:spTree>
    <p:extLst>
      <p:ext uri="{BB962C8B-B14F-4D97-AF65-F5344CB8AC3E}">
        <p14:creationId xmlns:p14="http://schemas.microsoft.com/office/powerpoint/2010/main" val="3628616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B3F0-8E07-41C2-967E-5C5B7AFD6F27}"/>
              </a:ext>
            </a:extLst>
          </p:cNvPr>
          <p:cNvSpPr>
            <a:spLocks noGrp="1"/>
          </p:cNvSpPr>
          <p:nvPr>
            <p:ph type="title"/>
          </p:nvPr>
        </p:nvSpPr>
        <p:spPr/>
        <p:txBody>
          <a:bodyPr>
            <a:normAutofit fontScale="90000"/>
          </a:bodyPr>
          <a:lstStyle/>
          <a:p>
            <a:r>
              <a:rPr lang="en-US" sz="3600" u="sng" dirty="0">
                <a:solidFill>
                  <a:schemeClr val="accent2"/>
                </a:solidFill>
              </a:rPr>
              <a:t>Knowing When To Use The Fixed Pipeline For Simpler Rendering Tasks.</a:t>
            </a:r>
            <a:br>
              <a:rPr lang="en-US" u="sng" dirty="0"/>
            </a:br>
            <a:endParaRPr lang="en-IN" u="sng" dirty="0"/>
          </a:p>
        </p:txBody>
      </p:sp>
      <p:sp>
        <p:nvSpPr>
          <p:cNvPr id="3" name="Content Placeholder 2">
            <a:extLst>
              <a:ext uri="{FF2B5EF4-FFF2-40B4-BE49-F238E27FC236}">
                <a16:creationId xmlns:a16="http://schemas.microsoft.com/office/drawing/2014/main" id="{FAFCC8B5-E5D5-65C9-76BE-E2FAE938083F}"/>
              </a:ext>
            </a:extLst>
          </p:cNvPr>
          <p:cNvSpPr>
            <a:spLocks noGrp="1"/>
          </p:cNvSpPr>
          <p:nvPr>
            <p:ph idx="1"/>
          </p:nvPr>
        </p:nvSpPr>
        <p:spPr/>
        <p:txBody>
          <a:bodyPr/>
          <a:lstStyle/>
          <a:p>
            <a:r>
              <a:rPr lang="en-US" dirty="0"/>
              <a:t>Fixed pipeline = fast and simple</a:t>
            </a:r>
            <a:br>
              <a:rPr lang="en-US" dirty="0"/>
            </a:br>
            <a:r>
              <a:rPr lang="en-US" dirty="0"/>
              <a:t>   </a:t>
            </a:r>
            <a:r>
              <a:rPr lang="en-US" dirty="0">
                <a:sym typeface="Wingdings" panose="05000000000000000000" pitchFamily="2" charset="2"/>
              </a:rPr>
              <a:t>performance’</a:t>
            </a:r>
          </a:p>
          <a:p>
            <a:pPr marL="0" indent="0">
              <a:buNone/>
            </a:pPr>
            <a:r>
              <a:rPr lang="en-US" dirty="0">
                <a:sym typeface="Wingdings" panose="05000000000000000000" pitchFamily="2" charset="2"/>
              </a:rPr>
              <a:t>       when we have to show Basic shapes</a:t>
            </a:r>
          </a:p>
          <a:p>
            <a:r>
              <a:rPr lang="en-US" dirty="0"/>
              <a:t>Programmable pipeline = slow but super powerful</a:t>
            </a:r>
            <a:br>
              <a:rPr lang="en-US" dirty="0"/>
            </a:br>
            <a:r>
              <a:rPr lang="en-US" dirty="0"/>
              <a:t> </a:t>
            </a:r>
            <a:br>
              <a:rPr lang="en-US" dirty="0"/>
            </a:br>
            <a:endParaRPr lang="en-IN" dirty="0"/>
          </a:p>
        </p:txBody>
      </p:sp>
    </p:spTree>
    <p:extLst>
      <p:ext uri="{BB962C8B-B14F-4D97-AF65-F5344CB8AC3E}">
        <p14:creationId xmlns:p14="http://schemas.microsoft.com/office/powerpoint/2010/main" val="3273286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98F26-F58E-819D-F214-72388439EE9F}"/>
              </a:ext>
            </a:extLst>
          </p:cNvPr>
          <p:cNvSpPr>
            <a:spLocks noGrp="1"/>
          </p:cNvSpPr>
          <p:nvPr>
            <p:ph type="title"/>
          </p:nvPr>
        </p:nvSpPr>
        <p:spPr/>
        <p:txBody>
          <a:bodyPr/>
          <a:lstStyle/>
          <a:p>
            <a:r>
              <a:rPr lang="en-US" u="sng" dirty="0"/>
              <a:t>Geometric pipeline </a:t>
            </a:r>
            <a:endParaRPr lang="en-IN" u="sng" dirty="0"/>
          </a:p>
        </p:txBody>
      </p:sp>
      <p:sp>
        <p:nvSpPr>
          <p:cNvPr id="3" name="Content Placeholder 2">
            <a:extLst>
              <a:ext uri="{FF2B5EF4-FFF2-40B4-BE49-F238E27FC236}">
                <a16:creationId xmlns:a16="http://schemas.microsoft.com/office/drawing/2014/main" id="{EC9E02F4-FB67-F2CE-2787-C6B594DCC8BA}"/>
              </a:ext>
            </a:extLst>
          </p:cNvPr>
          <p:cNvSpPr>
            <a:spLocks noGrp="1"/>
          </p:cNvSpPr>
          <p:nvPr>
            <p:ph idx="1"/>
          </p:nvPr>
        </p:nvSpPr>
        <p:spPr/>
        <p:txBody>
          <a:bodyPr>
            <a:normAutofit fontScale="92500" lnSpcReduction="10000"/>
          </a:bodyPr>
          <a:lstStyle/>
          <a:p>
            <a:r>
              <a:rPr lang="en-US" dirty="0"/>
              <a:t>The </a:t>
            </a:r>
            <a:r>
              <a:rPr lang="en-US" dirty="0" err="1"/>
              <a:t>geometeric</a:t>
            </a:r>
            <a:r>
              <a:rPr lang="en-US" dirty="0"/>
              <a:t> pipeline is the part of rendering process that transform 3D models into 2D models.</a:t>
            </a:r>
          </a:p>
          <a:p>
            <a:r>
              <a:rPr lang="en-US" dirty="0"/>
              <a:t>Plays a crucial role in rendering graphics in games, simulations, and animations.</a:t>
            </a:r>
          </a:p>
          <a:p>
            <a:r>
              <a:rPr lang="en-US" b="1" dirty="0"/>
              <a:t>Main Stages:</a:t>
            </a:r>
            <a:endParaRPr lang="en-US" dirty="0"/>
          </a:p>
          <a:p>
            <a:pPr lvl="1">
              <a:buFont typeface="+mj-lt"/>
              <a:buAutoNum type="arabicPeriod"/>
            </a:pPr>
            <a:r>
              <a:rPr lang="en-US" sz="2200" b="1" dirty="0"/>
              <a:t>Modeling:</a:t>
            </a:r>
            <a:r>
              <a:rPr lang="en-US" sz="2200" dirty="0"/>
              <a:t> Creating 3D objects using shapes (meshes, surfaces).</a:t>
            </a:r>
          </a:p>
          <a:p>
            <a:pPr lvl="1">
              <a:buFont typeface="+mj-lt"/>
              <a:buAutoNum type="arabicPeriod"/>
            </a:pPr>
            <a:r>
              <a:rPr lang="en-US" sz="2200" b="1" dirty="0"/>
              <a:t>Transformation:</a:t>
            </a:r>
            <a:r>
              <a:rPr lang="en-US" sz="2200" dirty="0"/>
              <a:t> Positioning objects in the scene and adjusting camera view (scale, rotate, translate).</a:t>
            </a:r>
          </a:p>
          <a:p>
            <a:pPr lvl="1">
              <a:buFont typeface="+mj-lt"/>
              <a:buAutoNum type="arabicPeriod"/>
            </a:pPr>
            <a:r>
              <a:rPr lang="en-US" sz="2200" b="1" dirty="0"/>
              <a:t>Lighting:</a:t>
            </a:r>
            <a:r>
              <a:rPr lang="en-US" sz="2200" dirty="0"/>
              <a:t> Simulates light to add realism (ambient, diffuse, specular).</a:t>
            </a:r>
          </a:p>
          <a:p>
            <a:pPr lvl="1">
              <a:buFont typeface="+mj-lt"/>
              <a:buAutoNum type="arabicPeriod"/>
            </a:pPr>
            <a:r>
              <a:rPr lang="en-US" sz="2200" b="1" dirty="0"/>
              <a:t>Projection:</a:t>
            </a:r>
            <a:r>
              <a:rPr lang="en-US" sz="2200" dirty="0"/>
              <a:t> Converts 3D to 2D using perspective or orthographic view.</a:t>
            </a:r>
          </a:p>
          <a:p>
            <a:pPr lvl="1">
              <a:buFont typeface="+mj-lt"/>
              <a:buAutoNum type="arabicPeriod"/>
            </a:pPr>
            <a:r>
              <a:rPr lang="en-US" sz="2200" b="1" dirty="0"/>
              <a:t>Clipping:</a:t>
            </a:r>
            <a:r>
              <a:rPr lang="en-US" sz="2200" dirty="0"/>
              <a:t> Removes parts of objects outside the view area.</a:t>
            </a:r>
          </a:p>
          <a:p>
            <a:pPr lvl="1">
              <a:buFont typeface="+mj-lt"/>
              <a:buAutoNum type="arabicPeriod"/>
            </a:pPr>
            <a:r>
              <a:rPr lang="en-US" sz="2200" b="1" dirty="0"/>
              <a:t>Viewport Mapping:</a:t>
            </a:r>
            <a:r>
              <a:rPr lang="en-US" sz="2200" dirty="0"/>
              <a:t> Maps 2D image to screen coordinates for display.</a:t>
            </a:r>
          </a:p>
          <a:p>
            <a:endParaRPr lang="en-US" dirty="0"/>
          </a:p>
          <a:p>
            <a:endParaRPr lang="en-IN" dirty="0"/>
          </a:p>
        </p:txBody>
      </p:sp>
    </p:spTree>
    <p:extLst>
      <p:ext uri="{BB962C8B-B14F-4D97-AF65-F5344CB8AC3E}">
        <p14:creationId xmlns:p14="http://schemas.microsoft.com/office/powerpoint/2010/main" val="3596486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A8656-79C1-F8DD-00CA-27995167AC76}"/>
              </a:ext>
            </a:extLst>
          </p:cNvPr>
          <p:cNvSpPr>
            <a:spLocks noGrp="1"/>
          </p:cNvSpPr>
          <p:nvPr>
            <p:ph type="ctrTitle"/>
          </p:nvPr>
        </p:nvSpPr>
        <p:spPr>
          <a:xfrm>
            <a:off x="838199" y="1093788"/>
            <a:ext cx="10506455" cy="2967208"/>
          </a:xfrm>
        </p:spPr>
        <p:txBody>
          <a:bodyPr>
            <a:normAutofit/>
          </a:bodyPr>
          <a:lstStyle/>
          <a:p>
            <a:pPr algn="l"/>
            <a:r>
              <a:rPr lang="en-US" sz="8000" dirty="0"/>
              <a:t>Vector Algebra</a:t>
            </a:r>
            <a:endParaRPr lang="en-IN" sz="8000" dirty="0"/>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9303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14435-62C8-2D84-D366-5D8D594E35C6}"/>
              </a:ext>
            </a:extLst>
          </p:cNvPr>
          <p:cNvSpPr>
            <a:spLocks noGrp="1"/>
          </p:cNvSpPr>
          <p:nvPr>
            <p:ph type="title"/>
          </p:nvPr>
        </p:nvSpPr>
        <p:spPr/>
        <p:txBody>
          <a:bodyPr/>
          <a:lstStyle/>
          <a:p>
            <a:r>
              <a:rPr lang="en-US" u="sng" dirty="0"/>
              <a:t>Vector and Vector Space</a:t>
            </a:r>
            <a:endParaRPr lang="en-IN" u="sng" dirty="0"/>
          </a:p>
        </p:txBody>
      </p:sp>
      <p:sp>
        <p:nvSpPr>
          <p:cNvPr id="3" name="Content Placeholder 2">
            <a:extLst>
              <a:ext uri="{FF2B5EF4-FFF2-40B4-BE49-F238E27FC236}">
                <a16:creationId xmlns:a16="http://schemas.microsoft.com/office/drawing/2014/main" id="{8EE1C509-E911-F85F-7F56-50EDB8E2430C}"/>
              </a:ext>
            </a:extLst>
          </p:cNvPr>
          <p:cNvSpPr>
            <a:spLocks noGrp="1"/>
          </p:cNvSpPr>
          <p:nvPr>
            <p:ph idx="1"/>
          </p:nvPr>
        </p:nvSpPr>
        <p:spPr/>
        <p:txBody>
          <a:bodyPr/>
          <a:lstStyle/>
          <a:p>
            <a:r>
              <a:rPr lang="en-US" dirty="0"/>
              <a:t>Vector can be defined as an object that contains magnitude as well as direction.</a:t>
            </a:r>
            <a:br>
              <a:rPr lang="en-IN" dirty="0"/>
            </a:br>
            <a:r>
              <a:rPr lang="en-IN" dirty="0"/>
              <a:t> Ex- (2,4) is 2D vector and (2,4,6) is 3D vectors</a:t>
            </a:r>
          </a:p>
          <a:p>
            <a:r>
              <a:rPr lang="en-IN" dirty="0"/>
              <a:t>Different types of vector</a:t>
            </a:r>
            <a:br>
              <a:rPr lang="en-IN" dirty="0"/>
            </a:br>
            <a:r>
              <a:rPr lang="en-IN" dirty="0"/>
              <a:t> </a:t>
            </a:r>
            <a:r>
              <a:rPr lang="en-IN" dirty="0">
                <a:sym typeface="Wingdings" panose="05000000000000000000" pitchFamily="2" charset="2"/>
              </a:rPr>
              <a:t>unit vector :- </a:t>
            </a:r>
            <a:r>
              <a:rPr lang="en-US" dirty="0"/>
              <a:t>A vector with a length (magnitude) of exactly 1.</a:t>
            </a:r>
            <a:br>
              <a:rPr lang="en-IN" dirty="0">
                <a:sym typeface="Wingdings" panose="05000000000000000000" pitchFamily="2" charset="2"/>
              </a:rPr>
            </a:br>
            <a:r>
              <a:rPr lang="en-IN" dirty="0">
                <a:sym typeface="Wingdings" panose="05000000000000000000" pitchFamily="2" charset="2"/>
              </a:rPr>
              <a:t> Equal vector:-T</a:t>
            </a:r>
            <a:r>
              <a:rPr lang="en-US" dirty="0"/>
              <a:t>wo vectors that have the same magnitude and direction.</a:t>
            </a:r>
            <a:br>
              <a:rPr lang="en-IN" dirty="0">
                <a:sym typeface="Wingdings" panose="05000000000000000000" pitchFamily="2" charset="2"/>
              </a:rPr>
            </a:br>
            <a:r>
              <a:rPr lang="en-IN" dirty="0">
                <a:sym typeface="Wingdings" panose="05000000000000000000" pitchFamily="2" charset="2"/>
              </a:rPr>
              <a:t> Zero vector:-</a:t>
            </a:r>
            <a:r>
              <a:rPr lang="en-US" dirty="0"/>
              <a:t>A vector with zero length and no specific direction.</a:t>
            </a:r>
            <a:br>
              <a:rPr lang="en-US" dirty="0">
                <a:sym typeface="Wingdings" panose="05000000000000000000" pitchFamily="2" charset="2"/>
              </a:rPr>
            </a:br>
            <a:r>
              <a:rPr lang="en-US" dirty="0">
                <a:sym typeface="Wingdings" panose="05000000000000000000" pitchFamily="2" charset="2"/>
              </a:rPr>
              <a:t>position vector:- </a:t>
            </a:r>
            <a:r>
              <a:rPr lang="en-US" dirty="0"/>
              <a:t>From origin to a point</a:t>
            </a:r>
            <a:endParaRPr lang="en-IN" dirty="0">
              <a:sym typeface="Wingdings" panose="05000000000000000000" pitchFamily="2" charset="2"/>
            </a:endParaRPr>
          </a:p>
        </p:txBody>
      </p:sp>
    </p:spTree>
    <p:extLst>
      <p:ext uri="{BB962C8B-B14F-4D97-AF65-F5344CB8AC3E}">
        <p14:creationId xmlns:p14="http://schemas.microsoft.com/office/powerpoint/2010/main" val="1223690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555C2-E019-3E47-7F22-CE380A089B95}"/>
              </a:ext>
            </a:extLst>
          </p:cNvPr>
          <p:cNvSpPr>
            <a:spLocks noGrp="1"/>
          </p:cNvSpPr>
          <p:nvPr>
            <p:ph type="title"/>
          </p:nvPr>
        </p:nvSpPr>
        <p:spPr/>
        <p:txBody>
          <a:bodyPr/>
          <a:lstStyle/>
          <a:p>
            <a:r>
              <a:rPr lang="en-US" u="sng" dirty="0"/>
              <a:t>Vector Addition</a:t>
            </a:r>
            <a:br>
              <a:rPr lang="en-US" dirty="0"/>
            </a:br>
            <a:endParaRPr lang="en-IN" dirty="0"/>
          </a:p>
        </p:txBody>
      </p:sp>
      <p:sp>
        <p:nvSpPr>
          <p:cNvPr id="3" name="Content Placeholder 2">
            <a:extLst>
              <a:ext uri="{FF2B5EF4-FFF2-40B4-BE49-F238E27FC236}">
                <a16:creationId xmlns:a16="http://schemas.microsoft.com/office/drawing/2014/main" id="{A7DC377A-C335-3520-1A33-B9F0E390C4CB}"/>
              </a:ext>
            </a:extLst>
          </p:cNvPr>
          <p:cNvSpPr>
            <a:spLocks noGrp="1"/>
          </p:cNvSpPr>
          <p:nvPr>
            <p:ph idx="1"/>
          </p:nvPr>
        </p:nvSpPr>
        <p:spPr/>
        <p:txBody>
          <a:bodyPr/>
          <a:lstStyle/>
          <a:p>
            <a:pPr>
              <a:buFont typeface="Arial" panose="020B0604020202020204" pitchFamily="34" charset="0"/>
              <a:buChar char="•"/>
            </a:pPr>
            <a:r>
              <a:rPr lang="en-US" dirty="0"/>
              <a:t>What: Adds two vectors component-wise.</a:t>
            </a:r>
          </a:p>
          <a:p>
            <a:pPr>
              <a:buFont typeface="Arial" panose="020B0604020202020204" pitchFamily="34" charset="0"/>
              <a:buChar char="•"/>
            </a:pPr>
            <a:r>
              <a:rPr lang="en-US" dirty="0"/>
              <a:t>Why: To combine movements, forces, or directions.</a:t>
            </a:r>
          </a:p>
          <a:p>
            <a:pPr>
              <a:buFont typeface="Arial" panose="020B0604020202020204" pitchFamily="34" charset="0"/>
              <a:buChar char="•"/>
            </a:pPr>
            <a:r>
              <a:rPr lang="en-US" dirty="0"/>
              <a:t>Where in Games:</a:t>
            </a:r>
          </a:p>
          <a:p>
            <a:pPr marL="742950" lvl="1" indent="-285750">
              <a:buFont typeface="Arial" panose="020B0604020202020204" pitchFamily="34" charset="0"/>
              <a:buChar char="•"/>
            </a:pPr>
            <a:r>
              <a:rPr lang="en-US" dirty="0"/>
              <a:t>Moving a character with multiple input directions.</a:t>
            </a:r>
          </a:p>
          <a:p>
            <a:pPr marL="742950" lvl="1" indent="-285750">
              <a:buFont typeface="Arial" panose="020B0604020202020204" pitchFamily="34" charset="0"/>
              <a:buChar char="•"/>
            </a:pPr>
            <a:r>
              <a:rPr lang="en-US" dirty="0"/>
              <a:t>Combining gravity and jump forces.</a:t>
            </a:r>
          </a:p>
          <a:p>
            <a:r>
              <a:rPr lang="en-US" dirty="0"/>
              <a:t>Move forward (1, 0) + move right (0, 1) → new direction (1, 1)</a:t>
            </a:r>
            <a:endParaRPr lang="en-IN" dirty="0"/>
          </a:p>
        </p:txBody>
      </p:sp>
    </p:spTree>
    <p:extLst>
      <p:ext uri="{BB962C8B-B14F-4D97-AF65-F5344CB8AC3E}">
        <p14:creationId xmlns:p14="http://schemas.microsoft.com/office/powerpoint/2010/main" val="829285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95F0-7B88-5B5E-054F-C2EAF2D77897}"/>
              </a:ext>
            </a:extLst>
          </p:cNvPr>
          <p:cNvSpPr>
            <a:spLocks noGrp="1"/>
          </p:cNvSpPr>
          <p:nvPr>
            <p:ph type="title"/>
          </p:nvPr>
        </p:nvSpPr>
        <p:spPr/>
        <p:txBody>
          <a:bodyPr/>
          <a:lstStyle/>
          <a:p>
            <a:r>
              <a:rPr lang="en-IN" b="1" dirty="0"/>
              <a:t>Vector Subtraction</a:t>
            </a:r>
            <a:endParaRPr lang="en-IN" dirty="0"/>
          </a:p>
        </p:txBody>
      </p:sp>
      <p:sp>
        <p:nvSpPr>
          <p:cNvPr id="3" name="Content Placeholder 2">
            <a:extLst>
              <a:ext uri="{FF2B5EF4-FFF2-40B4-BE49-F238E27FC236}">
                <a16:creationId xmlns:a16="http://schemas.microsoft.com/office/drawing/2014/main" id="{2AD60FC5-1351-B5BC-2499-CCE0D46B3C31}"/>
              </a:ext>
            </a:extLst>
          </p:cNvPr>
          <p:cNvSpPr>
            <a:spLocks noGrp="1"/>
          </p:cNvSpPr>
          <p:nvPr>
            <p:ph idx="1"/>
          </p:nvPr>
        </p:nvSpPr>
        <p:spPr/>
        <p:txBody>
          <a:bodyPr/>
          <a:lstStyle/>
          <a:p>
            <a:r>
              <a:rPr lang="en-US" dirty="0"/>
              <a:t>What: Finds the difference between two vectors.</a:t>
            </a:r>
          </a:p>
          <a:p>
            <a:r>
              <a:rPr lang="en-US" dirty="0"/>
              <a:t> Why: To determine direction from one point to another </a:t>
            </a:r>
          </a:p>
          <a:p>
            <a:pPr marL="0" indent="0">
              <a:buNone/>
            </a:pPr>
            <a:r>
              <a:rPr lang="en-US" dirty="0"/>
              <a:t>            </a:t>
            </a:r>
            <a:r>
              <a:rPr lang="en-US" dirty="0">
                <a:sym typeface="Wingdings" panose="05000000000000000000" pitchFamily="2" charset="2"/>
              </a:rPr>
              <a:t></a:t>
            </a:r>
            <a:r>
              <a:rPr lang="en-US" dirty="0"/>
              <a:t>  Get direction from one object to another</a:t>
            </a:r>
          </a:p>
          <a:p>
            <a:r>
              <a:rPr lang="en-US" dirty="0"/>
              <a:t> Where in Games: Aiming a projectile from player to target. Calculating enemy/player direction.</a:t>
            </a:r>
          </a:p>
          <a:p>
            <a:r>
              <a:rPr lang="en-IN" dirty="0"/>
              <a:t>Example:</a:t>
            </a:r>
            <a:br>
              <a:rPr lang="en-US" dirty="0"/>
            </a:br>
            <a:r>
              <a:rPr lang="en-US" dirty="0"/>
              <a:t>       </a:t>
            </a:r>
            <a:r>
              <a:rPr lang="en-US" dirty="0">
                <a:sym typeface="Wingdings" panose="05000000000000000000" pitchFamily="2" charset="2"/>
              </a:rPr>
              <a:t>Player at (2, 3), enemy at (5, 6) → direction to enemy = (3, 3)</a:t>
            </a:r>
          </a:p>
          <a:p>
            <a:pPr marL="0" indent="0">
              <a:buNone/>
            </a:pPr>
            <a:r>
              <a:rPr lang="en-US" dirty="0">
                <a:sym typeface="Wingdings" panose="05000000000000000000" pitchFamily="2" charset="2"/>
              </a:rPr>
              <a:t>        </a:t>
            </a:r>
            <a:endParaRPr lang="en-IN" dirty="0"/>
          </a:p>
        </p:txBody>
      </p:sp>
    </p:spTree>
    <p:extLst>
      <p:ext uri="{BB962C8B-B14F-4D97-AF65-F5344CB8AC3E}">
        <p14:creationId xmlns:p14="http://schemas.microsoft.com/office/powerpoint/2010/main" val="3263510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75975-6641-56B8-6BB3-6D4112787638}"/>
              </a:ext>
            </a:extLst>
          </p:cNvPr>
          <p:cNvSpPr>
            <a:spLocks noGrp="1"/>
          </p:cNvSpPr>
          <p:nvPr>
            <p:ph type="title"/>
          </p:nvPr>
        </p:nvSpPr>
        <p:spPr/>
        <p:txBody>
          <a:bodyPr/>
          <a:lstStyle/>
          <a:p>
            <a:r>
              <a:rPr lang="en-US" b="1" dirty="0"/>
              <a:t>Cross Product</a:t>
            </a:r>
            <a:br>
              <a:rPr lang="en-US" dirty="0"/>
            </a:br>
            <a:endParaRPr lang="en-IN" dirty="0"/>
          </a:p>
        </p:txBody>
      </p:sp>
      <p:sp>
        <p:nvSpPr>
          <p:cNvPr id="3" name="Content Placeholder 2">
            <a:extLst>
              <a:ext uri="{FF2B5EF4-FFF2-40B4-BE49-F238E27FC236}">
                <a16:creationId xmlns:a16="http://schemas.microsoft.com/office/drawing/2014/main" id="{0EF78538-B81D-ECA0-A9F1-E2ECAEDD4ED7}"/>
              </a:ext>
            </a:extLst>
          </p:cNvPr>
          <p:cNvSpPr>
            <a:spLocks noGrp="1"/>
          </p:cNvSpPr>
          <p:nvPr>
            <p:ph idx="1"/>
          </p:nvPr>
        </p:nvSpPr>
        <p:spPr/>
        <p:txBody>
          <a:bodyPr/>
          <a:lstStyle/>
          <a:p>
            <a:pPr>
              <a:buFont typeface="Arial" panose="020B0604020202020204" pitchFamily="34" charset="0"/>
              <a:buChar char="•"/>
            </a:pPr>
            <a:r>
              <a:rPr lang="en-US" b="1" dirty="0"/>
              <a:t>What:</a:t>
            </a:r>
            <a:r>
              <a:rPr lang="en-US" dirty="0"/>
              <a:t> Returns a vector perpendicular to two input vectors (in 3D).</a:t>
            </a:r>
          </a:p>
          <a:p>
            <a:pPr>
              <a:buFont typeface="Arial" panose="020B0604020202020204" pitchFamily="34" charset="0"/>
              <a:buChar char="•"/>
            </a:pPr>
            <a:r>
              <a:rPr lang="en-US" b="1" dirty="0"/>
              <a:t>Why:</a:t>
            </a:r>
            <a:r>
              <a:rPr lang="en-US" dirty="0"/>
              <a:t> Useful for orientation, </a:t>
            </a:r>
            <a:r>
              <a:rPr lang="en-US" dirty="0" err="1"/>
              <a:t>normals</a:t>
            </a:r>
            <a:r>
              <a:rPr lang="en-US" dirty="0"/>
              <a:t>, and rotations.</a:t>
            </a:r>
          </a:p>
          <a:p>
            <a:pPr>
              <a:buFont typeface="Arial" panose="020B0604020202020204" pitchFamily="34" charset="0"/>
              <a:buChar char="•"/>
            </a:pPr>
            <a:r>
              <a:rPr lang="en-US" b="1" dirty="0"/>
              <a:t>Where in Games:</a:t>
            </a:r>
            <a:endParaRPr lang="en-US" dirty="0"/>
          </a:p>
          <a:p>
            <a:pPr marL="742950" lvl="1" indent="-285750">
              <a:buFont typeface="Arial" panose="020B0604020202020204" pitchFamily="34" charset="0"/>
              <a:buChar char="•"/>
            </a:pPr>
            <a:r>
              <a:rPr lang="en-US" dirty="0"/>
              <a:t>Calculating surface </a:t>
            </a:r>
            <a:r>
              <a:rPr lang="en-US" dirty="0" err="1"/>
              <a:t>normals</a:t>
            </a:r>
            <a:r>
              <a:rPr lang="en-US" dirty="0"/>
              <a:t> for lighting.</a:t>
            </a:r>
          </a:p>
          <a:p>
            <a:pPr marL="742950" lvl="1" indent="-285750">
              <a:buFont typeface="Arial" panose="020B0604020202020204" pitchFamily="34" charset="0"/>
              <a:buChar char="•"/>
            </a:pPr>
            <a:r>
              <a:rPr lang="en-US" dirty="0"/>
              <a:t>Determining right/left direction from forward and up vectors.</a:t>
            </a:r>
          </a:p>
          <a:p>
            <a:pPr marL="0" indent="0">
              <a:buNone/>
            </a:pPr>
            <a:r>
              <a:rPr lang="en-US" dirty="0"/>
              <a:t>                   </a:t>
            </a:r>
            <a:r>
              <a:rPr lang="en-US" dirty="0">
                <a:sym typeface="Wingdings" panose="05000000000000000000" pitchFamily="2" charset="2"/>
              </a:rPr>
              <a:t></a:t>
            </a:r>
            <a:r>
              <a:rPr lang="en-US" dirty="0"/>
              <a:t>Example: Forward (1, 0, 0) × Up (0, 1, 0) = Right (0, 0, 1)</a:t>
            </a:r>
            <a:endParaRPr lang="en-IN" dirty="0"/>
          </a:p>
        </p:txBody>
      </p:sp>
    </p:spTree>
    <p:extLst>
      <p:ext uri="{BB962C8B-B14F-4D97-AF65-F5344CB8AC3E}">
        <p14:creationId xmlns:p14="http://schemas.microsoft.com/office/powerpoint/2010/main" val="1508484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C099-FBF7-3379-9B28-69697A0D89D0}"/>
              </a:ext>
            </a:extLst>
          </p:cNvPr>
          <p:cNvSpPr>
            <a:spLocks noGrp="1"/>
          </p:cNvSpPr>
          <p:nvPr>
            <p:ph type="title"/>
          </p:nvPr>
        </p:nvSpPr>
        <p:spPr/>
        <p:txBody>
          <a:bodyPr/>
          <a:lstStyle/>
          <a:p>
            <a:r>
              <a:rPr lang="en-US" u="sng" dirty="0"/>
              <a:t>Dot Product</a:t>
            </a:r>
            <a:endParaRPr lang="en-IN" u="sng" dirty="0"/>
          </a:p>
        </p:txBody>
      </p:sp>
      <p:sp>
        <p:nvSpPr>
          <p:cNvPr id="3" name="Content Placeholder 2">
            <a:extLst>
              <a:ext uri="{FF2B5EF4-FFF2-40B4-BE49-F238E27FC236}">
                <a16:creationId xmlns:a16="http://schemas.microsoft.com/office/drawing/2014/main" id="{7F40A7D3-0E5A-E0DE-6FDD-F7AE1DF9DE08}"/>
              </a:ext>
            </a:extLst>
          </p:cNvPr>
          <p:cNvSpPr>
            <a:spLocks noGrp="1"/>
          </p:cNvSpPr>
          <p:nvPr>
            <p:ph idx="1"/>
          </p:nvPr>
        </p:nvSpPr>
        <p:spPr/>
        <p:txBody>
          <a:bodyPr>
            <a:normAutofit lnSpcReduction="10000"/>
          </a:bodyPr>
          <a:lstStyle/>
          <a:p>
            <a:r>
              <a:rPr lang="en-US" dirty="0"/>
              <a:t>The dot product of two vectors gives a scalar (just a number).</a:t>
            </a:r>
            <a:br>
              <a:rPr lang="en-US" dirty="0"/>
            </a:br>
            <a:r>
              <a:rPr lang="en-US" dirty="0"/>
              <a:t> Let Suppose we have two vector A and B</a:t>
            </a:r>
            <a:br>
              <a:rPr lang="en-IN" dirty="0"/>
            </a:br>
            <a:r>
              <a:rPr lang="en-IN" dirty="0"/>
              <a:t>        then </a:t>
            </a:r>
            <a:br>
              <a:rPr lang="en-IN" dirty="0"/>
            </a:br>
            <a:r>
              <a:rPr lang="en-IN" dirty="0"/>
              <a:t>        Dot product (A.B) = |A| |B| cos theta.</a:t>
            </a:r>
          </a:p>
          <a:p>
            <a:pPr marL="0" indent="0">
              <a:buNone/>
            </a:pPr>
            <a:r>
              <a:rPr lang="en-IN" dirty="0"/>
              <a:t>           where A and B are Magnitude of vectors</a:t>
            </a:r>
            <a:br>
              <a:rPr lang="en-IN" dirty="0"/>
            </a:br>
            <a:r>
              <a:rPr lang="en-IN" dirty="0"/>
              <a:t>           Theta angle Between A and B</a:t>
            </a:r>
            <a:br>
              <a:rPr lang="en-IN" dirty="0"/>
            </a:br>
            <a:r>
              <a:rPr lang="en-IN" dirty="0"/>
              <a:t>properties:-</a:t>
            </a:r>
          </a:p>
          <a:p>
            <a:pPr marL="0" indent="0">
              <a:buNone/>
            </a:pPr>
            <a:r>
              <a:rPr lang="en-IN" dirty="0"/>
              <a:t>Commutative:</a:t>
            </a:r>
            <a:br>
              <a:rPr lang="en-IN" dirty="0"/>
            </a:br>
            <a:r>
              <a:rPr lang="en-IN" dirty="0"/>
              <a:t>Distributive over addition</a:t>
            </a:r>
            <a:br>
              <a:rPr lang="en-IN" dirty="0"/>
            </a:br>
            <a:r>
              <a:rPr lang="en-US" dirty="0"/>
              <a:t>Dot product of a vector with itself</a:t>
            </a:r>
            <a:br>
              <a:rPr lang="en-IN" dirty="0"/>
            </a:br>
            <a:r>
              <a:rPr lang="en-IN" dirty="0"/>
              <a:t>  </a:t>
            </a:r>
            <a:endParaRPr lang="en-US" dirty="0"/>
          </a:p>
        </p:txBody>
      </p:sp>
    </p:spTree>
    <p:extLst>
      <p:ext uri="{BB962C8B-B14F-4D97-AF65-F5344CB8AC3E}">
        <p14:creationId xmlns:p14="http://schemas.microsoft.com/office/powerpoint/2010/main" val="89960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793E-F478-4DA1-1955-FBA0DB158EA1}"/>
              </a:ext>
            </a:extLst>
          </p:cNvPr>
          <p:cNvSpPr>
            <a:spLocks noGrp="1"/>
          </p:cNvSpPr>
          <p:nvPr>
            <p:ph type="title"/>
          </p:nvPr>
        </p:nvSpPr>
        <p:spPr/>
        <p:txBody>
          <a:bodyPr/>
          <a:lstStyle/>
          <a:p>
            <a:r>
              <a:rPr lang="en-US" u="sng" dirty="0"/>
              <a:t>Vector Space</a:t>
            </a:r>
            <a:endParaRPr lang="en-IN" u="sng" dirty="0"/>
          </a:p>
        </p:txBody>
      </p:sp>
      <p:sp>
        <p:nvSpPr>
          <p:cNvPr id="3" name="Content Placeholder 2">
            <a:extLst>
              <a:ext uri="{FF2B5EF4-FFF2-40B4-BE49-F238E27FC236}">
                <a16:creationId xmlns:a16="http://schemas.microsoft.com/office/drawing/2014/main" id="{08783DE9-37AB-63AB-BEEF-D6B59DF404EA}"/>
              </a:ext>
            </a:extLst>
          </p:cNvPr>
          <p:cNvSpPr>
            <a:spLocks noGrp="1"/>
          </p:cNvSpPr>
          <p:nvPr>
            <p:ph idx="1"/>
          </p:nvPr>
        </p:nvSpPr>
        <p:spPr/>
        <p:txBody>
          <a:bodyPr/>
          <a:lstStyle/>
          <a:p>
            <a:r>
              <a:rPr lang="en-US" dirty="0"/>
              <a:t>Vector space is collection or combination of different vector and we can perform different operational task on it like we can any two vector and also we can multiply by a number.</a:t>
            </a:r>
          </a:p>
          <a:p>
            <a:r>
              <a:rPr lang="en-US" dirty="0"/>
              <a:t>Multiplying by a number lets us stretch or shrink vectors, which helps us control size, speed, and scale in computer graphics.</a:t>
            </a:r>
          </a:p>
          <a:p>
            <a:r>
              <a:rPr lang="en-US" dirty="0"/>
              <a:t>Adding vector means doing one movement after the other</a:t>
            </a:r>
          </a:p>
          <a:p>
            <a:endParaRPr lang="en-IN" dirty="0"/>
          </a:p>
        </p:txBody>
      </p:sp>
    </p:spTree>
    <p:extLst>
      <p:ext uri="{BB962C8B-B14F-4D97-AF65-F5344CB8AC3E}">
        <p14:creationId xmlns:p14="http://schemas.microsoft.com/office/powerpoint/2010/main" val="426513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C1E5-72F6-AD4F-1A6F-D0763C5CFFBA}"/>
              </a:ext>
            </a:extLst>
          </p:cNvPr>
          <p:cNvSpPr>
            <a:spLocks noGrp="1"/>
          </p:cNvSpPr>
          <p:nvPr>
            <p:ph type="title"/>
          </p:nvPr>
        </p:nvSpPr>
        <p:spPr/>
        <p:txBody>
          <a:bodyPr/>
          <a:lstStyle/>
          <a:p>
            <a:r>
              <a:rPr lang="en-US" u="sng" dirty="0"/>
              <a:t>Function as a vector</a:t>
            </a:r>
            <a:endParaRPr lang="en-IN" u="sng" dirty="0"/>
          </a:p>
        </p:txBody>
      </p:sp>
      <p:sp>
        <p:nvSpPr>
          <p:cNvPr id="3" name="Content Placeholder 2">
            <a:extLst>
              <a:ext uri="{FF2B5EF4-FFF2-40B4-BE49-F238E27FC236}">
                <a16:creationId xmlns:a16="http://schemas.microsoft.com/office/drawing/2014/main" id="{EF7FB0E9-BCAC-5333-4DCE-660D61B12BCC}"/>
              </a:ext>
            </a:extLst>
          </p:cNvPr>
          <p:cNvSpPr>
            <a:spLocks noGrp="1"/>
          </p:cNvSpPr>
          <p:nvPr>
            <p:ph idx="1"/>
          </p:nvPr>
        </p:nvSpPr>
        <p:spPr/>
        <p:txBody>
          <a:bodyPr/>
          <a:lstStyle/>
          <a:p>
            <a:r>
              <a:rPr lang="en-US" dirty="0"/>
              <a:t>Function can also treated as vector because what we do in vector like addition multiplication </a:t>
            </a:r>
            <a:r>
              <a:rPr lang="en-US" dirty="0" err="1"/>
              <a:t>etc</a:t>
            </a:r>
            <a:r>
              <a:rPr lang="en-US" dirty="0"/>
              <a:t> these same can apply on function.</a:t>
            </a:r>
          </a:p>
          <a:p>
            <a:r>
              <a:rPr lang="en-US" dirty="0"/>
              <a:t>Example </a:t>
            </a:r>
            <a:br>
              <a:rPr lang="en-US" dirty="0"/>
            </a:br>
            <a:r>
              <a:rPr lang="en-US" dirty="0"/>
              <a:t> (2,3) .2 =  (2*2,3*2)  = (4,6)</a:t>
            </a:r>
            <a:br>
              <a:rPr lang="en-US" dirty="0"/>
            </a:br>
            <a:r>
              <a:rPr lang="en-US" dirty="0"/>
              <a:t>  same in function:-</a:t>
            </a:r>
          </a:p>
          <a:p>
            <a:r>
              <a:rPr lang="en-US" dirty="0"/>
              <a:t>  f(x) = 2x and g(x) = </a:t>
            </a:r>
            <a:r>
              <a:rPr lang="en-US" dirty="0" err="1"/>
              <a:t>sinx</a:t>
            </a:r>
            <a:br>
              <a:rPr lang="en-US" dirty="0"/>
            </a:br>
            <a:r>
              <a:rPr lang="en-US" dirty="0"/>
              <a:t>   then f(x) + g(x) = 2x </a:t>
            </a:r>
            <a:r>
              <a:rPr lang="en-IN" dirty="0"/>
              <a:t>+ </a:t>
            </a:r>
            <a:r>
              <a:rPr lang="en-IN" dirty="0" err="1"/>
              <a:t>sinx</a:t>
            </a:r>
            <a:r>
              <a:rPr lang="en-IN" dirty="0"/>
              <a:t> </a:t>
            </a:r>
          </a:p>
          <a:p>
            <a:r>
              <a:rPr lang="en-IN" dirty="0"/>
              <a:t>Function as a vector is </a:t>
            </a:r>
            <a:r>
              <a:rPr lang="en-IN" dirty="0" err="1"/>
              <a:t>helpul</a:t>
            </a:r>
            <a:r>
              <a:rPr lang="en-IN" dirty="0"/>
              <a:t> in smooth animation ,graphics effects.</a:t>
            </a:r>
            <a:endParaRPr lang="en-US" dirty="0"/>
          </a:p>
        </p:txBody>
      </p:sp>
    </p:spTree>
    <p:extLst>
      <p:ext uri="{BB962C8B-B14F-4D97-AF65-F5344CB8AC3E}">
        <p14:creationId xmlns:p14="http://schemas.microsoft.com/office/powerpoint/2010/main" val="283844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F7BA-05DC-1B0C-2324-78C4D6DA8DFD}"/>
              </a:ext>
            </a:extLst>
          </p:cNvPr>
          <p:cNvSpPr>
            <a:spLocks noGrp="1"/>
          </p:cNvSpPr>
          <p:nvPr>
            <p:ph type="title"/>
          </p:nvPr>
        </p:nvSpPr>
        <p:spPr/>
        <p:txBody>
          <a:bodyPr/>
          <a:lstStyle/>
          <a:p>
            <a:r>
              <a:rPr lang="en-US" dirty="0"/>
              <a:t>Why Vector is Important</a:t>
            </a:r>
            <a:endParaRPr lang="en-IN" dirty="0"/>
          </a:p>
        </p:txBody>
      </p:sp>
      <p:sp>
        <p:nvSpPr>
          <p:cNvPr id="3" name="Content Placeholder 2">
            <a:extLst>
              <a:ext uri="{FF2B5EF4-FFF2-40B4-BE49-F238E27FC236}">
                <a16:creationId xmlns:a16="http://schemas.microsoft.com/office/drawing/2014/main" id="{FD349B38-F6B8-FADE-7AE8-722C93B493DF}"/>
              </a:ext>
            </a:extLst>
          </p:cNvPr>
          <p:cNvSpPr>
            <a:spLocks noGrp="1"/>
          </p:cNvSpPr>
          <p:nvPr>
            <p:ph idx="1"/>
          </p:nvPr>
        </p:nvSpPr>
        <p:spPr/>
        <p:txBody>
          <a:bodyPr>
            <a:normAutofit fontScale="77500" lnSpcReduction="20000"/>
          </a:bodyPr>
          <a:lstStyle/>
          <a:p>
            <a:r>
              <a:rPr lang="en-US" dirty="0"/>
              <a:t>In game development, vectors are one of the most essential tools used to create realistic and interactive experiences. A vector is a quantity that has both direction and magnitude (length). In simple terms, it tells you where something is going and how fast.</a:t>
            </a:r>
          </a:p>
          <a:p>
            <a:r>
              <a:rPr lang="en-US" dirty="0"/>
              <a:t>When a player needs to shoot an enemy or look at something (like a camera lock-on), the game uses vector subtraction to calculate the direction from the player to the target. This helps:</a:t>
            </a:r>
          </a:p>
          <a:p>
            <a:pPr lvl="1"/>
            <a:r>
              <a:rPr lang="en-US" dirty="0"/>
              <a:t>Bullets go in the right direction.</a:t>
            </a:r>
          </a:p>
          <a:p>
            <a:pPr lvl="1"/>
            <a:r>
              <a:rPr lang="en-US" dirty="0"/>
              <a:t>Enemies chase the player.</a:t>
            </a:r>
          </a:p>
          <a:p>
            <a:pPr lvl="1"/>
            <a:r>
              <a:rPr lang="en-US" dirty="0"/>
              <a:t>Cameras follow the action smoothly.</a:t>
            </a:r>
          </a:p>
          <a:p>
            <a:r>
              <a:rPr lang="en-US" dirty="0"/>
              <a:t>Vectors are used to move characters, enemies, vehicles, or any object in the game world. For example, when a player presses the arrow keys or joystick, the game creates a movement vector. If the player presses up and right at the same time, the game adds two vectors to move the character diagonally.</a:t>
            </a:r>
          </a:p>
          <a:p>
            <a:pPr marL="0" indent="0">
              <a:buNone/>
            </a:pPr>
            <a:r>
              <a:rPr lang="en-US" dirty="0"/>
              <a:t>       This allows smooth and realistic movement instead of jerky or unnatural motion.</a:t>
            </a:r>
          </a:p>
          <a:p>
            <a:pPr lvl="1"/>
            <a:endParaRPr lang="en-US" dirty="0"/>
          </a:p>
          <a:p>
            <a:endParaRPr lang="en-IN" dirty="0"/>
          </a:p>
        </p:txBody>
      </p:sp>
    </p:spTree>
    <p:extLst>
      <p:ext uri="{BB962C8B-B14F-4D97-AF65-F5344CB8AC3E}">
        <p14:creationId xmlns:p14="http://schemas.microsoft.com/office/powerpoint/2010/main" val="2378338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470F0-6D26-7B50-29F1-99E27B6DC26F}"/>
              </a:ext>
            </a:extLst>
          </p:cNvPr>
          <p:cNvSpPr>
            <a:spLocks noGrp="1"/>
          </p:cNvSpPr>
          <p:nvPr>
            <p:ph type="title"/>
          </p:nvPr>
        </p:nvSpPr>
        <p:spPr/>
        <p:txBody>
          <a:bodyPr/>
          <a:lstStyle/>
          <a:p>
            <a:r>
              <a:rPr lang="en-US" u="sng" dirty="0"/>
              <a:t>3D Rotation</a:t>
            </a:r>
            <a:endParaRPr lang="en-IN" u="sng" dirty="0"/>
          </a:p>
        </p:txBody>
      </p:sp>
      <p:sp>
        <p:nvSpPr>
          <p:cNvPr id="3" name="Content Placeholder 2">
            <a:extLst>
              <a:ext uri="{FF2B5EF4-FFF2-40B4-BE49-F238E27FC236}">
                <a16:creationId xmlns:a16="http://schemas.microsoft.com/office/drawing/2014/main" id="{5B03DA14-9D09-F9C4-663F-D8137561349C}"/>
              </a:ext>
            </a:extLst>
          </p:cNvPr>
          <p:cNvSpPr>
            <a:spLocks noGrp="1"/>
          </p:cNvSpPr>
          <p:nvPr>
            <p:ph idx="1"/>
          </p:nvPr>
        </p:nvSpPr>
        <p:spPr/>
        <p:txBody>
          <a:bodyPr>
            <a:normAutofit fontScale="92500" lnSpcReduction="10000"/>
          </a:bodyPr>
          <a:lstStyle/>
          <a:p>
            <a:r>
              <a:rPr lang="en-US" dirty="0"/>
              <a:t>Turning an object around an axis in three-dimensional space</a:t>
            </a:r>
            <a:endParaRPr lang="en-IN" dirty="0"/>
          </a:p>
          <a:p>
            <a:r>
              <a:rPr lang="en-IN" dirty="0"/>
              <a:t>It is important because it used in video games to rotate the object</a:t>
            </a:r>
            <a:br>
              <a:rPr lang="en-IN" dirty="0"/>
            </a:br>
            <a:r>
              <a:rPr lang="en-IN" dirty="0"/>
              <a:t>    suppose we are Developing a game where I have to rotate the object like Aircraft in the game and we want we click the arrows keys the aircrafts rotate up/down and left/right.</a:t>
            </a:r>
          </a:p>
          <a:p>
            <a:r>
              <a:rPr lang="en-IN" dirty="0"/>
              <a:t>Turning our smartphone screen landscape to </a:t>
            </a:r>
            <a:r>
              <a:rPr lang="en-IN" dirty="0" err="1"/>
              <a:t>portait</a:t>
            </a:r>
            <a:r>
              <a:rPr lang="en-IN" dirty="0"/>
              <a:t> mode is also the example of rotation</a:t>
            </a:r>
          </a:p>
          <a:p>
            <a:r>
              <a:rPr lang="en-US" dirty="0"/>
              <a:t>3D space has three axes:</a:t>
            </a:r>
          </a:p>
          <a:p>
            <a:pPr>
              <a:buFont typeface="Arial" panose="020B0604020202020204" pitchFamily="34" charset="0"/>
              <a:buChar char="•"/>
            </a:pPr>
            <a:r>
              <a:rPr lang="en-US" i="1" dirty="0"/>
              <a:t>X-axis: left-right</a:t>
            </a:r>
          </a:p>
          <a:p>
            <a:pPr>
              <a:buFont typeface="Arial" panose="020B0604020202020204" pitchFamily="34" charset="0"/>
              <a:buChar char="•"/>
            </a:pPr>
            <a:r>
              <a:rPr lang="en-US" i="1" dirty="0"/>
              <a:t>Y-axis: up-down</a:t>
            </a:r>
          </a:p>
          <a:p>
            <a:pPr>
              <a:buFont typeface="Arial" panose="020B0604020202020204" pitchFamily="34" charset="0"/>
              <a:buChar char="•"/>
            </a:pPr>
            <a:r>
              <a:rPr lang="en-US" i="1" dirty="0"/>
              <a:t>Z-axis: forward-backward</a:t>
            </a:r>
          </a:p>
          <a:p>
            <a:endParaRPr lang="en-IN" dirty="0"/>
          </a:p>
        </p:txBody>
      </p:sp>
    </p:spTree>
    <p:extLst>
      <p:ext uri="{BB962C8B-B14F-4D97-AF65-F5344CB8AC3E}">
        <p14:creationId xmlns:p14="http://schemas.microsoft.com/office/powerpoint/2010/main" val="3340443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8FE691-A22B-F3C9-9A9C-9F2DA2E4A5A8}"/>
              </a:ext>
            </a:extLst>
          </p:cNvPr>
          <p:cNvSpPr>
            <a:spLocks noGrp="1"/>
          </p:cNvSpPr>
          <p:nvPr>
            <p:ph idx="1"/>
          </p:nvPr>
        </p:nvSpPr>
        <p:spPr>
          <a:xfrm>
            <a:off x="176463" y="465221"/>
            <a:ext cx="11177337" cy="5711742"/>
          </a:xfrm>
        </p:spPr>
        <p:txBody>
          <a:bodyPr/>
          <a:lstStyle/>
          <a:p>
            <a:r>
              <a:rPr lang="en-IN" dirty="0"/>
              <a:t>In Unity:-</a:t>
            </a:r>
          </a:p>
          <a:p>
            <a:pPr>
              <a:buFont typeface="Wingdings" panose="05000000000000000000" pitchFamily="2" charset="2"/>
              <a:buChar char="à"/>
            </a:pPr>
            <a:r>
              <a:rPr lang="en-IN" dirty="0"/>
              <a:t>Rotate an object using Euler angles (</a:t>
            </a:r>
            <a:r>
              <a:rPr lang="en-IN" dirty="0" err="1"/>
              <a:t>transform.eulerAngles</a:t>
            </a:r>
            <a:r>
              <a:rPr lang="en-IN" dirty="0"/>
              <a:t> = new Vector3(x, y, z))  it cause the gimble lock</a:t>
            </a:r>
          </a:p>
          <a:p>
            <a:pPr>
              <a:buFont typeface="Wingdings" panose="05000000000000000000" pitchFamily="2" charset="2"/>
              <a:buChar char="à"/>
            </a:pPr>
            <a:r>
              <a:rPr lang="en-IN" dirty="0"/>
              <a:t>Rotate using quaternions (</a:t>
            </a:r>
            <a:r>
              <a:rPr lang="en-IN" dirty="0" err="1"/>
              <a:t>transform.rotation</a:t>
            </a:r>
            <a:r>
              <a:rPr lang="en-IN" dirty="0"/>
              <a:t> = </a:t>
            </a:r>
            <a:r>
              <a:rPr lang="en-IN" dirty="0" err="1"/>
              <a:t>Quaternion.Euler</a:t>
            </a:r>
            <a:r>
              <a:rPr lang="en-IN" dirty="0"/>
              <a:t>(x, y, z)) </a:t>
            </a:r>
          </a:p>
          <a:p>
            <a:pPr>
              <a:buFont typeface="Wingdings" panose="05000000000000000000" pitchFamily="2" charset="2"/>
              <a:buChar char="à"/>
            </a:pPr>
            <a:r>
              <a:rPr lang="en-IN" dirty="0"/>
              <a:t>Smoothly rotate using </a:t>
            </a:r>
            <a:r>
              <a:rPr lang="en-IN" dirty="0" err="1"/>
              <a:t>Quaternion.Slerp</a:t>
            </a:r>
            <a:r>
              <a:rPr lang="en-IN" dirty="0"/>
              <a:t> or </a:t>
            </a:r>
            <a:r>
              <a:rPr lang="en-IN" dirty="0" err="1"/>
              <a:t>Quaternion.RotateTowards</a:t>
            </a:r>
            <a:endParaRPr lang="en-IN" dirty="0"/>
          </a:p>
        </p:txBody>
      </p:sp>
    </p:spTree>
    <p:extLst>
      <p:ext uri="{BB962C8B-B14F-4D97-AF65-F5344CB8AC3E}">
        <p14:creationId xmlns:p14="http://schemas.microsoft.com/office/powerpoint/2010/main" val="1326956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D21C7-D8B4-5E14-AFA2-636CD0BF0D7B}"/>
              </a:ext>
            </a:extLst>
          </p:cNvPr>
          <p:cNvSpPr>
            <a:spLocks noGrp="1"/>
          </p:cNvSpPr>
          <p:nvPr>
            <p:ph idx="1"/>
          </p:nvPr>
        </p:nvSpPr>
        <p:spPr>
          <a:xfrm>
            <a:off x="176463" y="705853"/>
            <a:ext cx="11177337" cy="5471110"/>
          </a:xfrm>
        </p:spPr>
        <p:txBody>
          <a:bodyPr/>
          <a:lstStyle/>
          <a:p>
            <a:r>
              <a:rPr lang="en-US" dirty="0"/>
              <a:t>The Axes: X, Y, and Z</a:t>
            </a:r>
          </a:p>
          <a:p>
            <a:pPr>
              <a:buFont typeface="Arial" panose="020B0604020202020204" pitchFamily="34" charset="0"/>
              <a:buChar char="•"/>
            </a:pPr>
            <a:r>
              <a:rPr lang="en-US" dirty="0"/>
              <a:t>3D space has three axes:</a:t>
            </a:r>
          </a:p>
          <a:p>
            <a:pPr marL="742950" lvl="1" indent="-285750">
              <a:buFont typeface="Arial" panose="020B0604020202020204" pitchFamily="34" charset="0"/>
              <a:buChar char="•"/>
            </a:pPr>
            <a:r>
              <a:rPr lang="en-US" dirty="0"/>
              <a:t>X-axis: left-right</a:t>
            </a:r>
          </a:p>
          <a:p>
            <a:pPr marL="742950" lvl="1" indent="-285750">
              <a:buFont typeface="Arial" panose="020B0604020202020204" pitchFamily="34" charset="0"/>
              <a:buChar char="•"/>
            </a:pPr>
            <a:r>
              <a:rPr lang="en-US" dirty="0"/>
              <a:t>Y-axis: up-down</a:t>
            </a:r>
          </a:p>
          <a:p>
            <a:pPr marL="742950" lvl="1" indent="-285750">
              <a:buFont typeface="Arial" panose="020B0604020202020204" pitchFamily="34" charset="0"/>
              <a:buChar char="•"/>
            </a:pPr>
            <a:r>
              <a:rPr lang="en-US" dirty="0"/>
              <a:t>Z-axis: forward-backward</a:t>
            </a:r>
          </a:p>
          <a:p>
            <a:pPr>
              <a:buFont typeface="Arial" panose="020B0604020202020204" pitchFamily="34" charset="0"/>
              <a:buChar char="•"/>
            </a:pPr>
            <a:r>
              <a:rPr lang="en-US" dirty="0"/>
              <a:t>Rotating around each axis gives different motions. For example:</a:t>
            </a:r>
          </a:p>
          <a:p>
            <a:pPr marL="742950" lvl="1" indent="-285750">
              <a:buFont typeface="Arial" panose="020B0604020202020204" pitchFamily="34" charset="0"/>
              <a:buChar char="•"/>
            </a:pPr>
            <a:r>
              <a:rPr lang="en-US" dirty="0"/>
              <a:t>Rotate around Y-axis → spin left or right</a:t>
            </a:r>
          </a:p>
          <a:p>
            <a:pPr marL="742950" lvl="1" indent="-285750">
              <a:buFont typeface="Arial" panose="020B0604020202020204" pitchFamily="34" charset="0"/>
              <a:buChar char="•"/>
            </a:pPr>
            <a:r>
              <a:rPr lang="en-US" dirty="0"/>
              <a:t>Rotate around X-axis → look up or down</a:t>
            </a:r>
          </a:p>
          <a:p>
            <a:pPr marL="742950" lvl="1" indent="-285750">
              <a:buFont typeface="Arial" panose="020B0604020202020204" pitchFamily="34" charset="0"/>
              <a:buChar char="•"/>
            </a:pPr>
            <a:r>
              <a:rPr lang="en-US" dirty="0"/>
              <a:t>Rotate around Z-axis → tilt head sideways</a:t>
            </a:r>
          </a:p>
          <a:p>
            <a:endParaRPr lang="en-IN" dirty="0"/>
          </a:p>
        </p:txBody>
      </p:sp>
    </p:spTree>
    <p:extLst>
      <p:ext uri="{BB962C8B-B14F-4D97-AF65-F5344CB8AC3E}">
        <p14:creationId xmlns:p14="http://schemas.microsoft.com/office/powerpoint/2010/main" val="2622596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C384-D43D-8808-857B-8C1B4E7A634E}"/>
              </a:ext>
            </a:extLst>
          </p:cNvPr>
          <p:cNvSpPr>
            <a:spLocks noGrp="1"/>
          </p:cNvSpPr>
          <p:nvPr>
            <p:ph type="title"/>
          </p:nvPr>
        </p:nvSpPr>
        <p:spPr/>
        <p:txBody>
          <a:bodyPr/>
          <a:lstStyle/>
          <a:p>
            <a:r>
              <a:rPr lang="en-IN" dirty="0"/>
              <a:t>Quaternions</a:t>
            </a:r>
          </a:p>
        </p:txBody>
      </p:sp>
      <p:sp>
        <p:nvSpPr>
          <p:cNvPr id="3" name="Content Placeholder 2">
            <a:extLst>
              <a:ext uri="{FF2B5EF4-FFF2-40B4-BE49-F238E27FC236}">
                <a16:creationId xmlns:a16="http://schemas.microsoft.com/office/drawing/2014/main" id="{B958198C-29BD-8271-0E14-F91636FB1A15}"/>
              </a:ext>
            </a:extLst>
          </p:cNvPr>
          <p:cNvSpPr>
            <a:spLocks noGrp="1"/>
          </p:cNvSpPr>
          <p:nvPr>
            <p:ph idx="1"/>
          </p:nvPr>
        </p:nvSpPr>
        <p:spPr/>
        <p:txBody>
          <a:bodyPr/>
          <a:lstStyle/>
          <a:p>
            <a:r>
              <a:rPr lang="en-IN" dirty="0"/>
              <a:t>Quaternions are the mathematical way to represent rotations in 3D space .</a:t>
            </a:r>
          </a:p>
          <a:p>
            <a:r>
              <a:rPr lang="en-IN" dirty="0"/>
              <a:t>It simply extend complex numbers which have two parts to 4 parts </a:t>
            </a:r>
            <a:br>
              <a:rPr lang="en-IN" dirty="0"/>
            </a:br>
            <a:r>
              <a:rPr lang="en-IN" dirty="0"/>
              <a:t>         </a:t>
            </a:r>
            <a:r>
              <a:rPr lang="pl-PL" dirty="0"/>
              <a:t>q=w+xi+yj+zk</a:t>
            </a:r>
            <a:br>
              <a:rPr lang="en-US" dirty="0"/>
            </a:br>
            <a:r>
              <a:rPr lang="en-US" dirty="0"/>
              <a:t>                     where:</a:t>
            </a:r>
          </a:p>
          <a:p>
            <a:pPr marL="0" indent="0">
              <a:buNone/>
            </a:pPr>
            <a:r>
              <a:rPr lang="en-US" dirty="0"/>
              <a:t>                              w is the real part</a:t>
            </a:r>
          </a:p>
          <a:p>
            <a:pPr marL="0" indent="0">
              <a:buNone/>
            </a:pPr>
            <a:r>
              <a:rPr lang="en-US" dirty="0"/>
              <a:t>                               </a:t>
            </a:r>
            <a:r>
              <a:rPr lang="en-US" dirty="0" err="1"/>
              <a:t>x,y,z</a:t>
            </a:r>
            <a:r>
              <a:rPr lang="en-US" dirty="0"/>
              <a:t> form the imaginary vector part</a:t>
            </a:r>
          </a:p>
          <a:p>
            <a:pPr marL="0" indent="0">
              <a:buNone/>
            </a:pPr>
            <a:r>
              <a:rPr lang="en-US" dirty="0"/>
              <a:t>                                 </a:t>
            </a:r>
            <a:r>
              <a:rPr lang="en-US" dirty="0" err="1"/>
              <a:t>i,j,k</a:t>
            </a:r>
            <a:r>
              <a:rPr lang="en-US" dirty="0"/>
              <a:t> are special imaginary units.</a:t>
            </a:r>
          </a:p>
          <a:p>
            <a:pPr marL="0" indent="0">
              <a:buNone/>
            </a:pPr>
            <a:endParaRPr lang="en-US" dirty="0"/>
          </a:p>
          <a:p>
            <a:endParaRPr lang="en-IN" dirty="0"/>
          </a:p>
        </p:txBody>
      </p:sp>
    </p:spTree>
    <p:extLst>
      <p:ext uri="{BB962C8B-B14F-4D97-AF65-F5344CB8AC3E}">
        <p14:creationId xmlns:p14="http://schemas.microsoft.com/office/powerpoint/2010/main" val="437419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4B82-14EB-2A4F-65EA-A8BF22684CED}"/>
              </a:ext>
            </a:extLst>
          </p:cNvPr>
          <p:cNvSpPr>
            <a:spLocks noGrp="1"/>
          </p:cNvSpPr>
          <p:nvPr>
            <p:ph type="title"/>
          </p:nvPr>
        </p:nvSpPr>
        <p:spPr/>
        <p:txBody>
          <a:bodyPr/>
          <a:lstStyle/>
          <a:p>
            <a:r>
              <a:rPr lang="en-US" dirty="0"/>
              <a:t>Why used:-</a:t>
            </a:r>
            <a:endParaRPr lang="en-IN" dirty="0"/>
          </a:p>
        </p:txBody>
      </p:sp>
      <p:sp>
        <p:nvSpPr>
          <p:cNvPr id="3" name="Content Placeholder 2">
            <a:extLst>
              <a:ext uri="{FF2B5EF4-FFF2-40B4-BE49-F238E27FC236}">
                <a16:creationId xmlns:a16="http://schemas.microsoft.com/office/drawing/2014/main" id="{755FC03D-92A5-DCB3-FD85-831796BC5A0E}"/>
              </a:ext>
            </a:extLst>
          </p:cNvPr>
          <p:cNvSpPr>
            <a:spLocks noGrp="1"/>
          </p:cNvSpPr>
          <p:nvPr>
            <p:ph idx="1"/>
          </p:nvPr>
        </p:nvSpPr>
        <p:spPr/>
        <p:txBody>
          <a:bodyPr/>
          <a:lstStyle/>
          <a:p>
            <a:r>
              <a:rPr lang="en-US" dirty="0"/>
              <a:t>Avoid Gimbal Lock</a:t>
            </a:r>
          </a:p>
          <a:p>
            <a:r>
              <a:rPr lang="en-US" dirty="0"/>
              <a:t>Smooth rotation</a:t>
            </a:r>
          </a:p>
          <a:p>
            <a:r>
              <a:rPr lang="en-US" dirty="0"/>
              <a:t>Less rotation calculation than Euler angle</a:t>
            </a:r>
            <a:endParaRPr lang="en-IN" dirty="0"/>
          </a:p>
        </p:txBody>
      </p:sp>
    </p:spTree>
    <p:extLst>
      <p:ext uri="{BB962C8B-B14F-4D97-AF65-F5344CB8AC3E}">
        <p14:creationId xmlns:p14="http://schemas.microsoft.com/office/powerpoint/2010/main" val="2682525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FA9FDF-A94F-A1DD-A96C-5C802B1A61A4}"/>
              </a:ext>
            </a:extLst>
          </p:cNvPr>
          <p:cNvSpPr>
            <a:spLocks noGrp="1"/>
          </p:cNvSpPr>
          <p:nvPr>
            <p:ph type="ctrTitle"/>
          </p:nvPr>
        </p:nvSpPr>
        <p:spPr>
          <a:xfrm>
            <a:off x="640080" y="320040"/>
            <a:ext cx="6692827" cy="3892669"/>
          </a:xfrm>
        </p:spPr>
        <p:txBody>
          <a:bodyPr>
            <a:normAutofit/>
          </a:bodyPr>
          <a:lstStyle/>
          <a:p>
            <a:pPr algn="l"/>
            <a:r>
              <a:rPr lang="en-US" sz="6600"/>
              <a:t>Shader Programming</a:t>
            </a:r>
            <a:endParaRPr lang="en-IN" sz="6600"/>
          </a:p>
        </p:txBody>
      </p:sp>
      <p:sp>
        <p:nvSpPr>
          <p:cNvPr id="4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descr="Web Design">
            <a:extLst>
              <a:ext uri="{FF2B5EF4-FFF2-40B4-BE49-F238E27FC236}">
                <a16:creationId xmlns:a16="http://schemas.microsoft.com/office/drawing/2014/main" id="{0D96C0C7-95AA-EA8A-E0D3-2C7C1F2BC1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117320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B4B7-CD82-3A4E-7C2A-D9A01224A0D4}"/>
              </a:ext>
            </a:extLst>
          </p:cNvPr>
          <p:cNvSpPr>
            <a:spLocks noGrp="1"/>
          </p:cNvSpPr>
          <p:nvPr>
            <p:ph type="title"/>
          </p:nvPr>
        </p:nvSpPr>
        <p:spPr/>
        <p:txBody>
          <a:bodyPr/>
          <a:lstStyle/>
          <a:p>
            <a:r>
              <a:rPr lang="en-US" dirty="0"/>
              <a:t>What is shader</a:t>
            </a:r>
            <a:endParaRPr lang="en-IN" dirty="0"/>
          </a:p>
        </p:txBody>
      </p:sp>
      <p:sp>
        <p:nvSpPr>
          <p:cNvPr id="3" name="Content Placeholder 2">
            <a:extLst>
              <a:ext uri="{FF2B5EF4-FFF2-40B4-BE49-F238E27FC236}">
                <a16:creationId xmlns:a16="http://schemas.microsoft.com/office/drawing/2014/main" id="{CFA17BE8-F6EE-127D-8183-EECF490916B1}"/>
              </a:ext>
            </a:extLst>
          </p:cNvPr>
          <p:cNvSpPr>
            <a:spLocks noGrp="1"/>
          </p:cNvSpPr>
          <p:nvPr>
            <p:ph idx="1"/>
          </p:nvPr>
        </p:nvSpPr>
        <p:spPr/>
        <p:txBody>
          <a:bodyPr>
            <a:normAutofit fontScale="92500" lnSpcReduction="10000"/>
          </a:bodyPr>
          <a:lstStyle/>
          <a:p>
            <a:r>
              <a:rPr lang="en-US" dirty="0"/>
              <a:t>A shader is small programs that runs on the GPU to control the how graphics are drawn on screen.</a:t>
            </a:r>
          </a:p>
          <a:p>
            <a:r>
              <a:rPr lang="en-US" dirty="0"/>
              <a:t>Why Do we Shader:-</a:t>
            </a:r>
            <a:br>
              <a:rPr lang="en-US" dirty="0"/>
            </a:br>
            <a:r>
              <a:rPr lang="en-US" dirty="0">
                <a:sym typeface="Wingdings" panose="05000000000000000000" pitchFamily="2" charset="2"/>
              </a:rPr>
              <a:t>control over how objects </a:t>
            </a:r>
            <a:r>
              <a:rPr lang="en-US" dirty="0" err="1">
                <a:sym typeface="Wingdings" panose="05000000000000000000" pitchFamily="2" charset="2"/>
              </a:rPr>
              <a:t>looks.like</a:t>
            </a:r>
            <a:r>
              <a:rPr lang="en-US" dirty="0">
                <a:sym typeface="Wingdings" panose="05000000000000000000" pitchFamily="2" charset="2"/>
              </a:rPr>
              <a:t> </a:t>
            </a:r>
            <a:r>
              <a:rPr lang="en-US" dirty="0" err="1">
                <a:sym typeface="Wingdings" panose="05000000000000000000" pitchFamily="2" charset="2"/>
              </a:rPr>
              <a:t>lighting,shadow</a:t>
            </a:r>
            <a:r>
              <a:rPr lang="en-US" dirty="0">
                <a:sym typeface="Wingdings" panose="05000000000000000000" pitchFamily="2" charset="2"/>
              </a:rPr>
              <a:t> coloring ,UI effects.</a:t>
            </a:r>
          </a:p>
          <a:p>
            <a:pPr marL="0" indent="0">
              <a:buNone/>
            </a:pPr>
            <a:r>
              <a:rPr lang="en-US" dirty="0">
                <a:sym typeface="Wingdings" panose="05000000000000000000" pitchFamily="2" charset="2"/>
              </a:rPr>
              <a:t>    creates effects like fires glow reflection</a:t>
            </a:r>
          </a:p>
          <a:p>
            <a:pPr marL="0" indent="0">
              <a:buNone/>
            </a:pPr>
            <a:r>
              <a:rPr lang="en-US" dirty="0">
                <a:sym typeface="Wingdings" panose="05000000000000000000" pitchFamily="2" charset="2"/>
              </a:rPr>
              <a:t>There are two types of shader</a:t>
            </a:r>
            <a:br>
              <a:rPr lang="en-US" dirty="0">
                <a:sym typeface="Wingdings" panose="05000000000000000000" pitchFamily="2" charset="2"/>
              </a:rPr>
            </a:br>
            <a:r>
              <a:rPr lang="en-US" dirty="0">
                <a:sym typeface="Wingdings" panose="05000000000000000000" pitchFamily="2" charset="2"/>
              </a:rPr>
              <a:t>   </a:t>
            </a:r>
            <a:r>
              <a:rPr lang="en-US" b="1" dirty="0">
                <a:sym typeface="Wingdings" panose="05000000000000000000" pitchFamily="2" charset="2"/>
              </a:rPr>
              <a:t>     1.vertex shader :-</a:t>
            </a:r>
          </a:p>
          <a:p>
            <a:pPr marL="0" indent="0">
              <a:buNone/>
            </a:pPr>
            <a:r>
              <a:rPr lang="en-US" dirty="0">
                <a:sym typeface="Wingdings" panose="05000000000000000000" pitchFamily="2" charset="2"/>
              </a:rPr>
              <a:t> it decide where each vertex should go on</a:t>
            </a:r>
          </a:p>
          <a:p>
            <a:pPr marL="0" indent="0">
              <a:buNone/>
            </a:pPr>
            <a:r>
              <a:rPr lang="en-US" dirty="0">
                <a:sym typeface="Wingdings" panose="05000000000000000000" pitchFamily="2" charset="2"/>
              </a:rPr>
              <a:t>  it also help to transform 3D position into 2D screen using math also passes the data like color texture coordinated to the next shader</a:t>
            </a:r>
            <a:endParaRPr lang="en-IN" dirty="0">
              <a:sym typeface="Wingdings" panose="05000000000000000000" pitchFamily="2" charset="2"/>
            </a:endParaRPr>
          </a:p>
          <a:p>
            <a:pPr marL="0" indent="0">
              <a:buNone/>
            </a:pPr>
            <a:endParaRPr lang="en-IN" dirty="0">
              <a:sym typeface="Wingdings" panose="05000000000000000000" pitchFamily="2" charset="2"/>
            </a:endParaRPr>
          </a:p>
        </p:txBody>
      </p:sp>
    </p:spTree>
    <p:extLst>
      <p:ext uri="{BB962C8B-B14F-4D97-AF65-F5344CB8AC3E}">
        <p14:creationId xmlns:p14="http://schemas.microsoft.com/office/powerpoint/2010/main" val="8833708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4167-C9D4-EE7B-4D65-F77CF326B9C0}"/>
              </a:ext>
            </a:extLst>
          </p:cNvPr>
          <p:cNvSpPr>
            <a:spLocks noGrp="1"/>
          </p:cNvSpPr>
          <p:nvPr>
            <p:ph type="title"/>
          </p:nvPr>
        </p:nvSpPr>
        <p:spPr/>
        <p:txBody>
          <a:bodyPr/>
          <a:lstStyle/>
          <a:p>
            <a:r>
              <a:rPr lang="en-US" dirty="0"/>
              <a:t>Fragment Shader</a:t>
            </a:r>
            <a:endParaRPr lang="en-IN" dirty="0"/>
          </a:p>
        </p:txBody>
      </p:sp>
      <p:sp>
        <p:nvSpPr>
          <p:cNvPr id="3" name="Content Placeholder 2">
            <a:extLst>
              <a:ext uri="{FF2B5EF4-FFF2-40B4-BE49-F238E27FC236}">
                <a16:creationId xmlns:a16="http://schemas.microsoft.com/office/drawing/2014/main" id="{0B625270-D162-1DDE-CE97-F6D760EB5DE0}"/>
              </a:ext>
            </a:extLst>
          </p:cNvPr>
          <p:cNvSpPr>
            <a:spLocks noGrp="1"/>
          </p:cNvSpPr>
          <p:nvPr>
            <p:ph idx="1"/>
          </p:nvPr>
        </p:nvSpPr>
        <p:spPr/>
        <p:txBody>
          <a:bodyPr/>
          <a:lstStyle/>
          <a:p>
            <a:r>
              <a:rPr lang="en-US" dirty="0"/>
              <a:t>Fragment Shader decide the final color of the pixel.</a:t>
            </a:r>
          </a:p>
          <a:p>
            <a:r>
              <a:rPr lang="en-US" dirty="0"/>
              <a:t>It also handles lighting texturing fog glow shadows etc.</a:t>
            </a:r>
          </a:p>
          <a:p>
            <a:pPr marL="0" indent="0">
              <a:buNone/>
            </a:pPr>
            <a:endParaRPr lang="en-IN" dirty="0"/>
          </a:p>
        </p:txBody>
      </p:sp>
    </p:spTree>
    <p:extLst>
      <p:ext uri="{BB962C8B-B14F-4D97-AF65-F5344CB8AC3E}">
        <p14:creationId xmlns:p14="http://schemas.microsoft.com/office/powerpoint/2010/main" val="12362173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CED3-EB88-D750-256E-79C769450EA6}"/>
              </a:ext>
            </a:extLst>
          </p:cNvPr>
          <p:cNvSpPr>
            <a:spLocks noGrp="1"/>
          </p:cNvSpPr>
          <p:nvPr>
            <p:ph type="title"/>
          </p:nvPr>
        </p:nvSpPr>
        <p:spPr/>
        <p:txBody>
          <a:bodyPr/>
          <a:lstStyle/>
          <a:p>
            <a:r>
              <a:rPr lang="en-IN" b="1" dirty="0"/>
              <a:t>Shader Programming</a:t>
            </a:r>
            <a:r>
              <a:rPr lang="en-IN" dirty="0"/>
              <a:t>?</a:t>
            </a:r>
          </a:p>
        </p:txBody>
      </p:sp>
      <p:sp>
        <p:nvSpPr>
          <p:cNvPr id="3" name="Content Placeholder 2">
            <a:extLst>
              <a:ext uri="{FF2B5EF4-FFF2-40B4-BE49-F238E27FC236}">
                <a16:creationId xmlns:a16="http://schemas.microsoft.com/office/drawing/2014/main" id="{3CA1AF0B-9577-EE74-6878-CB4DBA071C59}"/>
              </a:ext>
            </a:extLst>
          </p:cNvPr>
          <p:cNvSpPr>
            <a:spLocks noGrp="1"/>
          </p:cNvSpPr>
          <p:nvPr>
            <p:ph idx="1"/>
          </p:nvPr>
        </p:nvSpPr>
        <p:spPr/>
        <p:txBody>
          <a:bodyPr/>
          <a:lstStyle/>
          <a:p>
            <a:r>
              <a:rPr lang="en-US" dirty="0"/>
              <a:t>Shader programing is writing code to tell the GPU how to render graphics.</a:t>
            </a:r>
          </a:p>
          <a:p>
            <a:r>
              <a:rPr lang="en-US" dirty="0"/>
              <a:t>Usually we write the code in GLSL ,HLSL .</a:t>
            </a:r>
          </a:p>
          <a:p>
            <a:r>
              <a:rPr lang="en-US" dirty="0"/>
              <a:t>We can write function for each vertex to transform it and for each pixel to color it.</a:t>
            </a:r>
          </a:p>
          <a:p>
            <a:r>
              <a:rPr lang="en-US" dirty="0"/>
              <a:t>GLSL stands for </a:t>
            </a:r>
            <a:r>
              <a:rPr lang="en-US" dirty="0" err="1"/>
              <a:t>openGl</a:t>
            </a:r>
            <a:r>
              <a:rPr lang="en-US" dirty="0"/>
              <a:t> </a:t>
            </a:r>
            <a:r>
              <a:rPr lang="en-US" dirty="0" err="1"/>
              <a:t>shadaing</a:t>
            </a:r>
            <a:r>
              <a:rPr lang="en-US" dirty="0"/>
              <a:t> Language</a:t>
            </a:r>
          </a:p>
          <a:p>
            <a:r>
              <a:rPr lang="en-US" dirty="0"/>
              <a:t>HLSL high Level Shading </a:t>
            </a:r>
            <a:r>
              <a:rPr lang="en-US" dirty="0" err="1"/>
              <a:t>Languag</a:t>
            </a:r>
            <a:r>
              <a:rPr lang="en-US" dirty="0"/>
              <a:t> </a:t>
            </a:r>
          </a:p>
          <a:p>
            <a:endParaRPr lang="en-IN" dirty="0"/>
          </a:p>
        </p:txBody>
      </p:sp>
    </p:spTree>
    <p:extLst>
      <p:ext uri="{BB962C8B-B14F-4D97-AF65-F5344CB8AC3E}">
        <p14:creationId xmlns:p14="http://schemas.microsoft.com/office/powerpoint/2010/main" val="3681070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Rectangle 12">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65981"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622" y="-2"/>
            <a:ext cx="12179371"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E9A4D-C245-9C4B-8412-B54759EE46C7}"/>
              </a:ext>
            </a:extLst>
          </p:cNvPr>
          <p:cNvSpPr>
            <a:spLocks noGrp="1"/>
          </p:cNvSpPr>
          <p:nvPr>
            <p:ph type="ctrTitle"/>
          </p:nvPr>
        </p:nvSpPr>
        <p:spPr>
          <a:xfrm>
            <a:off x="4221803" y="1201002"/>
            <a:ext cx="7208197" cy="2779619"/>
          </a:xfrm>
        </p:spPr>
        <p:txBody>
          <a:bodyPr anchor="b">
            <a:normAutofit/>
          </a:bodyPr>
          <a:lstStyle/>
          <a:p>
            <a:pPr algn="l"/>
            <a:r>
              <a:rPr lang="en-US" sz="4800">
                <a:solidFill>
                  <a:srgbClr val="FFFFFF"/>
                </a:solidFill>
              </a:rPr>
              <a:t>Weak 2</a:t>
            </a:r>
            <a:endParaRPr lang="en-IN" sz="4800">
              <a:solidFill>
                <a:srgbClr val="FFFFFF"/>
              </a:solidFill>
            </a:endParaRPr>
          </a:p>
        </p:txBody>
      </p:sp>
      <p:sp>
        <p:nvSpPr>
          <p:cNvPr id="17" name="Rectangle 16">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461" y="0"/>
            <a:ext cx="321436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92215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One in a crowd">
            <a:extLst>
              <a:ext uri="{FF2B5EF4-FFF2-40B4-BE49-F238E27FC236}">
                <a16:creationId xmlns:a16="http://schemas.microsoft.com/office/drawing/2014/main" id="{12689486-9A46-F99E-F5A0-F3528CB005E4}"/>
              </a:ext>
            </a:extLst>
          </p:cNvPr>
          <p:cNvPicPr>
            <a:picLocks noChangeAspect="1"/>
          </p:cNvPicPr>
          <p:nvPr/>
        </p:nvPicPr>
        <p:blipFill>
          <a:blip r:embed="rId2">
            <a:alphaModFix amt="50000"/>
          </a:blip>
          <a:srcRect t="7734" b="172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70DB31A4-FAB1-3B11-C443-15551A054F6B}"/>
              </a:ext>
            </a:extLst>
          </p:cNvPr>
          <p:cNvSpPr>
            <a:spLocks noGrp="1"/>
          </p:cNvSpPr>
          <p:nvPr>
            <p:ph type="ctrTitle"/>
          </p:nvPr>
        </p:nvSpPr>
        <p:spPr>
          <a:xfrm>
            <a:off x="1524000" y="1122362"/>
            <a:ext cx="9144000" cy="2900518"/>
          </a:xfrm>
        </p:spPr>
        <p:txBody>
          <a:bodyPr>
            <a:normAutofit/>
          </a:bodyPr>
          <a:lstStyle/>
          <a:p>
            <a:r>
              <a:rPr lang="en-US">
                <a:solidFill>
                  <a:srgbClr val="FFFFFF"/>
                </a:solidFill>
              </a:rPr>
              <a:t>Unity Beginner</a:t>
            </a:r>
            <a:endParaRPr lang="en-IN">
              <a:solidFill>
                <a:srgbClr val="FFFFFF"/>
              </a:solidFill>
            </a:endParaRPr>
          </a:p>
        </p:txBody>
      </p:sp>
    </p:spTree>
    <p:extLst>
      <p:ext uri="{BB962C8B-B14F-4D97-AF65-F5344CB8AC3E}">
        <p14:creationId xmlns:p14="http://schemas.microsoft.com/office/powerpoint/2010/main" val="166605815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9BCEA-C23C-0C38-E614-34631104F4E9}"/>
              </a:ext>
            </a:extLst>
          </p:cNvPr>
          <p:cNvSpPr>
            <a:spLocks noGrp="1"/>
          </p:cNvSpPr>
          <p:nvPr>
            <p:ph type="ctrTitle"/>
          </p:nvPr>
        </p:nvSpPr>
        <p:spPr>
          <a:xfrm>
            <a:off x="965505" y="623571"/>
            <a:ext cx="10260990" cy="3523885"/>
          </a:xfrm>
        </p:spPr>
        <p:txBody>
          <a:bodyPr>
            <a:normAutofit/>
          </a:bodyPr>
          <a:lstStyle/>
          <a:p>
            <a:pPr algn="ctr"/>
            <a:r>
              <a:rPr lang="en-US" sz="8000"/>
              <a:t>Unity Game Development</a:t>
            </a:r>
            <a:endParaRPr lang="en-IN" sz="8000"/>
          </a:p>
        </p:txBody>
      </p:sp>
    </p:spTree>
    <p:extLst>
      <p:ext uri="{BB962C8B-B14F-4D97-AF65-F5344CB8AC3E}">
        <p14:creationId xmlns:p14="http://schemas.microsoft.com/office/powerpoint/2010/main" val="2419363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CAAB-425F-16A2-96EB-4CE1703558E8}"/>
              </a:ext>
            </a:extLst>
          </p:cNvPr>
          <p:cNvSpPr>
            <a:spLocks noGrp="1"/>
          </p:cNvSpPr>
          <p:nvPr>
            <p:ph type="title"/>
          </p:nvPr>
        </p:nvSpPr>
        <p:spPr/>
        <p:txBody>
          <a:bodyPr/>
          <a:lstStyle/>
          <a:p>
            <a:r>
              <a:rPr lang="en-IN" b="1" i="0" u="sng" dirty="0">
                <a:solidFill>
                  <a:srgbClr val="1B2229"/>
                </a:solidFill>
                <a:effectLst/>
                <a:latin typeface="Roboto" panose="02000000000000000000" pitchFamily="2" charset="0"/>
              </a:rPr>
              <a:t>Basic Overview </a:t>
            </a:r>
            <a:br>
              <a:rPr lang="en-IN" b="1" i="0" u="sng" dirty="0">
                <a:solidFill>
                  <a:srgbClr val="1B2229"/>
                </a:solidFill>
                <a:effectLst/>
                <a:latin typeface="Roboto" panose="02000000000000000000" pitchFamily="2" charset="0"/>
              </a:rPr>
            </a:br>
            <a:endParaRPr lang="en-IN" u="sng" dirty="0"/>
          </a:p>
        </p:txBody>
      </p:sp>
      <p:sp>
        <p:nvSpPr>
          <p:cNvPr id="3" name="Content Placeholder 2">
            <a:extLst>
              <a:ext uri="{FF2B5EF4-FFF2-40B4-BE49-F238E27FC236}">
                <a16:creationId xmlns:a16="http://schemas.microsoft.com/office/drawing/2014/main" id="{C2ECB81F-C898-2BB5-AED3-084CCC09CFA8}"/>
              </a:ext>
            </a:extLst>
          </p:cNvPr>
          <p:cNvSpPr>
            <a:spLocks noGrp="1"/>
          </p:cNvSpPr>
          <p:nvPr>
            <p:ph idx="1"/>
          </p:nvPr>
        </p:nvSpPr>
        <p:spPr>
          <a:xfrm>
            <a:off x="386080" y="1747521"/>
            <a:ext cx="8887922" cy="4293842"/>
          </a:xfrm>
        </p:spPr>
        <p:txBody>
          <a:bodyPr/>
          <a:lstStyle/>
          <a:p>
            <a:r>
              <a:rPr lang="en-IN" b="1" i="0" dirty="0">
                <a:solidFill>
                  <a:srgbClr val="1B2229"/>
                </a:solidFill>
                <a:effectLst/>
                <a:latin typeface="Roboto" panose="02000000000000000000" pitchFamily="2" charset="0"/>
              </a:rPr>
              <a:t>The Project window</a:t>
            </a:r>
            <a:endParaRPr lang="en-US" b="1" i="0" dirty="0">
              <a:solidFill>
                <a:srgbClr val="1B2229"/>
              </a:solidFill>
              <a:effectLst/>
              <a:latin typeface="Roboto" panose="02000000000000000000" pitchFamily="2" charset="0"/>
            </a:endParaRPr>
          </a:p>
          <a:p>
            <a:pPr marL="0" indent="0">
              <a:buNone/>
            </a:pPr>
            <a:r>
              <a:rPr lang="en-US" b="1" dirty="0">
                <a:solidFill>
                  <a:srgbClr val="1B2229"/>
                </a:solidFill>
                <a:latin typeface="Roboto" panose="02000000000000000000" pitchFamily="2" charset="0"/>
              </a:rPr>
              <a:t>           </a:t>
            </a:r>
            <a:r>
              <a:rPr lang="en-US" b="1" dirty="0">
                <a:solidFill>
                  <a:srgbClr val="1B2229"/>
                </a:solidFill>
                <a:latin typeface="Roboto" panose="02000000000000000000" pitchFamily="2" charset="0"/>
                <a:sym typeface="Wingdings" panose="05000000000000000000" pitchFamily="2" charset="2"/>
              </a:rPr>
              <a:t></a:t>
            </a:r>
            <a:r>
              <a:rPr lang="en-US" dirty="0"/>
              <a:t>The </a:t>
            </a:r>
            <a:r>
              <a:rPr lang="en-US" b="1" dirty="0"/>
              <a:t>Project window</a:t>
            </a:r>
            <a:r>
              <a:rPr lang="en-US" dirty="0"/>
              <a:t> shows all the files and folders in your project. It helps you find and organize your assets and other files. When you create a new project, this window usually opens automatically. But if you don’t see it or it gets closed, you can open it again by going to the top menu: </a:t>
            </a:r>
            <a:r>
              <a:rPr lang="en-US" b="1" dirty="0"/>
              <a:t>Window &gt; General &gt; Project</a:t>
            </a:r>
            <a:r>
              <a:rPr lang="en-US" dirty="0"/>
              <a:t>, or by pressing </a:t>
            </a:r>
            <a:r>
              <a:rPr lang="en-US" b="1" dirty="0"/>
              <a:t>Ctrl + 5</a:t>
            </a:r>
            <a:r>
              <a:rPr lang="en-US" dirty="0"/>
              <a:t> on your keyboard.</a:t>
            </a:r>
          </a:p>
          <a:p>
            <a:r>
              <a:rPr lang="en-IN" b="1" i="0" dirty="0">
                <a:solidFill>
                  <a:srgbClr val="1B2229"/>
                </a:solidFill>
                <a:effectLst/>
                <a:latin typeface="Roboto" panose="02000000000000000000" pitchFamily="2" charset="0"/>
              </a:rPr>
              <a:t>Scene view</a:t>
            </a:r>
          </a:p>
          <a:p>
            <a:pPr marL="0" indent="0">
              <a:buNone/>
            </a:pPr>
            <a:r>
              <a:rPr lang="en-IN" dirty="0"/>
              <a:t>        </a:t>
            </a:r>
            <a:r>
              <a:rPr lang="en-IN" dirty="0">
                <a:sym typeface="Wingdings" panose="05000000000000000000" pitchFamily="2" charset="2"/>
              </a:rPr>
              <a:t></a:t>
            </a:r>
            <a:r>
              <a:rPr lang="en-US" dirty="0"/>
              <a:t> The </a:t>
            </a:r>
            <a:r>
              <a:rPr lang="en-US" b="1" dirty="0"/>
              <a:t>Scene view</a:t>
            </a:r>
            <a:r>
              <a:rPr lang="en-US" dirty="0"/>
              <a:t> is where you can see and work with the world you are building in Unity. In this view, you can select and move things like objects, characters, cameras, and lights to set up your game scene.</a:t>
            </a:r>
          </a:p>
        </p:txBody>
      </p:sp>
    </p:spTree>
    <p:extLst>
      <p:ext uri="{BB962C8B-B14F-4D97-AF65-F5344CB8AC3E}">
        <p14:creationId xmlns:p14="http://schemas.microsoft.com/office/powerpoint/2010/main" val="3989779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A6B0-82D9-A0D9-7E59-B03A2404ACAC}"/>
              </a:ext>
            </a:extLst>
          </p:cNvPr>
          <p:cNvSpPr>
            <a:spLocks noGrp="1"/>
          </p:cNvSpPr>
          <p:nvPr>
            <p:ph type="title"/>
          </p:nvPr>
        </p:nvSpPr>
        <p:spPr/>
        <p:txBody>
          <a:bodyPr/>
          <a:lstStyle/>
          <a:p>
            <a:r>
              <a:rPr lang="en-US" dirty="0" err="1"/>
              <a:t>RigidBody</a:t>
            </a:r>
            <a:r>
              <a:rPr lang="en-US" dirty="0"/>
              <a:t> :-</a:t>
            </a:r>
            <a:endParaRPr lang="en-IN" dirty="0"/>
          </a:p>
        </p:txBody>
      </p:sp>
      <p:sp>
        <p:nvSpPr>
          <p:cNvPr id="3" name="Content Placeholder 2">
            <a:extLst>
              <a:ext uri="{FF2B5EF4-FFF2-40B4-BE49-F238E27FC236}">
                <a16:creationId xmlns:a16="http://schemas.microsoft.com/office/drawing/2014/main" id="{4FEF4E26-0046-3618-E11D-4410061FA4A4}"/>
              </a:ext>
            </a:extLst>
          </p:cNvPr>
          <p:cNvSpPr>
            <a:spLocks noGrp="1"/>
          </p:cNvSpPr>
          <p:nvPr>
            <p:ph idx="1"/>
          </p:nvPr>
        </p:nvSpPr>
        <p:spPr/>
        <p:txBody>
          <a:bodyPr>
            <a:noAutofit/>
          </a:bodyPr>
          <a:lstStyle/>
          <a:p>
            <a:pPr marL="0" indent="0" algn="just">
              <a:buNone/>
            </a:pPr>
            <a:r>
              <a:rPr lang="en-IN" sz="1400" dirty="0"/>
              <a:t>public class Example : </a:t>
            </a:r>
            <a:r>
              <a:rPr lang="en-IN" sz="1400" dirty="0" err="1"/>
              <a:t>MonoBehaviour</a:t>
            </a:r>
            <a:r>
              <a:rPr lang="en-IN" sz="1400" dirty="0"/>
              <a:t>{</a:t>
            </a:r>
          </a:p>
          <a:p>
            <a:pPr marL="0" indent="0" algn="just">
              <a:buNone/>
            </a:pPr>
            <a:r>
              <a:rPr lang="en-IN" sz="1400" dirty="0"/>
              <a:t>   </a:t>
            </a:r>
            <a:r>
              <a:rPr lang="en-IN" sz="1400" dirty="0" err="1"/>
              <a:t>Rigidbody</a:t>
            </a:r>
            <a:r>
              <a:rPr lang="en-IN" sz="1400" dirty="0"/>
              <a:t> </a:t>
            </a:r>
            <a:r>
              <a:rPr lang="en-IN" sz="1400" dirty="0" err="1"/>
              <a:t>rb</a:t>
            </a:r>
            <a:r>
              <a:rPr lang="en-IN" sz="1400" dirty="0"/>
              <a:t>;  // Declare a variable to hold </a:t>
            </a:r>
            <a:r>
              <a:rPr lang="en-IN" sz="1400" dirty="0" err="1"/>
              <a:t>Rigidbody</a:t>
            </a:r>
            <a:endParaRPr lang="en-IN" sz="1400" dirty="0"/>
          </a:p>
          <a:p>
            <a:pPr marL="0" indent="0" algn="just">
              <a:buNone/>
            </a:pPr>
            <a:r>
              <a:rPr lang="en-IN" sz="1400" dirty="0"/>
              <a:t>    void Start(){</a:t>
            </a:r>
          </a:p>
          <a:p>
            <a:pPr marL="0" indent="0" algn="just">
              <a:buNone/>
            </a:pPr>
            <a:r>
              <a:rPr lang="en-IN" sz="1400" dirty="0"/>
              <a:t>        </a:t>
            </a:r>
            <a:r>
              <a:rPr lang="en-IN" sz="1400" dirty="0" err="1"/>
              <a:t>rb</a:t>
            </a:r>
            <a:r>
              <a:rPr lang="en-IN" sz="1400" dirty="0"/>
              <a:t> = </a:t>
            </a:r>
            <a:r>
              <a:rPr lang="en-IN" sz="1400" dirty="0" err="1"/>
              <a:t>GetComponent</a:t>
            </a:r>
            <a:r>
              <a:rPr lang="en-IN" sz="1400" dirty="0"/>
              <a:t>&lt;</a:t>
            </a:r>
            <a:r>
              <a:rPr lang="en-IN" sz="1400" dirty="0" err="1"/>
              <a:t>Rigidbody</a:t>
            </a:r>
            <a:r>
              <a:rPr lang="en-IN" sz="1400" dirty="0"/>
              <a:t>&gt;();  // Find and store the </a:t>
            </a:r>
            <a:r>
              <a:rPr lang="en-IN" sz="1400" dirty="0" err="1"/>
              <a:t>Rigidbody</a:t>
            </a:r>
            <a:r>
              <a:rPr lang="en-IN" sz="1400" dirty="0"/>
              <a:t> attached to this </a:t>
            </a:r>
            <a:r>
              <a:rPr lang="en-IN" sz="1400" dirty="0" err="1"/>
              <a:t>GameObject</a:t>
            </a:r>
            <a:endParaRPr lang="en-IN" sz="1400" dirty="0"/>
          </a:p>
          <a:p>
            <a:pPr marL="0" indent="0" algn="just">
              <a:buNone/>
            </a:pPr>
            <a:r>
              <a:rPr lang="en-IN" sz="1400" dirty="0"/>
              <a:t>    }  void Update(){</a:t>
            </a:r>
          </a:p>
          <a:p>
            <a:pPr marL="0" indent="0" algn="just">
              <a:buNone/>
            </a:pPr>
            <a:r>
              <a:rPr lang="en-IN" sz="1400" dirty="0"/>
              <a:t>        if (</a:t>
            </a:r>
            <a:r>
              <a:rPr lang="en-IN" sz="1400" dirty="0" err="1"/>
              <a:t>Input.GetKeyDown</a:t>
            </a:r>
            <a:r>
              <a:rPr lang="en-IN" sz="1400" dirty="0"/>
              <a:t>(</a:t>
            </a:r>
            <a:r>
              <a:rPr lang="en-IN" sz="1400" dirty="0" err="1"/>
              <a:t>KeyCode.Space</a:t>
            </a:r>
            <a:r>
              <a:rPr lang="en-IN" sz="1400" dirty="0"/>
              <a:t>))</a:t>
            </a:r>
          </a:p>
          <a:p>
            <a:pPr marL="0" indent="0" algn="just">
              <a:buNone/>
            </a:pPr>
            <a:r>
              <a:rPr lang="en-IN" sz="1400" dirty="0"/>
              <a:t>        {</a:t>
            </a:r>
          </a:p>
          <a:p>
            <a:pPr marL="0" indent="0" algn="just">
              <a:buNone/>
            </a:pPr>
            <a:r>
              <a:rPr lang="en-IN" sz="1400" dirty="0"/>
              <a:t>            </a:t>
            </a:r>
            <a:r>
              <a:rPr lang="en-IN" sz="1400" dirty="0" err="1"/>
              <a:t>rb.AddForce</a:t>
            </a:r>
            <a:r>
              <a:rPr lang="en-IN" sz="1400" dirty="0"/>
              <a:t>(Vector3.up * 300);  // Use the </a:t>
            </a:r>
            <a:r>
              <a:rPr lang="en-IN" sz="1400" dirty="0" err="1"/>
              <a:t>Rigidbody</a:t>
            </a:r>
            <a:r>
              <a:rPr lang="en-IN" sz="1400" dirty="0"/>
              <a:t> to add force</a:t>
            </a:r>
          </a:p>
          <a:p>
            <a:pPr marL="0" indent="0" algn="just">
              <a:buNone/>
            </a:pPr>
            <a:r>
              <a:rPr lang="en-IN" sz="1400" dirty="0"/>
              <a:t>        }</a:t>
            </a:r>
          </a:p>
          <a:p>
            <a:pPr marL="0" indent="0" algn="just">
              <a:buNone/>
            </a:pPr>
            <a:r>
              <a:rPr lang="en-IN" sz="1400" dirty="0"/>
              <a:t>    }</a:t>
            </a:r>
          </a:p>
          <a:p>
            <a:pPr marL="0" indent="0" algn="just">
              <a:buNone/>
            </a:pPr>
            <a:r>
              <a:rPr lang="en-IN" sz="1400" dirty="0"/>
              <a:t>}</a:t>
            </a:r>
          </a:p>
          <a:p>
            <a:pPr marL="0" indent="0" algn="just">
              <a:buNone/>
            </a:pPr>
            <a:endParaRPr lang="en-IN" sz="1400" dirty="0"/>
          </a:p>
        </p:txBody>
      </p:sp>
    </p:spTree>
    <p:extLst>
      <p:ext uri="{BB962C8B-B14F-4D97-AF65-F5344CB8AC3E}">
        <p14:creationId xmlns:p14="http://schemas.microsoft.com/office/powerpoint/2010/main" val="662280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F535F4A-D461-0E3E-7CFD-9B11A49F882B}"/>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Life cycle of </a:t>
            </a:r>
            <a:r>
              <a:rPr lang="en-IN" sz="4800">
                <a:solidFill>
                  <a:srgbClr val="FFFFFF"/>
                </a:solidFill>
              </a:rPr>
              <a:t>MonoBehaviour</a:t>
            </a:r>
          </a:p>
        </p:txBody>
      </p:sp>
      <p:sp>
        <p:nvSpPr>
          <p:cNvPr id="39" name="Rectangle 3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58615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F2DE-CB35-93E0-01B8-33AC8CCC1A78}"/>
              </a:ext>
            </a:extLst>
          </p:cNvPr>
          <p:cNvSpPr>
            <a:spLocks noGrp="1"/>
          </p:cNvSpPr>
          <p:nvPr>
            <p:ph type="title"/>
          </p:nvPr>
        </p:nvSpPr>
        <p:spPr/>
        <p:txBody>
          <a:bodyPr/>
          <a:lstStyle/>
          <a:p>
            <a:r>
              <a:rPr lang="en-US" dirty="0"/>
              <a:t>Awake()</a:t>
            </a:r>
            <a:endParaRPr lang="en-IN" dirty="0"/>
          </a:p>
        </p:txBody>
      </p:sp>
      <p:sp>
        <p:nvSpPr>
          <p:cNvPr id="3" name="Content Placeholder 2">
            <a:extLst>
              <a:ext uri="{FF2B5EF4-FFF2-40B4-BE49-F238E27FC236}">
                <a16:creationId xmlns:a16="http://schemas.microsoft.com/office/drawing/2014/main" id="{A39AD38A-437D-17FE-56C7-F19A1C18689C}"/>
              </a:ext>
            </a:extLst>
          </p:cNvPr>
          <p:cNvSpPr>
            <a:spLocks noGrp="1"/>
          </p:cNvSpPr>
          <p:nvPr>
            <p:ph idx="1"/>
          </p:nvPr>
        </p:nvSpPr>
        <p:spPr/>
        <p:txBody>
          <a:bodyPr/>
          <a:lstStyle/>
          <a:p>
            <a:r>
              <a:rPr lang="en-US" dirty="0"/>
              <a:t>Awake() is one of Unity’s lifecycle methods in </a:t>
            </a:r>
            <a:r>
              <a:rPr lang="en-US" dirty="0" err="1"/>
              <a:t>MonoBehaviour</a:t>
            </a:r>
            <a:endParaRPr lang="en-US" dirty="0"/>
          </a:p>
          <a:p>
            <a:r>
              <a:rPr lang="en-US" dirty="0"/>
              <a:t>It is called once, automatically by Unity when the script instance is loaded, before the game starts running.</a:t>
            </a:r>
          </a:p>
          <a:p>
            <a:pPr lvl="2"/>
            <a:r>
              <a:rPr lang="en-US" dirty="0"/>
              <a:t>a script instance refers to a specific copy of a script that is attached to a </a:t>
            </a:r>
            <a:r>
              <a:rPr lang="en-US" dirty="0" err="1"/>
              <a:t>GameObject</a:t>
            </a:r>
            <a:r>
              <a:rPr lang="en-US" dirty="0"/>
              <a:t> in your scene</a:t>
            </a:r>
          </a:p>
          <a:p>
            <a:r>
              <a:rPr lang="en-IN" dirty="0"/>
              <a:t>Why is this important?</a:t>
            </a:r>
            <a:endParaRPr lang="en-US" dirty="0"/>
          </a:p>
          <a:p>
            <a:pPr lvl="2"/>
            <a:r>
              <a:rPr lang="en-US" dirty="0"/>
              <a:t>Each object that has your script gets its own separate copy (instance) of that script, so they can work independently.</a:t>
            </a:r>
          </a:p>
          <a:p>
            <a:r>
              <a:rPr lang="en-IN" dirty="0"/>
              <a:t>Unity automatically called Awake method is called before start method.</a:t>
            </a:r>
          </a:p>
          <a:p>
            <a:endParaRPr lang="en-IN" dirty="0"/>
          </a:p>
        </p:txBody>
      </p:sp>
    </p:spTree>
    <p:extLst>
      <p:ext uri="{BB962C8B-B14F-4D97-AF65-F5344CB8AC3E}">
        <p14:creationId xmlns:p14="http://schemas.microsoft.com/office/powerpoint/2010/main" val="39591608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4402-3EF1-1E97-92FC-922D38904B41}"/>
              </a:ext>
            </a:extLst>
          </p:cNvPr>
          <p:cNvSpPr>
            <a:spLocks noGrp="1"/>
          </p:cNvSpPr>
          <p:nvPr>
            <p:ph type="title"/>
          </p:nvPr>
        </p:nvSpPr>
        <p:spPr/>
        <p:txBody>
          <a:bodyPr/>
          <a:lstStyle/>
          <a:p>
            <a:r>
              <a:rPr lang="en-US" dirty="0"/>
              <a:t>Used Case:-</a:t>
            </a:r>
            <a:endParaRPr lang="en-IN" dirty="0"/>
          </a:p>
        </p:txBody>
      </p:sp>
      <p:sp>
        <p:nvSpPr>
          <p:cNvPr id="3" name="Content Placeholder 2">
            <a:extLst>
              <a:ext uri="{FF2B5EF4-FFF2-40B4-BE49-F238E27FC236}">
                <a16:creationId xmlns:a16="http://schemas.microsoft.com/office/drawing/2014/main" id="{7A53D77B-A96E-A3CF-B24A-5C82FA415EF9}"/>
              </a:ext>
            </a:extLst>
          </p:cNvPr>
          <p:cNvSpPr>
            <a:spLocks noGrp="1"/>
          </p:cNvSpPr>
          <p:nvPr>
            <p:ph idx="1"/>
          </p:nvPr>
        </p:nvSpPr>
        <p:spPr/>
        <p:txBody>
          <a:bodyPr/>
          <a:lstStyle/>
          <a:p>
            <a:r>
              <a:rPr lang="en-IN" dirty="0"/>
              <a:t>Setting Up Audio Manager</a:t>
            </a:r>
          </a:p>
          <a:p>
            <a:r>
              <a:rPr lang="en-IN" dirty="0"/>
              <a:t>Loading Player Data</a:t>
            </a:r>
          </a:p>
          <a:p>
            <a:pPr lvl="2"/>
            <a:r>
              <a:rPr lang="en-US" dirty="0"/>
              <a:t>Before the game starts, you want to load saved player data (like their score, inventory, or position). So when the game starts, the player appears exactly where they left off.</a:t>
            </a:r>
          </a:p>
          <a:p>
            <a:endParaRPr lang="en-IN" dirty="0"/>
          </a:p>
        </p:txBody>
      </p:sp>
    </p:spTree>
    <p:extLst>
      <p:ext uri="{BB962C8B-B14F-4D97-AF65-F5344CB8AC3E}">
        <p14:creationId xmlns:p14="http://schemas.microsoft.com/office/powerpoint/2010/main" val="323721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E0B4-C0B1-8D96-8146-267D89B61B67}"/>
              </a:ext>
            </a:extLst>
          </p:cNvPr>
          <p:cNvSpPr>
            <a:spLocks noGrp="1"/>
          </p:cNvSpPr>
          <p:nvPr>
            <p:ph type="title"/>
          </p:nvPr>
        </p:nvSpPr>
        <p:spPr/>
        <p:txBody>
          <a:bodyPr/>
          <a:lstStyle/>
          <a:p>
            <a:r>
              <a:rPr lang="en-US" dirty="0" err="1"/>
              <a:t>onEnable</a:t>
            </a:r>
            <a:r>
              <a:rPr lang="en-US" dirty="0"/>
              <a:t>()</a:t>
            </a:r>
            <a:endParaRPr lang="en-IN" dirty="0"/>
          </a:p>
        </p:txBody>
      </p:sp>
      <p:sp>
        <p:nvSpPr>
          <p:cNvPr id="3" name="Content Placeholder 2">
            <a:extLst>
              <a:ext uri="{FF2B5EF4-FFF2-40B4-BE49-F238E27FC236}">
                <a16:creationId xmlns:a16="http://schemas.microsoft.com/office/drawing/2014/main" id="{07E4FAA0-37AB-BD7E-AE81-4942ACF20E2B}"/>
              </a:ext>
            </a:extLst>
          </p:cNvPr>
          <p:cNvSpPr>
            <a:spLocks noGrp="1"/>
          </p:cNvSpPr>
          <p:nvPr>
            <p:ph idx="1"/>
          </p:nvPr>
        </p:nvSpPr>
        <p:spPr/>
        <p:txBody>
          <a:bodyPr>
            <a:normAutofit/>
          </a:bodyPr>
          <a:lstStyle/>
          <a:p>
            <a:r>
              <a:rPr lang="en-US" dirty="0" err="1"/>
              <a:t>OnEnable</a:t>
            </a:r>
            <a:r>
              <a:rPr lang="en-US" dirty="0"/>
              <a:t>() is a special method in Unity that is automatically called by the engine every time a script or </a:t>
            </a:r>
            <a:r>
              <a:rPr lang="en-US" dirty="0" err="1"/>
              <a:t>GameObject</a:t>
            </a:r>
            <a:r>
              <a:rPr lang="en-US" dirty="0"/>
              <a:t> is enabled.</a:t>
            </a:r>
            <a:br>
              <a:rPr lang="en-US" dirty="0"/>
            </a:br>
            <a:r>
              <a:rPr lang="en-US" dirty="0"/>
              <a:t>Example:- Smart Tv ,</a:t>
            </a:r>
          </a:p>
          <a:p>
            <a:endParaRPr lang="en-US" dirty="0"/>
          </a:p>
        </p:txBody>
      </p:sp>
    </p:spTree>
    <p:extLst>
      <p:ext uri="{BB962C8B-B14F-4D97-AF65-F5344CB8AC3E}">
        <p14:creationId xmlns:p14="http://schemas.microsoft.com/office/powerpoint/2010/main" val="810428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6D1B-B2EE-41A7-726D-E9D7323E5D28}"/>
              </a:ext>
            </a:extLst>
          </p:cNvPr>
          <p:cNvSpPr>
            <a:spLocks noGrp="1"/>
          </p:cNvSpPr>
          <p:nvPr>
            <p:ph type="ctrTitle"/>
          </p:nvPr>
        </p:nvSpPr>
        <p:spPr>
          <a:xfrm>
            <a:off x="4669998" y="802298"/>
            <a:ext cx="6384854" cy="5116985"/>
          </a:xfrm>
        </p:spPr>
        <p:txBody>
          <a:bodyPr anchor="ctr">
            <a:normAutofit/>
          </a:bodyPr>
          <a:lstStyle/>
          <a:p>
            <a:r>
              <a:rPr lang="en-US" sz="6000"/>
              <a:t>Important Component in Unity</a:t>
            </a:r>
            <a:endParaRPr lang="en-IN" sz="6000"/>
          </a:p>
        </p:txBody>
      </p:sp>
    </p:spTree>
    <p:extLst>
      <p:ext uri="{BB962C8B-B14F-4D97-AF65-F5344CB8AC3E}">
        <p14:creationId xmlns:p14="http://schemas.microsoft.com/office/powerpoint/2010/main" val="1688762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5B77-42AB-C56F-35F5-8BFFEA9A82AF}"/>
              </a:ext>
            </a:extLst>
          </p:cNvPr>
          <p:cNvSpPr>
            <a:spLocks noGrp="1"/>
          </p:cNvSpPr>
          <p:nvPr>
            <p:ph type="title"/>
          </p:nvPr>
        </p:nvSpPr>
        <p:spPr/>
        <p:txBody>
          <a:bodyPr/>
          <a:lstStyle/>
          <a:p>
            <a:r>
              <a:rPr lang="en-US" dirty="0"/>
              <a:t>What is Hierarchy in Unity?</a:t>
            </a:r>
            <a:endParaRPr lang="en-IN" dirty="0"/>
          </a:p>
        </p:txBody>
      </p:sp>
      <p:sp>
        <p:nvSpPr>
          <p:cNvPr id="3" name="Content Placeholder 2">
            <a:extLst>
              <a:ext uri="{FF2B5EF4-FFF2-40B4-BE49-F238E27FC236}">
                <a16:creationId xmlns:a16="http://schemas.microsoft.com/office/drawing/2014/main" id="{5F54B4B5-59EA-3DB4-18C1-C49004903478}"/>
              </a:ext>
            </a:extLst>
          </p:cNvPr>
          <p:cNvSpPr>
            <a:spLocks noGrp="1"/>
          </p:cNvSpPr>
          <p:nvPr>
            <p:ph idx="1"/>
          </p:nvPr>
        </p:nvSpPr>
        <p:spPr/>
        <p:txBody>
          <a:bodyPr/>
          <a:lstStyle/>
          <a:p>
            <a:r>
              <a:rPr lang="en-US" dirty="0"/>
              <a:t>The Hierarchy is a panel in Unity where you see all the objects in your current scene.</a:t>
            </a:r>
          </a:p>
          <a:p>
            <a:r>
              <a:rPr lang="en-US" dirty="0"/>
              <a:t>It shows a list of everything like cameras, lights, characters, and other game objects.</a:t>
            </a:r>
          </a:p>
          <a:p>
            <a:r>
              <a:rPr lang="en-US" dirty="0"/>
              <a:t>It helps you organize and keep track of your scene’s parts.</a:t>
            </a:r>
          </a:p>
          <a:p>
            <a:endParaRPr lang="en-IN" dirty="0"/>
          </a:p>
        </p:txBody>
      </p:sp>
    </p:spTree>
    <p:extLst>
      <p:ext uri="{BB962C8B-B14F-4D97-AF65-F5344CB8AC3E}">
        <p14:creationId xmlns:p14="http://schemas.microsoft.com/office/powerpoint/2010/main" val="41215231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EB786-3FF4-BEAC-480D-09D1FF5B69AE}"/>
              </a:ext>
            </a:extLst>
          </p:cNvPr>
          <p:cNvSpPr>
            <a:spLocks noGrp="1"/>
          </p:cNvSpPr>
          <p:nvPr>
            <p:ph type="title"/>
          </p:nvPr>
        </p:nvSpPr>
        <p:spPr/>
        <p:txBody>
          <a:bodyPr/>
          <a:lstStyle/>
          <a:p>
            <a:r>
              <a:rPr lang="en-IN" dirty="0"/>
              <a:t>How does it work?</a:t>
            </a:r>
          </a:p>
        </p:txBody>
      </p:sp>
      <p:sp>
        <p:nvSpPr>
          <p:cNvPr id="3" name="Content Placeholder 2">
            <a:extLst>
              <a:ext uri="{FF2B5EF4-FFF2-40B4-BE49-F238E27FC236}">
                <a16:creationId xmlns:a16="http://schemas.microsoft.com/office/drawing/2014/main" id="{BE1CD63F-54BB-37FB-EBC3-80763CFEA5CC}"/>
              </a:ext>
            </a:extLst>
          </p:cNvPr>
          <p:cNvSpPr>
            <a:spLocks noGrp="1"/>
          </p:cNvSpPr>
          <p:nvPr>
            <p:ph idx="1"/>
          </p:nvPr>
        </p:nvSpPr>
        <p:spPr/>
        <p:txBody>
          <a:bodyPr>
            <a:normAutofit lnSpcReduction="10000"/>
          </a:bodyPr>
          <a:lstStyle/>
          <a:p>
            <a:r>
              <a:rPr lang="en-US" dirty="0"/>
              <a:t>Each item in the Hierarchy is a </a:t>
            </a:r>
            <a:r>
              <a:rPr lang="en-US" dirty="0" err="1"/>
              <a:t>GameObject</a:t>
            </a:r>
            <a:r>
              <a:rPr lang="en-US" dirty="0"/>
              <a:t>.</a:t>
            </a:r>
          </a:p>
          <a:p>
            <a:r>
              <a:rPr lang="en-US" dirty="0" err="1"/>
              <a:t>GameObjects</a:t>
            </a:r>
            <a:r>
              <a:rPr lang="en-US" dirty="0"/>
              <a:t> can be parents or children.</a:t>
            </a:r>
          </a:p>
          <a:p>
            <a:r>
              <a:rPr lang="en-US" dirty="0"/>
              <a:t>If one </a:t>
            </a:r>
            <a:r>
              <a:rPr lang="en-US" dirty="0" err="1"/>
              <a:t>GameObject</a:t>
            </a:r>
            <a:r>
              <a:rPr lang="en-US" dirty="0"/>
              <a:t> is inside another, the inside one is called a child, and the outside one is the parent.</a:t>
            </a:r>
          </a:p>
          <a:p>
            <a:r>
              <a:rPr lang="en-US" dirty="0"/>
              <a:t>This means children move, rotate, or scale with their parent.</a:t>
            </a:r>
            <a:br>
              <a:rPr lang="en-US" dirty="0"/>
            </a:br>
            <a:r>
              <a:rPr lang="en-US" dirty="0"/>
              <a:t>   Example:-</a:t>
            </a:r>
          </a:p>
          <a:p>
            <a:pPr lvl="2"/>
            <a:r>
              <a:rPr lang="en-US" dirty="0"/>
              <a:t>Imagine a </a:t>
            </a:r>
            <a:r>
              <a:rPr lang="en-US" b="1" dirty="0"/>
              <a:t>car</a:t>
            </a:r>
            <a:r>
              <a:rPr lang="en-US" dirty="0"/>
              <a:t> </a:t>
            </a:r>
            <a:r>
              <a:rPr lang="en-US" dirty="0" err="1"/>
              <a:t>GameObject</a:t>
            </a:r>
            <a:r>
              <a:rPr lang="en-US" dirty="0"/>
              <a:t> (parent).</a:t>
            </a:r>
          </a:p>
          <a:p>
            <a:pPr lvl="2"/>
            <a:r>
              <a:rPr lang="en-US" dirty="0"/>
              <a:t>Inside it, you have wheels (children).</a:t>
            </a:r>
          </a:p>
          <a:p>
            <a:pPr lvl="2"/>
            <a:r>
              <a:rPr lang="en-US" dirty="0"/>
              <a:t>If you move the car, the wheels move with it.</a:t>
            </a:r>
          </a:p>
          <a:p>
            <a:pPr lvl="2"/>
            <a:r>
              <a:rPr lang="en-US" dirty="0"/>
              <a:t>But if you move a wheel alone, only that wheel moves.</a:t>
            </a:r>
            <a:br>
              <a:rPr lang="en-US" dirty="0"/>
            </a:br>
            <a:r>
              <a:rPr lang="en-US" dirty="0"/>
              <a:t>  </a:t>
            </a:r>
            <a:endParaRPr lang="en-IN" dirty="0"/>
          </a:p>
        </p:txBody>
      </p:sp>
    </p:spTree>
    <p:extLst>
      <p:ext uri="{BB962C8B-B14F-4D97-AF65-F5344CB8AC3E}">
        <p14:creationId xmlns:p14="http://schemas.microsoft.com/office/powerpoint/2010/main" val="27063878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15C0-3074-386C-EC5A-24F4D23B4073}"/>
              </a:ext>
            </a:extLst>
          </p:cNvPr>
          <p:cNvSpPr>
            <a:spLocks noGrp="1"/>
          </p:cNvSpPr>
          <p:nvPr>
            <p:ph type="title"/>
          </p:nvPr>
        </p:nvSpPr>
        <p:spPr/>
        <p:txBody>
          <a:bodyPr/>
          <a:lstStyle/>
          <a:p>
            <a:r>
              <a:rPr lang="en-IN" b="0" i="0" dirty="0">
                <a:solidFill>
                  <a:srgbClr val="000000"/>
                </a:solidFill>
                <a:effectLst/>
                <a:latin typeface="Calibri" panose="020F0502020204030204" pitchFamily="34" charset="0"/>
              </a:rPr>
              <a:t>Inspector</a:t>
            </a:r>
            <a:endParaRPr lang="en-IN" dirty="0"/>
          </a:p>
        </p:txBody>
      </p:sp>
      <p:sp>
        <p:nvSpPr>
          <p:cNvPr id="3" name="Content Placeholder 2">
            <a:extLst>
              <a:ext uri="{FF2B5EF4-FFF2-40B4-BE49-F238E27FC236}">
                <a16:creationId xmlns:a16="http://schemas.microsoft.com/office/drawing/2014/main" id="{92D87611-FD5F-1734-A628-B7DB6214D48A}"/>
              </a:ext>
            </a:extLst>
          </p:cNvPr>
          <p:cNvSpPr>
            <a:spLocks noGrp="1"/>
          </p:cNvSpPr>
          <p:nvPr>
            <p:ph idx="1"/>
          </p:nvPr>
        </p:nvSpPr>
        <p:spPr/>
        <p:txBody>
          <a:bodyPr>
            <a:normAutofit/>
          </a:bodyPr>
          <a:lstStyle/>
          <a:p>
            <a:r>
              <a:rPr lang="en-US" dirty="0"/>
              <a:t>The Inspector is a panel in Unity where you can see and edit details of the selected </a:t>
            </a:r>
            <a:r>
              <a:rPr lang="en-US" dirty="0" err="1"/>
              <a:t>GameObject</a:t>
            </a:r>
            <a:r>
              <a:rPr lang="en-US" dirty="0"/>
              <a:t>.</a:t>
            </a:r>
          </a:p>
          <a:p>
            <a:r>
              <a:rPr lang="en-US" dirty="0"/>
              <a:t>Whenever you click on an object in the Hierarchy or Scene, the Inspector shows everything about that object.</a:t>
            </a:r>
          </a:p>
          <a:p>
            <a:r>
              <a:rPr lang="en-US" dirty="0"/>
              <a:t>What does the Inspector show?</a:t>
            </a:r>
          </a:p>
          <a:p>
            <a:pPr lvl="2"/>
            <a:r>
              <a:rPr lang="en-US" dirty="0"/>
              <a:t>Name of the </a:t>
            </a:r>
            <a:r>
              <a:rPr lang="en-US" dirty="0" err="1"/>
              <a:t>GameObject</a:t>
            </a:r>
            <a:r>
              <a:rPr lang="en-US" dirty="0"/>
              <a:t>.</a:t>
            </a:r>
          </a:p>
          <a:p>
            <a:pPr lvl="2"/>
            <a:r>
              <a:rPr lang="en-US" dirty="0"/>
              <a:t>Transform: Position, Rotation, and Scale of the object in the scene.</a:t>
            </a:r>
          </a:p>
          <a:p>
            <a:pPr lvl="2"/>
            <a:r>
              <a:rPr lang="en-US" dirty="0"/>
              <a:t>Components: These are like building blocks or features added to the </a:t>
            </a:r>
            <a:r>
              <a:rPr lang="en-US" dirty="0" err="1"/>
              <a:t>GameObject</a:t>
            </a:r>
            <a:r>
              <a:rPr lang="en-US" dirty="0"/>
              <a:t>. They control how the object looks and behaves.</a:t>
            </a:r>
            <a:endParaRPr lang="en-IN" dirty="0"/>
          </a:p>
        </p:txBody>
      </p:sp>
    </p:spTree>
    <p:extLst>
      <p:ext uri="{BB962C8B-B14F-4D97-AF65-F5344CB8AC3E}">
        <p14:creationId xmlns:p14="http://schemas.microsoft.com/office/powerpoint/2010/main" val="26287807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239F9-AEBF-9946-B446-17A88FB08373}"/>
              </a:ext>
            </a:extLst>
          </p:cNvPr>
          <p:cNvSpPr>
            <a:spLocks noGrp="1"/>
          </p:cNvSpPr>
          <p:nvPr>
            <p:ph type="title"/>
          </p:nvPr>
        </p:nvSpPr>
        <p:spPr/>
        <p:txBody>
          <a:bodyPr/>
          <a:lstStyle/>
          <a:p>
            <a:r>
              <a:rPr lang="en-IN" dirty="0"/>
              <a:t>Why is Inspector important?</a:t>
            </a:r>
          </a:p>
        </p:txBody>
      </p:sp>
      <p:sp>
        <p:nvSpPr>
          <p:cNvPr id="3" name="Content Placeholder 2">
            <a:extLst>
              <a:ext uri="{FF2B5EF4-FFF2-40B4-BE49-F238E27FC236}">
                <a16:creationId xmlns:a16="http://schemas.microsoft.com/office/drawing/2014/main" id="{9453167E-DF8F-7E02-7F2D-C565F9E1A546}"/>
              </a:ext>
            </a:extLst>
          </p:cNvPr>
          <p:cNvSpPr>
            <a:spLocks noGrp="1"/>
          </p:cNvSpPr>
          <p:nvPr>
            <p:ph idx="1"/>
          </p:nvPr>
        </p:nvSpPr>
        <p:spPr/>
        <p:txBody>
          <a:bodyPr/>
          <a:lstStyle/>
          <a:p>
            <a:r>
              <a:rPr lang="en-US" dirty="0"/>
              <a:t>It lets you customize and control your objects without writing code.</a:t>
            </a:r>
          </a:p>
          <a:p>
            <a:r>
              <a:rPr lang="en-US" dirty="0"/>
              <a:t>You can quickly test changes and see how they affect the object.</a:t>
            </a:r>
          </a:p>
          <a:p>
            <a:r>
              <a:rPr lang="en-US" dirty="0"/>
              <a:t>It's where most of the interaction with your </a:t>
            </a:r>
            <a:r>
              <a:rPr lang="en-US" dirty="0" err="1"/>
              <a:t>GameObjects</a:t>
            </a:r>
            <a:r>
              <a:rPr lang="en-US" dirty="0"/>
              <a:t> happens.</a:t>
            </a:r>
            <a:endParaRPr lang="en-IN" dirty="0"/>
          </a:p>
        </p:txBody>
      </p:sp>
    </p:spTree>
    <p:extLst>
      <p:ext uri="{BB962C8B-B14F-4D97-AF65-F5344CB8AC3E}">
        <p14:creationId xmlns:p14="http://schemas.microsoft.com/office/powerpoint/2010/main" val="17048147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9FB22-C164-0D28-175C-020462AD2C5D}"/>
              </a:ext>
            </a:extLst>
          </p:cNvPr>
          <p:cNvSpPr>
            <a:spLocks noGrp="1"/>
          </p:cNvSpPr>
          <p:nvPr>
            <p:ph type="title"/>
          </p:nvPr>
        </p:nvSpPr>
        <p:spPr/>
        <p:txBody>
          <a:bodyPr/>
          <a:lstStyle/>
          <a:p>
            <a:r>
              <a:rPr lang="en-IN" b="1" dirty="0"/>
              <a:t>What’s a script?</a:t>
            </a:r>
            <a:br>
              <a:rPr lang="en-IN" dirty="0"/>
            </a:br>
            <a:endParaRPr lang="en-IN" dirty="0"/>
          </a:p>
        </p:txBody>
      </p:sp>
      <p:sp>
        <p:nvSpPr>
          <p:cNvPr id="3" name="Content Placeholder 2">
            <a:extLst>
              <a:ext uri="{FF2B5EF4-FFF2-40B4-BE49-F238E27FC236}">
                <a16:creationId xmlns:a16="http://schemas.microsoft.com/office/drawing/2014/main" id="{14B6D721-6982-094F-5BB0-C261A68F01DF}"/>
              </a:ext>
            </a:extLst>
          </p:cNvPr>
          <p:cNvSpPr>
            <a:spLocks noGrp="1"/>
          </p:cNvSpPr>
          <p:nvPr>
            <p:ph idx="1"/>
          </p:nvPr>
        </p:nvSpPr>
        <p:spPr/>
        <p:txBody>
          <a:bodyPr>
            <a:normAutofit/>
          </a:bodyPr>
          <a:lstStyle/>
          <a:p>
            <a:r>
              <a:rPr lang="en-US" dirty="0"/>
              <a:t>A script is a piece of code that tells a </a:t>
            </a:r>
            <a:r>
              <a:rPr lang="en-US" dirty="0" err="1"/>
              <a:t>GameObject</a:t>
            </a:r>
            <a:r>
              <a:rPr lang="en-US" dirty="0"/>
              <a:t> what to do — like making a character move or a door open.</a:t>
            </a:r>
          </a:p>
          <a:p>
            <a:r>
              <a:rPr lang="en-US" dirty="0"/>
              <a:t>How to add a script to a </a:t>
            </a:r>
            <a:r>
              <a:rPr lang="en-US" dirty="0" err="1"/>
              <a:t>GameObject</a:t>
            </a:r>
            <a:r>
              <a:rPr lang="en-US" dirty="0"/>
              <a:t>:-</a:t>
            </a:r>
            <a:br>
              <a:rPr lang="en-US" dirty="0"/>
            </a:br>
            <a:r>
              <a:rPr lang="en-US" dirty="0"/>
              <a:t> Step1:- Create a script file:</a:t>
            </a:r>
          </a:p>
          <a:p>
            <a:pPr marL="0" indent="0">
              <a:buNone/>
            </a:pPr>
            <a:r>
              <a:rPr lang="en-US" dirty="0"/>
              <a:t>    Step2:-Attach the script to a </a:t>
            </a:r>
            <a:r>
              <a:rPr lang="en-US" dirty="0" err="1"/>
              <a:t>GameObject</a:t>
            </a:r>
            <a:endParaRPr lang="en-US" dirty="0"/>
          </a:p>
          <a:p>
            <a:pPr marL="0" indent="0">
              <a:buNone/>
            </a:pPr>
            <a:endParaRPr lang="en-US" dirty="0"/>
          </a:p>
          <a:p>
            <a:endParaRPr lang="en-IN" dirty="0"/>
          </a:p>
        </p:txBody>
      </p:sp>
    </p:spTree>
    <p:extLst>
      <p:ext uri="{BB962C8B-B14F-4D97-AF65-F5344CB8AC3E}">
        <p14:creationId xmlns:p14="http://schemas.microsoft.com/office/powerpoint/2010/main" val="19030048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7756-3A86-A100-F296-43290DB2EF44}"/>
              </a:ext>
            </a:extLst>
          </p:cNvPr>
          <p:cNvSpPr>
            <a:spLocks noGrp="1"/>
          </p:cNvSpPr>
          <p:nvPr>
            <p:ph type="title"/>
          </p:nvPr>
        </p:nvSpPr>
        <p:spPr/>
        <p:txBody>
          <a:bodyPr/>
          <a:lstStyle/>
          <a:p>
            <a:r>
              <a:rPr lang="en-IN" dirty="0"/>
              <a:t>What’s a material?</a:t>
            </a:r>
          </a:p>
        </p:txBody>
      </p:sp>
      <p:sp>
        <p:nvSpPr>
          <p:cNvPr id="3" name="Content Placeholder 2">
            <a:extLst>
              <a:ext uri="{FF2B5EF4-FFF2-40B4-BE49-F238E27FC236}">
                <a16:creationId xmlns:a16="http://schemas.microsoft.com/office/drawing/2014/main" id="{27F0EED8-38D4-C34D-C9CA-B035008BF669}"/>
              </a:ext>
            </a:extLst>
          </p:cNvPr>
          <p:cNvSpPr>
            <a:spLocks noGrp="1"/>
          </p:cNvSpPr>
          <p:nvPr>
            <p:ph idx="1"/>
          </p:nvPr>
        </p:nvSpPr>
        <p:spPr/>
        <p:txBody>
          <a:bodyPr>
            <a:normAutofit/>
          </a:bodyPr>
          <a:lstStyle/>
          <a:p>
            <a:r>
              <a:rPr lang="en-US" dirty="0"/>
              <a:t>A material defines how an object looks — its color, texture, shininess, </a:t>
            </a:r>
            <a:r>
              <a:rPr lang="en-US" dirty="0" err="1"/>
              <a:t>etc</a:t>
            </a:r>
            <a:endParaRPr lang="en-US" dirty="0"/>
          </a:p>
          <a:p>
            <a:r>
              <a:rPr lang="en-US" dirty="0"/>
              <a:t>How to change the material of a </a:t>
            </a:r>
            <a:r>
              <a:rPr lang="en-US" dirty="0" err="1"/>
              <a:t>GameObject</a:t>
            </a:r>
            <a:r>
              <a:rPr lang="en-US" dirty="0"/>
              <a:t>:</a:t>
            </a:r>
          </a:p>
          <a:p>
            <a:pPr lvl="2"/>
            <a:r>
              <a:rPr lang="en-US" dirty="0"/>
              <a:t>Select the </a:t>
            </a:r>
            <a:r>
              <a:rPr lang="en-US" dirty="0" err="1"/>
              <a:t>GameObject</a:t>
            </a:r>
            <a:r>
              <a:rPr lang="en-US" dirty="0"/>
              <a:t> (like a Cube) in the Hierarchy.</a:t>
            </a:r>
          </a:p>
          <a:p>
            <a:pPr lvl="2"/>
            <a:r>
              <a:rPr lang="en-US" dirty="0"/>
              <a:t>In the Inspector, look for the Mesh Renderer component.</a:t>
            </a:r>
          </a:p>
          <a:p>
            <a:pPr lvl="2"/>
            <a:r>
              <a:rPr lang="en-US" dirty="0"/>
              <a:t>Under Mesh Renderer, find the Materials section.</a:t>
            </a:r>
          </a:p>
          <a:p>
            <a:pPr lvl="2"/>
            <a:r>
              <a:rPr lang="en-US" dirty="0"/>
              <a:t>You’ll see a material slot (usually showing the current material’s name).</a:t>
            </a:r>
          </a:p>
          <a:p>
            <a:pPr lvl="2"/>
            <a:r>
              <a:rPr lang="en-US" dirty="0"/>
              <a:t>You can:</a:t>
            </a:r>
          </a:p>
          <a:p>
            <a:pPr lvl="2"/>
            <a:r>
              <a:rPr lang="en-US" dirty="0"/>
              <a:t>Drag and drop a material from the Project window into this slot.</a:t>
            </a:r>
          </a:p>
          <a:p>
            <a:pPr lvl="2"/>
            <a:r>
              <a:rPr lang="en-US" dirty="0"/>
              <a:t>Or click the small circle icon next to the material slot to open a material selector window and pick one.</a:t>
            </a:r>
            <a:endParaRPr lang="en-IN" dirty="0"/>
          </a:p>
        </p:txBody>
      </p:sp>
    </p:spTree>
    <p:extLst>
      <p:ext uri="{BB962C8B-B14F-4D97-AF65-F5344CB8AC3E}">
        <p14:creationId xmlns:p14="http://schemas.microsoft.com/office/powerpoint/2010/main" val="6488973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CC15B-C487-9C8C-6F1C-36988E16196A}"/>
              </a:ext>
            </a:extLst>
          </p:cNvPr>
          <p:cNvSpPr>
            <a:spLocks noGrp="1"/>
          </p:cNvSpPr>
          <p:nvPr>
            <p:ph type="title"/>
          </p:nvPr>
        </p:nvSpPr>
        <p:spPr>
          <a:xfrm>
            <a:off x="838200" y="365125"/>
            <a:ext cx="10515600" cy="1321435"/>
          </a:xfrm>
        </p:spPr>
        <p:txBody>
          <a:bodyPr/>
          <a:lstStyle/>
          <a:p>
            <a:r>
              <a:rPr lang="en-US" b="1" dirty="0"/>
              <a:t>What is a Prefab in Unity?</a:t>
            </a:r>
            <a:endParaRPr lang="en-IN" dirty="0"/>
          </a:p>
        </p:txBody>
      </p:sp>
      <p:sp>
        <p:nvSpPr>
          <p:cNvPr id="3" name="Content Placeholder 2">
            <a:extLst>
              <a:ext uri="{FF2B5EF4-FFF2-40B4-BE49-F238E27FC236}">
                <a16:creationId xmlns:a16="http://schemas.microsoft.com/office/drawing/2014/main" id="{DE5C4515-4984-7561-3225-EBC91334AA41}"/>
              </a:ext>
            </a:extLst>
          </p:cNvPr>
          <p:cNvSpPr>
            <a:spLocks noGrp="1"/>
          </p:cNvSpPr>
          <p:nvPr>
            <p:ph idx="1"/>
          </p:nvPr>
        </p:nvSpPr>
        <p:spPr/>
        <p:txBody>
          <a:bodyPr>
            <a:normAutofit/>
          </a:bodyPr>
          <a:lstStyle/>
          <a:p>
            <a:r>
              <a:rPr lang="en-US" dirty="0"/>
              <a:t>A Prefab is like a template or blueprint for a </a:t>
            </a:r>
            <a:r>
              <a:rPr lang="en-US" dirty="0" err="1"/>
              <a:t>GameObject</a:t>
            </a:r>
            <a:r>
              <a:rPr lang="en-US" dirty="0"/>
              <a:t>.</a:t>
            </a:r>
          </a:p>
          <a:p>
            <a:r>
              <a:rPr lang="en-US" dirty="0"/>
              <a:t>It lets you save a </a:t>
            </a:r>
            <a:r>
              <a:rPr lang="en-US" dirty="0" err="1"/>
              <a:t>GameObject</a:t>
            </a:r>
            <a:r>
              <a:rPr lang="en-US" dirty="0"/>
              <a:t> and reuse it anywhere in your game.</a:t>
            </a:r>
          </a:p>
          <a:p>
            <a:r>
              <a:rPr lang="en-US" dirty="0"/>
              <a:t>If you change the Prefab, all the copies (called "instances") can update too.</a:t>
            </a:r>
          </a:p>
          <a:p>
            <a:r>
              <a:rPr lang="pt-BR" dirty="0"/>
              <a:t>Prefab Instance vs. Prefab Asset</a:t>
            </a:r>
          </a:p>
          <a:p>
            <a:pPr lvl="2"/>
            <a:r>
              <a:rPr lang="en-US" dirty="0"/>
              <a:t>Prefab Asset is the original template you save.</a:t>
            </a:r>
          </a:p>
          <a:p>
            <a:pPr lvl="2"/>
            <a:r>
              <a:rPr lang="en-US" dirty="0"/>
              <a:t>Prefab Instance is a copy of that template placed in your scene.</a:t>
            </a:r>
          </a:p>
          <a:p>
            <a:pPr lvl="2"/>
            <a:r>
              <a:rPr lang="en-US" dirty="0"/>
              <a:t>You can customize instances (e.g., change size or color) without changing the original.</a:t>
            </a:r>
            <a:endParaRPr lang="pt-BR" dirty="0"/>
          </a:p>
          <a:p>
            <a:endParaRPr lang="en-IN" dirty="0"/>
          </a:p>
        </p:txBody>
      </p:sp>
    </p:spTree>
    <p:extLst>
      <p:ext uri="{BB962C8B-B14F-4D97-AF65-F5344CB8AC3E}">
        <p14:creationId xmlns:p14="http://schemas.microsoft.com/office/powerpoint/2010/main" val="415744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128E-9F1B-208F-50B2-BB95CE99CDC1}"/>
              </a:ext>
            </a:extLst>
          </p:cNvPr>
          <p:cNvSpPr>
            <a:spLocks noGrp="1"/>
          </p:cNvSpPr>
          <p:nvPr>
            <p:ph type="title"/>
          </p:nvPr>
        </p:nvSpPr>
        <p:spPr/>
        <p:txBody>
          <a:bodyPr/>
          <a:lstStyle/>
          <a:p>
            <a:r>
              <a:rPr lang="en-IN" dirty="0"/>
              <a:t>Folder Structure</a:t>
            </a:r>
          </a:p>
        </p:txBody>
      </p:sp>
      <p:sp>
        <p:nvSpPr>
          <p:cNvPr id="3" name="Content Placeholder 2">
            <a:extLst>
              <a:ext uri="{FF2B5EF4-FFF2-40B4-BE49-F238E27FC236}">
                <a16:creationId xmlns:a16="http://schemas.microsoft.com/office/drawing/2014/main" id="{8B4C9971-F11A-3A65-9C0A-491158AD6565}"/>
              </a:ext>
            </a:extLst>
          </p:cNvPr>
          <p:cNvSpPr>
            <a:spLocks noGrp="1"/>
          </p:cNvSpPr>
          <p:nvPr>
            <p:ph idx="1"/>
          </p:nvPr>
        </p:nvSpPr>
        <p:spPr/>
        <p:txBody>
          <a:bodyPr>
            <a:normAutofit lnSpcReduction="10000"/>
          </a:bodyPr>
          <a:lstStyle/>
          <a:p>
            <a:r>
              <a:rPr lang="en-IN" dirty="0"/>
              <a:t>Scenes — Unity scene files</a:t>
            </a:r>
          </a:p>
          <a:p>
            <a:r>
              <a:rPr lang="en-IN" dirty="0"/>
              <a:t>Scripts — C# code files</a:t>
            </a:r>
          </a:p>
          <a:p>
            <a:r>
              <a:rPr lang="en-IN" dirty="0"/>
              <a:t>Prefabs — Reusable </a:t>
            </a:r>
            <a:r>
              <a:rPr lang="en-IN" dirty="0" err="1"/>
              <a:t>GameObjects</a:t>
            </a:r>
            <a:endParaRPr lang="en-IN" dirty="0"/>
          </a:p>
          <a:p>
            <a:r>
              <a:rPr lang="en-IN" dirty="0"/>
              <a:t>Materials — Materials for 3D models</a:t>
            </a:r>
          </a:p>
          <a:p>
            <a:r>
              <a:rPr lang="en-IN" dirty="0"/>
              <a:t>Models — 3D model files (FBX, OBJ)</a:t>
            </a:r>
          </a:p>
          <a:p>
            <a:r>
              <a:rPr lang="en-IN" dirty="0"/>
              <a:t>Textures — Images and sprites</a:t>
            </a:r>
          </a:p>
          <a:p>
            <a:r>
              <a:rPr lang="en-IN" dirty="0"/>
              <a:t>Audio — Sound effects and music</a:t>
            </a:r>
          </a:p>
          <a:p>
            <a:r>
              <a:rPr lang="en-IN" dirty="0"/>
              <a:t>Animations — Animation files and controllers</a:t>
            </a:r>
          </a:p>
          <a:p>
            <a:r>
              <a:rPr lang="en-IN" dirty="0"/>
              <a:t>UI — User interface elements (buttons, panels, etc.)</a:t>
            </a:r>
          </a:p>
          <a:p>
            <a:endParaRPr lang="en-IN" dirty="0"/>
          </a:p>
          <a:p>
            <a:endParaRPr lang="en-IN" dirty="0"/>
          </a:p>
        </p:txBody>
      </p:sp>
    </p:spTree>
    <p:extLst>
      <p:ext uri="{BB962C8B-B14F-4D97-AF65-F5344CB8AC3E}">
        <p14:creationId xmlns:p14="http://schemas.microsoft.com/office/powerpoint/2010/main" val="3767257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CC9E256-4B44-D950-FC8A-3A451C1E8D26}"/>
              </a:ext>
            </a:extLst>
          </p:cNvPr>
          <p:cNvSpPr>
            <a:spLocks noGrp="1" noChangeArrowheads="1"/>
          </p:cNvSpPr>
          <p:nvPr>
            <p:ph type="title"/>
          </p:nvPr>
        </p:nvSpPr>
        <p:spPr bwMode="auto">
          <a:xfrm>
            <a:off x="844476" y="1600199"/>
            <a:ext cx="3539266" cy="42976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2700" b="0" i="0" u="none" strike="noStrike" cap="none" normalizeH="0" baseline="0">
                <a:ln>
                  <a:noFill/>
                </a:ln>
                <a:effectLst/>
                <a:latin typeface="Arial" panose="020B0604020202020204" pitchFamily="34" charset="0"/>
              </a:rPr>
              <a:t>What is </a:t>
            </a:r>
            <a:r>
              <a:rPr kumimoji="0" lang="en-US" altLang="en-US" sz="2700" b="0" i="0" u="none" strike="noStrike" cap="none" normalizeH="0" baseline="0" err="1">
                <a:ln>
                  <a:noFill/>
                </a:ln>
                <a:effectLst/>
                <a:latin typeface="Arial Unicode MS"/>
              </a:rPr>
              <a:t>GetComponent</a:t>
            </a:r>
            <a:r>
              <a:rPr kumimoji="0" lang="en-US" altLang="en-US" sz="2700" b="0" i="0" u="none" strike="noStrike" cap="none" normalizeH="0" baseline="0">
                <a:ln>
                  <a:noFill/>
                </a:ln>
                <a:effectLst/>
                <a:latin typeface="Arial Unicode MS"/>
              </a:rPr>
              <a:t>&lt;T&gt;()</a:t>
            </a:r>
            <a:endParaRPr kumimoji="0" lang="en-US" altLang="en-US" sz="2700" b="0" i="0" u="none" strike="noStrike" cap="none" normalizeH="0" baseline="0">
              <a:ln>
                <a:noFill/>
              </a:ln>
              <a:effectLst/>
              <a:latin typeface="Arial" panose="020B0604020202020204" pitchFamily="34" charset="0"/>
            </a:endParaRPr>
          </a:p>
        </p:txBody>
      </p:sp>
      <p:sp>
        <p:nvSpPr>
          <p:cNvPr id="3" name="Content Placeholder 2">
            <a:extLst>
              <a:ext uri="{FF2B5EF4-FFF2-40B4-BE49-F238E27FC236}">
                <a16:creationId xmlns:a16="http://schemas.microsoft.com/office/drawing/2014/main" id="{D07FF0C1-CF0F-C75C-3921-55B00DF744B3}"/>
              </a:ext>
            </a:extLst>
          </p:cNvPr>
          <p:cNvSpPr>
            <a:spLocks noGrp="1"/>
          </p:cNvSpPr>
          <p:nvPr>
            <p:ph idx="1"/>
          </p:nvPr>
        </p:nvSpPr>
        <p:spPr>
          <a:xfrm>
            <a:off x="4924851" y="1600199"/>
            <a:ext cx="6130003" cy="4297680"/>
          </a:xfrm>
        </p:spPr>
        <p:txBody>
          <a:bodyPr anchor="ctr">
            <a:normAutofit/>
          </a:bodyPr>
          <a:lstStyle/>
          <a:p>
            <a:pPr>
              <a:lnSpc>
                <a:spcPct val="110000"/>
              </a:lnSpc>
            </a:pPr>
            <a:r>
              <a:rPr lang="en-US" sz="1700"/>
              <a:t>A </a:t>
            </a:r>
            <a:r>
              <a:rPr lang="en-US" sz="1700" err="1"/>
              <a:t>Rigidbody</a:t>
            </a:r>
            <a:r>
              <a:rPr lang="en-US" sz="1700"/>
              <a:t> is a built-in Unity component that makes a </a:t>
            </a:r>
            <a:r>
              <a:rPr lang="en-US" sz="1700" err="1"/>
              <a:t>GameObject</a:t>
            </a:r>
            <a:r>
              <a:rPr lang="en-US" sz="1700"/>
              <a:t> behave like a real physical object. It allows the object to move, fall, and react to forces like gravity or collisions. When we add a </a:t>
            </a:r>
            <a:r>
              <a:rPr lang="en-US" sz="1700" err="1"/>
              <a:t>Rigidbody</a:t>
            </a:r>
            <a:r>
              <a:rPr lang="en-US" sz="1700"/>
              <a:t> to an object, Unity’s physics engine takes over and applies real-world physics to it automatically.</a:t>
            </a:r>
          </a:p>
          <a:p>
            <a:pPr>
              <a:lnSpc>
                <a:spcPct val="110000"/>
              </a:lnSpc>
            </a:pPr>
            <a:r>
              <a:rPr lang="en-US" sz="1700" err="1"/>
              <a:t>GetComponent</a:t>
            </a:r>
            <a:r>
              <a:rPr lang="en-US" sz="1700"/>
              <a:t>&lt;T&gt;() is a Unity function used to access another component that is attached to the same </a:t>
            </a:r>
            <a:r>
              <a:rPr lang="en-US" sz="1700" err="1"/>
              <a:t>GameObject</a:t>
            </a:r>
            <a:r>
              <a:rPr lang="en-US" sz="1700"/>
              <a:t>. The T is a placeholder for the type of component you want to get, like </a:t>
            </a:r>
            <a:r>
              <a:rPr lang="en-US" sz="1700" err="1"/>
              <a:t>Rigidbody</a:t>
            </a:r>
            <a:r>
              <a:rPr lang="en-US" sz="1700"/>
              <a:t>, Collider, </a:t>
            </a:r>
            <a:r>
              <a:rPr lang="en-US" sz="1700" err="1"/>
              <a:t>AudioSource</a:t>
            </a:r>
            <a:r>
              <a:rPr lang="en-US" sz="1700"/>
              <a:t>, etc. This function is very useful when you want to control or interact with components from your script.</a:t>
            </a:r>
            <a:endParaRPr lang="en-IN" sz="1700"/>
          </a:p>
        </p:txBody>
      </p:sp>
    </p:spTree>
    <p:extLst>
      <p:ext uri="{BB962C8B-B14F-4D97-AF65-F5344CB8AC3E}">
        <p14:creationId xmlns:p14="http://schemas.microsoft.com/office/powerpoint/2010/main" val="40675664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EDCFA-6EC8-2913-CA14-39099C7841FE}"/>
              </a:ext>
            </a:extLst>
          </p:cNvPr>
          <p:cNvSpPr>
            <a:spLocks noGrp="1"/>
          </p:cNvSpPr>
          <p:nvPr>
            <p:ph type="title"/>
          </p:nvPr>
        </p:nvSpPr>
        <p:spPr/>
        <p:txBody>
          <a:bodyPr/>
          <a:lstStyle/>
          <a:p>
            <a:r>
              <a:rPr lang="en-US" dirty="0"/>
              <a:t>Drag:-</a:t>
            </a:r>
            <a:endParaRPr lang="en-IN" dirty="0"/>
          </a:p>
        </p:txBody>
      </p:sp>
      <p:sp>
        <p:nvSpPr>
          <p:cNvPr id="3" name="Content Placeholder 2">
            <a:extLst>
              <a:ext uri="{FF2B5EF4-FFF2-40B4-BE49-F238E27FC236}">
                <a16:creationId xmlns:a16="http://schemas.microsoft.com/office/drawing/2014/main" id="{C312F2E5-D873-0BB5-9105-53E7223F25D3}"/>
              </a:ext>
            </a:extLst>
          </p:cNvPr>
          <p:cNvSpPr>
            <a:spLocks noGrp="1"/>
          </p:cNvSpPr>
          <p:nvPr>
            <p:ph idx="1"/>
          </p:nvPr>
        </p:nvSpPr>
        <p:spPr/>
        <p:txBody>
          <a:bodyPr/>
          <a:lstStyle/>
          <a:p>
            <a:r>
              <a:rPr lang="en-US" dirty="0"/>
              <a:t>Drag is a property of a </a:t>
            </a:r>
            <a:r>
              <a:rPr lang="en-US" dirty="0" err="1"/>
              <a:t>Rigidbody</a:t>
            </a:r>
            <a:r>
              <a:rPr lang="en-US" dirty="0"/>
              <a:t> that simulates air resistance or friction slowing down an object’s movement.</a:t>
            </a:r>
          </a:p>
          <a:p>
            <a:r>
              <a:rPr lang="en-US" dirty="0"/>
              <a:t>It reduces the object’s velocity over time, making it gradually slow down when no forces are applied.</a:t>
            </a:r>
          </a:p>
          <a:p>
            <a:r>
              <a:rPr lang="en-US" dirty="0"/>
              <a:t>Imagine riding a bike — air pushes against you and slows you down if you stop pedaling. That’s drag</a:t>
            </a:r>
          </a:p>
          <a:p>
            <a:pPr lvl="2"/>
            <a:r>
              <a:rPr lang="en-US" dirty="0"/>
              <a:t>Rigidbody2D </a:t>
            </a:r>
            <a:r>
              <a:rPr lang="en-US" dirty="0" err="1"/>
              <a:t>rb</a:t>
            </a:r>
            <a:r>
              <a:rPr lang="en-US" dirty="0"/>
              <a:t> = </a:t>
            </a:r>
            <a:r>
              <a:rPr lang="en-US" dirty="0" err="1"/>
              <a:t>GetComponent</a:t>
            </a:r>
            <a:r>
              <a:rPr lang="en-US" dirty="0"/>
              <a:t>&lt;Rigidbody2D&gt;();</a:t>
            </a:r>
          </a:p>
          <a:p>
            <a:pPr lvl="2"/>
            <a:r>
              <a:rPr lang="en-US" dirty="0" err="1"/>
              <a:t>rb.drag</a:t>
            </a:r>
            <a:r>
              <a:rPr lang="en-US" dirty="0"/>
              <a:t> = 2f;   // This makes the box slow down faster</a:t>
            </a:r>
          </a:p>
          <a:p>
            <a:pPr lvl="2"/>
            <a:r>
              <a:rPr lang="en-US" dirty="0" err="1"/>
              <a:t>rb.AddForce</a:t>
            </a:r>
            <a:r>
              <a:rPr lang="en-US" dirty="0"/>
              <a:t>(Vector2.right* 500f);   // Push the box to the right</a:t>
            </a:r>
          </a:p>
          <a:p>
            <a:endParaRPr lang="en-IN" dirty="0"/>
          </a:p>
        </p:txBody>
      </p:sp>
    </p:spTree>
    <p:extLst>
      <p:ext uri="{BB962C8B-B14F-4D97-AF65-F5344CB8AC3E}">
        <p14:creationId xmlns:p14="http://schemas.microsoft.com/office/powerpoint/2010/main" val="36144436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7A9C-FB53-24E0-995B-B8EA19E2918A}"/>
              </a:ext>
            </a:extLst>
          </p:cNvPr>
          <p:cNvSpPr>
            <a:spLocks noGrp="1"/>
          </p:cNvSpPr>
          <p:nvPr>
            <p:ph type="title"/>
          </p:nvPr>
        </p:nvSpPr>
        <p:spPr/>
        <p:txBody>
          <a:bodyPr/>
          <a:lstStyle/>
          <a:p>
            <a:r>
              <a:rPr lang="en-IN" b="1" dirty="0"/>
              <a:t>Angular Drag?</a:t>
            </a:r>
            <a:br>
              <a:rPr lang="en-IN" b="1" dirty="0"/>
            </a:br>
            <a:endParaRPr lang="en-IN" dirty="0"/>
          </a:p>
        </p:txBody>
      </p:sp>
      <p:sp>
        <p:nvSpPr>
          <p:cNvPr id="3" name="Content Placeholder 2">
            <a:extLst>
              <a:ext uri="{FF2B5EF4-FFF2-40B4-BE49-F238E27FC236}">
                <a16:creationId xmlns:a16="http://schemas.microsoft.com/office/drawing/2014/main" id="{493B95C0-F316-2179-16ED-8DFE346AFF11}"/>
              </a:ext>
            </a:extLst>
          </p:cNvPr>
          <p:cNvSpPr>
            <a:spLocks noGrp="1"/>
          </p:cNvSpPr>
          <p:nvPr>
            <p:ph idx="1"/>
          </p:nvPr>
        </p:nvSpPr>
        <p:spPr/>
        <p:txBody>
          <a:bodyPr>
            <a:normAutofit/>
          </a:bodyPr>
          <a:lstStyle/>
          <a:p>
            <a:r>
              <a:rPr lang="en-US" dirty="0"/>
              <a:t>Angular drag is like drag, but for rotation (spinning).</a:t>
            </a:r>
          </a:p>
          <a:p>
            <a:r>
              <a:rPr lang="en-US" dirty="0"/>
              <a:t>It slows down how fast an object spins or rotates over time.</a:t>
            </a:r>
          </a:p>
          <a:p>
            <a:r>
              <a:rPr lang="en-US" dirty="0"/>
              <a:t>Imagine a spinning top that eventually stops spinning because of air resistance or friction — that’s angular drag in action.</a:t>
            </a:r>
          </a:p>
          <a:p>
            <a:r>
              <a:rPr lang="en-US" dirty="0"/>
              <a:t>Why is Angular Drag important?</a:t>
            </a:r>
          </a:p>
          <a:p>
            <a:pPr lvl="2"/>
            <a:r>
              <a:rPr lang="en-US" dirty="0"/>
              <a:t>Without angular drag, a spinning object would keep rotating forever.</a:t>
            </a:r>
          </a:p>
          <a:p>
            <a:pPr lvl="2"/>
            <a:r>
              <a:rPr lang="en-US" dirty="0"/>
              <a:t>Angular drag makes the spinning slow down naturally, making the motion look more real.</a:t>
            </a:r>
          </a:p>
          <a:p>
            <a:pPr lvl="2"/>
            <a:r>
              <a:rPr lang="en-US" dirty="0"/>
              <a:t>Useful for things like wheels, spinning coins, or rotating platforms.</a:t>
            </a:r>
          </a:p>
          <a:p>
            <a:endParaRPr lang="en-IN" dirty="0"/>
          </a:p>
        </p:txBody>
      </p:sp>
    </p:spTree>
    <p:extLst>
      <p:ext uri="{BB962C8B-B14F-4D97-AF65-F5344CB8AC3E}">
        <p14:creationId xmlns:p14="http://schemas.microsoft.com/office/powerpoint/2010/main" val="12307711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1AF79A-E9C0-1697-588C-FEBE245FC138}"/>
              </a:ext>
            </a:extLst>
          </p:cNvPr>
          <p:cNvSpPr>
            <a:spLocks noGrp="1"/>
          </p:cNvSpPr>
          <p:nvPr>
            <p:ph type="title"/>
          </p:nvPr>
        </p:nvSpPr>
        <p:spPr>
          <a:xfrm>
            <a:off x="1524000" y="548640"/>
            <a:ext cx="9160475" cy="1132258"/>
          </a:xfrm>
        </p:spPr>
        <p:txBody>
          <a:bodyPr anchor="ctr">
            <a:normAutofit/>
          </a:bodyPr>
          <a:lstStyle/>
          <a:p>
            <a:pPr algn="ctr"/>
            <a:r>
              <a:rPr lang="en-US" dirty="0"/>
              <a:t>Simple Code Example</a:t>
            </a:r>
            <a:endParaRPr lang="en-IN"/>
          </a:p>
        </p:txBody>
      </p:sp>
      <p:graphicFrame>
        <p:nvGraphicFramePr>
          <p:cNvPr id="7" name="Content Placeholder 2">
            <a:extLst>
              <a:ext uri="{FF2B5EF4-FFF2-40B4-BE49-F238E27FC236}">
                <a16:creationId xmlns:a16="http://schemas.microsoft.com/office/drawing/2014/main" id="{069CD289-6690-ED3D-16AE-64A379BBE481}"/>
              </a:ext>
            </a:extLst>
          </p:cNvPr>
          <p:cNvGraphicFramePr>
            <a:graphicFrameLocks noGrp="1"/>
          </p:cNvGraphicFramePr>
          <p:nvPr>
            <p:ph idx="1"/>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20315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6BA1-DE16-2045-D33D-CEFF333997D7}"/>
              </a:ext>
            </a:extLst>
          </p:cNvPr>
          <p:cNvSpPr>
            <a:spLocks noGrp="1"/>
          </p:cNvSpPr>
          <p:nvPr>
            <p:ph type="title"/>
          </p:nvPr>
        </p:nvSpPr>
        <p:spPr/>
        <p:txBody>
          <a:bodyPr/>
          <a:lstStyle/>
          <a:p>
            <a:r>
              <a:rPr lang="en-US" dirty="0"/>
              <a:t>Some more Example:-</a:t>
            </a:r>
            <a:endParaRPr lang="en-IN" dirty="0"/>
          </a:p>
        </p:txBody>
      </p:sp>
      <p:graphicFrame>
        <p:nvGraphicFramePr>
          <p:cNvPr id="5" name="Content Placeholder 2">
            <a:extLst>
              <a:ext uri="{FF2B5EF4-FFF2-40B4-BE49-F238E27FC236}">
                <a16:creationId xmlns:a16="http://schemas.microsoft.com/office/drawing/2014/main" id="{CCF0CE43-4B66-FC8E-D62E-84542D9FE39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93056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4528-AA3A-1812-40E5-96E3306A5D9A}"/>
              </a:ext>
            </a:extLst>
          </p:cNvPr>
          <p:cNvSpPr>
            <a:spLocks noGrp="1"/>
          </p:cNvSpPr>
          <p:nvPr>
            <p:ph type="title"/>
          </p:nvPr>
        </p:nvSpPr>
        <p:spPr/>
        <p:txBody>
          <a:bodyPr vert="horz" lIns="91440" tIns="45720" rIns="91440" bIns="45720" rtlCol="0">
            <a:normAutofit/>
          </a:bodyPr>
          <a:lstStyle/>
          <a:p>
            <a:r>
              <a:rPr lang="en-US" sz="2200"/>
              <a:t>Physics Component:-</a:t>
            </a:r>
            <a:br>
              <a:rPr lang="en-US" sz="2200"/>
            </a:br>
            <a:r>
              <a:rPr lang="en-US" sz="2200"/>
              <a:t>         These make Game Objects react like real physical objects.</a:t>
            </a:r>
            <a:br>
              <a:rPr lang="en-US" sz="2200"/>
            </a:br>
            <a:endParaRPr lang="en-US" sz="2200"/>
          </a:p>
        </p:txBody>
      </p:sp>
      <p:graphicFrame>
        <p:nvGraphicFramePr>
          <p:cNvPr id="10" name="Content Placeholder 9">
            <a:extLst>
              <a:ext uri="{FF2B5EF4-FFF2-40B4-BE49-F238E27FC236}">
                <a16:creationId xmlns:a16="http://schemas.microsoft.com/office/drawing/2014/main" id="{92EAB836-2FAE-2ECC-204A-780650214539}"/>
              </a:ext>
            </a:extLst>
          </p:cNvPr>
          <p:cNvGraphicFramePr>
            <a:graphicFrameLocks noGrp="1"/>
          </p:cNvGraphicFramePr>
          <p:nvPr>
            <p:ph idx="1"/>
          </p:nvPr>
        </p:nvGraphicFramePr>
        <p:xfrm>
          <a:off x="1280160" y="2235200"/>
          <a:ext cx="9775191" cy="3469844"/>
        </p:xfrm>
        <a:graphic>
          <a:graphicData uri="http://schemas.openxmlformats.org/drawingml/2006/table">
            <a:tbl>
              <a:tblPr firstRow="1" bandRow="1">
                <a:tableStyleId>{5C22544A-7EE6-4342-B048-85BDC9FD1C3A}</a:tableStyleId>
              </a:tblPr>
              <a:tblGrid>
                <a:gridCol w="3409430">
                  <a:extLst>
                    <a:ext uri="{9D8B030D-6E8A-4147-A177-3AD203B41FA5}">
                      <a16:colId xmlns:a16="http://schemas.microsoft.com/office/drawing/2014/main" val="591102644"/>
                    </a:ext>
                  </a:extLst>
                </a:gridCol>
                <a:gridCol w="3127343">
                  <a:extLst>
                    <a:ext uri="{9D8B030D-6E8A-4147-A177-3AD203B41FA5}">
                      <a16:colId xmlns:a16="http://schemas.microsoft.com/office/drawing/2014/main" val="3050691990"/>
                    </a:ext>
                  </a:extLst>
                </a:gridCol>
                <a:gridCol w="3238418">
                  <a:extLst>
                    <a:ext uri="{9D8B030D-6E8A-4147-A177-3AD203B41FA5}">
                      <a16:colId xmlns:a16="http://schemas.microsoft.com/office/drawing/2014/main" val="892540424"/>
                    </a:ext>
                  </a:extLst>
                </a:gridCol>
              </a:tblGrid>
              <a:tr h="473237">
                <a:tc>
                  <a:txBody>
                    <a:bodyPr/>
                    <a:lstStyle/>
                    <a:p>
                      <a:r>
                        <a:rPr lang="en-IN" sz="1800"/>
                        <a:t>Component`</a:t>
                      </a:r>
                    </a:p>
                  </a:txBody>
                  <a:tcPr marL="90624" marR="90624" marT="45312" marB="45312"/>
                </a:tc>
                <a:tc>
                  <a:txBody>
                    <a:bodyPr/>
                    <a:lstStyle/>
                    <a:p>
                      <a:r>
                        <a:rPr lang="en-IN" sz="1800" dirty="0"/>
                        <a:t>What It Does</a:t>
                      </a:r>
                    </a:p>
                  </a:txBody>
                  <a:tcPr marL="90624" marR="90624" marT="45312" marB="45312"/>
                </a:tc>
                <a:tc>
                  <a:txBody>
                    <a:bodyPr/>
                    <a:lstStyle/>
                    <a:p>
                      <a:r>
                        <a:rPr lang="en-IN" sz="1800"/>
                        <a:t>Example Use</a:t>
                      </a:r>
                    </a:p>
                  </a:txBody>
                  <a:tcPr marL="90624" marR="90624" marT="45312" marB="45312"/>
                </a:tc>
                <a:extLst>
                  <a:ext uri="{0D108BD9-81ED-4DB2-BD59-A6C34878D82A}">
                    <a16:rowId xmlns:a16="http://schemas.microsoft.com/office/drawing/2014/main" val="2105347495"/>
                  </a:ext>
                </a:extLst>
              </a:tr>
              <a:tr h="788448">
                <a:tc>
                  <a:txBody>
                    <a:bodyPr/>
                    <a:lstStyle/>
                    <a:p>
                      <a:r>
                        <a:rPr lang="en-IN" sz="1800"/>
                        <a:t>Rigidbody</a:t>
                      </a:r>
                    </a:p>
                  </a:txBody>
                  <a:tcPr marL="90624" marR="90624" marT="45312" marB="45312"/>
                </a:tc>
                <a:tc>
                  <a:txBody>
                    <a:bodyPr/>
                    <a:lstStyle/>
                    <a:p>
                      <a:r>
                        <a:rPr lang="en-US" sz="1800" dirty="0"/>
                        <a:t>Adds gravity and physical movement</a:t>
                      </a:r>
                      <a:endParaRPr lang="en-IN" sz="1800" dirty="0"/>
                    </a:p>
                  </a:txBody>
                  <a:tcPr marL="90624" marR="90624" marT="45312" marB="45312"/>
                </a:tc>
                <a:tc>
                  <a:txBody>
                    <a:bodyPr/>
                    <a:lstStyle/>
                    <a:p>
                      <a:r>
                        <a:rPr lang="en-IN" sz="1800"/>
                        <a:t>A falling box</a:t>
                      </a:r>
                    </a:p>
                  </a:txBody>
                  <a:tcPr marL="90624" marR="90624" marT="45312" marB="45312"/>
                </a:tc>
                <a:extLst>
                  <a:ext uri="{0D108BD9-81ED-4DB2-BD59-A6C34878D82A}">
                    <a16:rowId xmlns:a16="http://schemas.microsoft.com/office/drawing/2014/main" val="2213096460"/>
                  </a:ext>
                </a:extLst>
              </a:tr>
              <a:tr h="788448">
                <a:tc>
                  <a:txBody>
                    <a:bodyPr/>
                    <a:lstStyle/>
                    <a:p>
                      <a:r>
                        <a:rPr lang="en-IN" sz="1800"/>
                        <a:t>Rigidbody2D</a:t>
                      </a:r>
                    </a:p>
                  </a:txBody>
                  <a:tcPr marL="90624" marR="90624" marT="45312" marB="45312"/>
                </a:tc>
                <a:tc>
                  <a:txBody>
                    <a:bodyPr/>
                    <a:lstStyle/>
                    <a:p>
                      <a:r>
                        <a:rPr lang="en-US" sz="1800"/>
                        <a:t>Same as above but for 2D games</a:t>
                      </a:r>
                      <a:endParaRPr lang="en-IN" sz="1800"/>
                    </a:p>
                  </a:txBody>
                  <a:tcPr marL="90624" marR="90624" marT="45312" marB="45312"/>
                </a:tc>
                <a:tc>
                  <a:txBody>
                    <a:bodyPr/>
                    <a:lstStyle/>
                    <a:p>
                      <a:r>
                        <a:rPr lang="en-US" sz="1800"/>
                        <a:t>jumping character in a 2D game</a:t>
                      </a:r>
                      <a:endParaRPr lang="en-IN" sz="1800"/>
                    </a:p>
                  </a:txBody>
                  <a:tcPr marL="90624" marR="90624" marT="45312" marB="45312"/>
                </a:tc>
                <a:extLst>
                  <a:ext uri="{0D108BD9-81ED-4DB2-BD59-A6C34878D82A}">
                    <a16:rowId xmlns:a16="http://schemas.microsoft.com/office/drawing/2014/main" val="2238304196"/>
                  </a:ext>
                </a:extLst>
              </a:tr>
              <a:tr h="473237">
                <a:tc>
                  <a:txBody>
                    <a:bodyPr/>
                    <a:lstStyle/>
                    <a:p>
                      <a:r>
                        <a:rPr lang="en-IN" sz="1800"/>
                        <a:t>Collider</a:t>
                      </a:r>
                    </a:p>
                  </a:txBody>
                  <a:tcPr marL="90624" marR="90624" marT="45312" marB="45312"/>
                </a:tc>
                <a:tc>
                  <a:txBody>
                    <a:bodyPr/>
                    <a:lstStyle/>
                    <a:p>
                      <a:r>
                        <a:rPr lang="en-IN" sz="1800"/>
                        <a:t>Detects collisions (3D)</a:t>
                      </a:r>
                    </a:p>
                  </a:txBody>
                  <a:tcPr marL="90624" marR="90624" marT="45312" marB="45312"/>
                </a:tc>
                <a:tc>
                  <a:txBody>
                    <a:bodyPr/>
                    <a:lstStyle/>
                    <a:p>
                      <a:r>
                        <a:rPr lang="en-IN" sz="1800"/>
                        <a:t>Walls, floors, players</a:t>
                      </a:r>
                    </a:p>
                  </a:txBody>
                  <a:tcPr marL="90624" marR="90624" marT="45312" marB="45312"/>
                </a:tc>
                <a:extLst>
                  <a:ext uri="{0D108BD9-81ED-4DB2-BD59-A6C34878D82A}">
                    <a16:rowId xmlns:a16="http://schemas.microsoft.com/office/drawing/2014/main" val="4277657317"/>
                  </a:ext>
                </a:extLst>
              </a:tr>
              <a:tr h="473237">
                <a:tc>
                  <a:txBody>
                    <a:bodyPr/>
                    <a:lstStyle/>
                    <a:p>
                      <a:r>
                        <a:rPr lang="en-IN" sz="1800"/>
                        <a:t>Collider2D</a:t>
                      </a:r>
                    </a:p>
                  </a:txBody>
                  <a:tcPr marL="90624" marR="90624" marT="45312" marB="45312"/>
                </a:tc>
                <a:tc>
                  <a:txBody>
                    <a:bodyPr/>
                    <a:lstStyle/>
                    <a:p>
                      <a:r>
                        <a:rPr lang="en-IN" sz="1800"/>
                        <a:t>Handles 3D character</a:t>
                      </a:r>
                    </a:p>
                  </a:txBody>
                  <a:tcPr marL="90624" marR="90624" marT="45312" marB="45312"/>
                </a:tc>
                <a:tc>
                  <a:txBody>
                    <a:bodyPr/>
                    <a:lstStyle/>
                    <a:p>
                      <a:r>
                        <a:rPr lang="en-IN" sz="1800"/>
                        <a:t>2D platformer boundaries</a:t>
                      </a:r>
                    </a:p>
                  </a:txBody>
                  <a:tcPr marL="90624" marR="90624" marT="45312" marB="45312"/>
                </a:tc>
                <a:extLst>
                  <a:ext uri="{0D108BD9-81ED-4DB2-BD59-A6C34878D82A}">
                    <a16:rowId xmlns:a16="http://schemas.microsoft.com/office/drawing/2014/main" val="3910348130"/>
                  </a:ext>
                </a:extLst>
              </a:tr>
              <a:tr h="473237">
                <a:tc>
                  <a:txBody>
                    <a:bodyPr/>
                    <a:lstStyle/>
                    <a:p>
                      <a:r>
                        <a:rPr lang="en-IN" sz="1800"/>
                        <a:t>CharacterController</a:t>
                      </a:r>
                    </a:p>
                  </a:txBody>
                  <a:tcPr marL="90624" marR="90624" marT="45312" marB="45312"/>
                </a:tc>
                <a:tc>
                  <a:txBody>
                    <a:bodyPr/>
                    <a:lstStyle/>
                    <a:p>
                      <a:r>
                        <a:rPr lang="en-IN" sz="1800"/>
                        <a:t>Handles 3D character</a:t>
                      </a:r>
                    </a:p>
                  </a:txBody>
                  <a:tcPr marL="90624" marR="90624" marT="45312" marB="45312"/>
                </a:tc>
                <a:tc>
                  <a:txBody>
                    <a:bodyPr/>
                    <a:lstStyle/>
                    <a:p>
                      <a:r>
                        <a:rPr lang="en-IN" sz="1800" dirty="0"/>
                        <a:t>FPS or third-person controller</a:t>
                      </a:r>
                    </a:p>
                  </a:txBody>
                  <a:tcPr marL="90624" marR="90624" marT="45312" marB="45312" anchor="ctr"/>
                </a:tc>
                <a:extLst>
                  <a:ext uri="{0D108BD9-81ED-4DB2-BD59-A6C34878D82A}">
                    <a16:rowId xmlns:a16="http://schemas.microsoft.com/office/drawing/2014/main" val="3934977256"/>
                  </a:ext>
                </a:extLst>
              </a:tr>
            </a:tbl>
          </a:graphicData>
        </a:graphic>
      </p:graphicFrame>
    </p:spTree>
    <p:extLst>
      <p:ext uri="{BB962C8B-B14F-4D97-AF65-F5344CB8AC3E}">
        <p14:creationId xmlns:p14="http://schemas.microsoft.com/office/powerpoint/2010/main" val="20701659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8FC8B54-7171-DE5D-9AF3-3965182C89D7}"/>
              </a:ext>
            </a:extLst>
          </p:cNvPr>
          <p:cNvGraphicFramePr>
            <a:graphicFrameLocks noGrp="1"/>
          </p:cNvGraphicFramePr>
          <p:nvPr/>
        </p:nvGraphicFramePr>
        <p:xfrm>
          <a:off x="833120" y="528320"/>
          <a:ext cx="10393680" cy="5791201"/>
        </p:xfrm>
        <a:graphic>
          <a:graphicData uri="http://schemas.openxmlformats.org/drawingml/2006/table">
            <a:tbl>
              <a:tblPr>
                <a:tableStyleId>{5C22544A-7EE6-4342-B048-85BDC9FD1C3A}</a:tableStyleId>
              </a:tblPr>
              <a:tblGrid>
                <a:gridCol w="3598308">
                  <a:extLst>
                    <a:ext uri="{9D8B030D-6E8A-4147-A177-3AD203B41FA5}">
                      <a16:colId xmlns:a16="http://schemas.microsoft.com/office/drawing/2014/main" val="1414370888"/>
                    </a:ext>
                  </a:extLst>
                </a:gridCol>
                <a:gridCol w="6795372">
                  <a:extLst>
                    <a:ext uri="{9D8B030D-6E8A-4147-A177-3AD203B41FA5}">
                      <a16:colId xmlns:a16="http://schemas.microsoft.com/office/drawing/2014/main" val="3666232236"/>
                    </a:ext>
                  </a:extLst>
                </a:gridCol>
              </a:tblGrid>
              <a:tr h="598605">
                <a:tc>
                  <a:txBody>
                    <a:bodyPr/>
                    <a:lstStyle/>
                    <a:p>
                      <a:r>
                        <a:rPr lang="en-IN" sz="2300" dirty="0"/>
                        <a:t>Property</a:t>
                      </a:r>
                    </a:p>
                  </a:txBody>
                  <a:tcPr marL="117526" marR="117526" marT="58763" marB="58763" anchor="ctr"/>
                </a:tc>
                <a:tc>
                  <a:txBody>
                    <a:bodyPr/>
                    <a:lstStyle/>
                    <a:p>
                      <a:r>
                        <a:rPr lang="en-IN" sz="2300"/>
                        <a:t>What It Does</a:t>
                      </a:r>
                    </a:p>
                  </a:txBody>
                  <a:tcPr marL="117526" marR="117526" marT="58763" marB="58763" anchor="ctr"/>
                </a:tc>
                <a:extLst>
                  <a:ext uri="{0D108BD9-81ED-4DB2-BD59-A6C34878D82A}">
                    <a16:rowId xmlns:a16="http://schemas.microsoft.com/office/drawing/2014/main" val="1942015431"/>
                  </a:ext>
                </a:extLst>
              </a:tr>
              <a:tr h="598605">
                <a:tc>
                  <a:txBody>
                    <a:bodyPr/>
                    <a:lstStyle/>
                    <a:p>
                      <a:r>
                        <a:rPr lang="en-IN" sz="2300"/>
                        <a:t>mass</a:t>
                      </a:r>
                    </a:p>
                  </a:txBody>
                  <a:tcPr marL="117526" marR="117526" marT="58763" marB="58763" anchor="ctr"/>
                </a:tc>
                <a:tc>
                  <a:txBody>
                    <a:bodyPr/>
                    <a:lstStyle/>
                    <a:p>
                      <a:r>
                        <a:rPr lang="en-US" sz="2300"/>
                        <a:t>Weight of the Rigidbody (affects inertia)</a:t>
                      </a:r>
                    </a:p>
                  </a:txBody>
                  <a:tcPr marL="117526" marR="117526" marT="58763" marB="58763" anchor="ctr"/>
                </a:tc>
                <a:extLst>
                  <a:ext uri="{0D108BD9-81ED-4DB2-BD59-A6C34878D82A}">
                    <a16:rowId xmlns:a16="http://schemas.microsoft.com/office/drawing/2014/main" val="472879379"/>
                  </a:ext>
                </a:extLst>
              </a:tr>
              <a:tr h="598605">
                <a:tc>
                  <a:txBody>
                    <a:bodyPr/>
                    <a:lstStyle/>
                    <a:p>
                      <a:r>
                        <a:rPr lang="en-IN" sz="2300"/>
                        <a:t>drag</a:t>
                      </a:r>
                    </a:p>
                  </a:txBody>
                  <a:tcPr marL="117526" marR="117526" marT="58763" marB="58763" anchor="ctr"/>
                </a:tc>
                <a:tc>
                  <a:txBody>
                    <a:bodyPr/>
                    <a:lstStyle/>
                    <a:p>
                      <a:r>
                        <a:rPr lang="en-US" sz="2300"/>
                        <a:t>Air resistance slowing the Rigidbody</a:t>
                      </a:r>
                    </a:p>
                  </a:txBody>
                  <a:tcPr marL="117526" marR="117526" marT="58763" marB="58763" anchor="ctr"/>
                </a:tc>
                <a:extLst>
                  <a:ext uri="{0D108BD9-81ED-4DB2-BD59-A6C34878D82A}">
                    <a16:rowId xmlns:a16="http://schemas.microsoft.com/office/drawing/2014/main" val="2255566025"/>
                  </a:ext>
                </a:extLst>
              </a:tr>
              <a:tr h="598605">
                <a:tc>
                  <a:txBody>
                    <a:bodyPr/>
                    <a:lstStyle/>
                    <a:p>
                      <a:r>
                        <a:rPr lang="en-IN" sz="2300"/>
                        <a:t>angularDrag</a:t>
                      </a:r>
                    </a:p>
                  </a:txBody>
                  <a:tcPr marL="117526" marR="117526" marT="58763" marB="58763" anchor="ctr"/>
                </a:tc>
                <a:tc>
                  <a:txBody>
                    <a:bodyPr/>
                    <a:lstStyle/>
                    <a:p>
                      <a:r>
                        <a:rPr lang="en-IN" sz="2300"/>
                        <a:t>Resistance to rotational movement</a:t>
                      </a:r>
                    </a:p>
                  </a:txBody>
                  <a:tcPr marL="117526" marR="117526" marT="58763" marB="58763" anchor="ctr"/>
                </a:tc>
                <a:extLst>
                  <a:ext uri="{0D108BD9-81ED-4DB2-BD59-A6C34878D82A}">
                    <a16:rowId xmlns:a16="http://schemas.microsoft.com/office/drawing/2014/main" val="1310973633"/>
                  </a:ext>
                </a:extLst>
              </a:tr>
              <a:tr h="598605">
                <a:tc>
                  <a:txBody>
                    <a:bodyPr/>
                    <a:lstStyle/>
                    <a:p>
                      <a:r>
                        <a:rPr lang="en-IN" sz="2300"/>
                        <a:t>useGravity</a:t>
                      </a:r>
                    </a:p>
                  </a:txBody>
                  <a:tcPr marL="117526" marR="117526" marT="58763" marB="58763" anchor="ctr"/>
                </a:tc>
                <a:tc>
                  <a:txBody>
                    <a:bodyPr/>
                    <a:lstStyle/>
                    <a:p>
                      <a:r>
                        <a:rPr lang="en-US" sz="2300"/>
                        <a:t>Enable or disable gravity affecting Rigidbody</a:t>
                      </a:r>
                    </a:p>
                  </a:txBody>
                  <a:tcPr marL="117526" marR="117526" marT="58763" marB="58763" anchor="ctr"/>
                </a:tc>
                <a:extLst>
                  <a:ext uri="{0D108BD9-81ED-4DB2-BD59-A6C34878D82A}">
                    <a16:rowId xmlns:a16="http://schemas.microsoft.com/office/drawing/2014/main" val="3354491239"/>
                  </a:ext>
                </a:extLst>
              </a:tr>
              <a:tr h="1002361">
                <a:tc>
                  <a:txBody>
                    <a:bodyPr/>
                    <a:lstStyle/>
                    <a:p>
                      <a:r>
                        <a:rPr lang="en-IN" sz="2300"/>
                        <a:t>isKinematic</a:t>
                      </a:r>
                    </a:p>
                  </a:txBody>
                  <a:tcPr marL="117526" marR="117526" marT="58763" marB="58763" anchor="ctr"/>
                </a:tc>
                <a:tc>
                  <a:txBody>
                    <a:bodyPr/>
                    <a:lstStyle/>
                    <a:p>
                      <a:r>
                        <a:rPr lang="en-US" sz="2300"/>
                        <a:t>When true, Rigidbody ignores physics forces and collisions (useful for manual control)</a:t>
                      </a:r>
                    </a:p>
                  </a:txBody>
                  <a:tcPr marL="117526" marR="117526" marT="58763" marB="58763" anchor="ctr"/>
                </a:tc>
                <a:extLst>
                  <a:ext uri="{0D108BD9-81ED-4DB2-BD59-A6C34878D82A}">
                    <a16:rowId xmlns:a16="http://schemas.microsoft.com/office/drawing/2014/main" val="1820580964"/>
                  </a:ext>
                </a:extLst>
              </a:tr>
              <a:tr h="598605">
                <a:tc>
                  <a:txBody>
                    <a:bodyPr/>
                    <a:lstStyle/>
                    <a:p>
                      <a:r>
                        <a:rPr lang="en-IN" sz="2300"/>
                        <a:t>velocity</a:t>
                      </a:r>
                    </a:p>
                  </a:txBody>
                  <a:tcPr marL="117526" marR="117526" marT="58763" marB="58763" anchor="ctr"/>
                </a:tc>
                <a:tc>
                  <a:txBody>
                    <a:bodyPr/>
                    <a:lstStyle/>
                    <a:p>
                      <a:r>
                        <a:rPr lang="en-US" sz="2300"/>
                        <a:t>Current linear velocity of the Rigidbody</a:t>
                      </a:r>
                    </a:p>
                  </a:txBody>
                  <a:tcPr marL="117526" marR="117526" marT="58763" marB="58763" anchor="ctr"/>
                </a:tc>
                <a:extLst>
                  <a:ext uri="{0D108BD9-81ED-4DB2-BD59-A6C34878D82A}">
                    <a16:rowId xmlns:a16="http://schemas.microsoft.com/office/drawing/2014/main" val="3958092024"/>
                  </a:ext>
                </a:extLst>
              </a:tr>
              <a:tr h="598605">
                <a:tc>
                  <a:txBody>
                    <a:bodyPr/>
                    <a:lstStyle/>
                    <a:p>
                      <a:r>
                        <a:rPr lang="en-IN" sz="2300"/>
                        <a:t>angularVelocity</a:t>
                      </a:r>
                    </a:p>
                  </a:txBody>
                  <a:tcPr marL="117526" marR="117526" marT="58763" marB="58763" anchor="ctr"/>
                </a:tc>
                <a:tc>
                  <a:txBody>
                    <a:bodyPr/>
                    <a:lstStyle/>
                    <a:p>
                      <a:r>
                        <a:rPr lang="en-IN" sz="2300"/>
                        <a:t>Current rotational velocity</a:t>
                      </a:r>
                    </a:p>
                  </a:txBody>
                  <a:tcPr marL="117526" marR="117526" marT="58763" marB="58763" anchor="ctr"/>
                </a:tc>
                <a:extLst>
                  <a:ext uri="{0D108BD9-81ED-4DB2-BD59-A6C34878D82A}">
                    <a16:rowId xmlns:a16="http://schemas.microsoft.com/office/drawing/2014/main" val="2577118150"/>
                  </a:ext>
                </a:extLst>
              </a:tr>
              <a:tr h="598605">
                <a:tc>
                  <a:txBody>
                    <a:bodyPr/>
                    <a:lstStyle/>
                    <a:p>
                      <a:r>
                        <a:rPr lang="en-IN" sz="2300"/>
                        <a:t>constraints</a:t>
                      </a:r>
                    </a:p>
                  </a:txBody>
                  <a:tcPr marL="117526" marR="117526" marT="58763" marB="58763" anchor="ctr"/>
                </a:tc>
                <a:tc>
                  <a:txBody>
                    <a:bodyPr/>
                    <a:lstStyle/>
                    <a:p>
                      <a:r>
                        <a:rPr lang="en-US" sz="2300" dirty="0"/>
                        <a:t>Freeze position/rotation on specific axes</a:t>
                      </a:r>
                    </a:p>
                  </a:txBody>
                  <a:tcPr marL="117526" marR="117526" marT="58763" marB="58763" anchor="ctr"/>
                </a:tc>
                <a:extLst>
                  <a:ext uri="{0D108BD9-81ED-4DB2-BD59-A6C34878D82A}">
                    <a16:rowId xmlns:a16="http://schemas.microsoft.com/office/drawing/2014/main" val="1873014527"/>
                  </a:ext>
                </a:extLst>
              </a:tr>
            </a:tbl>
          </a:graphicData>
        </a:graphic>
      </p:graphicFrame>
    </p:spTree>
    <p:extLst>
      <p:ext uri="{BB962C8B-B14F-4D97-AF65-F5344CB8AC3E}">
        <p14:creationId xmlns:p14="http://schemas.microsoft.com/office/powerpoint/2010/main" val="31032328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6E40-75A5-20DF-236E-44F234E3D8D3}"/>
              </a:ext>
            </a:extLst>
          </p:cNvPr>
          <p:cNvSpPr>
            <a:spLocks noGrp="1"/>
          </p:cNvSpPr>
          <p:nvPr>
            <p:ph type="title"/>
          </p:nvPr>
        </p:nvSpPr>
        <p:spPr>
          <a:xfrm>
            <a:off x="1451579" y="804520"/>
            <a:ext cx="9603275" cy="587136"/>
          </a:xfrm>
        </p:spPr>
        <p:txBody>
          <a:bodyPr>
            <a:normAutofit fontScale="90000"/>
          </a:bodyPr>
          <a:lstStyle/>
          <a:p>
            <a:r>
              <a:rPr lang="en-US" dirty="0" err="1"/>
              <a:t>Rigidbody</a:t>
            </a:r>
            <a:endParaRPr lang="en-IN" dirty="0"/>
          </a:p>
        </p:txBody>
      </p:sp>
      <p:graphicFrame>
        <p:nvGraphicFramePr>
          <p:cNvPr id="21" name="Content Placeholder 2">
            <a:extLst>
              <a:ext uri="{FF2B5EF4-FFF2-40B4-BE49-F238E27FC236}">
                <a16:creationId xmlns:a16="http://schemas.microsoft.com/office/drawing/2014/main" id="{79E71352-8CC9-F67B-24AC-99F650CCC95D}"/>
              </a:ext>
            </a:extLst>
          </p:cNvPr>
          <p:cNvGraphicFramePr>
            <a:graphicFrameLocks noGrp="1"/>
          </p:cNvGraphicFramePr>
          <p:nvPr>
            <p:ph idx="1"/>
          </p:nvPr>
        </p:nvGraphicFramePr>
        <p:xfrm>
          <a:off x="1056641" y="2015732"/>
          <a:ext cx="9998214" cy="38872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35368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2A01C8-743F-2456-C668-C513052BB344}"/>
              </a:ext>
            </a:extLst>
          </p:cNvPr>
          <p:cNvSpPr>
            <a:spLocks noGrp="1"/>
          </p:cNvSpPr>
          <p:nvPr>
            <p:ph type="title"/>
          </p:nvPr>
        </p:nvSpPr>
        <p:spPr>
          <a:xfrm>
            <a:off x="612649" y="548638"/>
            <a:ext cx="3493008" cy="5788152"/>
          </a:xfrm>
        </p:spPr>
        <p:txBody>
          <a:bodyPr anchor="ctr">
            <a:normAutofit/>
          </a:bodyPr>
          <a:lstStyle/>
          <a:p>
            <a:r>
              <a:rPr lang="en-IN" sz="4000"/>
              <a:t>Collisions require Rigidbody</a:t>
            </a:r>
          </a:p>
        </p:txBody>
      </p:sp>
      <p:graphicFrame>
        <p:nvGraphicFramePr>
          <p:cNvPr id="12" name="Content Placeholder 2">
            <a:extLst>
              <a:ext uri="{FF2B5EF4-FFF2-40B4-BE49-F238E27FC236}">
                <a16:creationId xmlns:a16="http://schemas.microsoft.com/office/drawing/2014/main" id="{DB9FE3E6-0FB3-C02F-7FDA-8C512D557CCD}"/>
              </a:ext>
            </a:extLst>
          </p:cNvPr>
          <p:cNvGraphicFramePr>
            <a:graphicFrameLocks noGrp="1"/>
          </p:cNvGraphicFramePr>
          <p:nvPr>
            <p:ph idx="1"/>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57732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2A6750-0B53-4DAF-8D03-59C6923F4B30}"/>
              </a:ext>
            </a:extLst>
          </p:cNvPr>
          <p:cNvSpPr>
            <a:spLocks noGrp="1"/>
          </p:cNvSpPr>
          <p:nvPr>
            <p:ph type="title"/>
          </p:nvPr>
        </p:nvSpPr>
        <p:spPr>
          <a:xfrm>
            <a:off x="1524000" y="548640"/>
            <a:ext cx="9160475" cy="1132258"/>
          </a:xfrm>
        </p:spPr>
        <p:txBody>
          <a:bodyPr anchor="ctr">
            <a:normAutofit/>
          </a:bodyPr>
          <a:lstStyle/>
          <a:p>
            <a:pPr algn="ctr"/>
            <a:r>
              <a:rPr lang="en-US"/>
              <a:t>Metods/property of rigidbody</a:t>
            </a:r>
            <a:endParaRPr lang="en-IN"/>
          </a:p>
        </p:txBody>
      </p:sp>
      <p:graphicFrame>
        <p:nvGraphicFramePr>
          <p:cNvPr id="5" name="Content Placeholder 2">
            <a:extLst>
              <a:ext uri="{FF2B5EF4-FFF2-40B4-BE49-F238E27FC236}">
                <a16:creationId xmlns:a16="http://schemas.microsoft.com/office/drawing/2014/main" id="{79E33396-05B1-CA90-560E-9CB647E732BB}"/>
              </a:ext>
            </a:extLst>
          </p:cNvPr>
          <p:cNvGraphicFramePr>
            <a:graphicFrameLocks noGrp="1"/>
          </p:cNvGraphicFramePr>
          <p:nvPr>
            <p:ph idx="1"/>
          </p:nvPr>
        </p:nvGraphicFramePr>
        <p:xfrm>
          <a:off x="930876" y="1564640"/>
          <a:ext cx="10803924" cy="474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40121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51ED0E8-534B-1A1C-F52F-00ACFE2C4B1D}"/>
              </a:ext>
            </a:extLst>
          </p:cNvPr>
          <p:cNvGraphicFramePr>
            <a:graphicFrameLocks noGrp="1"/>
          </p:cNvGraphicFramePr>
          <p:nvPr>
            <p:ph idx="1"/>
          </p:nvPr>
        </p:nvGraphicFramePr>
        <p:xfrm>
          <a:off x="643467" y="1120929"/>
          <a:ext cx="10905067" cy="4616142"/>
        </p:xfrm>
        <a:graphic>
          <a:graphicData uri="http://schemas.openxmlformats.org/drawingml/2006/table">
            <a:tbl>
              <a:tblPr/>
              <a:tblGrid>
                <a:gridCol w="2385209">
                  <a:extLst>
                    <a:ext uri="{9D8B030D-6E8A-4147-A177-3AD203B41FA5}">
                      <a16:colId xmlns:a16="http://schemas.microsoft.com/office/drawing/2014/main" val="488901594"/>
                    </a:ext>
                  </a:extLst>
                </a:gridCol>
                <a:gridCol w="3450050">
                  <a:extLst>
                    <a:ext uri="{9D8B030D-6E8A-4147-A177-3AD203B41FA5}">
                      <a16:colId xmlns:a16="http://schemas.microsoft.com/office/drawing/2014/main" val="1527464220"/>
                    </a:ext>
                  </a:extLst>
                </a:gridCol>
                <a:gridCol w="5069808">
                  <a:extLst>
                    <a:ext uri="{9D8B030D-6E8A-4147-A177-3AD203B41FA5}">
                      <a16:colId xmlns:a16="http://schemas.microsoft.com/office/drawing/2014/main" val="3855321385"/>
                    </a:ext>
                  </a:extLst>
                </a:gridCol>
              </a:tblGrid>
              <a:tr h="476910">
                <a:tc>
                  <a:txBody>
                    <a:bodyPr/>
                    <a:lstStyle/>
                    <a:p>
                      <a:r>
                        <a:rPr lang="en-IN" sz="2100"/>
                        <a:t>Property</a:t>
                      </a:r>
                    </a:p>
                  </a:txBody>
                  <a:tcPr marL="109766" marR="109766" marT="54882" marB="54882" anchor="ctr">
                    <a:lnL>
                      <a:noFill/>
                    </a:lnL>
                    <a:lnR>
                      <a:noFill/>
                    </a:lnR>
                    <a:lnT>
                      <a:noFill/>
                    </a:lnT>
                    <a:lnB>
                      <a:noFill/>
                    </a:lnB>
                    <a:noFill/>
                  </a:tcPr>
                </a:tc>
                <a:tc>
                  <a:txBody>
                    <a:bodyPr/>
                    <a:lstStyle/>
                    <a:p>
                      <a:r>
                        <a:rPr lang="en-IN" sz="2100"/>
                        <a:t>Real-Life Example</a:t>
                      </a:r>
                    </a:p>
                  </a:txBody>
                  <a:tcPr marL="109766" marR="109766" marT="54882" marB="54882" anchor="ctr">
                    <a:lnL>
                      <a:noFill/>
                    </a:lnL>
                    <a:lnR>
                      <a:noFill/>
                    </a:lnR>
                    <a:lnT>
                      <a:noFill/>
                    </a:lnT>
                    <a:lnB>
                      <a:noFill/>
                    </a:lnB>
                    <a:noFill/>
                  </a:tcPr>
                </a:tc>
                <a:tc>
                  <a:txBody>
                    <a:bodyPr/>
                    <a:lstStyle/>
                    <a:p>
                      <a:r>
                        <a:rPr lang="en-IN" sz="2100"/>
                        <a:t>Unity Syntax Example</a:t>
                      </a:r>
                    </a:p>
                  </a:txBody>
                  <a:tcPr marL="109766" marR="109766" marT="54882" marB="54882" anchor="ctr">
                    <a:lnL>
                      <a:noFill/>
                    </a:lnL>
                    <a:lnR>
                      <a:noFill/>
                    </a:lnR>
                    <a:lnT>
                      <a:noFill/>
                    </a:lnT>
                    <a:lnB>
                      <a:noFill/>
                    </a:lnB>
                    <a:noFill/>
                  </a:tcPr>
                </a:tc>
                <a:extLst>
                  <a:ext uri="{0D108BD9-81ED-4DB2-BD59-A6C34878D82A}">
                    <a16:rowId xmlns:a16="http://schemas.microsoft.com/office/drawing/2014/main" val="2839118029"/>
                  </a:ext>
                </a:extLst>
              </a:tr>
              <a:tr h="476910">
                <a:tc>
                  <a:txBody>
                    <a:bodyPr/>
                    <a:lstStyle/>
                    <a:p>
                      <a:r>
                        <a:rPr lang="en-IN" sz="2100" b="1"/>
                        <a:t>mass</a:t>
                      </a:r>
                      <a:endParaRPr lang="en-IN" sz="2100"/>
                    </a:p>
                  </a:txBody>
                  <a:tcPr marL="109766" marR="109766" marT="54882" marB="54882" anchor="ctr">
                    <a:lnL>
                      <a:noFill/>
                    </a:lnL>
                    <a:lnR>
                      <a:noFill/>
                    </a:lnR>
                    <a:lnT>
                      <a:noFill/>
                    </a:lnT>
                    <a:lnB>
                      <a:noFill/>
                    </a:lnB>
                    <a:noFill/>
                  </a:tcPr>
                </a:tc>
                <a:tc>
                  <a:txBody>
                    <a:bodyPr/>
                    <a:lstStyle/>
                    <a:p>
                      <a:r>
                        <a:rPr lang="en-IN" sz="2100"/>
                        <a:t>Bowling ball vs tennis ball</a:t>
                      </a:r>
                    </a:p>
                  </a:txBody>
                  <a:tcPr marL="109766" marR="109766" marT="54882" marB="54882" anchor="ctr">
                    <a:lnL>
                      <a:noFill/>
                    </a:lnL>
                    <a:lnR>
                      <a:noFill/>
                    </a:lnR>
                    <a:lnT>
                      <a:noFill/>
                    </a:lnT>
                    <a:lnB>
                      <a:noFill/>
                    </a:lnB>
                    <a:noFill/>
                  </a:tcPr>
                </a:tc>
                <a:tc>
                  <a:txBody>
                    <a:bodyPr/>
                    <a:lstStyle/>
                    <a:p>
                      <a:r>
                        <a:rPr lang="en-IN" sz="2100"/>
                        <a:t>rb.mass = 5f;</a:t>
                      </a:r>
                    </a:p>
                  </a:txBody>
                  <a:tcPr marL="109766" marR="109766" marT="54882" marB="54882" anchor="ctr">
                    <a:lnL>
                      <a:noFill/>
                    </a:lnL>
                    <a:lnR>
                      <a:noFill/>
                    </a:lnR>
                    <a:lnT>
                      <a:noFill/>
                    </a:lnT>
                    <a:lnB>
                      <a:noFill/>
                    </a:lnB>
                    <a:noFill/>
                  </a:tcPr>
                </a:tc>
                <a:extLst>
                  <a:ext uri="{0D108BD9-81ED-4DB2-BD59-A6C34878D82A}">
                    <a16:rowId xmlns:a16="http://schemas.microsoft.com/office/drawing/2014/main" val="4008347933"/>
                  </a:ext>
                </a:extLst>
              </a:tr>
              <a:tr h="476910">
                <a:tc>
                  <a:txBody>
                    <a:bodyPr/>
                    <a:lstStyle/>
                    <a:p>
                      <a:r>
                        <a:rPr lang="en-IN" sz="2100" b="1"/>
                        <a:t>drag</a:t>
                      </a:r>
                      <a:endParaRPr lang="en-IN" sz="2100"/>
                    </a:p>
                  </a:txBody>
                  <a:tcPr marL="109766" marR="109766" marT="54882" marB="54882" anchor="ctr">
                    <a:lnL>
                      <a:noFill/>
                    </a:lnL>
                    <a:lnR>
                      <a:noFill/>
                    </a:lnR>
                    <a:lnT>
                      <a:noFill/>
                    </a:lnT>
                    <a:lnB>
                      <a:noFill/>
                    </a:lnB>
                    <a:noFill/>
                  </a:tcPr>
                </a:tc>
                <a:tc>
                  <a:txBody>
                    <a:bodyPr/>
                    <a:lstStyle/>
                    <a:p>
                      <a:r>
                        <a:rPr lang="en-IN" sz="2100"/>
                        <a:t>Parachute slowing down</a:t>
                      </a:r>
                    </a:p>
                  </a:txBody>
                  <a:tcPr marL="109766" marR="109766" marT="54882" marB="54882" anchor="ctr">
                    <a:lnL>
                      <a:noFill/>
                    </a:lnL>
                    <a:lnR>
                      <a:noFill/>
                    </a:lnR>
                    <a:lnT>
                      <a:noFill/>
                    </a:lnT>
                    <a:lnB>
                      <a:noFill/>
                    </a:lnB>
                    <a:noFill/>
                  </a:tcPr>
                </a:tc>
                <a:tc>
                  <a:txBody>
                    <a:bodyPr/>
                    <a:lstStyle/>
                    <a:p>
                      <a:r>
                        <a:rPr lang="en-IN" sz="2100"/>
                        <a:t>rb.drag = 1f;</a:t>
                      </a:r>
                    </a:p>
                  </a:txBody>
                  <a:tcPr marL="109766" marR="109766" marT="54882" marB="54882" anchor="ctr">
                    <a:lnL>
                      <a:noFill/>
                    </a:lnL>
                    <a:lnR>
                      <a:noFill/>
                    </a:lnR>
                    <a:lnT>
                      <a:noFill/>
                    </a:lnT>
                    <a:lnB>
                      <a:noFill/>
                    </a:lnB>
                    <a:noFill/>
                  </a:tcPr>
                </a:tc>
                <a:extLst>
                  <a:ext uri="{0D108BD9-81ED-4DB2-BD59-A6C34878D82A}">
                    <a16:rowId xmlns:a16="http://schemas.microsoft.com/office/drawing/2014/main" val="3183024312"/>
                  </a:ext>
                </a:extLst>
              </a:tr>
              <a:tr h="476910">
                <a:tc>
                  <a:txBody>
                    <a:bodyPr/>
                    <a:lstStyle/>
                    <a:p>
                      <a:r>
                        <a:rPr lang="en-IN" sz="2100" b="1"/>
                        <a:t>angularDrag</a:t>
                      </a:r>
                      <a:endParaRPr lang="en-IN" sz="2100"/>
                    </a:p>
                  </a:txBody>
                  <a:tcPr marL="109766" marR="109766" marT="54882" marB="54882" anchor="ctr">
                    <a:lnL>
                      <a:noFill/>
                    </a:lnL>
                    <a:lnR>
                      <a:noFill/>
                    </a:lnR>
                    <a:lnT>
                      <a:noFill/>
                    </a:lnT>
                    <a:lnB>
                      <a:noFill/>
                    </a:lnB>
                    <a:noFill/>
                  </a:tcPr>
                </a:tc>
                <a:tc>
                  <a:txBody>
                    <a:bodyPr/>
                    <a:lstStyle/>
                    <a:p>
                      <a:r>
                        <a:rPr lang="en-IN" sz="2100"/>
                        <a:t>Ice skater slowing spin</a:t>
                      </a:r>
                    </a:p>
                  </a:txBody>
                  <a:tcPr marL="109766" marR="109766" marT="54882" marB="54882" anchor="ctr">
                    <a:lnL>
                      <a:noFill/>
                    </a:lnL>
                    <a:lnR>
                      <a:noFill/>
                    </a:lnR>
                    <a:lnT>
                      <a:noFill/>
                    </a:lnT>
                    <a:lnB>
                      <a:noFill/>
                    </a:lnB>
                    <a:noFill/>
                  </a:tcPr>
                </a:tc>
                <a:tc>
                  <a:txBody>
                    <a:bodyPr/>
                    <a:lstStyle/>
                    <a:p>
                      <a:r>
                        <a:rPr lang="en-IN" sz="2100"/>
                        <a:t>rb.angularDrag = 0.5f;</a:t>
                      </a:r>
                    </a:p>
                  </a:txBody>
                  <a:tcPr marL="109766" marR="109766" marT="54882" marB="54882" anchor="ctr">
                    <a:lnL>
                      <a:noFill/>
                    </a:lnL>
                    <a:lnR>
                      <a:noFill/>
                    </a:lnR>
                    <a:lnT>
                      <a:noFill/>
                    </a:lnT>
                    <a:lnB>
                      <a:noFill/>
                    </a:lnB>
                    <a:noFill/>
                  </a:tcPr>
                </a:tc>
                <a:extLst>
                  <a:ext uri="{0D108BD9-81ED-4DB2-BD59-A6C34878D82A}">
                    <a16:rowId xmlns:a16="http://schemas.microsoft.com/office/drawing/2014/main" val="1293123061"/>
                  </a:ext>
                </a:extLst>
              </a:tr>
              <a:tr h="476910">
                <a:tc>
                  <a:txBody>
                    <a:bodyPr/>
                    <a:lstStyle/>
                    <a:p>
                      <a:r>
                        <a:rPr lang="en-IN" sz="2100" b="1"/>
                        <a:t>useGravity</a:t>
                      </a:r>
                      <a:endParaRPr lang="en-IN" sz="2100"/>
                    </a:p>
                  </a:txBody>
                  <a:tcPr marL="109766" marR="109766" marT="54882" marB="54882" anchor="ctr">
                    <a:lnL>
                      <a:noFill/>
                    </a:lnL>
                    <a:lnR>
                      <a:noFill/>
                    </a:lnR>
                    <a:lnT>
                      <a:noFill/>
                    </a:lnT>
                    <a:lnB>
                      <a:noFill/>
                    </a:lnB>
                    <a:noFill/>
                  </a:tcPr>
                </a:tc>
                <a:tc>
                  <a:txBody>
                    <a:bodyPr/>
                    <a:lstStyle/>
                    <a:p>
                      <a:r>
                        <a:rPr lang="en-US" sz="2100"/>
                        <a:t>Ball falling or balloon float</a:t>
                      </a:r>
                    </a:p>
                  </a:txBody>
                  <a:tcPr marL="109766" marR="109766" marT="54882" marB="54882" anchor="ctr">
                    <a:lnL>
                      <a:noFill/>
                    </a:lnL>
                    <a:lnR>
                      <a:noFill/>
                    </a:lnR>
                    <a:lnT>
                      <a:noFill/>
                    </a:lnT>
                    <a:lnB>
                      <a:noFill/>
                    </a:lnB>
                    <a:noFill/>
                  </a:tcPr>
                </a:tc>
                <a:tc>
                  <a:txBody>
                    <a:bodyPr/>
                    <a:lstStyle/>
                    <a:p>
                      <a:r>
                        <a:rPr lang="en-IN" sz="2100"/>
                        <a:t>rb.useGravity = true;</a:t>
                      </a:r>
                    </a:p>
                  </a:txBody>
                  <a:tcPr marL="109766" marR="109766" marT="54882" marB="54882" anchor="ctr">
                    <a:lnL>
                      <a:noFill/>
                    </a:lnL>
                    <a:lnR>
                      <a:noFill/>
                    </a:lnR>
                    <a:lnT>
                      <a:noFill/>
                    </a:lnT>
                    <a:lnB>
                      <a:noFill/>
                    </a:lnB>
                    <a:noFill/>
                  </a:tcPr>
                </a:tc>
                <a:extLst>
                  <a:ext uri="{0D108BD9-81ED-4DB2-BD59-A6C34878D82A}">
                    <a16:rowId xmlns:a16="http://schemas.microsoft.com/office/drawing/2014/main" val="2360975173"/>
                  </a:ext>
                </a:extLst>
              </a:tr>
              <a:tr h="476910">
                <a:tc>
                  <a:txBody>
                    <a:bodyPr/>
                    <a:lstStyle/>
                    <a:p>
                      <a:r>
                        <a:rPr lang="en-IN" sz="2100" b="1"/>
                        <a:t>isKinematic</a:t>
                      </a:r>
                      <a:endParaRPr lang="en-IN" sz="2100"/>
                    </a:p>
                  </a:txBody>
                  <a:tcPr marL="109766" marR="109766" marT="54882" marB="54882" anchor="ctr">
                    <a:lnL>
                      <a:noFill/>
                    </a:lnL>
                    <a:lnR>
                      <a:noFill/>
                    </a:lnR>
                    <a:lnT>
                      <a:noFill/>
                    </a:lnT>
                    <a:lnB>
                      <a:noFill/>
                    </a:lnB>
                    <a:noFill/>
                  </a:tcPr>
                </a:tc>
                <a:tc>
                  <a:txBody>
                    <a:bodyPr/>
                    <a:lstStyle/>
                    <a:p>
                      <a:r>
                        <a:rPr lang="en-IN" sz="2100"/>
                        <a:t>Remote-controlled car</a:t>
                      </a:r>
                    </a:p>
                  </a:txBody>
                  <a:tcPr marL="109766" marR="109766" marT="54882" marB="54882" anchor="ctr">
                    <a:lnL>
                      <a:noFill/>
                    </a:lnL>
                    <a:lnR>
                      <a:noFill/>
                    </a:lnR>
                    <a:lnT>
                      <a:noFill/>
                    </a:lnT>
                    <a:lnB>
                      <a:noFill/>
                    </a:lnB>
                    <a:noFill/>
                  </a:tcPr>
                </a:tc>
                <a:tc>
                  <a:txBody>
                    <a:bodyPr/>
                    <a:lstStyle/>
                    <a:p>
                      <a:r>
                        <a:rPr lang="en-IN" sz="2100"/>
                        <a:t>rb.isKinematic = true;</a:t>
                      </a:r>
                    </a:p>
                  </a:txBody>
                  <a:tcPr marL="109766" marR="109766" marT="54882" marB="54882" anchor="ctr">
                    <a:lnL>
                      <a:noFill/>
                    </a:lnL>
                    <a:lnR>
                      <a:noFill/>
                    </a:lnR>
                    <a:lnT>
                      <a:noFill/>
                    </a:lnT>
                    <a:lnB>
                      <a:noFill/>
                    </a:lnB>
                    <a:noFill/>
                  </a:tcPr>
                </a:tc>
                <a:extLst>
                  <a:ext uri="{0D108BD9-81ED-4DB2-BD59-A6C34878D82A}">
                    <a16:rowId xmlns:a16="http://schemas.microsoft.com/office/drawing/2014/main" val="3747880801"/>
                  </a:ext>
                </a:extLst>
              </a:tr>
              <a:tr h="476910">
                <a:tc>
                  <a:txBody>
                    <a:bodyPr/>
                    <a:lstStyle/>
                    <a:p>
                      <a:r>
                        <a:rPr lang="en-IN" sz="2100" b="1"/>
                        <a:t>velocity</a:t>
                      </a:r>
                      <a:endParaRPr lang="en-IN" sz="2100"/>
                    </a:p>
                  </a:txBody>
                  <a:tcPr marL="109766" marR="109766" marT="54882" marB="54882" anchor="ctr">
                    <a:lnL>
                      <a:noFill/>
                    </a:lnL>
                    <a:lnR>
                      <a:noFill/>
                    </a:lnR>
                    <a:lnT>
                      <a:noFill/>
                    </a:lnT>
                    <a:lnB>
                      <a:noFill/>
                    </a:lnB>
                    <a:noFill/>
                  </a:tcPr>
                </a:tc>
                <a:tc>
                  <a:txBody>
                    <a:bodyPr/>
                    <a:lstStyle/>
                    <a:p>
                      <a:r>
                        <a:rPr lang="en-IN" sz="2100"/>
                        <a:t>Car speed and direction</a:t>
                      </a:r>
                    </a:p>
                  </a:txBody>
                  <a:tcPr marL="109766" marR="109766" marT="54882" marB="54882" anchor="ctr">
                    <a:lnL>
                      <a:noFill/>
                    </a:lnL>
                    <a:lnR>
                      <a:noFill/>
                    </a:lnR>
                    <a:lnT>
                      <a:noFill/>
                    </a:lnT>
                    <a:lnB>
                      <a:noFill/>
                    </a:lnB>
                    <a:noFill/>
                  </a:tcPr>
                </a:tc>
                <a:tc>
                  <a:txBody>
                    <a:bodyPr/>
                    <a:lstStyle/>
                    <a:p>
                      <a:r>
                        <a:rPr lang="en-IN" sz="2100"/>
                        <a:t>rb.velocity = new Vector3(0,10,0);</a:t>
                      </a:r>
                    </a:p>
                  </a:txBody>
                  <a:tcPr marL="109766" marR="109766" marT="54882" marB="54882" anchor="ctr">
                    <a:lnL>
                      <a:noFill/>
                    </a:lnL>
                    <a:lnR>
                      <a:noFill/>
                    </a:lnR>
                    <a:lnT>
                      <a:noFill/>
                    </a:lnT>
                    <a:lnB>
                      <a:noFill/>
                    </a:lnB>
                    <a:noFill/>
                  </a:tcPr>
                </a:tc>
                <a:extLst>
                  <a:ext uri="{0D108BD9-81ED-4DB2-BD59-A6C34878D82A}">
                    <a16:rowId xmlns:a16="http://schemas.microsoft.com/office/drawing/2014/main" val="925910594"/>
                  </a:ext>
                </a:extLst>
              </a:tr>
              <a:tr h="476910">
                <a:tc>
                  <a:txBody>
                    <a:bodyPr/>
                    <a:lstStyle/>
                    <a:p>
                      <a:r>
                        <a:rPr lang="en-IN" sz="2100" b="1"/>
                        <a:t>angularVelocity</a:t>
                      </a:r>
                      <a:endParaRPr lang="en-IN" sz="2100"/>
                    </a:p>
                  </a:txBody>
                  <a:tcPr marL="109766" marR="109766" marT="54882" marB="54882" anchor="ctr">
                    <a:lnL>
                      <a:noFill/>
                    </a:lnL>
                    <a:lnR>
                      <a:noFill/>
                    </a:lnR>
                    <a:lnT>
                      <a:noFill/>
                    </a:lnT>
                    <a:lnB>
                      <a:noFill/>
                    </a:lnB>
                    <a:noFill/>
                  </a:tcPr>
                </a:tc>
                <a:tc>
                  <a:txBody>
                    <a:bodyPr/>
                    <a:lstStyle/>
                    <a:p>
                      <a:r>
                        <a:rPr lang="en-IN" sz="2100"/>
                        <a:t>Spinning top speed</a:t>
                      </a:r>
                    </a:p>
                  </a:txBody>
                  <a:tcPr marL="109766" marR="109766" marT="54882" marB="54882" anchor="ctr">
                    <a:lnL>
                      <a:noFill/>
                    </a:lnL>
                    <a:lnR>
                      <a:noFill/>
                    </a:lnR>
                    <a:lnT>
                      <a:noFill/>
                    </a:lnT>
                    <a:lnB>
                      <a:noFill/>
                    </a:lnB>
                    <a:noFill/>
                  </a:tcPr>
                </a:tc>
                <a:tc>
                  <a:txBody>
                    <a:bodyPr/>
                    <a:lstStyle/>
                    <a:p>
                      <a:r>
                        <a:rPr lang="en-IN" sz="2100"/>
                        <a:t>rb.angularVelocity = new Vector3(0,5,0);</a:t>
                      </a:r>
                    </a:p>
                  </a:txBody>
                  <a:tcPr marL="109766" marR="109766" marT="54882" marB="54882" anchor="ctr">
                    <a:lnL>
                      <a:noFill/>
                    </a:lnL>
                    <a:lnR>
                      <a:noFill/>
                    </a:lnR>
                    <a:lnT>
                      <a:noFill/>
                    </a:lnT>
                    <a:lnB>
                      <a:noFill/>
                    </a:lnB>
                    <a:noFill/>
                  </a:tcPr>
                </a:tc>
                <a:extLst>
                  <a:ext uri="{0D108BD9-81ED-4DB2-BD59-A6C34878D82A}">
                    <a16:rowId xmlns:a16="http://schemas.microsoft.com/office/drawing/2014/main" val="1500989833"/>
                  </a:ext>
                </a:extLst>
              </a:tr>
              <a:tr h="800862">
                <a:tc>
                  <a:txBody>
                    <a:bodyPr/>
                    <a:lstStyle/>
                    <a:p>
                      <a:r>
                        <a:rPr lang="en-IN" sz="2100" b="1"/>
                        <a:t>constraints</a:t>
                      </a:r>
                      <a:endParaRPr lang="en-IN" sz="2100"/>
                    </a:p>
                  </a:txBody>
                  <a:tcPr marL="109766" marR="109766" marT="54882" marB="54882" anchor="ctr">
                    <a:lnL>
                      <a:noFill/>
                    </a:lnL>
                    <a:lnR>
                      <a:noFill/>
                    </a:lnR>
                    <a:lnT>
                      <a:noFill/>
                    </a:lnT>
                    <a:lnB>
                      <a:noFill/>
                    </a:lnB>
                    <a:noFill/>
                  </a:tcPr>
                </a:tc>
                <a:tc>
                  <a:txBody>
                    <a:bodyPr/>
                    <a:lstStyle/>
                    <a:p>
                      <a:r>
                        <a:rPr lang="en-IN" sz="2100"/>
                        <a:t>Train on rails</a:t>
                      </a:r>
                    </a:p>
                  </a:txBody>
                  <a:tcPr marL="109766" marR="109766" marT="54882" marB="54882" anchor="ctr">
                    <a:lnL>
                      <a:noFill/>
                    </a:lnL>
                    <a:lnR>
                      <a:noFill/>
                    </a:lnR>
                    <a:lnT>
                      <a:noFill/>
                    </a:lnT>
                    <a:lnB>
                      <a:noFill/>
                    </a:lnB>
                    <a:noFill/>
                  </a:tcPr>
                </a:tc>
                <a:tc>
                  <a:txBody>
                    <a:bodyPr/>
                    <a:lstStyle/>
                    <a:p>
                      <a:r>
                        <a:rPr lang="en-IN" sz="2100"/>
                        <a:t>rb.constraints = RigidbodyConstraints.FreezePositionX;</a:t>
                      </a:r>
                    </a:p>
                  </a:txBody>
                  <a:tcPr marL="109766" marR="109766" marT="54882" marB="54882" anchor="ctr">
                    <a:lnL>
                      <a:noFill/>
                    </a:lnL>
                    <a:lnR>
                      <a:noFill/>
                    </a:lnR>
                    <a:lnT>
                      <a:noFill/>
                    </a:lnT>
                    <a:lnB>
                      <a:noFill/>
                    </a:lnB>
                    <a:noFill/>
                  </a:tcPr>
                </a:tc>
                <a:extLst>
                  <a:ext uri="{0D108BD9-81ED-4DB2-BD59-A6C34878D82A}">
                    <a16:rowId xmlns:a16="http://schemas.microsoft.com/office/drawing/2014/main" val="1535994164"/>
                  </a:ext>
                </a:extLst>
              </a:tr>
            </a:tbl>
          </a:graphicData>
        </a:graphic>
      </p:graphicFrame>
    </p:spTree>
    <p:extLst>
      <p:ext uri="{BB962C8B-B14F-4D97-AF65-F5344CB8AC3E}">
        <p14:creationId xmlns:p14="http://schemas.microsoft.com/office/powerpoint/2010/main" val="20883135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450DC43-F836-0114-D203-B8F945129C31}"/>
              </a:ext>
            </a:extLst>
          </p:cNvPr>
          <p:cNvGraphicFramePr>
            <a:graphicFrameLocks noGrp="1"/>
          </p:cNvGraphicFramePr>
          <p:nvPr/>
        </p:nvGraphicFramePr>
        <p:xfrm>
          <a:off x="1480166" y="643467"/>
          <a:ext cx="9231670" cy="4873239"/>
        </p:xfrm>
        <a:graphic>
          <a:graphicData uri="http://schemas.openxmlformats.org/drawingml/2006/table">
            <a:tbl>
              <a:tblPr>
                <a:tableStyleId>{69012ECD-51FC-41F1-AA8D-1B2483CD663E}</a:tableStyleId>
              </a:tblPr>
              <a:tblGrid>
                <a:gridCol w="2146025">
                  <a:extLst>
                    <a:ext uri="{9D8B030D-6E8A-4147-A177-3AD203B41FA5}">
                      <a16:colId xmlns:a16="http://schemas.microsoft.com/office/drawing/2014/main" val="1795599766"/>
                    </a:ext>
                  </a:extLst>
                </a:gridCol>
                <a:gridCol w="2273615">
                  <a:extLst>
                    <a:ext uri="{9D8B030D-6E8A-4147-A177-3AD203B41FA5}">
                      <a16:colId xmlns:a16="http://schemas.microsoft.com/office/drawing/2014/main" val="2858052411"/>
                    </a:ext>
                  </a:extLst>
                </a:gridCol>
                <a:gridCol w="2354054">
                  <a:extLst>
                    <a:ext uri="{9D8B030D-6E8A-4147-A177-3AD203B41FA5}">
                      <a16:colId xmlns:a16="http://schemas.microsoft.com/office/drawing/2014/main" val="682592654"/>
                    </a:ext>
                  </a:extLst>
                </a:gridCol>
                <a:gridCol w="2457976">
                  <a:extLst>
                    <a:ext uri="{9D8B030D-6E8A-4147-A177-3AD203B41FA5}">
                      <a16:colId xmlns:a16="http://schemas.microsoft.com/office/drawing/2014/main" val="108532089"/>
                    </a:ext>
                  </a:extLst>
                </a:gridCol>
              </a:tblGrid>
              <a:tr h="465412">
                <a:tc>
                  <a:txBody>
                    <a:bodyPr/>
                    <a:lstStyle/>
                    <a:p>
                      <a:r>
                        <a:rPr lang="en-IN" sz="2100"/>
                        <a:t>Vector</a:t>
                      </a:r>
                    </a:p>
                  </a:txBody>
                  <a:tcPr marL="108628" marR="108628" marT="54314" marB="54314" anchor="ctr"/>
                </a:tc>
                <a:tc>
                  <a:txBody>
                    <a:bodyPr/>
                    <a:lstStyle/>
                    <a:p>
                      <a:r>
                        <a:rPr lang="en-IN" sz="2100"/>
                        <a:t>Direction</a:t>
                      </a:r>
                    </a:p>
                  </a:txBody>
                  <a:tcPr marL="108628" marR="108628" marT="54314" marB="54314" anchor="ctr"/>
                </a:tc>
                <a:tc>
                  <a:txBody>
                    <a:bodyPr/>
                    <a:lstStyle/>
                    <a:p>
                      <a:r>
                        <a:rPr lang="en-IN" sz="2100"/>
                        <a:t>Real-life analogy</a:t>
                      </a:r>
                    </a:p>
                  </a:txBody>
                  <a:tcPr marL="108628" marR="108628" marT="54314" marB="54314" anchor="ctr"/>
                </a:tc>
                <a:tc>
                  <a:txBody>
                    <a:bodyPr/>
                    <a:lstStyle/>
                    <a:p>
                      <a:r>
                        <a:rPr lang="en-IN" sz="2100"/>
                        <a:t>Use in game</a:t>
                      </a:r>
                    </a:p>
                  </a:txBody>
                  <a:tcPr marL="108628" marR="108628" marT="54314" marB="54314" anchor="ctr"/>
                </a:tc>
                <a:extLst>
                  <a:ext uri="{0D108BD9-81ED-4DB2-BD59-A6C34878D82A}">
                    <a16:rowId xmlns:a16="http://schemas.microsoft.com/office/drawing/2014/main" val="3425459037"/>
                  </a:ext>
                </a:extLst>
              </a:tr>
              <a:tr h="788483">
                <a:tc>
                  <a:txBody>
                    <a:bodyPr/>
                    <a:lstStyle/>
                    <a:p>
                      <a:r>
                        <a:rPr lang="en-IN" sz="2100"/>
                        <a:t>Vector3.up</a:t>
                      </a:r>
                    </a:p>
                  </a:txBody>
                  <a:tcPr marL="108628" marR="108628" marT="54314" marB="54314" anchor="ctr"/>
                </a:tc>
                <a:tc>
                  <a:txBody>
                    <a:bodyPr/>
                    <a:lstStyle/>
                    <a:p>
                      <a:r>
                        <a:rPr lang="en-IN" sz="2100"/>
                        <a:t>Upward (0,1,0)</a:t>
                      </a:r>
                    </a:p>
                  </a:txBody>
                  <a:tcPr marL="108628" marR="108628" marT="54314" marB="54314" anchor="ctr"/>
                </a:tc>
                <a:tc>
                  <a:txBody>
                    <a:bodyPr/>
                    <a:lstStyle/>
                    <a:p>
                      <a:r>
                        <a:rPr lang="en-IN" sz="2100"/>
                        <a:t>Jumping</a:t>
                      </a:r>
                    </a:p>
                  </a:txBody>
                  <a:tcPr marL="108628" marR="108628" marT="54314" marB="54314" anchor="ctr"/>
                </a:tc>
                <a:tc>
                  <a:txBody>
                    <a:bodyPr/>
                    <a:lstStyle/>
                    <a:p>
                      <a:r>
                        <a:rPr lang="en-IN" sz="2100"/>
                        <a:t>Make player/object jump</a:t>
                      </a:r>
                    </a:p>
                  </a:txBody>
                  <a:tcPr marL="108628" marR="108628" marT="54314" marB="54314" anchor="ctr"/>
                </a:tc>
                <a:extLst>
                  <a:ext uri="{0D108BD9-81ED-4DB2-BD59-A6C34878D82A}">
                    <a16:rowId xmlns:a16="http://schemas.microsoft.com/office/drawing/2014/main" val="3313675802"/>
                  </a:ext>
                </a:extLst>
              </a:tr>
              <a:tr h="788483">
                <a:tc>
                  <a:txBody>
                    <a:bodyPr/>
                    <a:lstStyle/>
                    <a:p>
                      <a:r>
                        <a:rPr lang="en-IN" sz="2100"/>
                        <a:t>Vector3.down</a:t>
                      </a:r>
                    </a:p>
                  </a:txBody>
                  <a:tcPr marL="108628" marR="108628" marT="54314" marB="54314" anchor="ctr"/>
                </a:tc>
                <a:tc>
                  <a:txBody>
                    <a:bodyPr/>
                    <a:lstStyle/>
                    <a:p>
                      <a:r>
                        <a:rPr lang="en-IN" sz="2100"/>
                        <a:t>Down (0,-1,0)</a:t>
                      </a:r>
                    </a:p>
                  </a:txBody>
                  <a:tcPr marL="108628" marR="108628" marT="54314" marB="54314" anchor="ctr"/>
                </a:tc>
                <a:tc>
                  <a:txBody>
                    <a:bodyPr/>
                    <a:lstStyle/>
                    <a:p>
                      <a:r>
                        <a:rPr lang="en-IN" sz="2100"/>
                        <a:t>Falling / Slamming down</a:t>
                      </a:r>
                    </a:p>
                  </a:txBody>
                  <a:tcPr marL="108628" marR="108628" marT="54314" marB="54314" anchor="ctr"/>
                </a:tc>
                <a:tc>
                  <a:txBody>
                    <a:bodyPr/>
                    <a:lstStyle/>
                    <a:p>
                      <a:r>
                        <a:rPr lang="en-IN" sz="2100"/>
                        <a:t>Smash down attack</a:t>
                      </a:r>
                    </a:p>
                  </a:txBody>
                  <a:tcPr marL="108628" marR="108628" marT="54314" marB="54314" anchor="ctr"/>
                </a:tc>
                <a:extLst>
                  <a:ext uri="{0D108BD9-81ED-4DB2-BD59-A6C34878D82A}">
                    <a16:rowId xmlns:a16="http://schemas.microsoft.com/office/drawing/2014/main" val="3643009115"/>
                  </a:ext>
                </a:extLst>
              </a:tr>
              <a:tr h="465412">
                <a:tc>
                  <a:txBody>
                    <a:bodyPr/>
                    <a:lstStyle/>
                    <a:p>
                      <a:r>
                        <a:rPr lang="en-IN" sz="2100"/>
                        <a:t>Vector3.left</a:t>
                      </a:r>
                    </a:p>
                  </a:txBody>
                  <a:tcPr marL="108628" marR="108628" marT="54314" marB="54314" anchor="ctr"/>
                </a:tc>
                <a:tc>
                  <a:txBody>
                    <a:bodyPr/>
                    <a:lstStyle/>
                    <a:p>
                      <a:r>
                        <a:rPr lang="en-IN" sz="2100"/>
                        <a:t>Left (-1,0,0)</a:t>
                      </a:r>
                    </a:p>
                  </a:txBody>
                  <a:tcPr marL="108628" marR="108628" marT="54314" marB="54314" anchor="ctr"/>
                </a:tc>
                <a:tc>
                  <a:txBody>
                    <a:bodyPr/>
                    <a:lstStyle/>
                    <a:p>
                      <a:r>
                        <a:rPr lang="en-IN" sz="2100"/>
                        <a:t>Dodging left</a:t>
                      </a:r>
                    </a:p>
                  </a:txBody>
                  <a:tcPr marL="108628" marR="108628" marT="54314" marB="54314" anchor="ctr"/>
                </a:tc>
                <a:tc>
                  <a:txBody>
                    <a:bodyPr/>
                    <a:lstStyle/>
                    <a:p>
                      <a:r>
                        <a:rPr lang="en-IN" sz="2100"/>
                        <a:t>Strafe or move left</a:t>
                      </a:r>
                    </a:p>
                  </a:txBody>
                  <a:tcPr marL="108628" marR="108628" marT="54314" marB="54314" anchor="ctr"/>
                </a:tc>
                <a:extLst>
                  <a:ext uri="{0D108BD9-81ED-4DB2-BD59-A6C34878D82A}">
                    <a16:rowId xmlns:a16="http://schemas.microsoft.com/office/drawing/2014/main" val="3181065735"/>
                  </a:ext>
                </a:extLst>
              </a:tr>
              <a:tr h="788483">
                <a:tc>
                  <a:txBody>
                    <a:bodyPr/>
                    <a:lstStyle/>
                    <a:p>
                      <a:r>
                        <a:rPr lang="en-IN" sz="2100"/>
                        <a:t>Vector3.right</a:t>
                      </a:r>
                    </a:p>
                  </a:txBody>
                  <a:tcPr marL="108628" marR="108628" marT="54314" marB="54314" anchor="ctr"/>
                </a:tc>
                <a:tc>
                  <a:txBody>
                    <a:bodyPr/>
                    <a:lstStyle/>
                    <a:p>
                      <a:r>
                        <a:rPr lang="en-IN" sz="2100"/>
                        <a:t>Right (1,0,0)</a:t>
                      </a:r>
                    </a:p>
                  </a:txBody>
                  <a:tcPr marL="108628" marR="108628" marT="54314" marB="54314" anchor="ctr"/>
                </a:tc>
                <a:tc>
                  <a:txBody>
                    <a:bodyPr/>
                    <a:lstStyle/>
                    <a:p>
                      <a:r>
                        <a:rPr lang="en-IN" sz="2100"/>
                        <a:t>Dodging right</a:t>
                      </a:r>
                    </a:p>
                  </a:txBody>
                  <a:tcPr marL="108628" marR="108628" marT="54314" marB="54314" anchor="ctr"/>
                </a:tc>
                <a:tc>
                  <a:txBody>
                    <a:bodyPr/>
                    <a:lstStyle/>
                    <a:p>
                      <a:r>
                        <a:rPr lang="en-IN" sz="2100"/>
                        <a:t>Strafe or move right</a:t>
                      </a:r>
                    </a:p>
                  </a:txBody>
                  <a:tcPr marL="108628" marR="108628" marT="54314" marB="54314" anchor="ctr"/>
                </a:tc>
                <a:extLst>
                  <a:ext uri="{0D108BD9-81ED-4DB2-BD59-A6C34878D82A}">
                    <a16:rowId xmlns:a16="http://schemas.microsoft.com/office/drawing/2014/main" val="3614935323"/>
                  </a:ext>
                </a:extLst>
              </a:tr>
              <a:tr h="788483">
                <a:tc>
                  <a:txBody>
                    <a:bodyPr/>
                    <a:lstStyle/>
                    <a:p>
                      <a:r>
                        <a:rPr lang="en-IN" sz="2100"/>
                        <a:t>Vector3.forward</a:t>
                      </a:r>
                    </a:p>
                  </a:txBody>
                  <a:tcPr marL="108628" marR="108628" marT="54314" marB="54314" anchor="ctr"/>
                </a:tc>
                <a:tc>
                  <a:txBody>
                    <a:bodyPr/>
                    <a:lstStyle/>
                    <a:p>
                      <a:r>
                        <a:rPr lang="en-IN" sz="2100"/>
                        <a:t>Forward (0,0,1)</a:t>
                      </a:r>
                    </a:p>
                  </a:txBody>
                  <a:tcPr marL="108628" marR="108628" marT="54314" marB="54314" anchor="ctr"/>
                </a:tc>
                <a:tc>
                  <a:txBody>
                    <a:bodyPr/>
                    <a:lstStyle/>
                    <a:p>
                      <a:r>
                        <a:rPr lang="en-IN" sz="2100"/>
                        <a:t>Walking/running forward</a:t>
                      </a:r>
                    </a:p>
                  </a:txBody>
                  <a:tcPr marL="108628" marR="108628" marT="54314" marB="54314" anchor="ctr"/>
                </a:tc>
                <a:tc>
                  <a:txBody>
                    <a:bodyPr/>
                    <a:lstStyle/>
                    <a:p>
                      <a:r>
                        <a:rPr lang="en-IN" sz="2100"/>
                        <a:t>Move toward camera direction</a:t>
                      </a:r>
                    </a:p>
                  </a:txBody>
                  <a:tcPr marL="108628" marR="108628" marT="54314" marB="54314" anchor="ctr"/>
                </a:tc>
                <a:extLst>
                  <a:ext uri="{0D108BD9-81ED-4DB2-BD59-A6C34878D82A}">
                    <a16:rowId xmlns:a16="http://schemas.microsoft.com/office/drawing/2014/main" val="1513084657"/>
                  </a:ext>
                </a:extLst>
              </a:tr>
              <a:tr h="788483">
                <a:tc>
                  <a:txBody>
                    <a:bodyPr/>
                    <a:lstStyle/>
                    <a:p>
                      <a:r>
                        <a:rPr lang="en-IN" sz="2100"/>
                        <a:t>Vector3.back</a:t>
                      </a:r>
                    </a:p>
                  </a:txBody>
                  <a:tcPr marL="108628" marR="108628" marT="54314" marB="54314" anchor="ctr"/>
                </a:tc>
                <a:tc>
                  <a:txBody>
                    <a:bodyPr/>
                    <a:lstStyle/>
                    <a:p>
                      <a:r>
                        <a:rPr lang="en-IN" sz="2100"/>
                        <a:t>Backward (0,0,-1)</a:t>
                      </a:r>
                    </a:p>
                  </a:txBody>
                  <a:tcPr marL="108628" marR="108628" marT="54314" marB="54314" anchor="ctr"/>
                </a:tc>
                <a:tc>
                  <a:txBody>
                    <a:bodyPr/>
                    <a:lstStyle/>
                    <a:p>
                      <a:r>
                        <a:rPr lang="en-IN" sz="2100"/>
                        <a:t>Backing away</a:t>
                      </a:r>
                    </a:p>
                  </a:txBody>
                  <a:tcPr marL="108628" marR="108628" marT="54314" marB="54314" anchor="ctr"/>
                </a:tc>
                <a:tc>
                  <a:txBody>
                    <a:bodyPr/>
                    <a:lstStyle/>
                    <a:p>
                      <a:r>
                        <a:rPr lang="en-US" sz="2100" dirty="0"/>
                        <a:t>Step away from an enemy</a:t>
                      </a:r>
                    </a:p>
                  </a:txBody>
                  <a:tcPr marL="108628" marR="108628" marT="54314" marB="54314" anchor="ctr"/>
                </a:tc>
                <a:extLst>
                  <a:ext uri="{0D108BD9-81ED-4DB2-BD59-A6C34878D82A}">
                    <a16:rowId xmlns:a16="http://schemas.microsoft.com/office/drawing/2014/main" val="941307359"/>
                  </a:ext>
                </a:extLst>
              </a:tr>
            </a:tbl>
          </a:graphicData>
        </a:graphic>
      </p:graphicFrame>
    </p:spTree>
    <p:extLst>
      <p:ext uri="{BB962C8B-B14F-4D97-AF65-F5344CB8AC3E}">
        <p14:creationId xmlns:p14="http://schemas.microsoft.com/office/powerpoint/2010/main" val="40223158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12C63-9E0E-F111-480A-449A68BC5FEC}"/>
              </a:ext>
            </a:extLst>
          </p:cNvPr>
          <p:cNvSpPr>
            <a:spLocks noGrp="1"/>
          </p:cNvSpPr>
          <p:nvPr>
            <p:ph type="title"/>
          </p:nvPr>
        </p:nvSpPr>
        <p:spPr/>
        <p:txBody>
          <a:bodyPr/>
          <a:lstStyle/>
          <a:p>
            <a:r>
              <a:rPr lang="en-US" dirty="0"/>
              <a:t>Velocity Property in </a:t>
            </a:r>
            <a:r>
              <a:rPr lang="en-US" dirty="0" err="1"/>
              <a:t>Rigidbody</a:t>
            </a:r>
            <a:endParaRPr lang="en-IN" dirty="0"/>
          </a:p>
        </p:txBody>
      </p:sp>
      <p:sp>
        <p:nvSpPr>
          <p:cNvPr id="3" name="Content Placeholder 2">
            <a:extLst>
              <a:ext uri="{FF2B5EF4-FFF2-40B4-BE49-F238E27FC236}">
                <a16:creationId xmlns:a16="http://schemas.microsoft.com/office/drawing/2014/main" id="{1B8E3857-C597-C1F5-3A8C-B201F8E1425F}"/>
              </a:ext>
            </a:extLst>
          </p:cNvPr>
          <p:cNvSpPr>
            <a:spLocks noGrp="1"/>
          </p:cNvSpPr>
          <p:nvPr>
            <p:ph idx="1"/>
          </p:nvPr>
        </p:nvSpPr>
        <p:spPr/>
        <p:txBody>
          <a:bodyPr>
            <a:normAutofit fontScale="92500" lnSpcReduction="10000"/>
          </a:bodyPr>
          <a:lstStyle/>
          <a:p>
            <a:r>
              <a:rPr lang="en-US" dirty="0" err="1"/>
              <a:t>elocity</a:t>
            </a:r>
            <a:r>
              <a:rPr lang="en-US" dirty="0"/>
              <a:t> is a </a:t>
            </a:r>
            <a:r>
              <a:rPr lang="en-US" b="1" dirty="0"/>
              <a:t>Vector3</a:t>
            </a:r>
            <a:r>
              <a:rPr lang="en-US" dirty="0"/>
              <a:t> — this means it has 3 parts:</a:t>
            </a:r>
          </a:p>
          <a:p>
            <a:pPr lvl="2"/>
            <a:r>
              <a:rPr lang="en-US" dirty="0"/>
              <a:t>How much it moves side to side (X axis)</a:t>
            </a:r>
          </a:p>
          <a:p>
            <a:pPr lvl="2"/>
            <a:r>
              <a:rPr lang="en-US" dirty="0"/>
              <a:t>How much it moves up and down (Y axis)</a:t>
            </a:r>
          </a:p>
          <a:p>
            <a:pPr lvl="2"/>
            <a:r>
              <a:rPr lang="en-US" dirty="0"/>
              <a:t>How much it moves forward and backward (Z axis)</a:t>
            </a:r>
          </a:p>
          <a:p>
            <a:r>
              <a:rPr lang="en-US" dirty="0"/>
              <a:t>Understanding of Velocity:-</a:t>
            </a:r>
          </a:p>
          <a:p>
            <a:pPr lvl="2"/>
            <a:r>
              <a:rPr lang="en-US" dirty="0"/>
              <a:t>Velocity = (0, 0, 0):-The object is not moving at all.</a:t>
            </a:r>
          </a:p>
          <a:p>
            <a:pPr lvl="2"/>
            <a:r>
              <a:rPr lang="en-IN" dirty="0"/>
              <a:t>Velocity = (5, 0, 0):-</a:t>
            </a:r>
            <a:r>
              <a:rPr lang="en-US" dirty="0"/>
              <a:t>The object moves right at speed 5.</a:t>
            </a:r>
          </a:p>
          <a:p>
            <a:pPr lvl="2"/>
            <a:r>
              <a:rPr lang="en-IN" dirty="0"/>
              <a:t>Velocity = (0, 10, 0)</a:t>
            </a:r>
            <a:r>
              <a:rPr lang="en-US" dirty="0"/>
              <a:t>:- The object moves up at speed 10.</a:t>
            </a:r>
          </a:p>
          <a:p>
            <a:pPr lvl="2"/>
            <a:r>
              <a:rPr lang="en-IN" dirty="0"/>
              <a:t>Velocity = (-3, 0, 2) :- </a:t>
            </a:r>
            <a:r>
              <a:rPr lang="en-US" dirty="0"/>
              <a:t>The object moves left (because -3) and forward (2) at the same time.</a:t>
            </a:r>
          </a:p>
          <a:p>
            <a:r>
              <a:rPr lang="en-US" dirty="0"/>
              <a:t>Syntax:-</a:t>
            </a:r>
            <a:br>
              <a:rPr lang="en-US" dirty="0"/>
            </a:br>
            <a:r>
              <a:rPr lang="en-US" dirty="0"/>
              <a:t>   </a:t>
            </a:r>
            <a:r>
              <a:rPr lang="en-US" dirty="0" err="1"/>
              <a:t>rb.velocity</a:t>
            </a:r>
            <a:r>
              <a:rPr lang="en-US" dirty="0"/>
              <a:t> = new Vector3(0, 10, 0), this Make the toy jump up fast</a:t>
            </a:r>
            <a:br>
              <a:rPr lang="en-US" dirty="0"/>
            </a:br>
            <a:r>
              <a:rPr lang="en-US" dirty="0"/>
              <a:t>   or</a:t>
            </a:r>
            <a:br>
              <a:rPr lang="en-US" dirty="0"/>
            </a:br>
            <a:r>
              <a:rPr lang="en-US" dirty="0"/>
              <a:t> </a:t>
            </a:r>
            <a:r>
              <a:rPr lang="en-US" dirty="0" err="1"/>
              <a:t>rb.velocity</a:t>
            </a:r>
            <a:r>
              <a:rPr lang="en-US" dirty="0"/>
              <a:t> = new Vector3(</a:t>
            </a:r>
            <a:r>
              <a:rPr lang="en-US" dirty="0" err="1"/>
              <a:t>rb.velocity.x</a:t>
            </a:r>
            <a:r>
              <a:rPr lang="en-US" dirty="0"/>
              <a:t>, 10f, </a:t>
            </a:r>
            <a:r>
              <a:rPr lang="en-US" dirty="0" err="1"/>
              <a:t>rb.velocity.z</a:t>
            </a:r>
            <a:r>
              <a:rPr lang="en-US" dirty="0"/>
              <a:t>);</a:t>
            </a:r>
          </a:p>
          <a:p>
            <a:endParaRPr lang="en-US" dirty="0"/>
          </a:p>
          <a:p>
            <a:endParaRPr lang="en-US" dirty="0"/>
          </a:p>
          <a:p>
            <a:endParaRPr lang="en-US" dirty="0"/>
          </a:p>
          <a:p>
            <a:pPr marL="0" indent="0">
              <a:buNone/>
            </a:pPr>
            <a:endParaRPr lang="en-US" dirty="0"/>
          </a:p>
          <a:p>
            <a:endParaRPr lang="en-IN" dirty="0"/>
          </a:p>
        </p:txBody>
      </p:sp>
    </p:spTree>
    <p:extLst>
      <p:ext uri="{BB962C8B-B14F-4D97-AF65-F5344CB8AC3E}">
        <p14:creationId xmlns:p14="http://schemas.microsoft.com/office/powerpoint/2010/main" val="39081480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13A7450-5791-273F-4C61-74BA49D7FD5E}"/>
              </a:ext>
            </a:extLst>
          </p:cNvPr>
          <p:cNvGraphicFramePr>
            <a:graphicFrameLocks noGrp="1"/>
          </p:cNvGraphicFramePr>
          <p:nvPr/>
        </p:nvGraphicFramePr>
        <p:xfrm>
          <a:off x="345440" y="101600"/>
          <a:ext cx="11084560" cy="5375076"/>
        </p:xfrm>
        <a:graphic>
          <a:graphicData uri="http://schemas.openxmlformats.org/drawingml/2006/table">
            <a:tbl>
              <a:tblPr>
                <a:tableStyleId>{08FB837D-C827-4EFA-A057-4D05807E0F7C}</a:tableStyleId>
              </a:tblPr>
              <a:tblGrid>
                <a:gridCol w="2771140">
                  <a:extLst>
                    <a:ext uri="{9D8B030D-6E8A-4147-A177-3AD203B41FA5}">
                      <a16:colId xmlns:a16="http://schemas.microsoft.com/office/drawing/2014/main" val="1811765180"/>
                    </a:ext>
                  </a:extLst>
                </a:gridCol>
                <a:gridCol w="2771140">
                  <a:extLst>
                    <a:ext uri="{9D8B030D-6E8A-4147-A177-3AD203B41FA5}">
                      <a16:colId xmlns:a16="http://schemas.microsoft.com/office/drawing/2014/main" val="1608731244"/>
                    </a:ext>
                  </a:extLst>
                </a:gridCol>
                <a:gridCol w="2771140">
                  <a:extLst>
                    <a:ext uri="{9D8B030D-6E8A-4147-A177-3AD203B41FA5}">
                      <a16:colId xmlns:a16="http://schemas.microsoft.com/office/drawing/2014/main" val="4239006447"/>
                    </a:ext>
                  </a:extLst>
                </a:gridCol>
                <a:gridCol w="2771140">
                  <a:extLst>
                    <a:ext uri="{9D8B030D-6E8A-4147-A177-3AD203B41FA5}">
                      <a16:colId xmlns:a16="http://schemas.microsoft.com/office/drawing/2014/main" val="3519541246"/>
                    </a:ext>
                  </a:extLst>
                </a:gridCol>
              </a:tblGrid>
              <a:tr h="330022">
                <a:tc>
                  <a:txBody>
                    <a:bodyPr/>
                    <a:lstStyle/>
                    <a:p>
                      <a:r>
                        <a:rPr lang="en-IN" sz="600" b="1"/>
                        <a:t>Method / Property</a:t>
                      </a:r>
                      <a:endParaRPr lang="en-IN" sz="600"/>
                    </a:p>
                  </a:txBody>
                  <a:tcPr marL="30260" marR="30260" marT="15130" marB="15130" anchor="ctr"/>
                </a:tc>
                <a:tc>
                  <a:txBody>
                    <a:bodyPr/>
                    <a:lstStyle/>
                    <a:p>
                      <a:r>
                        <a:rPr lang="en-IN" sz="600" b="1"/>
                        <a:t>Use</a:t>
                      </a:r>
                      <a:endParaRPr lang="en-IN" sz="600"/>
                    </a:p>
                  </a:txBody>
                  <a:tcPr marL="30260" marR="30260" marT="15130" marB="15130" anchor="ctr"/>
                </a:tc>
                <a:tc>
                  <a:txBody>
                    <a:bodyPr/>
                    <a:lstStyle/>
                    <a:p>
                      <a:r>
                        <a:rPr lang="en-IN" sz="600" b="1"/>
                        <a:t>Syntax</a:t>
                      </a:r>
                      <a:endParaRPr lang="en-IN" sz="600"/>
                    </a:p>
                  </a:txBody>
                  <a:tcPr marL="30260" marR="30260" marT="15130" marB="15130" anchor="ctr"/>
                </a:tc>
                <a:tc>
                  <a:txBody>
                    <a:bodyPr/>
                    <a:lstStyle/>
                    <a:p>
                      <a:r>
                        <a:rPr lang="en-IN" sz="600" b="1"/>
                        <a:t>Real-Time Game Example</a:t>
                      </a:r>
                      <a:endParaRPr lang="en-IN" sz="600"/>
                    </a:p>
                  </a:txBody>
                  <a:tcPr marL="30260" marR="30260" marT="15130" marB="15130" anchor="ctr"/>
                </a:tc>
                <a:extLst>
                  <a:ext uri="{0D108BD9-81ED-4DB2-BD59-A6C34878D82A}">
                    <a16:rowId xmlns:a16="http://schemas.microsoft.com/office/drawing/2014/main" val="4022560468"/>
                  </a:ext>
                </a:extLst>
              </a:tr>
              <a:tr h="330022">
                <a:tc>
                  <a:txBody>
                    <a:bodyPr/>
                    <a:lstStyle/>
                    <a:p>
                      <a:r>
                        <a:rPr lang="en-IN" sz="600"/>
                        <a:t>AddForce</a:t>
                      </a:r>
                    </a:p>
                  </a:txBody>
                  <a:tcPr marL="30260" marR="30260" marT="15130" marB="15130" anchor="ctr"/>
                </a:tc>
                <a:tc>
                  <a:txBody>
                    <a:bodyPr/>
                    <a:lstStyle/>
                    <a:p>
                      <a:r>
                        <a:rPr lang="en-US" sz="600"/>
                        <a:t>Push object in a direction</a:t>
                      </a:r>
                    </a:p>
                  </a:txBody>
                  <a:tcPr marL="30260" marR="30260" marT="15130" marB="15130" anchor="ctr"/>
                </a:tc>
                <a:tc>
                  <a:txBody>
                    <a:bodyPr/>
                    <a:lstStyle/>
                    <a:p>
                      <a:r>
                        <a:rPr lang="en-US" sz="600"/>
                        <a:t>rb.AddForce(Vector2.up * 300f);</a:t>
                      </a:r>
                    </a:p>
                  </a:txBody>
                  <a:tcPr marL="30260" marR="30260" marT="15130" marB="15130" anchor="ctr"/>
                </a:tc>
                <a:tc>
                  <a:txBody>
                    <a:bodyPr/>
                    <a:lstStyle/>
                    <a:p>
                      <a:r>
                        <a:rPr lang="en-IN" sz="600"/>
                        <a:t>Make the player </a:t>
                      </a:r>
                      <a:r>
                        <a:rPr lang="en-IN" sz="600" b="1"/>
                        <a:t>jump</a:t>
                      </a:r>
                      <a:endParaRPr lang="en-IN" sz="600"/>
                    </a:p>
                  </a:txBody>
                  <a:tcPr marL="30260" marR="30260" marT="15130" marB="15130" anchor="ctr"/>
                </a:tc>
                <a:extLst>
                  <a:ext uri="{0D108BD9-81ED-4DB2-BD59-A6C34878D82A}">
                    <a16:rowId xmlns:a16="http://schemas.microsoft.com/office/drawing/2014/main" val="1437857460"/>
                  </a:ext>
                </a:extLst>
              </a:tr>
              <a:tr h="471604">
                <a:tc>
                  <a:txBody>
                    <a:bodyPr/>
                    <a:lstStyle/>
                    <a:p>
                      <a:r>
                        <a:rPr lang="en-IN" sz="600"/>
                        <a:t>velocity</a:t>
                      </a:r>
                    </a:p>
                  </a:txBody>
                  <a:tcPr marL="30260" marR="30260" marT="15130" marB="15130" anchor="ctr"/>
                </a:tc>
                <a:tc>
                  <a:txBody>
                    <a:bodyPr/>
                    <a:lstStyle/>
                    <a:p>
                      <a:r>
                        <a:rPr lang="en-IN" sz="600"/>
                        <a:t>Set movement speed directly</a:t>
                      </a:r>
                    </a:p>
                  </a:txBody>
                  <a:tcPr marL="30260" marR="30260" marT="15130" marB="15130" anchor="ctr"/>
                </a:tc>
                <a:tc>
                  <a:txBody>
                    <a:bodyPr/>
                    <a:lstStyle/>
                    <a:p>
                      <a:r>
                        <a:rPr lang="en-US" sz="600"/>
                        <a:t>rb.velocity = new Vector2(5f, rb.velocity.y);</a:t>
                      </a:r>
                    </a:p>
                  </a:txBody>
                  <a:tcPr marL="30260" marR="30260" marT="15130" marB="15130" anchor="ctr"/>
                </a:tc>
                <a:tc>
                  <a:txBody>
                    <a:bodyPr/>
                    <a:lstStyle/>
                    <a:p>
                      <a:r>
                        <a:rPr lang="en-US" sz="600"/>
                        <a:t>Player </a:t>
                      </a:r>
                      <a:r>
                        <a:rPr lang="en-US" sz="600" b="1"/>
                        <a:t>walks or runs</a:t>
                      </a:r>
                      <a:r>
                        <a:rPr lang="en-US" sz="600"/>
                        <a:t> left/right</a:t>
                      </a:r>
                    </a:p>
                  </a:txBody>
                  <a:tcPr marL="30260" marR="30260" marT="15130" marB="15130" anchor="ctr"/>
                </a:tc>
                <a:extLst>
                  <a:ext uri="{0D108BD9-81ED-4DB2-BD59-A6C34878D82A}">
                    <a16:rowId xmlns:a16="http://schemas.microsoft.com/office/drawing/2014/main" val="3048100349"/>
                  </a:ext>
                </a:extLst>
              </a:tr>
              <a:tr h="330022">
                <a:tc>
                  <a:txBody>
                    <a:bodyPr/>
                    <a:lstStyle/>
                    <a:p>
                      <a:r>
                        <a:rPr lang="en-IN" sz="600"/>
                        <a:t>gravityScale</a:t>
                      </a:r>
                    </a:p>
                  </a:txBody>
                  <a:tcPr marL="30260" marR="30260" marT="15130" marB="15130" anchor="ctr"/>
                </a:tc>
                <a:tc>
                  <a:txBody>
                    <a:bodyPr/>
                    <a:lstStyle/>
                    <a:p>
                      <a:r>
                        <a:rPr lang="en-US" sz="600"/>
                        <a:t>Control how fast object falls</a:t>
                      </a:r>
                    </a:p>
                  </a:txBody>
                  <a:tcPr marL="30260" marR="30260" marT="15130" marB="15130" anchor="ctr"/>
                </a:tc>
                <a:tc>
                  <a:txBody>
                    <a:bodyPr/>
                    <a:lstStyle/>
                    <a:p>
                      <a:r>
                        <a:rPr lang="en-IN" sz="600"/>
                        <a:t>rb.gravityScale = 2f;</a:t>
                      </a:r>
                    </a:p>
                  </a:txBody>
                  <a:tcPr marL="30260" marR="30260" marT="15130" marB="15130" anchor="ctr"/>
                </a:tc>
                <a:tc>
                  <a:txBody>
                    <a:bodyPr/>
                    <a:lstStyle/>
                    <a:p>
                      <a:r>
                        <a:rPr lang="en-US" sz="600"/>
                        <a:t>Make object </a:t>
                      </a:r>
                      <a:r>
                        <a:rPr lang="en-US" sz="600" b="1"/>
                        <a:t>fall faster</a:t>
                      </a:r>
                      <a:r>
                        <a:rPr lang="en-US" sz="600"/>
                        <a:t> or </a:t>
                      </a:r>
                      <a:r>
                        <a:rPr lang="en-US" sz="600" b="1"/>
                        <a:t>float</a:t>
                      </a:r>
                      <a:endParaRPr lang="en-US" sz="600"/>
                    </a:p>
                  </a:txBody>
                  <a:tcPr marL="30260" marR="30260" marT="15130" marB="15130" anchor="ctr"/>
                </a:tc>
                <a:extLst>
                  <a:ext uri="{0D108BD9-81ED-4DB2-BD59-A6C34878D82A}">
                    <a16:rowId xmlns:a16="http://schemas.microsoft.com/office/drawing/2014/main" val="3824373598"/>
                  </a:ext>
                </a:extLst>
              </a:tr>
              <a:tr h="330022">
                <a:tc>
                  <a:txBody>
                    <a:bodyPr/>
                    <a:lstStyle/>
                    <a:p>
                      <a:r>
                        <a:rPr lang="en-IN" sz="600"/>
                        <a:t>mass</a:t>
                      </a:r>
                    </a:p>
                  </a:txBody>
                  <a:tcPr marL="30260" marR="30260" marT="15130" marB="15130" anchor="ctr"/>
                </a:tc>
                <a:tc>
                  <a:txBody>
                    <a:bodyPr/>
                    <a:lstStyle/>
                    <a:p>
                      <a:r>
                        <a:rPr lang="en-US" sz="600"/>
                        <a:t>Set how heavy object is</a:t>
                      </a:r>
                    </a:p>
                  </a:txBody>
                  <a:tcPr marL="30260" marR="30260" marT="15130" marB="15130" anchor="ctr"/>
                </a:tc>
                <a:tc>
                  <a:txBody>
                    <a:bodyPr/>
                    <a:lstStyle/>
                    <a:p>
                      <a:r>
                        <a:rPr lang="en-IN" sz="600"/>
                        <a:t>rb.mass = 2.5f;</a:t>
                      </a:r>
                    </a:p>
                  </a:txBody>
                  <a:tcPr marL="30260" marR="30260" marT="15130" marB="15130" anchor="ctr"/>
                </a:tc>
                <a:tc>
                  <a:txBody>
                    <a:bodyPr/>
                    <a:lstStyle/>
                    <a:p>
                      <a:r>
                        <a:rPr lang="en-US" sz="600"/>
                        <a:t>A heavy object </a:t>
                      </a:r>
                      <a:r>
                        <a:rPr lang="en-US" sz="600" b="1"/>
                        <a:t>falls harder</a:t>
                      </a:r>
                      <a:endParaRPr lang="en-US" sz="600"/>
                    </a:p>
                  </a:txBody>
                  <a:tcPr marL="30260" marR="30260" marT="15130" marB="15130" anchor="ctr"/>
                </a:tc>
                <a:extLst>
                  <a:ext uri="{0D108BD9-81ED-4DB2-BD59-A6C34878D82A}">
                    <a16:rowId xmlns:a16="http://schemas.microsoft.com/office/drawing/2014/main" val="1291980840"/>
                  </a:ext>
                </a:extLst>
              </a:tr>
              <a:tr h="471604">
                <a:tc>
                  <a:txBody>
                    <a:bodyPr/>
                    <a:lstStyle/>
                    <a:p>
                      <a:r>
                        <a:rPr lang="en-IN" sz="600"/>
                        <a:t>drag</a:t>
                      </a:r>
                    </a:p>
                  </a:txBody>
                  <a:tcPr marL="30260" marR="30260" marT="15130" marB="15130" anchor="ctr"/>
                </a:tc>
                <a:tc>
                  <a:txBody>
                    <a:bodyPr/>
                    <a:lstStyle/>
                    <a:p>
                      <a:r>
                        <a:rPr lang="en-IN" sz="600"/>
                        <a:t>Slows down horizontal movement</a:t>
                      </a:r>
                    </a:p>
                  </a:txBody>
                  <a:tcPr marL="30260" marR="30260" marT="15130" marB="15130" anchor="ctr"/>
                </a:tc>
                <a:tc>
                  <a:txBody>
                    <a:bodyPr/>
                    <a:lstStyle/>
                    <a:p>
                      <a:r>
                        <a:rPr lang="en-IN" sz="600" dirty="0" err="1"/>
                        <a:t>rb.drag</a:t>
                      </a:r>
                      <a:r>
                        <a:rPr lang="en-IN" sz="600" dirty="0"/>
                        <a:t> = 1f;</a:t>
                      </a:r>
                    </a:p>
                  </a:txBody>
                  <a:tcPr marL="30260" marR="30260" marT="15130" marB="15130" anchor="ctr"/>
                </a:tc>
                <a:tc>
                  <a:txBody>
                    <a:bodyPr/>
                    <a:lstStyle/>
                    <a:p>
                      <a:r>
                        <a:rPr lang="en-US" sz="600"/>
                        <a:t>Used to </a:t>
                      </a:r>
                      <a:r>
                        <a:rPr lang="en-US" sz="600" b="1"/>
                        <a:t>slow down movement over time</a:t>
                      </a:r>
                      <a:endParaRPr lang="en-US" sz="600"/>
                    </a:p>
                  </a:txBody>
                  <a:tcPr marL="30260" marR="30260" marT="15130" marB="15130" anchor="ctr"/>
                </a:tc>
                <a:extLst>
                  <a:ext uri="{0D108BD9-81ED-4DB2-BD59-A6C34878D82A}">
                    <a16:rowId xmlns:a16="http://schemas.microsoft.com/office/drawing/2014/main" val="2054839811"/>
                  </a:ext>
                </a:extLst>
              </a:tr>
              <a:tr h="330022">
                <a:tc>
                  <a:txBody>
                    <a:bodyPr/>
                    <a:lstStyle/>
                    <a:p>
                      <a:r>
                        <a:rPr lang="en-IN" sz="600"/>
                        <a:t>angularDrag</a:t>
                      </a:r>
                    </a:p>
                  </a:txBody>
                  <a:tcPr marL="30260" marR="30260" marT="15130" marB="15130" anchor="ctr"/>
                </a:tc>
                <a:tc>
                  <a:txBody>
                    <a:bodyPr/>
                    <a:lstStyle/>
                    <a:p>
                      <a:r>
                        <a:rPr lang="en-IN" sz="600"/>
                        <a:t>Slows down rotation</a:t>
                      </a:r>
                    </a:p>
                  </a:txBody>
                  <a:tcPr marL="30260" marR="30260" marT="15130" marB="15130" anchor="ctr"/>
                </a:tc>
                <a:tc>
                  <a:txBody>
                    <a:bodyPr/>
                    <a:lstStyle/>
                    <a:p>
                      <a:r>
                        <a:rPr lang="en-IN" sz="600"/>
                        <a:t>rb.angularDrag = 0.5f;</a:t>
                      </a:r>
                    </a:p>
                  </a:txBody>
                  <a:tcPr marL="30260" marR="30260" marT="15130" marB="15130" anchor="ctr"/>
                </a:tc>
                <a:tc>
                  <a:txBody>
                    <a:bodyPr/>
                    <a:lstStyle/>
                    <a:p>
                      <a:r>
                        <a:rPr lang="en-US" sz="600"/>
                        <a:t>A spinning object (like a wheel) </a:t>
                      </a:r>
                      <a:r>
                        <a:rPr lang="en-US" sz="600" b="1"/>
                        <a:t>slows spin</a:t>
                      </a:r>
                      <a:endParaRPr lang="en-US" sz="600"/>
                    </a:p>
                  </a:txBody>
                  <a:tcPr marL="30260" marR="30260" marT="15130" marB="15130" anchor="ctr"/>
                </a:tc>
                <a:extLst>
                  <a:ext uri="{0D108BD9-81ED-4DB2-BD59-A6C34878D82A}">
                    <a16:rowId xmlns:a16="http://schemas.microsoft.com/office/drawing/2014/main" val="2701173375"/>
                  </a:ext>
                </a:extLst>
              </a:tr>
              <a:tr h="330022">
                <a:tc>
                  <a:txBody>
                    <a:bodyPr/>
                    <a:lstStyle/>
                    <a:p>
                      <a:r>
                        <a:rPr lang="en-IN" sz="600"/>
                        <a:t>AddTorque</a:t>
                      </a:r>
                    </a:p>
                  </a:txBody>
                  <a:tcPr marL="30260" marR="30260" marT="15130" marB="15130" anchor="ctr"/>
                </a:tc>
                <a:tc>
                  <a:txBody>
                    <a:bodyPr/>
                    <a:lstStyle/>
                    <a:p>
                      <a:r>
                        <a:rPr lang="en-IN" sz="600"/>
                        <a:t>Apply a spinning force</a:t>
                      </a:r>
                    </a:p>
                  </a:txBody>
                  <a:tcPr marL="30260" marR="30260" marT="15130" marB="15130" anchor="ctr"/>
                </a:tc>
                <a:tc>
                  <a:txBody>
                    <a:bodyPr/>
                    <a:lstStyle/>
                    <a:p>
                      <a:r>
                        <a:rPr lang="en-IN" sz="600"/>
                        <a:t>rb.AddTorque(50f);</a:t>
                      </a:r>
                    </a:p>
                  </a:txBody>
                  <a:tcPr marL="30260" marR="30260" marT="15130" marB="15130" anchor="ctr"/>
                </a:tc>
                <a:tc>
                  <a:txBody>
                    <a:bodyPr/>
                    <a:lstStyle/>
                    <a:p>
                      <a:r>
                        <a:rPr lang="en-US" sz="600"/>
                        <a:t>Spin a 2D object like a </a:t>
                      </a:r>
                      <a:r>
                        <a:rPr lang="en-US" sz="600" b="1"/>
                        <a:t>top or gear</a:t>
                      </a:r>
                      <a:endParaRPr lang="en-US" sz="600"/>
                    </a:p>
                  </a:txBody>
                  <a:tcPr marL="30260" marR="30260" marT="15130" marB="15130" anchor="ctr"/>
                </a:tc>
                <a:extLst>
                  <a:ext uri="{0D108BD9-81ED-4DB2-BD59-A6C34878D82A}">
                    <a16:rowId xmlns:a16="http://schemas.microsoft.com/office/drawing/2014/main" val="714277779"/>
                  </a:ext>
                </a:extLst>
              </a:tr>
              <a:tr h="330022">
                <a:tc>
                  <a:txBody>
                    <a:bodyPr/>
                    <a:lstStyle/>
                    <a:p>
                      <a:r>
                        <a:rPr lang="en-IN" sz="600"/>
                        <a:t>MovePosition</a:t>
                      </a:r>
                    </a:p>
                  </a:txBody>
                  <a:tcPr marL="30260" marR="30260" marT="15130" marB="15130" anchor="ctr"/>
                </a:tc>
                <a:tc>
                  <a:txBody>
                    <a:bodyPr/>
                    <a:lstStyle/>
                    <a:p>
                      <a:r>
                        <a:rPr lang="en-US" sz="600"/>
                        <a:t>Move object manually (physics safe)</a:t>
                      </a:r>
                    </a:p>
                  </a:txBody>
                  <a:tcPr marL="30260" marR="30260" marT="15130" marB="15130" anchor="ctr"/>
                </a:tc>
                <a:tc>
                  <a:txBody>
                    <a:bodyPr/>
                    <a:lstStyle/>
                    <a:p>
                      <a:r>
                        <a:rPr lang="en-IN" sz="600"/>
                        <a:t>rb.MovePosition(rb.position + moveVector);</a:t>
                      </a:r>
                    </a:p>
                  </a:txBody>
                  <a:tcPr marL="30260" marR="30260" marT="15130" marB="15130" anchor="ctr"/>
                </a:tc>
                <a:tc>
                  <a:txBody>
                    <a:bodyPr/>
                    <a:lstStyle/>
                    <a:p>
                      <a:r>
                        <a:rPr lang="en-US" sz="600"/>
                        <a:t>Smoothly </a:t>
                      </a:r>
                      <a:r>
                        <a:rPr lang="en-US" sz="600" b="1"/>
                        <a:t>slide a door</a:t>
                      </a:r>
                      <a:r>
                        <a:rPr lang="en-US" sz="600"/>
                        <a:t> or move an enemy</a:t>
                      </a:r>
                    </a:p>
                  </a:txBody>
                  <a:tcPr marL="30260" marR="30260" marT="15130" marB="15130" anchor="ctr"/>
                </a:tc>
                <a:extLst>
                  <a:ext uri="{0D108BD9-81ED-4DB2-BD59-A6C34878D82A}">
                    <a16:rowId xmlns:a16="http://schemas.microsoft.com/office/drawing/2014/main" val="4155215167"/>
                  </a:ext>
                </a:extLst>
              </a:tr>
              <a:tr h="330022">
                <a:tc>
                  <a:txBody>
                    <a:bodyPr/>
                    <a:lstStyle/>
                    <a:p>
                      <a:r>
                        <a:rPr lang="en-IN" sz="600"/>
                        <a:t>MoveRotation</a:t>
                      </a:r>
                    </a:p>
                  </a:txBody>
                  <a:tcPr marL="30260" marR="30260" marT="15130" marB="15130" anchor="ctr"/>
                </a:tc>
                <a:tc>
                  <a:txBody>
                    <a:bodyPr/>
                    <a:lstStyle/>
                    <a:p>
                      <a:r>
                        <a:rPr lang="en-IN" sz="600"/>
                        <a:t>Rotate manually</a:t>
                      </a:r>
                    </a:p>
                  </a:txBody>
                  <a:tcPr marL="30260" marR="30260" marT="15130" marB="15130" anchor="ctr"/>
                </a:tc>
                <a:tc>
                  <a:txBody>
                    <a:bodyPr/>
                    <a:lstStyle/>
                    <a:p>
                      <a:r>
                        <a:rPr lang="en-IN" sz="600"/>
                        <a:t>rb.MoveRotation(45f);</a:t>
                      </a:r>
                    </a:p>
                  </a:txBody>
                  <a:tcPr marL="30260" marR="30260" marT="15130" marB="15130" anchor="ctr"/>
                </a:tc>
                <a:tc>
                  <a:txBody>
                    <a:bodyPr/>
                    <a:lstStyle/>
                    <a:p>
                      <a:r>
                        <a:rPr lang="en-US" sz="600"/>
                        <a:t>Manually </a:t>
                      </a:r>
                      <a:r>
                        <a:rPr lang="en-US" sz="600" b="1"/>
                        <a:t>rotate an object</a:t>
                      </a:r>
                      <a:r>
                        <a:rPr lang="en-US" sz="600"/>
                        <a:t> like a lever</a:t>
                      </a:r>
                    </a:p>
                  </a:txBody>
                  <a:tcPr marL="30260" marR="30260" marT="15130" marB="15130" anchor="ctr"/>
                </a:tc>
                <a:extLst>
                  <a:ext uri="{0D108BD9-81ED-4DB2-BD59-A6C34878D82A}">
                    <a16:rowId xmlns:a16="http://schemas.microsoft.com/office/drawing/2014/main" val="2297000174"/>
                  </a:ext>
                </a:extLst>
              </a:tr>
              <a:tr h="330022">
                <a:tc>
                  <a:txBody>
                    <a:bodyPr/>
                    <a:lstStyle/>
                    <a:p>
                      <a:r>
                        <a:rPr lang="en-IN" sz="600"/>
                        <a:t>isKinematic</a:t>
                      </a:r>
                    </a:p>
                  </a:txBody>
                  <a:tcPr marL="30260" marR="30260" marT="15130" marB="15130" anchor="ctr"/>
                </a:tc>
                <a:tc>
                  <a:txBody>
                    <a:bodyPr/>
                    <a:lstStyle/>
                    <a:p>
                      <a:r>
                        <a:rPr lang="en-IN" sz="600"/>
                        <a:t>Disable physics, move via script</a:t>
                      </a:r>
                    </a:p>
                  </a:txBody>
                  <a:tcPr marL="30260" marR="30260" marT="15130" marB="15130" anchor="ctr"/>
                </a:tc>
                <a:tc>
                  <a:txBody>
                    <a:bodyPr/>
                    <a:lstStyle/>
                    <a:p>
                      <a:r>
                        <a:rPr lang="en-IN" sz="600"/>
                        <a:t>rb.isKinematic = true;</a:t>
                      </a:r>
                    </a:p>
                  </a:txBody>
                  <a:tcPr marL="30260" marR="30260" marT="15130" marB="15130" anchor="ctr"/>
                </a:tc>
                <a:tc>
                  <a:txBody>
                    <a:bodyPr/>
                    <a:lstStyle/>
                    <a:p>
                      <a:r>
                        <a:rPr lang="en-US" sz="600"/>
                        <a:t>Move a </a:t>
                      </a:r>
                      <a:r>
                        <a:rPr lang="en-US" sz="600" b="1"/>
                        <a:t>UI element</a:t>
                      </a:r>
                      <a:r>
                        <a:rPr lang="en-US" sz="600"/>
                        <a:t> or scripted object</a:t>
                      </a:r>
                    </a:p>
                  </a:txBody>
                  <a:tcPr marL="30260" marR="30260" marT="15130" marB="15130" anchor="ctr"/>
                </a:tc>
                <a:extLst>
                  <a:ext uri="{0D108BD9-81ED-4DB2-BD59-A6C34878D82A}">
                    <a16:rowId xmlns:a16="http://schemas.microsoft.com/office/drawing/2014/main" val="3921697795"/>
                  </a:ext>
                </a:extLst>
              </a:tr>
              <a:tr h="330022">
                <a:tc>
                  <a:txBody>
                    <a:bodyPr/>
                    <a:lstStyle/>
                    <a:p>
                      <a:r>
                        <a:rPr lang="en-IN" sz="600"/>
                        <a:t>position</a:t>
                      </a:r>
                    </a:p>
                  </a:txBody>
                  <a:tcPr marL="30260" marR="30260" marT="15130" marB="15130" anchor="ctr"/>
                </a:tc>
                <a:tc>
                  <a:txBody>
                    <a:bodyPr/>
                    <a:lstStyle/>
                    <a:p>
                      <a:r>
                        <a:rPr lang="en-IN" sz="600"/>
                        <a:t>Get object’s current position</a:t>
                      </a:r>
                    </a:p>
                  </a:txBody>
                  <a:tcPr marL="30260" marR="30260" marT="15130" marB="15130" anchor="ctr"/>
                </a:tc>
                <a:tc>
                  <a:txBody>
                    <a:bodyPr/>
                    <a:lstStyle/>
                    <a:p>
                      <a:r>
                        <a:rPr lang="en-IN" sz="600"/>
                        <a:t>Vector2 pos = rb.position;</a:t>
                      </a:r>
                    </a:p>
                  </a:txBody>
                  <a:tcPr marL="30260" marR="30260" marT="15130" marB="15130" anchor="ctr"/>
                </a:tc>
                <a:tc>
                  <a:txBody>
                    <a:bodyPr/>
                    <a:lstStyle/>
                    <a:p>
                      <a:r>
                        <a:rPr lang="en-IN" sz="600"/>
                        <a:t>Track </a:t>
                      </a:r>
                      <a:r>
                        <a:rPr lang="en-IN" sz="600" b="1"/>
                        <a:t>player location</a:t>
                      </a:r>
                      <a:endParaRPr lang="en-IN" sz="600"/>
                    </a:p>
                  </a:txBody>
                  <a:tcPr marL="30260" marR="30260" marT="15130" marB="15130" anchor="ctr"/>
                </a:tc>
                <a:extLst>
                  <a:ext uri="{0D108BD9-81ED-4DB2-BD59-A6C34878D82A}">
                    <a16:rowId xmlns:a16="http://schemas.microsoft.com/office/drawing/2014/main" val="2191407229"/>
                  </a:ext>
                </a:extLst>
              </a:tr>
              <a:tr h="330022">
                <a:tc>
                  <a:txBody>
                    <a:bodyPr/>
                    <a:lstStyle/>
                    <a:p>
                      <a:r>
                        <a:rPr lang="en-IN" sz="600"/>
                        <a:t>rotation</a:t>
                      </a:r>
                    </a:p>
                  </a:txBody>
                  <a:tcPr marL="30260" marR="30260" marT="15130" marB="15130" anchor="ctr"/>
                </a:tc>
                <a:tc>
                  <a:txBody>
                    <a:bodyPr/>
                    <a:lstStyle/>
                    <a:p>
                      <a:r>
                        <a:rPr lang="en-IN" sz="600"/>
                        <a:t>Get/set object’s rotation</a:t>
                      </a:r>
                    </a:p>
                  </a:txBody>
                  <a:tcPr marL="30260" marR="30260" marT="15130" marB="15130" anchor="ctr"/>
                </a:tc>
                <a:tc>
                  <a:txBody>
                    <a:bodyPr/>
                    <a:lstStyle/>
                    <a:p>
                      <a:r>
                        <a:rPr lang="en-IN" sz="600"/>
                        <a:t>float angle = rb.rotation;</a:t>
                      </a:r>
                    </a:p>
                  </a:txBody>
                  <a:tcPr marL="30260" marR="30260" marT="15130" marB="15130" anchor="ctr"/>
                </a:tc>
                <a:tc>
                  <a:txBody>
                    <a:bodyPr/>
                    <a:lstStyle/>
                    <a:p>
                      <a:r>
                        <a:rPr lang="en-US" sz="600"/>
                        <a:t>Detect how much object has </a:t>
                      </a:r>
                      <a:r>
                        <a:rPr lang="en-US" sz="600" b="1"/>
                        <a:t>rotated</a:t>
                      </a:r>
                      <a:endParaRPr lang="en-US" sz="600"/>
                    </a:p>
                  </a:txBody>
                  <a:tcPr marL="30260" marR="30260" marT="15130" marB="15130" anchor="ctr"/>
                </a:tc>
                <a:extLst>
                  <a:ext uri="{0D108BD9-81ED-4DB2-BD59-A6C34878D82A}">
                    <a16:rowId xmlns:a16="http://schemas.microsoft.com/office/drawing/2014/main" val="3219192181"/>
                  </a:ext>
                </a:extLst>
              </a:tr>
              <a:tr h="330022">
                <a:tc>
                  <a:txBody>
                    <a:bodyPr/>
                    <a:lstStyle/>
                    <a:p>
                      <a:r>
                        <a:rPr lang="en-IN" sz="600"/>
                        <a:t>simulated</a:t>
                      </a:r>
                    </a:p>
                  </a:txBody>
                  <a:tcPr marL="30260" marR="30260" marT="15130" marB="15130" anchor="ctr"/>
                </a:tc>
                <a:tc>
                  <a:txBody>
                    <a:bodyPr/>
                    <a:lstStyle/>
                    <a:p>
                      <a:r>
                        <a:rPr lang="en-IN" sz="600"/>
                        <a:t>Turn physics on/off</a:t>
                      </a:r>
                    </a:p>
                  </a:txBody>
                  <a:tcPr marL="30260" marR="30260" marT="15130" marB="15130" anchor="ctr"/>
                </a:tc>
                <a:tc>
                  <a:txBody>
                    <a:bodyPr/>
                    <a:lstStyle/>
                    <a:p>
                      <a:r>
                        <a:rPr lang="en-IN" sz="600"/>
                        <a:t>rb.simulated = false;</a:t>
                      </a:r>
                    </a:p>
                  </a:txBody>
                  <a:tcPr marL="30260" marR="30260" marT="15130" marB="15130" anchor="ctr"/>
                </a:tc>
                <a:tc>
                  <a:txBody>
                    <a:bodyPr/>
                    <a:lstStyle/>
                    <a:p>
                      <a:r>
                        <a:rPr lang="en-IN" sz="600"/>
                        <a:t>Temporarily </a:t>
                      </a:r>
                      <a:r>
                        <a:rPr lang="en-IN" sz="600" b="1"/>
                        <a:t>freeze physics</a:t>
                      </a:r>
                      <a:endParaRPr lang="en-IN" sz="600"/>
                    </a:p>
                  </a:txBody>
                  <a:tcPr marL="30260" marR="30260" marT="15130" marB="15130" anchor="ctr"/>
                </a:tc>
                <a:extLst>
                  <a:ext uri="{0D108BD9-81ED-4DB2-BD59-A6C34878D82A}">
                    <a16:rowId xmlns:a16="http://schemas.microsoft.com/office/drawing/2014/main" val="3282827106"/>
                  </a:ext>
                </a:extLst>
              </a:tr>
              <a:tr h="471604">
                <a:tc>
                  <a:txBody>
                    <a:bodyPr/>
                    <a:lstStyle/>
                    <a:p>
                      <a:r>
                        <a:rPr lang="en-IN" sz="600"/>
                        <a:t>constraints</a:t>
                      </a:r>
                    </a:p>
                  </a:txBody>
                  <a:tcPr marL="30260" marR="30260" marT="15130" marB="15130" anchor="ctr"/>
                </a:tc>
                <a:tc>
                  <a:txBody>
                    <a:bodyPr/>
                    <a:lstStyle/>
                    <a:p>
                      <a:r>
                        <a:rPr lang="en-IN" sz="600"/>
                        <a:t>Lock movement or rotation</a:t>
                      </a:r>
                    </a:p>
                  </a:txBody>
                  <a:tcPr marL="30260" marR="30260" marT="15130" marB="15130" anchor="ctr"/>
                </a:tc>
                <a:tc>
                  <a:txBody>
                    <a:bodyPr/>
                    <a:lstStyle/>
                    <a:p>
                      <a:r>
                        <a:rPr lang="en-IN" sz="600"/>
                        <a:t>rb.constraints = RigidbodyConstraints2D.FreezeRotation;</a:t>
                      </a:r>
                    </a:p>
                  </a:txBody>
                  <a:tcPr marL="30260" marR="30260" marT="15130" marB="15130" anchor="ctr"/>
                </a:tc>
                <a:tc>
                  <a:txBody>
                    <a:bodyPr/>
                    <a:lstStyle/>
                    <a:p>
                      <a:r>
                        <a:rPr lang="en-US" sz="600" dirty="0"/>
                        <a:t>Prevent </a:t>
                      </a:r>
                      <a:r>
                        <a:rPr lang="en-US" sz="600" b="1" dirty="0"/>
                        <a:t>player rotation</a:t>
                      </a:r>
                      <a:r>
                        <a:rPr lang="en-US" sz="600" dirty="0"/>
                        <a:t> when walking</a:t>
                      </a:r>
                    </a:p>
                  </a:txBody>
                  <a:tcPr marL="30260" marR="30260" marT="15130" marB="15130" anchor="ctr"/>
                </a:tc>
                <a:extLst>
                  <a:ext uri="{0D108BD9-81ED-4DB2-BD59-A6C34878D82A}">
                    <a16:rowId xmlns:a16="http://schemas.microsoft.com/office/drawing/2014/main" val="4026596594"/>
                  </a:ext>
                </a:extLst>
              </a:tr>
            </a:tbl>
          </a:graphicData>
        </a:graphic>
      </p:graphicFrame>
    </p:spTree>
    <p:extLst>
      <p:ext uri="{BB962C8B-B14F-4D97-AF65-F5344CB8AC3E}">
        <p14:creationId xmlns:p14="http://schemas.microsoft.com/office/powerpoint/2010/main" val="6239913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85724-A258-9DF8-79C8-AB34F414D540}"/>
              </a:ext>
            </a:extLst>
          </p:cNvPr>
          <p:cNvSpPr>
            <a:spLocks noGrp="1"/>
          </p:cNvSpPr>
          <p:nvPr>
            <p:ph type="title"/>
          </p:nvPr>
        </p:nvSpPr>
        <p:spPr/>
        <p:txBody>
          <a:bodyPr/>
          <a:lstStyle/>
          <a:p>
            <a:r>
              <a:rPr lang="en-US" dirty="0"/>
              <a:t>Collider:-</a:t>
            </a:r>
            <a:endParaRPr lang="en-IN" dirty="0"/>
          </a:p>
        </p:txBody>
      </p:sp>
      <p:sp>
        <p:nvSpPr>
          <p:cNvPr id="3" name="Content Placeholder 2">
            <a:extLst>
              <a:ext uri="{FF2B5EF4-FFF2-40B4-BE49-F238E27FC236}">
                <a16:creationId xmlns:a16="http://schemas.microsoft.com/office/drawing/2014/main" id="{75B1FAB3-6C9C-946E-E3C2-732E01BC61B5}"/>
              </a:ext>
            </a:extLst>
          </p:cNvPr>
          <p:cNvSpPr>
            <a:spLocks noGrp="1"/>
          </p:cNvSpPr>
          <p:nvPr>
            <p:ph idx="1"/>
          </p:nvPr>
        </p:nvSpPr>
        <p:spPr/>
        <p:txBody>
          <a:bodyPr/>
          <a:lstStyle/>
          <a:p>
            <a:r>
              <a:rPr lang="en-US" dirty="0"/>
              <a:t>A Collider is an invisible shape around a game object.</a:t>
            </a:r>
          </a:p>
          <a:p>
            <a:r>
              <a:rPr lang="en-US" dirty="0"/>
              <a:t>it tells the game when two objects touch  into each other.</a:t>
            </a:r>
          </a:p>
          <a:p>
            <a:r>
              <a:rPr lang="en-US" dirty="0"/>
              <a:t>It doesn’t make the object move — it just detects contact.</a:t>
            </a:r>
          </a:p>
          <a:p>
            <a:pPr marL="0" indent="0">
              <a:buNone/>
            </a:pPr>
            <a:r>
              <a:rPr lang="en-US" dirty="0">
                <a:solidFill>
                  <a:srgbClr val="FF0000"/>
                </a:solidFill>
              </a:rPr>
              <a:t>                                   Why Do We Use Colliders?</a:t>
            </a:r>
          </a:p>
          <a:p>
            <a:pPr>
              <a:buFont typeface="Arial" panose="020B0604020202020204" pitchFamily="34" charset="0"/>
              <a:buChar char="•"/>
            </a:pPr>
            <a:r>
              <a:rPr lang="en-US" sz="2400" dirty="0"/>
              <a:t>To detect collisions (like a player hitting an enemy).</a:t>
            </a:r>
          </a:p>
          <a:p>
            <a:pPr>
              <a:buFont typeface="Arial" panose="020B0604020202020204" pitchFamily="34" charset="0"/>
              <a:buChar char="•"/>
            </a:pPr>
            <a:r>
              <a:rPr lang="en-US" sz="2400" dirty="0"/>
              <a:t>To make things bounce, stop, or react when they hit something.</a:t>
            </a:r>
          </a:p>
          <a:p>
            <a:pPr>
              <a:buFont typeface="Arial" panose="020B0604020202020204" pitchFamily="34" charset="0"/>
              <a:buChar char="•"/>
            </a:pPr>
            <a:r>
              <a:rPr lang="en-US" sz="2400" dirty="0"/>
              <a:t>To make sure objects don’t go through each other.</a:t>
            </a:r>
          </a:p>
          <a:p>
            <a:pPr marL="0" indent="0">
              <a:buNone/>
            </a:pPr>
            <a:endParaRPr lang="en-US" sz="2400" dirty="0">
              <a:solidFill>
                <a:srgbClr val="FF0000"/>
              </a:solidFill>
            </a:endParaRPr>
          </a:p>
          <a:p>
            <a:pPr marL="0" indent="0">
              <a:buNone/>
            </a:pPr>
            <a:endParaRPr lang="en-US" dirty="0">
              <a:solidFill>
                <a:srgbClr val="FF0000"/>
              </a:solidFill>
            </a:endParaRPr>
          </a:p>
          <a:p>
            <a:pPr marL="0" indent="0">
              <a:buNone/>
            </a:pPr>
            <a:endParaRPr lang="en-IN" dirty="0"/>
          </a:p>
        </p:txBody>
      </p:sp>
    </p:spTree>
    <p:extLst>
      <p:ext uri="{BB962C8B-B14F-4D97-AF65-F5344CB8AC3E}">
        <p14:creationId xmlns:p14="http://schemas.microsoft.com/office/powerpoint/2010/main" val="25199413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4CF456-7AB3-B91C-9C9D-EF7E9CEDA8D3}"/>
              </a:ext>
            </a:extLst>
          </p:cNvPr>
          <p:cNvSpPr>
            <a:spLocks noGrp="1"/>
          </p:cNvSpPr>
          <p:nvPr>
            <p:ph type="title"/>
          </p:nvPr>
        </p:nvSpPr>
        <p:spPr>
          <a:xfrm>
            <a:off x="1524000" y="548640"/>
            <a:ext cx="9160475" cy="1132258"/>
          </a:xfrm>
        </p:spPr>
        <p:txBody>
          <a:bodyPr anchor="ctr">
            <a:normAutofit/>
          </a:bodyPr>
          <a:lstStyle/>
          <a:p>
            <a:pPr algn="ctr"/>
            <a:r>
              <a:rPr lang="en-US"/>
              <a:t>Different Types of Collider</a:t>
            </a:r>
            <a:r>
              <a:rPr lang="en-US">
                <a:sym typeface="Wingdings" panose="05000000000000000000" pitchFamily="2" charset="2"/>
              </a:rPr>
              <a:t>3D</a:t>
            </a:r>
            <a:endParaRPr lang="en-IN"/>
          </a:p>
        </p:txBody>
      </p:sp>
      <p:graphicFrame>
        <p:nvGraphicFramePr>
          <p:cNvPr id="4" name="Content Placeholder 3">
            <a:extLst>
              <a:ext uri="{FF2B5EF4-FFF2-40B4-BE49-F238E27FC236}">
                <a16:creationId xmlns:a16="http://schemas.microsoft.com/office/drawing/2014/main" id="{DBFC5735-0B9A-7AAA-F1BB-E58D09EB63ED}"/>
              </a:ext>
            </a:extLst>
          </p:cNvPr>
          <p:cNvGraphicFramePr>
            <a:graphicFrameLocks noGrp="1"/>
          </p:cNvGraphicFramePr>
          <p:nvPr>
            <p:ph idx="1"/>
          </p:nvPr>
        </p:nvGraphicFramePr>
        <p:xfrm>
          <a:off x="939101" y="2037806"/>
          <a:ext cx="10318902" cy="4066432"/>
        </p:xfrm>
        <a:graphic>
          <a:graphicData uri="http://schemas.openxmlformats.org/drawingml/2006/table">
            <a:tbl>
              <a:tblPr/>
              <a:tblGrid>
                <a:gridCol w="2770755">
                  <a:extLst>
                    <a:ext uri="{9D8B030D-6E8A-4147-A177-3AD203B41FA5}">
                      <a16:colId xmlns:a16="http://schemas.microsoft.com/office/drawing/2014/main" val="3669449361"/>
                    </a:ext>
                  </a:extLst>
                </a:gridCol>
                <a:gridCol w="2438530">
                  <a:extLst>
                    <a:ext uri="{9D8B030D-6E8A-4147-A177-3AD203B41FA5}">
                      <a16:colId xmlns:a16="http://schemas.microsoft.com/office/drawing/2014/main" val="927977819"/>
                    </a:ext>
                  </a:extLst>
                </a:gridCol>
                <a:gridCol w="2637865">
                  <a:extLst>
                    <a:ext uri="{9D8B030D-6E8A-4147-A177-3AD203B41FA5}">
                      <a16:colId xmlns:a16="http://schemas.microsoft.com/office/drawing/2014/main" val="854507205"/>
                    </a:ext>
                  </a:extLst>
                </a:gridCol>
                <a:gridCol w="2471752">
                  <a:extLst>
                    <a:ext uri="{9D8B030D-6E8A-4147-A177-3AD203B41FA5}">
                      <a16:colId xmlns:a16="http://schemas.microsoft.com/office/drawing/2014/main" val="1645696623"/>
                    </a:ext>
                  </a:extLst>
                </a:gridCol>
              </a:tblGrid>
              <a:tr h="526244">
                <a:tc>
                  <a:txBody>
                    <a:bodyPr/>
                    <a:lstStyle/>
                    <a:p>
                      <a:r>
                        <a:rPr lang="en-IN" sz="2400"/>
                        <a:t>Collider Type</a:t>
                      </a:r>
                    </a:p>
                  </a:txBody>
                  <a:tcPr marL="119601" marR="119601" marT="59800" marB="59800" anchor="ctr">
                    <a:lnL>
                      <a:noFill/>
                    </a:lnL>
                    <a:lnR>
                      <a:noFill/>
                    </a:lnR>
                    <a:lnT>
                      <a:noFill/>
                    </a:lnT>
                    <a:lnB>
                      <a:noFill/>
                    </a:lnB>
                    <a:noFill/>
                  </a:tcPr>
                </a:tc>
                <a:tc>
                  <a:txBody>
                    <a:bodyPr/>
                    <a:lstStyle/>
                    <a:p>
                      <a:r>
                        <a:rPr lang="en-IN" sz="2400"/>
                        <a:t>Shape</a:t>
                      </a:r>
                    </a:p>
                  </a:txBody>
                  <a:tcPr marL="119601" marR="119601" marT="59800" marB="59800" anchor="ctr">
                    <a:lnL>
                      <a:noFill/>
                    </a:lnL>
                    <a:lnR>
                      <a:noFill/>
                    </a:lnR>
                    <a:lnT>
                      <a:noFill/>
                    </a:lnT>
                    <a:lnB>
                      <a:noFill/>
                    </a:lnB>
                    <a:noFill/>
                  </a:tcPr>
                </a:tc>
                <a:tc>
                  <a:txBody>
                    <a:bodyPr/>
                    <a:lstStyle/>
                    <a:p>
                      <a:r>
                        <a:rPr lang="en-IN" sz="2400"/>
                        <a:t>Best For</a:t>
                      </a:r>
                    </a:p>
                  </a:txBody>
                  <a:tcPr marL="119601" marR="119601" marT="59800" marB="59800" anchor="ctr">
                    <a:lnL>
                      <a:noFill/>
                    </a:lnL>
                    <a:lnR>
                      <a:noFill/>
                    </a:lnR>
                    <a:lnT>
                      <a:noFill/>
                    </a:lnT>
                    <a:lnB>
                      <a:noFill/>
                    </a:lnB>
                    <a:noFill/>
                  </a:tcPr>
                </a:tc>
                <a:tc>
                  <a:txBody>
                    <a:bodyPr/>
                    <a:lstStyle/>
                    <a:p>
                      <a:r>
                        <a:rPr lang="en-IN" sz="2400"/>
                        <a:t>Example</a:t>
                      </a:r>
                    </a:p>
                  </a:txBody>
                  <a:tcPr marL="119601" marR="119601" marT="59800" marB="59800" anchor="ctr">
                    <a:lnL>
                      <a:noFill/>
                    </a:lnL>
                    <a:lnR>
                      <a:noFill/>
                    </a:lnR>
                    <a:lnT>
                      <a:noFill/>
                    </a:lnT>
                    <a:lnB>
                      <a:noFill/>
                    </a:lnB>
                    <a:noFill/>
                  </a:tcPr>
                </a:tc>
                <a:extLst>
                  <a:ext uri="{0D108BD9-81ED-4DB2-BD59-A6C34878D82A}">
                    <a16:rowId xmlns:a16="http://schemas.microsoft.com/office/drawing/2014/main" val="1729960228"/>
                  </a:ext>
                </a:extLst>
              </a:tr>
              <a:tr h="885047">
                <a:tc>
                  <a:txBody>
                    <a:bodyPr/>
                    <a:lstStyle/>
                    <a:p>
                      <a:r>
                        <a:rPr lang="en-IN" sz="2400" b="1"/>
                        <a:t>Box Collider</a:t>
                      </a:r>
                      <a:endParaRPr lang="en-IN" sz="2400"/>
                    </a:p>
                  </a:txBody>
                  <a:tcPr marL="119601" marR="119601" marT="59800" marB="59800" anchor="ctr">
                    <a:lnL>
                      <a:noFill/>
                    </a:lnL>
                    <a:lnR>
                      <a:noFill/>
                    </a:lnR>
                    <a:lnT>
                      <a:noFill/>
                    </a:lnT>
                    <a:lnB>
                      <a:noFill/>
                    </a:lnB>
                    <a:noFill/>
                  </a:tcPr>
                </a:tc>
                <a:tc>
                  <a:txBody>
                    <a:bodyPr/>
                    <a:lstStyle/>
                    <a:p>
                      <a:r>
                        <a:rPr lang="en-IN" sz="2400"/>
                        <a:t>Cube/rectangle</a:t>
                      </a:r>
                    </a:p>
                  </a:txBody>
                  <a:tcPr marL="119601" marR="119601" marT="59800" marB="59800" anchor="ctr">
                    <a:lnL>
                      <a:noFill/>
                    </a:lnL>
                    <a:lnR>
                      <a:noFill/>
                    </a:lnR>
                    <a:lnT>
                      <a:noFill/>
                    </a:lnT>
                    <a:lnB>
                      <a:noFill/>
                    </a:lnB>
                    <a:noFill/>
                  </a:tcPr>
                </a:tc>
                <a:tc>
                  <a:txBody>
                    <a:bodyPr/>
                    <a:lstStyle/>
                    <a:p>
                      <a:r>
                        <a:rPr lang="en-IN" sz="2400"/>
                        <a:t>Simple box shapes</a:t>
                      </a:r>
                    </a:p>
                  </a:txBody>
                  <a:tcPr marL="119601" marR="119601" marT="59800" marB="59800" anchor="ctr">
                    <a:lnL>
                      <a:noFill/>
                    </a:lnL>
                    <a:lnR>
                      <a:noFill/>
                    </a:lnR>
                    <a:lnT>
                      <a:noFill/>
                    </a:lnT>
                    <a:lnB>
                      <a:noFill/>
                    </a:lnB>
                    <a:noFill/>
                  </a:tcPr>
                </a:tc>
                <a:tc>
                  <a:txBody>
                    <a:bodyPr/>
                    <a:lstStyle/>
                    <a:p>
                      <a:r>
                        <a:rPr lang="en-IN" sz="2400"/>
                        <a:t>Walls, crates, floors</a:t>
                      </a:r>
                    </a:p>
                  </a:txBody>
                  <a:tcPr marL="119601" marR="119601" marT="59800" marB="59800" anchor="ctr">
                    <a:lnL>
                      <a:noFill/>
                    </a:lnL>
                    <a:lnR>
                      <a:noFill/>
                    </a:lnR>
                    <a:lnT>
                      <a:noFill/>
                    </a:lnT>
                    <a:lnB>
                      <a:noFill/>
                    </a:lnB>
                    <a:noFill/>
                  </a:tcPr>
                </a:tc>
                <a:extLst>
                  <a:ext uri="{0D108BD9-81ED-4DB2-BD59-A6C34878D82A}">
                    <a16:rowId xmlns:a16="http://schemas.microsoft.com/office/drawing/2014/main" val="126500916"/>
                  </a:ext>
                </a:extLst>
              </a:tr>
              <a:tr h="885047">
                <a:tc>
                  <a:txBody>
                    <a:bodyPr/>
                    <a:lstStyle/>
                    <a:p>
                      <a:r>
                        <a:rPr lang="en-IN" sz="2400" b="1"/>
                        <a:t>Sphere Collider</a:t>
                      </a:r>
                      <a:endParaRPr lang="en-IN" sz="2400"/>
                    </a:p>
                  </a:txBody>
                  <a:tcPr marL="119601" marR="119601" marT="59800" marB="59800" anchor="ctr">
                    <a:lnL>
                      <a:noFill/>
                    </a:lnL>
                    <a:lnR>
                      <a:noFill/>
                    </a:lnR>
                    <a:lnT>
                      <a:noFill/>
                    </a:lnT>
                    <a:lnB>
                      <a:noFill/>
                    </a:lnB>
                    <a:noFill/>
                  </a:tcPr>
                </a:tc>
                <a:tc>
                  <a:txBody>
                    <a:bodyPr/>
                    <a:lstStyle/>
                    <a:p>
                      <a:r>
                        <a:rPr lang="en-IN" sz="2400"/>
                        <a:t>Ball</a:t>
                      </a:r>
                    </a:p>
                  </a:txBody>
                  <a:tcPr marL="119601" marR="119601" marT="59800" marB="59800" anchor="ctr">
                    <a:lnL>
                      <a:noFill/>
                    </a:lnL>
                    <a:lnR>
                      <a:noFill/>
                    </a:lnR>
                    <a:lnT>
                      <a:noFill/>
                    </a:lnT>
                    <a:lnB>
                      <a:noFill/>
                    </a:lnB>
                    <a:noFill/>
                  </a:tcPr>
                </a:tc>
                <a:tc>
                  <a:txBody>
                    <a:bodyPr/>
                    <a:lstStyle/>
                    <a:p>
                      <a:r>
                        <a:rPr lang="en-IN" sz="2400"/>
                        <a:t>Round objects</a:t>
                      </a:r>
                    </a:p>
                  </a:txBody>
                  <a:tcPr marL="119601" marR="119601" marT="59800" marB="59800" anchor="ctr">
                    <a:lnL>
                      <a:noFill/>
                    </a:lnL>
                    <a:lnR>
                      <a:noFill/>
                    </a:lnR>
                    <a:lnT>
                      <a:noFill/>
                    </a:lnT>
                    <a:lnB>
                      <a:noFill/>
                    </a:lnB>
                    <a:noFill/>
                  </a:tcPr>
                </a:tc>
                <a:tc>
                  <a:txBody>
                    <a:bodyPr/>
                    <a:lstStyle/>
                    <a:p>
                      <a:r>
                        <a:rPr lang="en-IN" sz="2400"/>
                        <a:t>Balls, planets, grenades</a:t>
                      </a:r>
                    </a:p>
                  </a:txBody>
                  <a:tcPr marL="119601" marR="119601" marT="59800" marB="59800" anchor="ctr">
                    <a:lnL>
                      <a:noFill/>
                    </a:lnL>
                    <a:lnR>
                      <a:noFill/>
                    </a:lnR>
                    <a:lnT>
                      <a:noFill/>
                    </a:lnT>
                    <a:lnB>
                      <a:noFill/>
                    </a:lnB>
                    <a:noFill/>
                  </a:tcPr>
                </a:tc>
                <a:extLst>
                  <a:ext uri="{0D108BD9-81ED-4DB2-BD59-A6C34878D82A}">
                    <a16:rowId xmlns:a16="http://schemas.microsoft.com/office/drawing/2014/main" val="2103676475"/>
                  </a:ext>
                </a:extLst>
              </a:tr>
              <a:tr h="885047">
                <a:tc>
                  <a:txBody>
                    <a:bodyPr/>
                    <a:lstStyle/>
                    <a:p>
                      <a:r>
                        <a:rPr lang="en-IN" sz="2400" b="1"/>
                        <a:t>Capsule Collider</a:t>
                      </a:r>
                      <a:endParaRPr lang="en-IN" sz="2400"/>
                    </a:p>
                  </a:txBody>
                  <a:tcPr marL="119601" marR="119601" marT="59800" marB="59800" anchor="ctr">
                    <a:lnL>
                      <a:noFill/>
                    </a:lnL>
                    <a:lnR>
                      <a:noFill/>
                    </a:lnR>
                    <a:lnT>
                      <a:noFill/>
                    </a:lnT>
                    <a:lnB>
                      <a:noFill/>
                    </a:lnB>
                    <a:noFill/>
                  </a:tcPr>
                </a:tc>
                <a:tc>
                  <a:txBody>
                    <a:bodyPr/>
                    <a:lstStyle/>
                    <a:p>
                      <a:r>
                        <a:rPr lang="en-IN" sz="2400"/>
                        <a:t>Capsule</a:t>
                      </a:r>
                    </a:p>
                  </a:txBody>
                  <a:tcPr marL="119601" marR="119601" marT="59800" marB="59800" anchor="ctr">
                    <a:lnL>
                      <a:noFill/>
                    </a:lnL>
                    <a:lnR>
                      <a:noFill/>
                    </a:lnR>
                    <a:lnT>
                      <a:noFill/>
                    </a:lnT>
                    <a:lnB>
                      <a:noFill/>
                    </a:lnB>
                    <a:noFill/>
                  </a:tcPr>
                </a:tc>
                <a:tc>
                  <a:txBody>
                    <a:bodyPr/>
                    <a:lstStyle/>
                    <a:p>
                      <a:r>
                        <a:rPr lang="en-IN" sz="2400"/>
                        <a:t>Characters (like human body)</a:t>
                      </a:r>
                    </a:p>
                  </a:txBody>
                  <a:tcPr marL="119601" marR="119601" marT="59800" marB="59800" anchor="ctr">
                    <a:lnL>
                      <a:noFill/>
                    </a:lnL>
                    <a:lnR>
                      <a:noFill/>
                    </a:lnR>
                    <a:lnT>
                      <a:noFill/>
                    </a:lnT>
                    <a:lnB>
                      <a:noFill/>
                    </a:lnB>
                    <a:noFill/>
                  </a:tcPr>
                </a:tc>
                <a:tc>
                  <a:txBody>
                    <a:bodyPr/>
                    <a:lstStyle/>
                    <a:p>
                      <a:r>
                        <a:rPr lang="en-IN" sz="2400"/>
                        <a:t>Player, NPCs, enemies</a:t>
                      </a:r>
                    </a:p>
                  </a:txBody>
                  <a:tcPr marL="119601" marR="119601" marT="59800" marB="59800" anchor="ctr">
                    <a:lnL>
                      <a:noFill/>
                    </a:lnL>
                    <a:lnR>
                      <a:noFill/>
                    </a:lnR>
                    <a:lnT>
                      <a:noFill/>
                    </a:lnT>
                    <a:lnB>
                      <a:noFill/>
                    </a:lnB>
                    <a:noFill/>
                  </a:tcPr>
                </a:tc>
                <a:extLst>
                  <a:ext uri="{0D108BD9-81ED-4DB2-BD59-A6C34878D82A}">
                    <a16:rowId xmlns:a16="http://schemas.microsoft.com/office/drawing/2014/main" val="4017965000"/>
                  </a:ext>
                </a:extLst>
              </a:tr>
              <a:tr h="885047">
                <a:tc>
                  <a:txBody>
                    <a:bodyPr/>
                    <a:lstStyle/>
                    <a:p>
                      <a:r>
                        <a:rPr lang="en-IN" sz="2400" b="1"/>
                        <a:t>Mesh Collider</a:t>
                      </a:r>
                      <a:endParaRPr lang="en-IN" sz="2400"/>
                    </a:p>
                  </a:txBody>
                  <a:tcPr marL="119601" marR="119601" marT="59800" marB="59800" anchor="ctr">
                    <a:lnL>
                      <a:noFill/>
                    </a:lnL>
                    <a:lnR>
                      <a:noFill/>
                    </a:lnR>
                    <a:lnT>
                      <a:noFill/>
                    </a:lnT>
                    <a:lnB>
                      <a:noFill/>
                    </a:lnB>
                    <a:noFill/>
                  </a:tcPr>
                </a:tc>
                <a:tc>
                  <a:txBody>
                    <a:bodyPr/>
                    <a:lstStyle/>
                    <a:p>
                      <a:r>
                        <a:rPr lang="en-IN" sz="2400"/>
                        <a:t>Complex mesh</a:t>
                      </a:r>
                    </a:p>
                  </a:txBody>
                  <a:tcPr marL="119601" marR="119601" marT="59800" marB="59800" anchor="ctr">
                    <a:lnL>
                      <a:noFill/>
                    </a:lnL>
                    <a:lnR>
                      <a:noFill/>
                    </a:lnR>
                    <a:lnT>
                      <a:noFill/>
                    </a:lnT>
                    <a:lnB>
                      <a:noFill/>
                    </a:lnB>
                    <a:noFill/>
                  </a:tcPr>
                </a:tc>
                <a:tc>
                  <a:txBody>
                    <a:bodyPr/>
                    <a:lstStyle/>
                    <a:p>
                      <a:r>
                        <a:rPr lang="en-IN" sz="2400"/>
                        <a:t>Complex shapes (use carefully!)</a:t>
                      </a:r>
                    </a:p>
                  </a:txBody>
                  <a:tcPr marL="119601" marR="119601" marT="59800" marB="59800" anchor="ctr">
                    <a:lnL>
                      <a:noFill/>
                    </a:lnL>
                    <a:lnR>
                      <a:noFill/>
                    </a:lnR>
                    <a:lnT>
                      <a:noFill/>
                    </a:lnT>
                    <a:lnB>
                      <a:noFill/>
                    </a:lnB>
                    <a:noFill/>
                  </a:tcPr>
                </a:tc>
                <a:tc>
                  <a:txBody>
                    <a:bodyPr/>
                    <a:lstStyle/>
                    <a:p>
                      <a:r>
                        <a:rPr lang="en-IN" sz="2400"/>
                        <a:t>Cars, buildings, terrain</a:t>
                      </a:r>
                    </a:p>
                  </a:txBody>
                  <a:tcPr marL="119601" marR="119601" marT="59800" marB="59800" anchor="ctr">
                    <a:lnL>
                      <a:noFill/>
                    </a:lnL>
                    <a:lnR>
                      <a:noFill/>
                    </a:lnR>
                    <a:lnT>
                      <a:noFill/>
                    </a:lnT>
                    <a:lnB>
                      <a:noFill/>
                    </a:lnB>
                    <a:noFill/>
                  </a:tcPr>
                </a:tc>
                <a:extLst>
                  <a:ext uri="{0D108BD9-81ED-4DB2-BD59-A6C34878D82A}">
                    <a16:rowId xmlns:a16="http://schemas.microsoft.com/office/drawing/2014/main" val="3014327234"/>
                  </a:ext>
                </a:extLst>
              </a:tr>
            </a:tbl>
          </a:graphicData>
        </a:graphic>
      </p:graphicFrame>
    </p:spTree>
    <p:extLst>
      <p:ext uri="{BB962C8B-B14F-4D97-AF65-F5344CB8AC3E}">
        <p14:creationId xmlns:p14="http://schemas.microsoft.com/office/powerpoint/2010/main" val="26039699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ABC9C1-80AB-5120-3C9D-8D43D11A8620}"/>
              </a:ext>
            </a:extLst>
          </p:cNvPr>
          <p:cNvSpPr>
            <a:spLocks noGrp="1"/>
          </p:cNvSpPr>
          <p:nvPr>
            <p:ph type="title"/>
          </p:nvPr>
        </p:nvSpPr>
        <p:spPr>
          <a:xfrm>
            <a:off x="1524000" y="548640"/>
            <a:ext cx="9160475" cy="1132258"/>
          </a:xfrm>
        </p:spPr>
        <p:txBody>
          <a:bodyPr anchor="ctr">
            <a:normAutofit/>
          </a:bodyPr>
          <a:lstStyle/>
          <a:p>
            <a:pPr algn="ctr"/>
            <a:r>
              <a:rPr lang="en-IN"/>
              <a:t>Types of Colliders (2D)</a:t>
            </a:r>
          </a:p>
        </p:txBody>
      </p:sp>
      <p:graphicFrame>
        <p:nvGraphicFramePr>
          <p:cNvPr id="4" name="Content Placeholder 3">
            <a:extLst>
              <a:ext uri="{FF2B5EF4-FFF2-40B4-BE49-F238E27FC236}">
                <a16:creationId xmlns:a16="http://schemas.microsoft.com/office/drawing/2014/main" id="{10AB931D-6AFE-F7C5-B9D1-AAFE6DB11BCE}"/>
              </a:ext>
            </a:extLst>
          </p:cNvPr>
          <p:cNvGraphicFramePr>
            <a:graphicFrameLocks noGrp="1"/>
          </p:cNvGraphicFramePr>
          <p:nvPr>
            <p:ph idx="1"/>
          </p:nvPr>
        </p:nvGraphicFramePr>
        <p:xfrm>
          <a:off x="1377027" y="2037806"/>
          <a:ext cx="9443050" cy="4066432"/>
        </p:xfrm>
        <a:graphic>
          <a:graphicData uri="http://schemas.openxmlformats.org/drawingml/2006/table">
            <a:tbl>
              <a:tblPr/>
              <a:tblGrid>
                <a:gridCol w="2534699">
                  <a:extLst>
                    <a:ext uri="{9D8B030D-6E8A-4147-A177-3AD203B41FA5}">
                      <a16:colId xmlns:a16="http://schemas.microsoft.com/office/drawing/2014/main" val="1111668160"/>
                    </a:ext>
                  </a:extLst>
                </a:gridCol>
                <a:gridCol w="1920805">
                  <a:extLst>
                    <a:ext uri="{9D8B030D-6E8A-4147-A177-3AD203B41FA5}">
                      <a16:colId xmlns:a16="http://schemas.microsoft.com/office/drawing/2014/main" val="631977548"/>
                    </a:ext>
                  </a:extLst>
                </a:gridCol>
                <a:gridCol w="2493773">
                  <a:extLst>
                    <a:ext uri="{9D8B030D-6E8A-4147-A177-3AD203B41FA5}">
                      <a16:colId xmlns:a16="http://schemas.microsoft.com/office/drawing/2014/main" val="816233472"/>
                    </a:ext>
                  </a:extLst>
                </a:gridCol>
                <a:gridCol w="2493773">
                  <a:extLst>
                    <a:ext uri="{9D8B030D-6E8A-4147-A177-3AD203B41FA5}">
                      <a16:colId xmlns:a16="http://schemas.microsoft.com/office/drawing/2014/main" val="2981698534"/>
                    </a:ext>
                  </a:extLst>
                </a:gridCol>
              </a:tblGrid>
              <a:tr h="432182">
                <a:tc>
                  <a:txBody>
                    <a:bodyPr/>
                    <a:lstStyle/>
                    <a:p>
                      <a:r>
                        <a:rPr lang="en-IN" sz="1900"/>
                        <a:t>Collider2D Type</a:t>
                      </a:r>
                    </a:p>
                  </a:txBody>
                  <a:tcPr marL="98223" marR="98223" marT="49111" marB="49111" anchor="ctr">
                    <a:lnL>
                      <a:noFill/>
                    </a:lnL>
                    <a:lnR>
                      <a:noFill/>
                    </a:lnR>
                    <a:lnT>
                      <a:noFill/>
                    </a:lnT>
                    <a:lnB>
                      <a:noFill/>
                    </a:lnB>
                    <a:noFill/>
                  </a:tcPr>
                </a:tc>
                <a:tc>
                  <a:txBody>
                    <a:bodyPr/>
                    <a:lstStyle/>
                    <a:p>
                      <a:r>
                        <a:rPr lang="en-IN" sz="1900"/>
                        <a:t>Shape</a:t>
                      </a:r>
                    </a:p>
                  </a:txBody>
                  <a:tcPr marL="98223" marR="98223" marT="49111" marB="49111" anchor="ctr">
                    <a:lnL>
                      <a:noFill/>
                    </a:lnL>
                    <a:lnR>
                      <a:noFill/>
                    </a:lnR>
                    <a:lnT>
                      <a:noFill/>
                    </a:lnT>
                    <a:lnB>
                      <a:noFill/>
                    </a:lnB>
                    <a:noFill/>
                  </a:tcPr>
                </a:tc>
                <a:tc>
                  <a:txBody>
                    <a:bodyPr/>
                    <a:lstStyle/>
                    <a:p>
                      <a:r>
                        <a:rPr lang="en-IN" sz="1900"/>
                        <a:t>Best For</a:t>
                      </a:r>
                    </a:p>
                  </a:txBody>
                  <a:tcPr marL="98223" marR="98223" marT="49111" marB="49111" anchor="ctr">
                    <a:lnL>
                      <a:noFill/>
                    </a:lnL>
                    <a:lnR>
                      <a:noFill/>
                    </a:lnR>
                    <a:lnT>
                      <a:noFill/>
                    </a:lnT>
                    <a:lnB>
                      <a:noFill/>
                    </a:lnB>
                    <a:noFill/>
                  </a:tcPr>
                </a:tc>
                <a:tc>
                  <a:txBody>
                    <a:bodyPr/>
                    <a:lstStyle/>
                    <a:p>
                      <a:r>
                        <a:rPr lang="en-IN" sz="1900"/>
                        <a:t>Example</a:t>
                      </a:r>
                    </a:p>
                  </a:txBody>
                  <a:tcPr marL="98223" marR="98223" marT="49111" marB="49111" anchor="ctr">
                    <a:lnL>
                      <a:noFill/>
                    </a:lnL>
                    <a:lnR>
                      <a:noFill/>
                    </a:lnR>
                    <a:lnT>
                      <a:noFill/>
                    </a:lnT>
                    <a:lnB>
                      <a:noFill/>
                    </a:lnB>
                    <a:noFill/>
                  </a:tcPr>
                </a:tc>
                <a:extLst>
                  <a:ext uri="{0D108BD9-81ED-4DB2-BD59-A6C34878D82A}">
                    <a16:rowId xmlns:a16="http://schemas.microsoft.com/office/drawing/2014/main" val="2799426694"/>
                  </a:ext>
                </a:extLst>
              </a:tr>
              <a:tr h="726850">
                <a:tc>
                  <a:txBody>
                    <a:bodyPr/>
                    <a:lstStyle/>
                    <a:p>
                      <a:r>
                        <a:rPr lang="en-IN" sz="1900" b="1"/>
                        <a:t>BoxCollider2D</a:t>
                      </a:r>
                      <a:endParaRPr lang="en-IN" sz="1900"/>
                    </a:p>
                  </a:txBody>
                  <a:tcPr marL="98223" marR="98223" marT="49111" marB="49111" anchor="ctr">
                    <a:lnL>
                      <a:noFill/>
                    </a:lnL>
                    <a:lnR>
                      <a:noFill/>
                    </a:lnR>
                    <a:lnT>
                      <a:noFill/>
                    </a:lnT>
                    <a:lnB>
                      <a:noFill/>
                    </a:lnB>
                    <a:noFill/>
                  </a:tcPr>
                </a:tc>
                <a:tc>
                  <a:txBody>
                    <a:bodyPr/>
                    <a:lstStyle/>
                    <a:p>
                      <a:r>
                        <a:rPr lang="en-IN" sz="1900"/>
                        <a:t>Rectangle</a:t>
                      </a:r>
                    </a:p>
                  </a:txBody>
                  <a:tcPr marL="98223" marR="98223" marT="49111" marB="49111" anchor="ctr">
                    <a:lnL>
                      <a:noFill/>
                    </a:lnL>
                    <a:lnR>
                      <a:noFill/>
                    </a:lnR>
                    <a:lnT>
                      <a:noFill/>
                    </a:lnT>
                    <a:lnB>
                      <a:noFill/>
                    </a:lnB>
                    <a:noFill/>
                  </a:tcPr>
                </a:tc>
                <a:tc>
                  <a:txBody>
                    <a:bodyPr/>
                    <a:lstStyle/>
                    <a:p>
                      <a:r>
                        <a:rPr lang="en-IN" sz="1900"/>
                        <a:t>Simple flat objects</a:t>
                      </a:r>
                    </a:p>
                  </a:txBody>
                  <a:tcPr marL="98223" marR="98223" marT="49111" marB="49111" anchor="ctr">
                    <a:lnL>
                      <a:noFill/>
                    </a:lnL>
                    <a:lnR>
                      <a:noFill/>
                    </a:lnR>
                    <a:lnT>
                      <a:noFill/>
                    </a:lnT>
                    <a:lnB>
                      <a:noFill/>
                    </a:lnB>
                    <a:noFill/>
                  </a:tcPr>
                </a:tc>
                <a:tc>
                  <a:txBody>
                    <a:bodyPr/>
                    <a:lstStyle/>
                    <a:p>
                      <a:r>
                        <a:rPr lang="en-IN" sz="1900"/>
                        <a:t>Platforms, floors, doors</a:t>
                      </a:r>
                    </a:p>
                  </a:txBody>
                  <a:tcPr marL="98223" marR="98223" marT="49111" marB="49111" anchor="ctr">
                    <a:lnL>
                      <a:noFill/>
                    </a:lnL>
                    <a:lnR>
                      <a:noFill/>
                    </a:lnR>
                    <a:lnT>
                      <a:noFill/>
                    </a:lnT>
                    <a:lnB>
                      <a:noFill/>
                    </a:lnB>
                    <a:noFill/>
                  </a:tcPr>
                </a:tc>
                <a:extLst>
                  <a:ext uri="{0D108BD9-81ED-4DB2-BD59-A6C34878D82A}">
                    <a16:rowId xmlns:a16="http://schemas.microsoft.com/office/drawing/2014/main" val="4290185429"/>
                  </a:ext>
                </a:extLst>
              </a:tr>
              <a:tr h="726850">
                <a:tc>
                  <a:txBody>
                    <a:bodyPr/>
                    <a:lstStyle/>
                    <a:p>
                      <a:r>
                        <a:rPr lang="en-IN" sz="1900" b="1"/>
                        <a:t>CircleCollider2D</a:t>
                      </a:r>
                      <a:endParaRPr lang="en-IN" sz="1900"/>
                    </a:p>
                  </a:txBody>
                  <a:tcPr marL="98223" marR="98223" marT="49111" marB="49111" anchor="ctr">
                    <a:lnL>
                      <a:noFill/>
                    </a:lnL>
                    <a:lnR>
                      <a:noFill/>
                    </a:lnR>
                    <a:lnT>
                      <a:noFill/>
                    </a:lnT>
                    <a:lnB>
                      <a:noFill/>
                    </a:lnB>
                    <a:noFill/>
                  </a:tcPr>
                </a:tc>
                <a:tc>
                  <a:txBody>
                    <a:bodyPr/>
                    <a:lstStyle/>
                    <a:p>
                      <a:r>
                        <a:rPr lang="en-IN" sz="1900"/>
                        <a:t>Circle</a:t>
                      </a:r>
                    </a:p>
                  </a:txBody>
                  <a:tcPr marL="98223" marR="98223" marT="49111" marB="49111" anchor="ctr">
                    <a:lnL>
                      <a:noFill/>
                    </a:lnL>
                    <a:lnR>
                      <a:noFill/>
                    </a:lnR>
                    <a:lnT>
                      <a:noFill/>
                    </a:lnT>
                    <a:lnB>
                      <a:noFill/>
                    </a:lnB>
                    <a:noFill/>
                  </a:tcPr>
                </a:tc>
                <a:tc>
                  <a:txBody>
                    <a:bodyPr/>
                    <a:lstStyle/>
                    <a:p>
                      <a:r>
                        <a:rPr lang="en-IN" sz="1900"/>
                        <a:t>Round 2D shapes</a:t>
                      </a:r>
                    </a:p>
                  </a:txBody>
                  <a:tcPr marL="98223" marR="98223" marT="49111" marB="49111" anchor="ctr">
                    <a:lnL>
                      <a:noFill/>
                    </a:lnL>
                    <a:lnR>
                      <a:noFill/>
                    </a:lnR>
                    <a:lnT>
                      <a:noFill/>
                    </a:lnT>
                    <a:lnB>
                      <a:noFill/>
                    </a:lnB>
                    <a:noFill/>
                  </a:tcPr>
                </a:tc>
                <a:tc>
                  <a:txBody>
                    <a:bodyPr/>
                    <a:lstStyle/>
                    <a:p>
                      <a:r>
                        <a:rPr lang="en-IN" sz="1900"/>
                        <a:t>Ball, coins, circular items</a:t>
                      </a:r>
                    </a:p>
                  </a:txBody>
                  <a:tcPr marL="98223" marR="98223" marT="49111" marB="49111" anchor="ctr">
                    <a:lnL>
                      <a:noFill/>
                    </a:lnL>
                    <a:lnR>
                      <a:noFill/>
                    </a:lnR>
                    <a:lnT>
                      <a:noFill/>
                    </a:lnT>
                    <a:lnB>
                      <a:noFill/>
                    </a:lnB>
                    <a:noFill/>
                  </a:tcPr>
                </a:tc>
                <a:extLst>
                  <a:ext uri="{0D108BD9-81ED-4DB2-BD59-A6C34878D82A}">
                    <a16:rowId xmlns:a16="http://schemas.microsoft.com/office/drawing/2014/main" val="1423148792"/>
                  </a:ext>
                </a:extLst>
              </a:tr>
              <a:tr h="726850">
                <a:tc>
                  <a:txBody>
                    <a:bodyPr/>
                    <a:lstStyle/>
                    <a:p>
                      <a:r>
                        <a:rPr lang="en-IN" sz="1900" b="1"/>
                        <a:t>CapsuleCollider2D</a:t>
                      </a:r>
                      <a:endParaRPr lang="en-IN" sz="1900"/>
                    </a:p>
                  </a:txBody>
                  <a:tcPr marL="98223" marR="98223" marT="49111" marB="49111" anchor="ctr">
                    <a:lnL>
                      <a:noFill/>
                    </a:lnL>
                    <a:lnR>
                      <a:noFill/>
                    </a:lnR>
                    <a:lnT>
                      <a:noFill/>
                    </a:lnT>
                    <a:lnB>
                      <a:noFill/>
                    </a:lnB>
                    <a:noFill/>
                  </a:tcPr>
                </a:tc>
                <a:tc>
                  <a:txBody>
                    <a:bodyPr/>
                    <a:lstStyle/>
                    <a:p>
                      <a:r>
                        <a:rPr lang="en-IN" sz="1900"/>
                        <a:t>Pill shape</a:t>
                      </a:r>
                    </a:p>
                  </a:txBody>
                  <a:tcPr marL="98223" marR="98223" marT="49111" marB="49111" anchor="ctr">
                    <a:lnL>
                      <a:noFill/>
                    </a:lnL>
                    <a:lnR>
                      <a:noFill/>
                    </a:lnR>
                    <a:lnT>
                      <a:noFill/>
                    </a:lnT>
                    <a:lnB>
                      <a:noFill/>
                    </a:lnB>
                    <a:noFill/>
                  </a:tcPr>
                </a:tc>
                <a:tc>
                  <a:txBody>
                    <a:bodyPr/>
                    <a:lstStyle/>
                    <a:p>
                      <a:r>
                        <a:rPr lang="en-IN" sz="1900"/>
                        <a:t>Characters in 2D</a:t>
                      </a:r>
                    </a:p>
                  </a:txBody>
                  <a:tcPr marL="98223" marR="98223" marT="49111" marB="49111" anchor="ctr">
                    <a:lnL>
                      <a:noFill/>
                    </a:lnL>
                    <a:lnR>
                      <a:noFill/>
                    </a:lnR>
                    <a:lnT>
                      <a:noFill/>
                    </a:lnT>
                    <a:lnB>
                      <a:noFill/>
                    </a:lnB>
                    <a:noFill/>
                  </a:tcPr>
                </a:tc>
                <a:tc>
                  <a:txBody>
                    <a:bodyPr/>
                    <a:lstStyle/>
                    <a:p>
                      <a:r>
                        <a:rPr lang="en-US" sz="1900"/>
                        <a:t>Player body in side scroller</a:t>
                      </a:r>
                    </a:p>
                  </a:txBody>
                  <a:tcPr marL="98223" marR="98223" marT="49111" marB="49111" anchor="ctr">
                    <a:lnL>
                      <a:noFill/>
                    </a:lnL>
                    <a:lnR>
                      <a:noFill/>
                    </a:lnR>
                    <a:lnT>
                      <a:noFill/>
                    </a:lnT>
                    <a:lnB>
                      <a:noFill/>
                    </a:lnB>
                    <a:noFill/>
                  </a:tcPr>
                </a:tc>
                <a:extLst>
                  <a:ext uri="{0D108BD9-81ED-4DB2-BD59-A6C34878D82A}">
                    <a16:rowId xmlns:a16="http://schemas.microsoft.com/office/drawing/2014/main" val="8788880"/>
                  </a:ext>
                </a:extLst>
              </a:tr>
              <a:tr h="726850">
                <a:tc>
                  <a:txBody>
                    <a:bodyPr/>
                    <a:lstStyle/>
                    <a:p>
                      <a:r>
                        <a:rPr lang="en-IN" sz="1900" b="1"/>
                        <a:t>PolygonCollider2D</a:t>
                      </a:r>
                      <a:endParaRPr lang="en-IN" sz="1900"/>
                    </a:p>
                  </a:txBody>
                  <a:tcPr marL="98223" marR="98223" marT="49111" marB="49111" anchor="ctr">
                    <a:lnL>
                      <a:noFill/>
                    </a:lnL>
                    <a:lnR>
                      <a:noFill/>
                    </a:lnR>
                    <a:lnT>
                      <a:noFill/>
                    </a:lnT>
                    <a:lnB>
                      <a:noFill/>
                    </a:lnB>
                    <a:noFill/>
                  </a:tcPr>
                </a:tc>
                <a:tc>
                  <a:txBody>
                    <a:bodyPr/>
                    <a:lstStyle/>
                    <a:p>
                      <a:r>
                        <a:rPr lang="en-IN" sz="1900"/>
                        <a:t>Custom shape</a:t>
                      </a:r>
                    </a:p>
                  </a:txBody>
                  <a:tcPr marL="98223" marR="98223" marT="49111" marB="49111" anchor="ctr">
                    <a:lnL>
                      <a:noFill/>
                    </a:lnL>
                    <a:lnR>
                      <a:noFill/>
                    </a:lnR>
                    <a:lnT>
                      <a:noFill/>
                    </a:lnT>
                    <a:lnB>
                      <a:noFill/>
                    </a:lnB>
                    <a:noFill/>
                  </a:tcPr>
                </a:tc>
                <a:tc>
                  <a:txBody>
                    <a:bodyPr/>
                    <a:lstStyle/>
                    <a:p>
                      <a:r>
                        <a:rPr lang="en-IN" sz="1900"/>
                        <a:t>Irregular 2D shapes</a:t>
                      </a:r>
                    </a:p>
                  </a:txBody>
                  <a:tcPr marL="98223" marR="98223" marT="49111" marB="49111" anchor="ctr">
                    <a:lnL>
                      <a:noFill/>
                    </a:lnL>
                    <a:lnR>
                      <a:noFill/>
                    </a:lnR>
                    <a:lnT>
                      <a:noFill/>
                    </a:lnT>
                    <a:lnB>
                      <a:noFill/>
                    </a:lnB>
                    <a:noFill/>
                  </a:tcPr>
                </a:tc>
                <a:tc>
                  <a:txBody>
                    <a:bodyPr/>
                    <a:lstStyle/>
                    <a:p>
                      <a:r>
                        <a:rPr lang="en-IN" sz="1900"/>
                        <a:t>Trees, rocks, drawn shapes</a:t>
                      </a:r>
                    </a:p>
                  </a:txBody>
                  <a:tcPr marL="98223" marR="98223" marT="49111" marB="49111" anchor="ctr">
                    <a:lnL>
                      <a:noFill/>
                    </a:lnL>
                    <a:lnR>
                      <a:noFill/>
                    </a:lnR>
                    <a:lnT>
                      <a:noFill/>
                    </a:lnT>
                    <a:lnB>
                      <a:noFill/>
                    </a:lnB>
                    <a:noFill/>
                  </a:tcPr>
                </a:tc>
                <a:extLst>
                  <a:ext uri="{0D108BD9-81ED-4DB2-BD59-A6C34878D82A}">
                    <a16:rowId xmlns:a16="http://schemas.microsoft.com/office/drawing/2014/main" val="2035347344"/>
                  </a:ext>
                </a:extLst>
              </a:tr>
              <a:tr h="726850">
                <a:tc>
                  <a:txBody>
                    <a:bodyPr/>
                    <a:lstStyle/>
                    <a:p>
                      <a:r>
                        <a:rPr lang="en-IN" sz="1900" b="1"/>
                        <a:t>EdgeCollider2D</a:t>
                      </a:r>
                      <a:endParaRPr lang="en-IN" sz="1900"/>
                    </a:p>
                  </a:txBody>
                  <a:tcPr marL="98223" marR="98223" marT="49111" marB="49111" anchor="ctr">
                    <a:lnL>
                      <a:noFill/>
                    </a:lnL>
                    <a:lnR>
                      <a:noFill/>
                    </a:lnR>
                    <a:lnT>
                      <a:noFill/>
                    </a:lnT>
                    <a:lnB>
                      <a:noFill/>
                    </a:lnB>
                    <a:noFill/>
                  </a:tcPr>
                </a:tc>
                <a:tc>
                  <a:txBody>
                    <a:bodyPr/>
                    <a:lstStyle/>
                    <a:p>
                      <a:r>
                        <a:rPr lang="en-IN" sz="1900"/>
                        <a:t>Line/outline</a:t>
                      </a:r>
                    </a:p>
                  </a:txBody>
                  <a:tcPr marL="98223" marR="98223" marT="49111" marB="49111" anchor="ctr">
                    <a:lnL>
                      <a:noFill/>
                    </a:lnL>
                    <a:lnR>
                      <a:noFill/>
                    </a:lnR>
                    <a:lnT>
                      <a:noFill/>
                    </a:lnT>
                    <a:lnB>
                      <a:noFill/>
                    </a:lnB>
                    <a:noFill/>
                  </a:tcPr>
                </a:tc>
                <a:tc>
                  <a:txBody>
                    <a:bodyPr/>
                    <a:lstStyle/>
                    <a:p>
                      <a:r>
                        <a:rPr lang="en-IN" sz="1900"/>
                        <a:t>Slopes or custom edges</a:t>
                      </a:r>
                    </a:p>
                  </a:txBody>
                  <a:tcPr marL="98223" marR="98223" marT="49111" marB="49111" anchor="ctr">
                    <a:lnL>
                      <a:noFill/>
                    </a:lnL>
                    <a:lnR>
                      <a:noFill/>
                    </a:lnR>
                    <a:lnT>
                      <a:noFill/>
                    </a:lnT>
                    <a:lnB>
                      <a:noFill/>
                    </a:lnB>
                    <a:noFill/>
                  </a:tcPr>
                </a:tc>
                <a:tc>
                  <a:txBody>
                    <a:bodyPr/>
                    <a:lstStyle/>
                    <a:p>
                      <a:r>
                        <a:rPr lang="en-IN" sz="1900"/>
                        <a:t>Hills, borders</a:t>
                      </a:r>
                    </a:p>
                  </a:txBody>
                  <a:tcPr marL="98223" marR="98223" marT="49111" marB="49111" anchor="ctr">
                    <a:lnL>
                      <a:noFill/>
                    </a:lnL>
                    <a:lnR>
                      <a:noFill/>
                    </a:lnR>
                    <a:lnT>
                      <a:noFill/>
                    </a:lnT>
                    <a:lnB>
                      <a:noFill/>
                    </a:lnB>
                    <a:noFill/>
                  </a:tcPr>
                </a:tc>
                <a:extLst>
                  <a:ext uri="{0D108BD9-81ED-4DB2-BD59-A6C34878D82A}">
                    <a16:rowId xmlns:a16="http://schemas.microsoft.com/office/drawing/2014/main" val="4275963051"/>
                  </a:ext>
                </a:extLst>
              </a:tr>
            </a:tbl>
          </a:graphicData>
        </a:graphic>
      </p:graphicFrame>
    </p:spTree>
    <p:extLst>
      <p:ext uri="{BB962C8B-B14F-4D97-AF65-F5344CB8AC3E}">
        <p14:creationId xmlns:p14="http://schemas.microsoft.com/office/powerpoint/2010/main" val="36136078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A01E56-582D-AD6F-DB3F-94D60ED321CE}"/>
              </a:ext>
            </a:extLst>
          </p:cNvPr>
          <p:cNvSpPr>
            <a:spLocks noGrp="1"/>
          </p:cNvSpPr>
          <p:nvPr>
            <p:ph type="title"/>
          </p:nvPr>
        </p:nvSpPr>
        <p:spPr>
          <a:xfrm>
            <a:off x="7123007" y="603501"/>
            <a:ext cx="4361693" cy="1527049"/>
          </a:xfrm>
        </p:spPr>
        <p:txBody>
          <a:bodyPr anchor="b">
            <a:normAutofit/>
          </a:bodyPr>
          <a:lstStyle/>
          <a:p>
            <a:r>
              <a:rPr lang="en-US"/>
              <a:t>How to Add a Collider (Steps):</a:t>
            </a:r>
            <a:endParaRPr lang="en-IN" dirty="0"/>
          </a:p>
        </p:txBody>
      </p:sp>
      <p:pic>
        <p:nvPicPr>
          <p:cNvPr id="5" name="Picture 4" descr="Orange ball in sea of white bouncing balls">
            <a:extLst>
              <a:ext uri="{FF2B5EF4-FFF2-40B4-BE49-F238E27FC236}">
                <a16:creationId xmlns:a16="http://schemas.microsoft.com/office/drawing/2014/main" id="{71B8F5A4-CB7B-1DFA-57AC-3303A52F4573}"/>
              </a:ext>
            </a:extLst>
          </p:cNvPr>
          <p:cNvPicPr>
            <a:picLocks noChangeAspect="1"/>
          </p:cNvPicPr>
          <p:nvPr/>
        </p:nvPicPr>
        <p:blipFill>
          <a:blip r:embed="rId2"/>
          <a:srcRect l="18116" r="19850" b="-1"/>
          <a:stretch>
            <a:fillRect/>
          </a:stretch>
        </p:blipFill>
        <p:spPr>
          <a:xfrm>
            <a:off x="1" y="10"/>
            <a:ext cx="6373368" cy="6857990"/>
          </a:xfrm>
          <a:prstGeom prst="rect">
            <a:avLst/>
          </a:prstGeom>
        </p:spPr>
      </p:pic>
      <p:sp>
        <p:nvSpPr>
          <p:cNvPr id="14" name="Content Placeholder 2">
            <a:extLst>
              <a:ext uri="{FF2B5EF4-FFF2-40B4-BE49-F238E27FC236}">
                <a16:creationId xmlns:a16="http://schemas.microsoft.com/office/drawing/2014/main" id="{3131559E-EF19-3606-8206-D845944D9148}"/>
              </a:ext>
            </a:extLst>
          </p:cNvPr>
          <p:cNvSpPr>
            <a:spLocks noGrp="1"/>
          </p:cNvSpPr>
          <p:nvPr>
            <p:ph idx="1"/>
          </p:nvPr>
        </p:nvSpPr>
        <p:spPr>
          <a:xfrm>
            <a:off x="7123007" y="2212846"/>
            <a:ext cx="4361693" cy="4096514"/>
          </a:xfrm>
        </p:spPr>
        <p:txBody>
          <a:bodyPr>
            <a:normAutofit/>
          </a:bodyPr>
          <a:lstStyle/>
          <a:p>
            <a:r>
              <a:rPr lang="en-US" sz="1800" dirty="0"/>
              <a:t>Select your </a:t>
            </a:r>
            <a:r>
              <a:rPr lang="en-US" sz="1800" dirty="0" err="1"/>
              <a:t>GameObject</a:t>
            </a:r>
            <a:r>
              <a:rPr lang="en-US" sz="1800" dirty="0"/>
              <a:t> (like a Cube or Ball)</a:t>
            </a:r>
          </a:p>
          <a:p>
            <a:r>
              <a:rPr lang="en-US" sz="1800" dirty="0"/>
              <a:t>In the Inspector → Click Add Component → Choose a Collider (Box, Sphere, etc.)</a:t>
            </a:r>
          </a:p>
          <a:p>
            <a:r>
              <a:rPr lang="en-US" sz="1800" dirty="0"/>
              <a:t>To make it move with physics, also add a </a:t>
            </a:r>
            <a:r>
              <a:rPr lang="en-US" sz="1800" dirty="0" err="1"/>
              <a:t>Rigidbody</a:t>
            </a:r>
            <a:endParaRPr lang="en-US" sz="1800" dirty="0"/>
          </a:p>
          <a:p>
            <a:r>
              <a:rPr lang="en-US" sz="1800" dirty="0"/>
              <a:t>Use </a:t>
            </a:r>
            <a:r>
              <a:rPr lang="en-US" sz="1800" dirty="0" err="1"/>
              <a:t>OnCollisionEnter</a:t>
            </a:r>
            <a:r>
              <a:rPr lang="en-US" sz="1800" dirty="0"/>
              <a:t>() in script to detect hits</a:t>
            </a:r>
          </a:p>
          <a:p>
            <a:r>
              <a:rPr lang="en-US" sz="1800" dirty="0"/>
              <a:t>Code:-</a:t>
            </a:r>
          </a:p>
          <a:p>
            <a:pPr marL="457200" lvl="1" indent="0">
              <a:buNone/>
            </a:pPr>
            <a:r>
              <a:rPr lang="en-US" sz="1400" i="1" dirty="0"/>
              <a:t>void </a:t>
            </a:r>
            <a:r>
              <a:rPr lang="en-US" sz="1400" i="1" dirty="0" err="1"/>
              <a:t>OnCollisionEnter</a:t>
            </a:r>
            <a:r>
              <a:rPr lang="en-US" sz="1400" i="1" dirty="0"/>
              <a:t>(Collision collision){</a:t>
            </a:r>
          </a:p>
          <a:p>
            <a:pPr marL="457200" lvl="1" indent="0">
              <a:buNone/>
            </a:pPr>
            <a:r>
              <a:rPr lang="en-US" sz="1400" i="1" dirty="0"/>
              <a:t>    </a:t>
            </a:r>
            <a:r>
              <a:rPr lang="en-US" sz="1400" i="1" dirty="0" err="1"/>
              <a:t>Debug.Log</a:t>
            </a:r>
            <a:r>
              <a:rPr lang="en-US" sz="1400" i="1" dirty="0"/>
              <a:t>("Touched: " + collision.gameObject.name);</a:t>
            </a:r>
          </a:p>
          <a:p>
            <a:pPr marL="457200" lvl="1" indent="0">
              <a:buNone/>
            </a:pPr>
            <a:r>
              <a:rPr lang="en-US" sz="1400" i="1" dirty="0"/>
              <a:t>}</a:t>
            </a:r>
          </a:p>
          <a:p>
            <a:endParaRPr lang="en-IN" sz="1800" dirty="0"/>
          </a:p>
        </p:txBody>
      </p:sp>
    </p:spTree>
    <p:extLst>
      <p:ext uri="{BB962C8B-B14F-4D97-AF65-F5344CB8AC3E}">
        <p14:creationId xmlns:p14="http://schemas.microsoft.com/office/powerpoint/2010/main" val="20260280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65AA5-74EB-37A5-7F96-9CFA86E49F64}"/>
              </a:ext>
            </a:extLst>
          </p:cNvPr>
          <p:cNvSpPr>
            <a:spLocks noGrp="1"/>
          </p:cNvSpPr>
          <p:nvPr>
            <p:ph type="title"/>
          </p:nvPr>
        </p:nvSpPr>
        <p:spPr/>
        <p:txBody>
          <a:bodyPr/>
          <a:lstStyle/>
          <a:p>
            <a:r>
              <a:rPr lang="en-US" dirty="0"/>
              <a:t>Check Collider Shape in Scene View</a:t>
            </a:r>
            <a:endParaRPr lang="en-IN" dirty="0"/>
          </a:p>
        </p:txBody>
      </p:sp>
      <p:sp>
        <p:nvSpPr>
          <p:cNvPr id="3" name="Content Placeholder 2">
            <a:extLst>
              <a:ext uri="{FF2B5EF4-FFF2-40B4-BE49-F238E27FC236}">
                <a16:creationId xmlns:a16="http://schemas.microsoft.com/office/drawing/2014/main" id="{1C0346C5-46A2-938B-DAE7-3675332C66CF}"/>
              </a:ext>
            </a:extLst>
          </p:cNvPr>
          <p:cNvSpPr>
            <a:spLocks noGrp="1"/>
          </p:cNvSpPr>
          <p:nvPr>
            <p:ph idx="1"/>
          </p:nvPr>
        </p:nvSpPr>
        <p:spPr/>
        <p:txBody>
          <a:bodyPr/>
          <a:lstStyle/>
          <a:p>
            <a:r>
              <a:rPr lang="en-US" dirty="0"/>
              <a:t>In Scene View, you’ll see a green wireframe box or sphere around your </a:t>
            </a:r>
            <a:r>
              <a:rPr lang="en-US" dirty="0" err="1"/>
              <a:t>object.That’s</a:t>
            </a:r>
            <a:r>
              <a:rPr lang="en-US" dirty="0"/>
              <a:t> your Collider.</a:t>
            </a:r>
          </a:p>
          <a:p>
            <a:r>
              <a:rPr lang="en-US" dirty="0"/>
              <a:t>You can change its size and position using:</a:t>
            </a:r>
          </a:p>
          <a:p>
            <a:r>
              <a:rPr lang="en-US" dirty="0"/>
              <a:t>Center and Size in the collider settings.</a:t>
            </a:r>
            <a:endParaRPr lang="en-IN" dirty="0"/>
          </a:p>
        </p:txBody>
      </p:sp>
    </p:spTree>
    <p:extLst>
      <p:ext uri="{BB962C8B-B14F-4D97-AF65-F5344CB8AC3E}">
        <p14:creationId xmlns:p14="http://schemas.microsoft.com/office/powerpoint/2010/main" val="12729110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D674-8C57-08FA-0F3A-1086FF219F1D}"/>
              </a:ext>
            </a:extLst>
          </p:cNvPr>
          <p:cNvSpPr>
            <a:spLocks noGrp="1"/>
          </p:cNvSpPr>
          <p:nvPr>
            <p:ph type="title"/>
          </p:nvPr>
        </p:nvSpPr>
        <p:spPr/>
        <p:txBody>
          <a:bodyPr/>
          <a:lstStyle/>
          <a:p>
            <a:r>
              <a:rPr lang="en-US" dirty="0"/>
              <a:t>What is a Mesh Collider?</a:t>
            </a:r>
            <a:endParaRPr lang="en-IN" dirty="0"/>
          </a:p>
        </p:txBody>
      </p:sp>
      <p:sp>
        <p:nvSpPr>
          <p:cNvPr id="3" name="Content Placeholder 2">
            <a:extLst>
              <a:ext uri="{FF2B5EF4-FFF2-40B4-BE49-F238E27FC236}">
                <a16:creationId xmlns:a16="http://schemas.microsoft.com/office/drawing/2014/main" id="{FB946015-BCCA-EEF6-2358-8DDD635CA6FA}"/>
              </a:ext>
            </a:extLst>
          </p:cNvPr>
          <p:cNvSpPr>
            <a:spLocks noGrp="1"/>
          </p:cNvSpPr>
          <p:nvPr>
            <p:ph idx="1"/>
          </p:nvPr>
        </p:nvSpPr>
        <p:spPr/>
        <p:txBody>
          <a:bodyPr/>
          <a:lstStyle/>
          <a:p>
            <a:r>
              <a:rPr lang="en-US" dirty="0"/>
              <a:t>A Mesh Collider allows your </a:t>
            </a:r>
            <a:r>
              <a:rPr lang="en-US" dirty="0" err="1"/>
              <a:t>GameObject</a:t>
            </a:r>
            <a:r>
              <a:rPr lang="en-US" dirty="0"/>
              <a:t> to use its real 3D shape (mesh) for detecting collisions, instead of a simple shape like a box or sphere.</a:t>
            </a:r>
          </a:p>
          <a:p>
            <a:r>
              <a:rPr lang="en-IN" dirty="0"/>
              <a:t>Use Mesh Collider when:</a:t>
            </a:r>
            <a:endParaRPr lang="en-US" dirty="0"/>
          </a:p>
          <a:p>
            <a:pPr lvl="2"/>
            <a:r>
              <a:rPr lang="en-US" dirty="0"/>
              <a:t>The shape of the object is too complex for simple colliders.</a:t>
            </a:r>
          </a:p>
          <a:p>
            <a:pPr lvl="2"/>
            <a:r>
              <a:rPr lang="en-US" dirty="0"/>
              <a:t>You want the collision to match the object's visual model exactly.</a:t>
            </a:r>
          </a:p>
          <a:p>
            <a:pPr lvl="2"/>
            <a:r>
              <a:rPr lang="en-US" dirty="0"/>
              <a:t>The object is not moving (static), like buildings or mountains.</a:t>
            </a:r>
          </a:p>
          <a:p>
            <a:endParaRPr lang="en-IN" dirty="0"/>
          </a:p>
        </p:txBody>
      </p:sp>
    </p:spTree>
    <p:extLst>
      <p:ext uri="{BB962C8B-B14F-4D97-AF65-F5344CB8AC3E}">
        <p14:creationId xmlns:p14="http://schemas.microsoft.com/office/powerpoint/2010/main" val="17893343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0C6B7A-F2F6-60E8-53B2-3908BA10B936}"/>
              </a:ext>
            </a:extLst>
          </p:cNvPr>
          <p:cNvSpPr>
            <a:spLocks noGrp="1"/>
          </p:cNvSpPr>
          <p:nvPr>
            <p:ph type="title"/>
          </p:nvPr>
        </p:nvSpPr>
        <p:spPr>
          <a:xfrm>
            <a:off x="612649" y="548638"/>
            <a:ext cx="3493008" cy="5788152"/>
          </a:xfrm>
        </p:spPr>
        <p:txBody>
          <a:bodyPr anchor="ctr">
            <a:normAutofit/>
          </a:bodyPr>
          <a:lstStyle/>
          <a:p>
            <a:r>
              <a:rPr lang="en-US" sz="4000"/>
              <a:t>Adding a Mesh Collider in Unity:</a:t>
            </a:r>
            <a:endParaRPr lang="en-IN" sz="4000"/>
          </a:p>
        </p:txBody>
      </p:sp>
      <p:graphicFrame>
        <p:nvGraphicFramePr>
          <p:cNvPr id="6" name="Rectangle 1">
            <a:extLst>
              <a:ext uri="{FF2B5EF4-FFF2-40B4-BE49-F238E27FC236}">
                <a16:creationId xmlns:a16="http://schemas.microsoft.com/office/drawing/2014/main" id="{85496CEE-0A3F-8A31-C467-59816E55333E}"/>
              </a:ext>
            </a:extLst>
          </p:cNvPr>
          <p:cNvGraphicFramePr>
            <a:graphicFrameLocks noGrp="1"/>
          </p:cNvGraphicFramePr>
          <p:nvPr>
            <p:ph idx="1"/>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78389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00B2-7BD4-F1F5-0378-9480F02F64C3}"/>
              </a:ext>
            </a:extLst>
          </p:cNvPr>
          <p:cNvSpPr>
            <a:spLocks noGrp="1"/>
          </p:cNvSpPr>
          <p:nvPr>
            <p:ph type="title"/>
          </p:nvPr>
        </p:nvSpPr>
        <p:spPr/>
        <p:txBody>
          <a:bodyPr/>
          <a:lstStyle/>
          <a:p>
            <a:r>
              <a:rPr lang="en-US" dirty="0" err="1"/>
              <a:t>CharacterControlle</a:t>
            </a:r>
            <a:endParaRPr lang="en-IN" dirty="0"/>
          </a:p>
        </p:txBody>
      </p:sp>
      <p:sp>
        <p:nvSpPr>
          <p:cNvPr id="3" name="Content Placeholder 2">
            <a:extLst>
              <a:ext uri="{FF2B5EF4-FFF2-40B4-BE49-F238E27FC236}">
                <a16:creationId xmlns:a16="http://schemas.microsoft.com/office/drawing/2014/main" id="{669587D2-0501-BF36-8C6D-53036243B8F6}"/>
              </a:ext>
            </a:extLst>
          </p:cNvPr>
          <p:cNvSpPr>
            <a:spLocks noGrp="1"/>
          </p:cNvSpPr>
          <p:nvPr>
            <p:ph idx="1"/>
          </p:nvPr>
        </p:nvSpPr>
        <p:spPr/>
        <p:txBody>
          <a:bodyPr/>
          <a:lstStyle/>
          <a:p>
            <a:r>
              <a:rPr lang="en-US" dirty="0"/>
              <a:t>The </a:t>
            </a:r>
            <a:r>
              <a:rPr lang="en-US" dirty="0" err="1"/>
              <a:t>CharacterController</a:t>
            </a:r>
            <a:r>
              <a:rPr lang="en-US" dirty="0"/>
              <a:t> is a special Unity component that allows you to move a character using scripts (code), without using physics like </a:t>
            </a:r>
            <a:r>
              <a:rPr lang="en-US" dirty="0" err="1"/>
              <a:t>Rigidbody</a:t>
            </a:r>
            <a:r>
              <a:rPr lang="en-US" dirty="0"/>
              <a:t>.</a:t>
            </a:r>
          </a:p>
          <a:p>
            <a:endParaRPr lang="en-IN" dirty="0"/>
          </a:p>
        </p:txBody>
      </p:sp>
    </p:spTree>
    <p:extLst>
      <p:ext uri="{BB962C8B-B14F-4D97-AF65-F5344CB8AC3E}">
        <p14:creationId xmlns:p14="http://schemas.microsoft.com/office/powerpoint/2010/main" val="9802614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909A6-0FA8-FA2F-C00E-7C44A15422DC}"/>
              </a:ext>
            </a:extLst>
          </p:cNvPr>
          <p:cNvSpPr>
            <a:spLocks noGrp="1"/>
          </p:cNvSpPr>
          <p:nvPr>
            <p:ph type="title"/>
          </p:nvPr>
        </p:nvSpPr>
        <p:spPr>
          <a:xfrm>
            <a:off x="612648" y="548640"/>
            <a:ext cx="10945037" cy="1133856"/>
          </a:xfrm>
        </p:spPr>
        <p:txBody>
          <a:bodyPr anchor="t">
            <a:normAutofit/>
          </a:bodyPr>
          <a:lstStyle/>
          <a:p>
            <a:r>
              <a:rPr lang="en-US" dirty="0"/>
              <a:t>Property Of Collider</a:t>
            </a:r>
            <a:endParaRPr lang="en-IN" dirty="0"/>
          </a:p>
        </p:txBody>
      </p:sp>
      <p:graphicFrame>
        <p:nvGraphicFramePr>
          <p:cNvPr id="4" name="Content Placeholder 3">
            <a:extLst>
              <a:ext uri="{FF2B5EF4-FFF2-40B4-BE49-F238E27FC236}">
                <a16:creationId xmlns:a16="http://schemas.microsoft.com/office/drawing/2014/main" id="{46535E05-0201-AD6D-3B6A-50DAF3FEB941}"/>
              </a:ext>
            </a:extLst>
          </p:cNvPr>
          <p:cNvGraphicFramePr>
            <a:graphicFrameLocks noGrp="1"/>
          </p:cNvGraphicFramePr>
          <p:nvPr>
            <p:ph idx="1"/>
          </p:nvPr>
        </p:nvGraphicFramePr>
        <p:xfrm>
          <a:off x="1341120" y="1682496"/>
          <a:ext cx="9215120" cy="4626863"/>
        </p:xfrm>
        <a:graphic>
          <a:graphicData uri="http://schemas.openxmlformats.org/drawingml/2006/table">
            <a:tbl>
              <a:tblPr/>
              <a:tblGrid>
                <a:gridCol w="2087256">
                  <a:extLst>
                    <a:ext uri="{9D8B030D-6E8A-4147-A177-3AD203B41FA5}">
                      <a16:colId xmlns:a16="http://schemas.microsoft.com/office/drawing/2014/main" val="91760218"/>
                    </a:ext>
                  </a:extLst>
                </a:gridCol>
                <a:gridCol w="3696667">
                  <a:extLst>
                    <a:ext uri="{9D8B030D-6E8A-4147-A177-3AD203B41FA5}">
                      <a16:colId xmlns:a16="http://schemas.microsoft.com/office/drawing/2014/main" val="4028185876"/>
                    </a:ext>
                  </a:extLst>
                </a:gridCol>
                <a:gridCol w="3431197">
                  <a:extLst>
                    <a:ext uri="{9D8B030D-6E8A-4147-A177-3AD203B41FA5}">
                      <a16:colId xmlns:a16="http://schemas.microsoft.com/office/drawing/2014/main" val="2281646300"/>
                    </a:ext>
                  </a:extLst>
                </a:gridCol>
              </a:tblGrid>
              <a:tr h="491743">
                <a:tc>
                  <a:txBody>
                    <a:bodyPr/>
                    <a:lstStyle/>
                    <a:p>
                      <a:r>
                        <a:rPr lang="en-IN" sz="2100"/>
                        <a:t>Property</a:t>
                      </a:r>
                    </a:p>
                  </a:txBody>
                  <a:tcPr marL="106627" marR="106627" marT="53313" marB="53313" anchor="ctr">
                    <a:lnL>
                      <a:noFill/>
                    </a:lnL>
                    <a:lnR>
                      <a:noFill/>
                    </a:lnR>
                    <a:lnT>
                      <a:noFill/>
                    </a:lnT>
                    <a:lnB>
                      <a:noFill/>
                    </a:lnB>
                    <a:noFill/>
                  </a:tcPr>
                </a:tc>
                <a:tc>
                  <a:txBody>
                    <a:bodyPr/>
                    <a:lstStyle/>
                    <a:p>
                      <a:r>
                        <a:rPr lang="en-IN" sz="2100"/>
                        <a:t>What It Does</a:t>
                      </a:r>
                    </a:p>
                  </a:txBody>
                  <a:tcPr marL="106627" marR="106627" marT="53313" marB="53313" anchor="ctr">
                    <a:lnL>
                      <a:noFill/>
                    </a:lnL>
                    <a:lnR>
                      <a:noFill/>
                    </a:lnR>
                    <a:lnT>
                      <a:noFill/>
                    </a:lnT>
                    <a:lnB>
                      <a:noFill/>
                    </a:lnB>
                    <a:noFill/>
                  </a:tcPr>
                </a:tc>
                <a:tc>
                  <a:txBody>
                    <a:bodyPr/>
                    <a:lstStyle/>
                    <a:p>
                      <a:r>
                        <a:rPr lang="en-IN" sz="2100"/>
                        <a:t>When to Use</a:t>
                      </a:r>
                    </a:p>
                  </a:txBody>
                  <a:tcPr marL="106627" marR="106627" marT="53313" marB="53313" anchor="ctr">
                    <a:lnL>
                      <a:noFill/>
                    </a:lnL>
                    <a:lnR>
                      <a:noFill/>
                    </a:lnR>
                    <a:lnT>
                      <a:noFill/>
                    </a:lnT>
                    <a:lnB>
                      <a:noFill/>
                    </a:lnB>
                    <a:noFill/>
                  </a:tcPr>
                </a:tc>
                <a:extLst>
                  <a:ext uri="{0D108BD9-81ED-4DB2-BD59-A6C34878D82A}">
                    <a16:rowId xmlns:a16="http://schemas.microsoft.com/office/drawing/2014/main" val="3224960898"/>
                  </a:ext>
                </a:extLst>
              </a:tr>
              <a:tr h="827024">
                <a:tc>
                  <a:txBody>
                    <a:bodyPr/>
                    <a:lstStyle/>
                    <a:p>
                      <a:r>
                        <a:rPr lang="en-IN" sz="2100" b="1"/>
                        <a:t>Is Trigger</a:t>
                      </a:r>
                      <a:endParaRPr lang="en-IN" sz="2100"/>
                    </a:p>
                  </a:txBody>
                  <a:tcPr marL="106627" marR="106627" marT="53313" marB="53313" anchor="ctr">
                    <a:lnL>
                      <a:noFill/>
                    </a:lnL>
                    <a:lnR>
                      <a:noFill/>
                    </a:lnR>
                    <a:lnT>
                      <a:noFill/>
                    </a:lnT>
                    <a:lnB>
                      <a:noFill/>
                    </a:lnB>
                    <a:noFill/>
                  </a:tcPr>
                </a:tc>
                <a:tc>
                  <a:txBody>
                    <a:bodyPr/>
                    <a:lstStyle/>
                    <a:p>
                      <a:r>
                        <a:rPr lang="en-IN" sz="2100"/>
                        <a:t>Detects overlap without blocking</a:t>
                      </a:r>
                    </a:p>
                  </a:txBody>
                  <a:tcPr marL="106627" marR="106627" marT="53313" marB="53313" anchor="ctr">
                    <a:lnL>
                      <a:noFill/>
                    </a:lnL>
                    <a:lnR>
                      <a:noFill/>
                    </a:lnR>
                    <a:lnT>
                      <a:noFill/>
                    </a:lnT>
                    <a:lnB>
                      <a:noFill/>
                    </a:lnB>
                    <a:noFill/>
                  </a:tcPr>
                </a:tc>
                <a:tc>
                  <a:txBody>
                    <a:bodyPr/>
                    <a:lstStyle/>
                    <a:p>
                      <a:r>
                        <a:rPr lang="en-IN" sz="2100"/>
                        <a:t>Pickup zones, checkpoints</a:t>
                      </a:r>
                    </a:p>
                  </a:txBody>
                  <a:tcPr marL="106627" marR="106627" marT="53313" marB="53313" anchor="ctr">
                    <a:lnL>
                      <a:noFill/>
                    </a:lnL>
                    <a:lnR>
                      <a:noFill/>
                    </a:lnR>
                    <a:lnT>
                      <a:noFill/>
                    </a:lnT>
                    <a:lnB>
                      <a:noFill/>
                    </a:lnB>
                    <a:noFill/>
                  </a:tcPr>
                </a:tc>
                <a:extLst>
                  <a:ext uri="{0D108BD9-81ED-4DB2-BD59-A6C34878D82A}">
                    <a16:rowId xmlns:a16="http://schemas.microsoft.com/office/drawing/2014/main" val="2174044279"/>
                  </a:ext>
                </a:extLst>
              </a:tr>
              <a:tr h="827024">
                <a:tc>
                  <a:txBody>
                    <a:bodyPr/>
                    <a:lstStyle/>
                    <a:p>
                      <a:r>
                        <a:rPr lang="en-IN" sz="2100" b="1"/>
                        <a:t>Material</a:t>
                      </a:r>
                      <a:endParaRPr lang="en-IN" sz="2100"/>
                    </a:p>
                  </a:txBody>
                  <a:tcPr marL="106627" marR="106627" marT="53313" marB="53313" anchor="ctr">
                    <a:lnL>
                      <a:noFill/>
                    </a:lnL>
                    <a:lnR>
                      <a:noFill/>
                    </a:lnR>
                    <a:lnT>
                      <a:noFill/>
                    </a:lnT>
                    <a:lnB>
                      <a:noFill/>
                    </a:lnB>
                    <a:noFill/>
                  </a:tcPr>
                </a:tc>
                <a:tc>
                  <a:txBody>
                    <a:bodyPr/>
                    <a:lstStyle/>
                    <a:p>
                      <a:r>
                        <a:rPr lang="en-IN" sz="2100"/>
                        <a:t>Controls friction &amp; bounciness</a:t>
                      </a:r>
                    </a:p>
                  </a:txBody>
                  <a:tcPr marL="106627" marR="106627" marT="53313" marB="53313" anchor="ctr">
                    <a:lnL>
                      <a:noFill/>
                    </a:lnL>
                    <a:lnR>
                      <a:noFill/>
                    </a:lnR>
                    <a:lnT>
                      <a:noFill/>
                    </a:lnT>
                    <a:lnB>
                      <a:noFill/>
                    </a:lnB>
                    <a:noFill/>
                  </a:tcPr>
                </a:tc>
                <a:tc>
                  <a:txBody>
                    <a:bodyPr/>
                    <a:lstStyle/>
                    <a:p>
                      <a:r>
                        <a:rPr lang="en-IN" sz="2100"/>
                        <a:t>Slippery floors, bouncy balls</a:t>
                      </a:r>
                    </a:p>
                  </a:txBody>
                  <a:tcPr marL="106627" marR="106627" marT="53313" marB="53313" anchor="ctr">
                    <a:lnL>
                      <a:noFill/>
                    </a:lnL>
                    <a:lnR>
                      <a:noFill/>
                    </a:lnR>
                    <a:lnT>
                      <a:noFill/>
                    </a:lnT>
                    <a:lnB>
                      <a:noFill/>
                    </a:lnB>
                    <a:noFill/>
                  </a:tcPr>
                </a:tc>
                <a:extLst>
                  <a:ext uri="{0D108BD9-81ED-4DB2-BD59-A6C34878D82A}">
                    <a16:rowId xmlns:a16="http://schemas.microsoft.com/office/drawing/2014/main" val="2978545237"/>
                  </a:ext>
                </a:extLst>
              </a:tr>
              <a:tr h="827024">
                <a:tc>
                  <a:txBody>
                    <a:bodyPr/>
                    <a:lstStyle/>
                    <a:p>
                      <a:r>
                        <a:rPr lang="en-IN" sz="2100" b="1"/>
                        <a:t>Center</a:t>
                      </a:r>
                      <a:endParaRPr lang="en-IN" sz="2100"/>
                    </a:p>
                  </a:txBody>
                  <a:tcPr marL="106627" marR="106627" marT="53313" marB="53313" anchor="ctr">
                    <a:lnL>
                      <a:noFill/>
                    </a:lnL>
                    <a:lnR>
                      <a:noFill/>
                    </a:lnR>
                    <a:lnT>
                      <a:noFill/>
                    </a:lnT>
                    <a:lnB>
                      <a:noFill/>
                    </a:lnB>
                    <a:noFill/>
                  </a:tcPr>
                </a:tc>
                <a:tc>
                  <a:txBody>
                    <a:bodyPr/>
                    <a:lstStyle/>
                    <a:p>
                      <a:r>
                        <a:rPr lang="en-US" sz="2100"/>
                        <a:t>Moves collider relative to object</a:t>
                      </a:r>
                    </a:p>
                  </a:txBody>
                  <a:tcPr marL="106627" marR="106627" marT="53313" marB="53313" anchor="ctr">
                    <a:lnL>
                      <a:noFill/>
                    </a:lnL>
                    <a:lnR>
                      <a:noFill/>
                    </a:lnR>
                    <a:lnT>
                      <a:noFill/>
                    </a:lnT>
                    <a:lnB>
                      <a:noFill/>
                    </a:lnB>
                    <a:noFill/>
                  </a:tcPr>
                </a:tc>
                <a:tc>
                  <a:txBody>
                    <a:bodyPr/>
                    <a:lstStyle/>
                    <a:p>
                      <a:r>
                        <a:rPr lang="en-US" sz="2100"/>
                        <a:t>Fit collider better to model</a:t>
                      </a:r>
                    </a:p>
                  </a:txBody>
                  <a:tcPr marL="106627" marR="106627" marT="53313" marB="53313" anchor="ctr">
                    <a:lnL>
                      <a:noFill/>
                    </a:lnL>
                    <a:lnR>
                      <a:noFill/>
                    </a:lnR>
                    <a:lnT>
                      <a:noFill/>
                    </a:lnT>
                    <a:lnB>
                      <a:noFill/>
                    </a:lnB>
                    <a:noFill/>
                  </a:tcPr>
                </a:tc>
                <a:extLst>
                  <a:ext uri="{0D108BD9-81ED-4DB2-BD59-A6C34878D82A}">
                    <a16:rowId xmlns:a16="http://schemas.microsoft.com/office/drawing/2014/main" val="35382726"/>
                  </a:ext>
                </a:extLst>
              </a:tr>
              <a:tr h="827024">
                <a:tc>
                  <a:txBody>
                    <a:bodyPr/>
                    <a:lstStyle/>
                    <a:p>
                      <a:r>
                        <a:rPr lang="en-IN" sz="2100" b="1"/>
                        <a:t>Size/Radius</a:t>
                      </a:r>
                      <a:endParaRPr lang="en-IN" sz="2100"/>
                    </a:p>
                  </a:txBody>
                  <a:tcPr marL="106627" marR="106627" marT="53313" marB="53313" anchor="ctr">
                    <a:lnL>
                      <a:noFill/>
                    </a:lnL>
                    <a:lnR>
                      <a:noFill/>
                    </a:lnR>
                    <a:lnT>
                      <a:noFill/>
                    </a:lnT>
                    <a:lnB>
                      <a:noFill/>
                    </a:lnB>
                    <a:noFill/>
                  </a:tcPr>
                </a:tc>
                <a:tc>
                  <a:txBody>
                    <a:bodyPr/>
                    <a:lstStyle/>
                    <a:p>
                      <a:r>
                        <a:rPr lang="en-IN" sz="2100"/>
                        <a:t>Changes collider size</a:t>
                      </a:r>
                    </a:p>
                  </a:txBody>
                  <a:tcPr marL="106627" marR="106627" marT="53313" marB="53313" anchor="ctr">
                    <a:lnL>
                      <a:noFill/>
                    </a:lnL>
                    <a:lnR>
                      <a:noFill/>
                    </a:lnR>
                    <a:lnT>
                      <a:noFill/>
                    </a:lnT>
                    <a:lnB>
                      <a:noFill/>
                    </a:lnB>
                    <a:noFill/>
                  </a:tcPr>
                </a:tc>
                <a:tc>
                  <a:txBody>
                    <a:bodyPr/>
                    <a:lstStyle/>
                    <a:p>
                      <a:r>
                        <a:rPr lang="en-IN" sz="2100"/>
                        <a:t>Adjust to object dimensions</a:t>
                      </a:r>
                    </a:p>
                  </a:txBody>
                  <a:tcPr marL="106627" marR="106627" marT="53313" marB="53313" anchor="ctr">
                    <a:lnL>
                      <a:noFill/>
                    </a:lnL>
                    <a:lnR>
                      <a:noFill/>
                    </a:lnR>
                    <a:lnT>
                      <a:noFill/>
                    </a:lnT>
                    <a:lnB>
                      <a:noFill/>
                    </a:lnB>
                    <a:noFill/>
                  </a:tcPr>
                </a:tc>
                <a:extLst>
                  <a:ext uri="{0D108BD9-81ED-4DB2-BD59-A6C34878D82A}">
                    <a16:rowId xmlns:a16="http://schemas.microsoft.com/office/drawing/2014/main" val="4032389872"/>
                  </a:ext>
                </a:extLst>
              </a:tr>
              <a:tr h="827024">
                <a:tc>
                  <a:txBody>
                    <a:bodyPr/>
                    <a:lstStyle/>
                    <a:p>
                      <a:r>
                        <a:rPr lang="en-IN" sz="2100" b="1"/>
                        <a:t>Convex</a:t>
                      </a:r>
                      <a:endParaRPr lang="en-IN" sz="2100"/>
                    </a:p>
                  </a:txBody>
                  <a:tcPr marL="106627" marR="106627" marT="53313" marB="53313" anchor="ctr">
                    <a:lnL>
                      <a:noFill/>
                    </a:lnL>
                    <a:lnR>
                      <a:noFill/>
                    </a:lnR>
                    <a:lnT>
                      <a:noFill/>
                    </a:lnT>
                    <a:lnB>
                      <a:noFill/>
                    </a:lnB>
                    <a:noFill/>
                  </a:tcPr>
                </a:tc>
                <a:tc>
                  <a:txBody>
                    <a:bodyPr/>
                    <a:lstStyle/>
                    <a:p>
                      <a:r>
                        <a:rPr lang="en-IN" sz="2100"/>
                        <a:t>Simplifies mesh collider shape</a:t>
                      </a:r>
                    </a:p>
                  </a:txBody>
                  <a:tcPr marL="106627" marR="106627" marT="53313" marB="53313" anchor="ctr">
                    <a:lnL>
                      <a:noFill/>
                    </a:lnL>
                    <a:lnR>
                      <a:noFill/>
                    </a:lnR>
                    <a:lnT>
                      <a:noFill/>
                    </a:lnT>
                    <a:lnB>
                      <a:noFill/>
                    </a:lnB>
                    <a:noFill/>
                  </a:tcPr>
                </a:tc>
                <a:tc>
                  <a:txBody>
                    <a:bodyPr/>
                    <a:lstStyle/>
                    <a:p>
                      <a:r>
                        <a:rPr lang="en-IN" sz="2100" dirty="0"/>
                        <a:t>Moving complex mesh colliders</a:t>
                      </a:r>
                    </a:p>
                  </a:txBody>
                  <a:tcPr marL="106627" marR="106627" marT="53313" marB="53313" anchor="ctr">
                    <a:lnL>
                      <a:noFill/>
                    </a:lnL>
                    <a:lnR>
                      <a:noFill/>
                    </a:lnR>
                    <a:lnT>
                      <a:noFill/>
                    </a:lnT>
                    <a:lnB>
                      <a:noFill/>
                    </a:lnB>
                    <a:noFill/>
                  </a:tcPr>
                </a:tc>
                <a:extLst>
                  <a:ext uri="{0D108BD9-81ED-4DB2-BD59-A6C34878D82A}">
                    <a16:rowId xmlns:a16="http://schemas.microsoft.com/office/drawing/2014/main" val="3699090841"/>
                  </a:ext>
                </a:extLst>
              </a:tr>
            </a:tbl>
          </a:graphicData>
        </a:graphic>
      </p:graphicFrame>
    </p:spTree>
    <p:extLst>
      <p:ext uri="{BB962C8B-B14F-4D97-AF65-F5344CB8AC3E}">
        <p14:creationId xmlns:p14="http://schemas.microsoft.com/office/powerpoint/2010/main" val="39928503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F47395-52AF-486D-4F57-691E80E9CB18}"/>
              </a:ext>
            </a:extLst>
          </p:cNvPr>
          <p:cNvSpPr>
            <a:spLocks noGrp="1"/>
          </p:cNvSpPr>
          <p:nvPr>
            <p:ph type="ctrTitle"/>
          </p:nvPr>
        </p:nvSpPr>
        <p:spPr>
          <a:xfrm>
            <a:off x="1285241" y="1008993"/>
            <a:ext cx="9231410" cy="3542045"/>
          </a:xfrm>
        </p:spPr>
        <p:txBody>
          <a:bodyPr anchor="b">
            <a:normAutofit/>
          </a:bodyPr>
          <a:lstStyle/>
          <a:p>
            <a:pPr algn="l"/>
            <a:r>
              <a:rPr lang="en-IN" sz="10600"/>
              <a:t>MonoBehaviour</a:t>
            </a:r>
          </a:p>
        </p:txBody>
      </p:sp>
    </p:spTree>
    <p:extLst>
      <p:ext uri="{BB962C8B-B14F-4D97-AF65-F5344CB8AC3E}">
        <p14:creationId xmlns:p14="http://schemas.microsoft.com/office/powerpoint/2010/main" val="7554497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0370C-47CB-E7F2-1B64-5FD485D8A71D}"/>
              </a:ext>
            </a:extLst>
          </p:cNvPr>
          <p:cNvSpPr>
            <a:spLocks noGrp="1"/>
          </p:cNvSpPr>
          <p:nvPr>
            <p:ph type="title"/>
          </p:nvPr>
        </p:nvSpPr>
        <p:spPr/>
        <p:txBody>
          <a:bodyPr/>
          <a:lstStyle/>
          <a:p>
            <a:r>
              <a:rPr lang="en-IN" dirty="0"/>
              <a:t>What is </a:t>
            </a:r>
            <a:r>
              <a:rPr lang="en-IN" dirty="0" err="1"/>
              <a:t>MonoBehaviour</a:t>
            </a:r>
            <a:r>
              <a:rPr lang="en-IN" dirty="0"/>
              <a:t>?</a:t>
            </a:r>
          </a:p>
        </p:txBody>
      </p:sp>
      <p:sp>
        <p:nvSpPr>
          <p:cNvPr id="3" name="Content Placeholder 2">
            <a:extLst>
              <a:ext uri="{FF2B5EF4-FFF2-40B4-BE49-F238E27FC236}">
                <a16:creationId xmlns:a16="http://schemas.microsoft.com/office/drawing/2014/main" id="{4CF94E01-6070-B668-C5C4-F9A193CDEE91}"/>
              </a:ext>
            </a:extLst>
          </p:cNvPr>
          <p:cNvSpPr>
            <a:spLocks noGrp="1"/>
          </p:cNvSpPr>
          <p:nvPr>
            <p:ph idx="1"/>
          </p:nvPr>
        </p:nvSpPr>
        <p:spPr/>
        <p:txBody>
          <a:bodyPr/>
          <a:lstStyle/>
          <a:p>
            <a:r>
              <a:rPr lang="en-US" dirty="0" err="1"/>
              <a:t>MonoBehaviour</a:t>
            </a:r>
            <a:r>
              <a:rPr lang="en-US" dirty="0"/>
              <a:t> is a base class in Unity from which every script you write inherits (unless you want a pure data class).</a:t>
            </a:r>
          </a:p>
          <a:p>
            <a:r>
              <a:rPr lang="en-US" dirty="0"/>
              <a:t>Because of </a:t>
            </a:r>
            <a:r>
              <a:rPr lang="en-US" dirty="0" err="1"/>
              <a:t>MonoBehaviour</a:t>
            </a:r>
            <a:r>
              <a:rPr lang="en-US" dirty="0"/>
              <a:t>, Unity can automatically run certain important functions in your script at the right times — like when the game starts, every frame during the game, or when the object is turned on or off</a:t>
            </a:r>
          </a:p>
          <a:p>
            <a:r>
              <a:rPr lang="en-US" dirty="0"/>
              <a:t>These methods are called lifecycle methods because they are invoked at different stages of the </a:t>
            </a:r>
            <a:r>
              <a:rPr lang="en-US" dirty="0" err="1"/>
              <a:t>GameObject’s</a:t>
            </a:r>
            <a:r>
              <a:rPr lang="en-US" dirty="0"/>
              <a:t> life (when it loads, updates, is enabled/disabled, or destroyed).</a:t>
            </a:r>
          </a:p>
        </p:txBody>
      </p:sp>
    </p:spTree>
    <p:extLst>
      <p:ext uri="{BB962C8B-B14F-4D97-AF65-F5344CB8AC3E}">
        <p14:creationId xmlns:p14="http://schemas.microsoft.com/office/powerpoint/2010/main" val="615684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A466FCC-26A6-AD0C-513D-472AAABEC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76E58-426F-A42F-0358-3DE0F2FD21F1}"/>
              </a:ext>
            </a:extLst>
          </p:cNvPr>
          <p:cNvSpPr>
            <a:spLocks noGrp="1"/>
          </p:cNvSpPr>
          <p:nvPr>
            <p:ph type="title"/>
          </p:nvPr>
        </p:nvSpPr>
        <p:spPr>
          <a:xfrm>
            <a:off x="612650" y="1252728"/>
            <a:ext cx="2905613" cy="4768815"/>
          </a:xfrm>
        </p:spPr>
        <p:txBody>
          <a:bodyPr>
            <a:normAutofit/>
          </a:bodyPr>
          <a:lstStyle/>
          <a:p>
            <a:r>
              <a:rPr lang="en-US" sz="3200" dirty="0"/>
              <a:t>Life cycle of </a:t>
            </a:r>
            <a:r>
              <a:rPr lang="en-IN" sz="3200" dirty="0" err="1"/>
              <a:t>MonoBehaviour</a:t>
            </a:r>
            <a:endParaRPr lang="en-IN" sz="3200" dirty="0"/>
          </a:p>
        </p:txBody>
      </p:sp>
      <p:graphicFrame>
        <p:nvGraphicFramePr>
          <p:cNvPr id="12" name="Content Placeholder 2">
            <a:extLst>
              <a:ext uri="{FF2B5EF4-FFF2-40B4-BE49-F238E27FC236}">
                <a16:creationId xmlns:a16="http://schemas.microsoft.com/office/drawing/2014/main" id="{2ED41578-BCD4-CF9B-B9D5-CA7331E9CF09}"/>
              </a:ext>
            </a:extLst>
          </p:cNvPr>
          <p:cNvGraphicFramePr>
            <a:graphicFrameLocks noGrp="1"/>
          </p:cNvGraphicFramePr>
          <p:nvPr>
            <p:ph idx="1"/>
          </p:nvPr>
        </p:nvGraphicFramePr>
        <p:xfrm>
          <a:off x="4021483" y="1252728"/>
          <a:ext cx="7536203" cy="4768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36041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52">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0"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5" name="Group 54">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4" name="Freeform: Shape 13">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6" name="Freeform: Shape 5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7" name="Freeform: Shape 56">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8" name="Freeform: Shape 57">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106A361-9653-E7C9-72B4-9545F71D3B80}"/>
              </a:ext>
            </a:extLst>
          </p:cNvPr>
          <p:cNvSpPr>
            <a:spLocks noGrp="1"/>
          </p:cNvSpPr>
          <p:nvPr>
            <p:ph type="ctrTitle"/>
          </p:nvPr>
        </p:nvSpPr>
        <p:spPr>
          <a:xfrm>
            <a:off x="789708" y="666351"/>
            <a:ext cx="10558405" cy="3044335"/>
          </a:xfrm>
        </p:spPr>
        <p:txBody>
          <a:bodyPr anchor="b">
            <a:normAutofit/>
          </a:bodyPr>
          <a:lstStyle/>
          <a:p>
            <a:r>
              <a:rPr lang="en-US" sz="4800">
                <a:solidFill>
                  <a:schemeClr val="bg1"/>
                </a:solidFill>
              </a:rPr>
              <a:t>Weak 3</a:t>
            </a:r>
            <a:endParaRPr lang="en-IN" sz="4800">
              <a:solidFill>
                <a:schemeClr val="bg1"/>
              </a:solidFill>
            </a:endParaRPr>
          </a:p>
        </p:txBody>
      </p:sp>
    </p:spTree>
    <p:extLst>
      <p:ext uri="{BB962C8B-B14F-4D97-AF65-F5344CB8AC3E}">
        <p14:creationId xmlns:p14="http://schemas.microsoft.com/office/powerpoint/2010/main" val="3499176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394456-541E-D204-9CA7-337084D0817A}"/>
              </a:ext>
            </a:extLst>
          </p:cNvPr>
          <p:cNvSpPr>
            <a:spLocks noGrp="1"/>
          </p:cNvSpPr>
          <p:nvPr>
            <p:ph type="ctrTitle"/>
          </p:nvPr>
        </p:nvSpPr>
        <p:spPr>
          <a:xfrm>
            <a:off x="838199" y="1093788"/>
            <a:ext cx="10506455" cy="2967208"/>
          </a:xfrm>
        </p:spPr>
        <p:txBody>
          <a:bodyPr>
            <a:normAutofit/>
          </a:bodyPr>
          <a:lstStyle/>
          <a:p>
            <a:pPr algn="l"/>
            <a:r>
              <a:rPr lang="en-US" sz="8000"/>
              <a:t>Searching and Finding GameObject</a:t>
            </a:r>
            <a:endParaRPr lang="en-IN" sz="8000"/>
          </a:p>
        </p:txBody>
      </p:sp>
      <p:sp>
        <p:nvSpPr>
          <p:cNvPr id="39" name="Rectangle 3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Rectangle 39">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60688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BB178-BFB3-B4E2-9BCD-C02DE71E92D7}"/>
              </a:ext>
            </a:extLst>
          </p:cNvPr>
          <p:cNvSpPr>
            <a:spLocks noGrp="1"/>
          </p:cNvSpPr>
          <p:nvPr>
            <p:ph type="title"/>
          </p:nvPr>
        </p:nvSpPr>
        <p:spPr/>
        <p:txBody>
          <a:bodyPr/>
          <a:lstStyle/>
          <a:p>
            <a:r>
              <a:rPr lang="en-US" dirty="0"/>
              <a:t>What are tags</a:t>
            </a:r>
            <a:endParaRPr lang="en-IN" dirty="0"/>
          </a:p>
        </p:txBody>
      </p:sp>
      <p:sp>
        <p:nvSpPr>
          <p:cNvPr id="3" name="Content Placeholder 2">
            <a:extLst>
              <a:ext uri="{FF2B5EF4-FFF2-40B4-BE49-F238E27FC236}">
                <a16:creationId xmlns:a16="http://schemas.microsoft.com/office/drawing/2014/main" id="{10908D30-6C8B-82B4-408F-435C037586C5}"/>
              </a:ext>
            </a:extLst>
          </p:cNvPr>
          <p:cNvSpPr>
            <a:spLocks noGrp="1"/>
          </p:cNvSpPr>
          <p:nvPr>
            <p:ph idx="1"/>
          </p:nvPr>
        </p:nvSpPr>
        <p:spPr/>
        <p:txBody>
          <a:bodyPr/>
          <a:lstStyle/>
          <a:p>
            <a:r>
              <a:rPr lang="en-US" dirty="0"/>
              <a:t>A tag is basically a label or identifier you can assign to </a:t>
            </a:r>
            <a:r>
              <a:rPr lang="en-US" dirty="0" err="1"/>
              <a:t>GameObjects</a:t>
            </a:r>
            <a:r>
              <a:rPr lang="en-US" dirty="0"/>
              <a:t> in your scene.</a:t>
            </a:r>
          </a:p>
          <a:p>
            <a:r>
              <a:rPr lang="en-US" dirty="0"/>
              <a:t>Tags help you organize and quickly find specific types of objects, especially when you don’t want to search by name or reference.</a:t>
            </a:r>
          </a:p>
          <a:p>
            <a:r>
              <a:rPr lang="en-US" dirty="0"/>
              <a:t>For example, you might tag all enemies with "Enemy", all pickups with "Pickup", or the player with "Player"</a:t>
            </a:r>
          </a:p>
        </p:txBody>
      </p:sp>
    </p:spTree>
    <p:extLst>
      <p:ext uri="{BB962C8B-B14F-4D97-AF65-F5344CB8AC3E}">
        <p14:creationId xmlns:p14="http://schemas.microsoft.com/office/powerpoint/2010/main" val="5172478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E5F02-8C85-2882-6702-59497E1E8B2D}"/>
              </a:ext>
            </a:extLst>
          </p:cNvPr>
          <p:cNvSpPr>
            <a:spLocks noGrp="1"/>
          </p:cNvSpPr>
          <p:nvPr>
            <p:ph type="title"/>
          </p:nvPr>
        </p:nvSpPr>
        <p:spPr/>
        <p:txBody>
          <a:bodyPr/>
          <a:lstStyle/>
          <a:p>
            <a:r>
              <a:rPr lang="en-US" dirty="0"/>
              <a:t>What is </a:t>
            </a:r>
            <a:r>
              <a:rPr lang="en-US" dirty="0" err="1"/>
              <a:t>GameObject</a:t>
            </a:r>
            <a:endParaRPr lang="en-IN" dirty="0"/>
          </a:p>
        </p:txBody>
      </p:sp>
      <p:sp>
        <p:nvSpPr>
          <p:cNvPr id="3" name="Content Placeholder 2">
            <a:extLst>
              <a:ext uri="{FF2B5EF4-FFF2-40B4-BE49-F238E27FC236}">
                <a16:creationId xmlns:a16="http://schemas.microsoft.com/office/drawing/2014/main" id="{08A9D419-D71D-0057-1C04-F4CCE3748F0A}"/>
              </a:ext>
            </a:extLst>
          </p:cNvPr>
          <p:cNvSpPr>
            <a:spLocks noGrp="1"/>
          </p:cNvSpPr>
          <p:nvPr>
            <p:ph idx="1"/>
          </p:nvPr>
        </p:nvSpPr>
        <p:spPr/>
        <p:txBody>
          <a:bodyPr/>
          <a:lstStyle/>
          <a:p>
            <a:r>
              <a:rPr lang="en-US" dirty="0"/>
              <a:t>In Unity, everything you see in your game scene (like a player, enemy, wall, coin, etc.) is a </a:t>
            </a:r>
            <a:r>
              <a:rPr lang="en-US" dirty="0" err="1"/>
              <a:t>GameObject</a:t>
            </a:r>
            <a:r>
              <a:rPr lang="en-US" dirty="0"/>
              <a:t>.</a:t>
            </a:r>
          </a:p>
          <a:p>
            <a:r>
              <a:rPr lang="en-US" dirty="0"/>
              <a:t>A </a:t>
            </a:r>
            <a:r>
              <a:rPr lang="en-US" dirty="0" err="1"/>
              <a:t>GameObject</a:t>
            </a:r>
            <a:r>
              <a:rPr lang="en-US" dirty="0"/>
              <a:t> is like a container. You add components (like </a:t>
            </a:r>
            <a:r>
              <a:rPr lang="en-US" dirty="0" err="1"/>
              <a:t>Rigidbody</a:t>
            </a:r>
            <a:r>
              <a:rPr lang="en-US" dirty="0"/>
              <a:t>, Collider, Scripts, etc.) to give it behavior.</a:t>
            </a:r>
          </a:p>
          <a:p>
            <a:r>
              <a:rPr lang="en-IN" dirty="0"/>
              <a:t>There are different ways to find </a:t>
            </a:r>
            <a:r>
              <a:rPr lang="en-IN" dirty="0" err="1"/>
              <a:t>GameObject</a:t>
            </a:r>
            <a:r>
              <a:rPr lang="en-IN" dirty="0"/>
              <a:t>.</a:t>
            </a:r>
          </a:p>
          <a:p>
            <a:pPr lvl="2">
              <a:buFont typeface="Wingdings" panose="05000000000000000000" pitchFamily="2" charset="2"/>
              <a:buChar char="Ø"/>
            </a:pPr>
            <a:r>
              <a:rPr lang="en-IN" dirty="0" err="1"/>
              <a:t>GameObject.Find</a:t>
            </a:r>
            <a:r>
              <a:rPr lang="en-IN" dirty="0"/>
              <a:t>(string name)</a:t>
            </a:r>
          </a:p>
          <a:p>
            <a:pPr lvl="2">
              <a:buFont typeface="Wingdings" panose="05000000000000000000" pitchFamily="2" charset="2"/>
              <a:buChar char="Ø"/>
            </a:pPr>
            <a:r>
              <a:rPr lang="en-IN" dirty="0" err="1"/>
              <a:t>GameObject.FindWithTag</a:t>
            </a:r>
            <a:r>
              <a:rPr lang="en-IN" dirty="0"/>
              <a:t>(string tag)</a:t>
            </a:r>
          </a:p>
          <a:p>
            <a:pPr lvl="2">
              <a:buFont typeface="Wingdings" panose="05000000000000000000" pitchFamily="2" charset="2"/>
              <a:buChar char="Ø"/>
            </a:pPr>
            <a:r>
              <a:rPr lang="en-IN" dirty="0" err="1"/>
              <a:t>GameObject.FindGameObjectsWithTag</a:t>
            </a:r>
            <a:r>
              <a:rPr lang="en-IN" dirty="0"/>
              <a:t>(string tag)</a:t>
            </a:r>
          </a:p>
          <a:p>
            <a:pPr lvl="2">
              <a:buFont typeface="Wingdings" panose="05000000000000000000" pitchFamily="2" charset="2"/>
              <a:buChar char="Ø"/>
            </a:pPr>
            <a:r>
              <a:rPr lang="en-IN" dirty="0" err="1"/>
              <a:t>transform.Find</a:t>
            </a:r>
            <a:r>
              <a:rPr lang="en-IN" dirty="0"/>
              <a:t>(string </a:t>
            </a:r>
            <a:r>
              <a:rPr lang="en-IN" dirty="0" err="1"/>
              <a:t>childName</a:t>
            </a:r>
            <a:r>
              <a:rPr lang="en-IN" dirty="0"/>
              <a:t>)</a:t>
            </a:r>
          </a:p>
          <a:p>
            <a:endParaRPr lang="en-IN" dirty="0"/>
          </a:p>
        </p:txBody>
      </p:sp>
    </p:spTree>
    <p:extLst>
      <p:ext uri="{BB962C8B-B14F-4D97-AF65-F5344CB8AC3E}">
        <p14:creationId xmlns:p14="http://schemas.microsoft.com/office/powerpoint/2010/main" val="40438122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cument">
            <a:extLst>
              <a:ext uri="{FF2B5EF4-FFF2-40B4-BE49-F238E27FC236}">
                <a16:creationId xmlns:a16="http://schemas.microsoft.com/office/drawing/2014/main" id="{8CEA2DC1-8AC5-DAB3-7C8F-C97900BADA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3" name="Freeform: Shape 22">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C65D5C6-17D0-3586-A38D-7B88912B984D}"/>
              </a:ext>
            </a:extLst>
          </p:cNvPr>
          <p:cNvSpPr>
            <a:spLocks noGrp="1"/>
          </p:cNvSpPr>
          <p:nvPr>
            <p:ph type="ctrTitle"/>
          </p:nvPr>
        </p:nvSpPr>
        <p:spPr>
          <a:xfrm>
            <a:off x="5622061" y="762538"/>
            <a:ext cx="5649349" cy="3199862"/>
          </a:xfrm>
        </p:spPr>
        <p:txBody>
          <a:bodyPr anchor="b">
            <a:normAutofit/>
          </a:bodyPr>
          <a:lstStyle/>
          <a:p>
            <a:pPr algn="l"/>
            <a:r>
              <a:rPr lang="en-IN" sz="6600" b="0" i="0">
                <a:solidFill>
                  <a:srgbClr val="FFFFFF"/>
                </a:solidFill>
                <a:effectLst/>
                <a:latin typeface="Udemy Sans"/>
              </a:rPr>
              <a:t>GetComponent Function</a:t>
            </a:r>
            <a:endParaRPr lang="en-IN" sz="6600">
              <a:solidFill>
                <a:srgbClr val="FFFFFF"/>
              </a:solidFill>
            </a:endParaRPr>
          </a:p>
        </p:txBody>
      </p:sp>
      <p:sp>
        <p:nvSpPr>
          <p:cNvPr id="25"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894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C63D-A9C8-6EDB-4F09-DD0F9847E97F}"/>
              </a:ext>
            </a:extLst>
          </p:cNvPr>
          <p:cNvSpPr>
            <a:spLocks noGrp="1"/>
          </p:cNvSpPr>
          <p:nvPr>
            <p:ph type="title"/>
          </p:nvPr>
        </p:nvSpPr>
        <p:spPr/>
        <p:txBody>
          <a:bodyPr/>
          <a:lstStyle/>
          <a:p>
            <a:r>
              <a:rPr lang="en-IN" b="0" i="0" dirty="0" err="1">
                <a:solidFill>
                  <a:srgbClr val="2A2B3F"/>
                </a:solidFill>
                <a:effectLst/>
                <a:latin typeface="Udemy Sans"/>
              </a:rPr>
              <a:t>GetComponent</a:t>
            </a:r>
            <a:r>
              <a:rPr lang="en-IN" b="0" i="0" dirty="0">
                <a:solidFill>
                  <a:srgbClr val="2A2B3F"/>
                </a:solidFill>
                <a:effectLst/>
                <a:latin typeface="Udemy Sans"/>
              </a:rPr>
              <a:t> Function</a:t>
            </a:r>
            <a:endParaRPr lang="en-IN" dirty="0"/>
          </a:p>
        </p:txBody>
      </p:sp>
      <p:sp>
        <p:nvSpPr>
          <p:cNvPr id="3" name="Content Placeholder 2">
            <a:extLst>
              <a:ext uri="{FF2B5EF4-FFF2-40B4-BE49-F238E27FC236}">
                <a16:creationId xmlns:a16="http://schemas.microsoft.com/office/drawing/2014/main" id="{7AB45DCA-0ADA-CD6A-8FF4-CA4666E4D676}"/>
              </a:ext>
            </a:extLst>
          </p:cNvPr>
          <p:cNvSpPr>
            <a:spLocks noGrp="1"/>
          </p:cNvSpPr>
          <p:nvPr>
            <p:ph idx="1"/>
          </p:nvPr>
        </p:nvSpPr>
        <p:spPr/>
        <p:txBody>
          <a:bodyPr>
            <a:normAutofit/>
          </a:bodyPr>
          <a:lstStyle/>
          <a:p>
            <a:r>
              <a:rPr lang="en-US" sz="1800" dirty="0" err="1"/>
              <a:t>GetComponent</a:t>
            </a:r>
            <a:r>
              <a:rPr lang="en-US" sz="1800" dirty="0"/>
              <a:t> is a method used in Unity to access other components attached to the same </a:t>
            </a:r>
            <a:r>
              <a:rPr lang="en-US" sz="1800" dirty="0" err="1"/>
              <a:t>GameObject</a:t>
            </a:r>
            <a:endParaRPr lang="en-US" sz="1800" dirty="0"/>
          </a:p>
          <a:p>
            <a:pPr lvl="2"/>
            <a:r>
              <a:rPr lang="en-US" sz="1800" dirty="0" err="1"/>
              <a:t>ComponentType</a:t>
            </a:r>
            <a:r>
              <a:rPr lang="en-US" sz="1800" dirty="0"/>
              <a:t> </a:t>
            </a:r>
            <a:r>
              <a:rPr lang="en-US" sz="1800" dirty="0" err="1"/>
              <a:t>myComponent</a:t>
            </a:r>
            <a:r>
              <a:rPr lang="en-US" sz="1800" dirty="0"/>
              <a:t> = </a:t>
            </a:r>
            <a:r>
              <a:rPr lang="en-US" sz="1800" dirty="0" err="1"/>
              <a:t>gameObject.GetComponent</a:t>
            </a:r>
            <a:r>
              <a:rPr lang="en-US" sz="1800" dirty="0"/>
              <a:t>&lt;</a:t>
            </a:r>
            <a:r>
              <a:rPr lang="en-US" sz="1800" dirty="0" err="1"/>
              <a:t>ComponentType</a:t>
            </a:r>
            <a:r>
              <a:rPr lang="en-US" sz="1800" dirty="0"/>
              <a:t>&gt;();</a:t>
            </a:r>
            <a:endParaRPr lang="en-IN" sz="1800" dirty="0"/>
          </a:p>
          <a:p>
            <a:r>
              <a:rPr lang="en-US" sz="1800" dirty="0"/>
              <a:t>If </a:t>
            </a:r>
            <a:r>
              <a:rPr lang="en-US" sz="1800" dirty="0" err="1"/>
              <a:t>GetComponent</a:t>
            </a:r>
            <a:r>
              <a:rPr lang="en-US" sz="1800" dirty="0"/>
              <a:t> cannot find the component, it returns null. </a:t>
            </a:r>
          </a:p>
          <a:p>
            <a:r>
              <a:rPr lang="en-US" sz="1800" dirty="0"/>
              <a:t>You can also get components from child or parent </a:t>
            </a:r>
            <a:r>
              <a:rPr lang="en-US" sz="1800" dirty="0" err="1"/>
              <a:t>GameObjects</a:t>
            </a:r>
            <a:r>
              <a:rPr lang="en-US" sz="1800" dirty="0"/>
              <a:t> using </a:t>
            </a:r>
            <a:r>
              <a:rPr lang="en-US" sz="1800" dirty="0" err="1">
                <a:solidFill>
                  <a:srgbClr val="FF0000"/>
                </a:solidFill>
              </a:rPr>
              <a:t>GetComponentInChildren</a:t>
            </a:r>
            <a:r>
              <a:rPr lang="en-US" sz="1800" dirty="0">
                <a:solidFill>
                  <a:srgbClr val="FF0000"/>
                </a:solidFill>
              </a:rPr>
              <a:t>&lt;T&gt;()</a:t>
            </a:r>
            <a:r>
              <a:rPr lang="en-US" sz="1800" dirty="0"/>
              <a:t> or </a:t>
            </a:r>
            <a:r>
              <a:rPr lang="en-US" sz="1800" dirty="0" err="1">
                <a:solidFill>
                  <a:srgbClr val="FF0000"/>
                </a:solidFill>
              </a:rPr>
              <a:t>GetComponentInParent</a:t>
            </a:r>
            <a:r>
              <a:rPr lang="en-US" sz="1800" dirty="0">
                <a:solidFill>
                  <a:srgbClr val="FF0000"/>
                </a:solidFill>
              </a:rPr>
              <a:t>&lt;T&gt;()</a:t>
            </a:r>
          </a:p>
          <a:p>
            <a:r>
              <a:rPr lang="en-US" sz="1800" dirty="0" err="1"/>
              <a:t>GetComponentInChildren</a:t>
            </a:r>
            <a:r>
              <a:rPr lang="en-US" sz="1800" dirty="0"/>
              <a:t>&lt;T&gt;() </a:t>
            </a:r>
          </a:p>
          <a:p>
            <a:r>
              <a:rPr lang="en-US" sz="1800" dirty="0"/>
              <a:t>Example:-</a:t>
            </a:r>
          </a:p>
          <a:p>
            <a:pPr lvl="1"/>
            <a:r>
              <a:rPr lang="en-US" sz="1400" dirty="0"/>
              <a:t> Player (</a:t>
            </a:r>
            <a:r>
              <a:rPr lang="en-US" sz="1400" dirty="0" err="1"/>
              <a:t>GameObject</a:t>
            </a:r>
            <a:r>
              <a:rPr lang="en-US" sz="1400" dirty="0"/>
              <a:t>)</a:t>
            </a:r>
          </a:p>
          <a:p>
            <a:pPr lvl="2"/>
            <a:r>
              <a:rPr lang="en-US" sz="1000" dirty="0"/>
              <a:t>Weapon (child </a:t>
            </a:r>
            <a:r>
              <a:rPr lang="en-US" sz="1000" dirty="0" err="1"/>
              <a:t>GameObject</a:t>
            </a:r>
            <a:r>
              <a:rPr lang="en-US" sz="1000" dirty="0"/>
              <a:t>)</a:t>
            </a:r>
          </a:p>
          <a:p>
            <a:pPr lvl="3"/>
            <a:r>
              <a:rPr lang="en-US" sz="800" dirty="0"/>
              <a:t>Has a script called </a:t>
            </a:r>
            <a:r>
              <a:rPr lang="en-US" sz="800" dirty="0" err="1"/>
              <a:t>GunScript</a:t>
            </a:r>
            <a:endParaRPr lang="en-US" sz="800" dirty="0"/>
          </a:p>
          <a:p>
            <a:r>
              <a:rPr lang="en-US" sz="1800" dirty="0"/>
              <a:t>Syntax:-</a:t>
            </a:r>
            <a:br>
              <a:rPr lang="en-US" sz="1800" dirty="0"/>
            </a:br>
            <a:r>
              <a:rPr lang="en-US" sz="1800" dirty="0" err="1"/>
              <a:t>GetComponentInChildren</a:t>
            </a:r>
            <a:r>
              <a:rPr lang="en-US" sz="1800" dirty="0"/>
              <a:t>&lt;</a:t>
            </a:r>
            <a:r>
              <a:rPr lang="en-US" sz="1800" dirty="0" err="1"/>
              <a:t>GunScript</a:t>
            </a:r>
            <a:r>
              <a:rPr lang="en-US" sz="1800" dirty="0"/>
              <a:t>&gt;()</a:t>
            </a:r>
          </a:p>
          <a:p>
            <a:endParaRPr lang="en-US" sz="1800" dirty="0"/>
          </a:p>
        </p:txBody>
      </p:sp>
    </p:spTree>
    <p:extLst>
      <p:ext uri="{BB962C8B-B14F-4D97-AF65-F5344CB8AC3E}">
        <p14:creationId xmlns:p14="http://schemas.microsoft.com/office/powerpoint/2010/main" val="18295825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3EFD3F4-AC9B-F722-F54F-9942A324D7A3}"/>
              </a:ext>
            </a:extLst>
          </p:cNvPr>
          <p:cNvGraphicFramePr>
            <a:graphicFrameLocks noGrp="1"/>
          </p:cNvGraphicFramePr>
          <p:nvPr/>
        </p:nvGraphicFramePr>
        <p:xfrm>
          <a:off x="435429" y="261257"/>
          <a:ext cx="11113106" cy="5932714"/>
        </p:xfrm>
        <a:graphic>
          <a:graphicData uri="http://schemas.openxmlformats.org/drawingml/2006/table">
            <a:tbl>
              <a:tblPr>
                <a:tableStyleId>{775DCB02-9BB8-47FD-8907-85C794F793BA}</a:tableStyleId>
              </a:tblPr>
              <a:tblGrid>
                <a:gridCol w="4323523">
                  <a:extLst>
                    <a:ext uri="{9D8B030D-6E8A-4147-A177-3AD203B41FA5}">
                      <a16:colId xmlns:a16="http://schemas.microsoft.com/office/drawing/2014/main" val="704603867"/>
                    </a:ext>
                  </a:extLst>
                </a:gridCol>
                <a:gridCol w="2183950">
                  <a:extLst>
                    <a:ext uri="{9D8B030D-6E8A-4147-A177-3AD203B41FA5}">
                      <a16:colId xmlns:a16="http://schemas.microsoft.com/office/drawing/2014/main" val="1462743850"/>
                    </a:ext>
                  </a:extLst>
                </a:gridCol>
                <a:gridCol w="2247346">
                  <a:extLst>
                    <a:ext uri="{9D8B030D-6E8A-4147-A177-3AD203B41FA5}">
                      <a16:colId xmlns:a16="http://schemas.microsoft.com/office/drawing/2014/main" val="4188979879"/>
                    </a:ext>
                  </a:extLst>
                </a:gridCol>
                <a:gridCol w="2358287">
                  <a:extLst>
                    <a:ext uri="{9D8B030D-6E8A-4147-A177-3AD203B41FA5}">
                      <a16:colId xmlns:a16="http://schemas.microsoft.com/office/drawing/2014/main" val="337500377"/>
                    </a:ext>
                  </a:extLst>
                </a:gridCol>
              </a:tblGrid>
              <a:tr h="984351">
                <a:tc>
                  <a:txBody>
                    <a:bodyPr/>
                    <a:lstStyle/>
                    <a:p>
                      <a:pPr algn="l" fontAlgn="ctr">
                        <a:buNone/>
                      </a:pPr>
                      <a:r>
                        <a:rPr lang="en-IN" sz="2200" b="0" u="none" strike="noStrike" dirty="0">
                          <a:effectLst/>
                        </a:rPr>
                        <a:t>Method</a:t>
                      </a:r>
                      <a:endParaRPr lang="en-IN" sz="2200" b="0" i="0" u="none" strike="noStrike" dirty="0">
                        <a:effectLst/>
                        <a:latin typeface="Arial" panose="020B0604020202020204" pitchFamily="34" charset="0"/>
                      </a:endParaRPr>
                    </a:p>
                  </a:txBody>
                  <a:tcPr marL="111974" marR="111974" marT="55987" marB="55987" anchor="ctr"/>
                </a:tc>
                <a:tc>
                  <a:txBody>
                    <a:bodyPr/>
                    <a:lstStyle/>
                    <a:p>
                      <a:pPr algn="l" fontAlgn="ctr">
                        <a:buNone/>
                      </a:pPr>
                      <a:r>
                        <a:rPr lang="en-IN" sz="2200" b="0" u="none" strike="noStrike">
                          <a:effectLst/>
                        </a:rPr>
                        <a:t>What it looks for</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IN" sz="2200" b="0" u="none" strike="noStrike">
                          <a:effectLst/>
                        </a:rPr>
                        <a:t>Where it looks</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IN" sz="2200" b="0" u="none" strike="noStrike">
                          <a:effectLst/>
                        </a:rPr>
                        <a:t>When to use</a:t>
                      </a:r>
                      <a:endParaRPr lang="en-IN" sz="2200" b="0" i="0" u="none" strike="noStrike">
                        <a:effectLst/>
                        <a:latin typeface="Arial" panose="020B0604020202020204" pitchFamily="34" charset="0"/>
                      </a:endParaRPr>
                    </a:p>
                  </a:txBody>
                  <a:tcPr marL="111974" marR="111974" marT="55987" marB="55987" anchor="ctr"/>
                </a:tc>
                <a:extLst>
                  <a:ext uri="{0D108BD9-81ED-4DB2-BD59-A6C34878D82A}">
                    <a16:rowId xmlns:a16="http://schemas.microsoft.com/office/drawing/2014/main" val="2997546565"/>
                  </a:ext>
                </a:extLst>
              </a:tr>
              <a:tr h="1383413">
                <a:tc>
                  <a:txBody>
                    <a:bodyPr/>
                    <a:lstStyle/>
                    <a:p>
                      <a:pPr algn="l" fontAlgn="ctr">
                        <a:buNone/>
                      </a:pPr>
                      <a:r>
                        <a:rPr lang="en-IN" sz="2200" b="0" u="none" strike="noStrike">
                          <a:effectLst/>
                        </a:rPr>
                        <a:t>GetComponent&lt;T&gt;()</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IN" sz="2200" b="0" u="none" strike="noStrike">
                          <a:effectLst/>
                        </a:rPr>
                        <a:t>Component of type T</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US" sz="2200" b="0" u="none" strike="noStrike" dirty="0">
                          <a:effectLst/>
                        </a:rPr>
                        <a:t>Only on the same </a:t>
                      </a:r>
                      <a:r>
                        <a:rPr lang="en-US" sz="2200" b="0" u="none" strike="noStrike" dirty="0" err="1">
                          <a:effectLst/>
                        </a:rPr>
                        <a:t>GameObject</a:t>
                      </a:r>
                      <a:endParaRPr lang="en-US" sz="2200" b="0" i="0" u="none" strike="noStrike" dirty="0">
                        <a:effectLst/>
                        <a:latin typeface="Arial" panose="020B0604020202020204" pitchFamily="34" charset="0"/>
                      </a:endParaRPr>
                    </a:p>
                  </a:txBody>
                  <a:tcPr marL="111974" marR="111974" marT="55987" marB="55987" anchor="ctr"/>
                </a:tc>
                <a:tc>
                  <a:txBody>
                    <a:bodyPr/>
                    <a:lstStyle/>
                    <a:p>
                      <a:pPr algn="l" fontAlgn="ctr">
                        <a:buNone/>
                      </a:pPr>
                      <a:r>
                        <a:rPr lang="en-US" sz="2200" b="0" u="none" strike="noStrike">
                          <a:effectLst/>
                        </a:rPr>
                        <a:t>When you want a component on this object only</a:t>
                      </a:r>
                      <a:endParaRPr lang="en-US" sz="2200" b="0" i="0" u="none" strike="noStrike">
                        <a:effectLst/>
                        <a:latin typeface="Arial" panose="020B0604020202020204" pitchFamily="34" charset="0"/>
                      </a:endParaRPr>
                    </a:p>
                  </a:txBody>
                  <a:tcPr marL="111974" marR="111974" marT="55987" marB="55987" anchor="ctr"/>
                </a:tc>
                <a:extLst>
                  <a:ext uri="{0D108BD9-81ED-4DB2-BD59-A6C34878D82A}">
                    <a16:rowId xmlns:a16="http://schemas.microsoft.com/office/drawing/2014/main" val="1896404347"/>
                  </a:ext>
                </a:extLst>
              </a:tr>
              <a:tr h="1782475">
                <a:tc>
                  <a:txBody>
                    <a:bodyPr/>
                    <a:lstStyle/>
                    <a:p>
                      <a:pPr algn="l" fontAlgn="ctr">
                        <a:buNone/>
                      </a:pPr>
                      <a:r>
                        <a:rPr lang="en-IN" sz="2200" b="0" u="none" strike="noStrike" dirty="0" err="1">
                          <a:effectLst/>
                        </a:rPr>
                        <a:t>GetComponentInChildren</a:t>
                      </a:r>
                      <a:r>
                        <a:rPr lang="en-IN" sz="2200" b="0" u="none" strike="noStrike" dirty="0">
                          <a:effectLst/>
                        </a:rPr>
                        <a:t>&lt;T&gt;()</a:t>
                      </a:r>
                      <a:endParaRPr lang="en-IN" sz="2200" b="0" i="0" u="none" strike="noStrike" dirty="0">
                        <a:effectLst/>
                        <a:latin typeface="Arial" panose="020B0604020202020204" pitchFamily="34" charset="0"/>
                      </a:endParaRPr>
                    </a:p>
                  </a:txBody>
                  <a:tcPr marL="111974" marR="111974" marT="55987" marB="55987" anchor="ctr"/>
                </a:tc>
                <a:tc>
                  <a:txBody>
                    <a:bodyPr/>
                    <a:lstStyle/>
                    <a:p>
                      <a:pPr algn="l" fontAlgn="ctr">
                        <a:buNone/>
                      </a:pPr>
                      <a:r>
                        <a:rPr lang="en-IN" sz="2200" b="0" u="none" strike="noStrike">
                          <a:effectLst/>
                        </a:rPr>
                        <a:t>Component of type T</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US" sz="2200" b="0" u="none" strike="noStrike" dirty="0">
                          <a:effectLst/>
                        </a:rPr>
                        <a:t>On this </a:t>
                      </a:r>
                      <a:r>
                        <a:rPr lang="en-US" sz="2200" b="0" u="none" strike="noStrike" dirty="0" err="1">
                          <a:effectLst/>
                        </a:rPr>
                        <a:t>GameObject</a:t>
                      </a:r>
                      <a:r>
                        <a:rPr lang="en-US" sz="2200" b="0" u="none" strike="noStrike" dirty="0">
                          <a:effectLst/>
                        </a:rPr>
                        <a:t> and all child objects</a:t>
                      </a:r>
                      <a:endParaRPr lang="en-US" sz="2200" b="0" i="0" u="none" strike="noStrike" dirty="0">
                        <a:effectLst/>
                        <a:latin typeface="Arial" panose="020B0604020202020204" pitchFamily="34" charset="0"/>
                      </a:endParaRPr>
                    </a:p>
                  </a:txBody>
                  <a:tcPr marL="111974" marR="111974" marT="55987" marB="55987" anchor="ctr"/>
                </a:tc>
                <a:tc>
                  <a:txBody>
                    <a:bodyPr/>
                    <a:lstStyle/>
                    <a:p>
                      <a:pPr algn="l" fontAlgn="ctr">
                        <a:buNone/>
                      </a:pPr>
                      <a:r>
                        <a:rPr lang="en-US" sz="2200" b="0" u="none" strike="noStrike">
                          <a:effectLst/>
                        </a:rPr>
                        <a:t>When the component might be on a child</a:t>
                      </a:r>
                      <a:endParaRPr lang="en-US" sz="2200" b="0" i="0" u="none" strike="noStrike">
                        <a:effectLst/>
                        <a:latin typeface="Arial" panose="020B0604020202020204" pitchFamily="34" charset="0"/>
                      </a:endParaRPr>
                    </a:p>
                  </a:txBody>
                  <a:tcPr marL="111974" marR="111974" marT="55987" marB="55987" anchor="ctr"/>
                </a:tc>
                <a:extLst>
                  <a:ext uri="{0D108BD9-81ED-4DB2-BD59-A6C34878D82A}">
                    <a16:rowId xmlns:a16="http://schemas.microsoft.com/office/drawing/2014/main" val="3086124714"/>
                  </a:ext>
                </a:extLst>
              </a:tr>
              <a:tr h="1782475">
                <a:tc>
                  <a:txBody>
                    <a:bodyPr/>
                    <a:lstStyle/>
                    <a:p>
                      <a:pPr algn="l" fontAlgn="ctr">
                        <a:buNone/>
                      </a:pPr>
                      <a:r>
                        <a:rPr lang="en-IN" sz="2200" b="0" u="none" strike="noStrike">
                          <a:effectLst/>
                        </a:rPr>
                        <a:t>GetComponentInParent&lt;T&gt;()</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IN" sz="2200" b="0" u="none" strike="noStrike">
                          <a:effectLst/>
                        </a:rPr>
                        <a:t>Component of type T</a:t>
                      </a:r>
                      <a:endParaRPr lang="en-IN" sz="2200" b="0" i="0" u="none" strike="noStrike">
                        <a:effectLst/>
                        <a:latin typeface="Arial" panose="020B0604020202020204" pitchFamily="34" charset="0"/>
                      </a:endParaRPr>
                    </a:p>
                  </a:txBody>
                  <a:tcPr marL="111974" marR="111974" marT="55987" marB="55987" anchor="ctr"/>
                </a:tc>
                <a:tc>
                  <a:txBody>
                    <a:bodyPr/>
                    <a:lstStyle/>
                    <a:p>
                      <a:pPr algn="l" fontAlgn="ctr">
                        <a:buNone/>
                      </a:pPr>
                      <a:r>
                        <a:rPr lang="en-US" sz="2200" b="0" u="none" strike="noStrike" dirty="0">
                          <a:effectLst/>
                        </a:rPr>
                        <a:t>On this </a:t>
                      </a:r>
                      <a:r>
                        <a:rPr lang="en-US" sz="2200" b="0" u="none" strike="noStrike" dirty="0" err="1">
                          <a:effectLst/>
                        </a:rPr>
                        <a:t>GameObject</a:t>
                      </a:r>
                      <a:r>
                        <a:rPr lang="en-US" sz="2200" b="0" u="none" strike="noStrike" dirty="0">
                          <a:effectLst/>
                        </a:rPr>
                        <a:t> and all parent objects</a:t>
                      </a:r>
                      <a:endParaRPr lang="en-US" sz="2200" b="0" i="0" u="none" strike="noStrike" dirty="0">
                        <a:effectLst/>
                        <a:latin typeface="Arial" panose="020B0604020202020204" pitchFamily="34" charset="0"/>
                      </a:endParaRPr>
                    </a:p>
                  </a:txBody>
                  <a:tcPr marL="111974" marR="111974" marT="55987" marB="55987" anchor="ctr"/>
                </a:tc>
                <a:tc>
                  <a:txBody>
                    <a:bodyPr/>
                    <a:lstStyle/>
                    <a:p>
                      <a:pPr algn="l" fontAlgn="ctr">
                        <a:buNone/>
                      </a:pPr>
                      <a:r>
                        <a:rPr lang="en-US" sz="2200" b="0" u="none" strike="noStrike" dirty="0">
                          <a:effectLst/>
                        </a:rPr>
                        <a:t>When the component might be on a parent</a:t>
                      </a:r>
                      <a:endParaRPr lang="en-US" sz="2200" b="0" i="0" u="none" strike="noStrike" dirty="0">
                        <a:effectLst/>
                        <a:latin typeface="Arial" panose="020B0604020202020204" pitchFamily="34" charset="0"/>
                      </a:endParaRPr>
                    </a:p>
                  </a:txBody>
                  <a:tcPr marL="111974" marR="111974" marT="55987" marB="55987" anchor="ctr"/>
                </a:tc>
                <a:extLst>
                  <a:ext uri="{0D108BD9-81ED-4DB2-BD59-A6C34878D82A}">
                    <a16:rowId xmlns:a16="http://schemas.microsoft.com/office/drawing/2014/main" val="3847055887"/>
                  </a:ext>
                </a:extLst>
              </a:tr>
            </a:tbl>
          </a:graphicData>
        </a:graphic>
      </p:graphicFrame>
    </p:spTree>
    <p:extLst>
      <p:ext uri="{BB962C8B-B14F-4D97-AF65-F5344CB8AC3E}">
        <p14:creationId xmlns:p14="http://schemas.microsoft.com/office/powerpoint/2010/main" val="25514735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7D819-5731-BCDF-FA57-05F8F7398275}"/>
              </a:ext>
            </a:extLst>
          </p:cNvPr>
          <p:cNvSpPr>
            <a:spLocks noGrp="1"/>
          </p:cNvSpPr>
          <p:nvPr>
            <p:ph type="title"/>
          </p:nvPr>
        </p:nvSpPr>
        <p:spPr/>
        <p:txBody>
          <a:bodyPr/>
          <a:lstStyle/>
          <a:p>
            <a:r>
              <a:rPr lang="en-US" dirty="0"/>
              <a:t>Accessing a Component from Another </a:t>
            </a:r>
            <a:r>
              <a:rPr lang="en-US" dirty="0" err="1"/>
              <a:t>GameObject</a:t>
            </a:r>
            <a:endParaRPr lang="en-IN" dirty="0"/>
          </a:p>
        </p:txBody>
      </p:sp>
      <p:sp>
        <p:nvSpPr>
          <p:cNvPr id="3" name="Content Placeholder 2">
            <a:extLst>
              <a:ext uri="{FF2B5EF4-FFF2-40B4-BE49-F238E27FC236}">
                <a16:creationId xmlns:a16="http://schemas.microsoft.com/office/drawing/2014/main" id="{3EFE41C9-A325-1B65-FF09-382290D19679}"/>
              </a:ext>
            </a:extLst>
          </p:cNvPr>
          <p:cNvSpPr>
            <a:spLocks noGrp="1"/>
          </p:cNvSpPr>
          <p:nvPr>
            <p:ph idx="1"/>
          </p:nvPr>
        </p:nvSpPr>
        <p:spPr/>
        <p:txBody>
          <a:bodyPr/>
          <a:lstStyle/>
          <a:p>
            <a:r>
              <a:rPr lang="en-US" dirty="0"/>
              <a:t>Step 1: Create two </a:t>
            </a:r>
            <a:r>
              <a:rPr lang="en-US" dirty="0" err="1"/>
              <a:t>GameObjects</a:t>
            </a:r>
            <a:endParaRPr lang="en-US" dirty="0"/>
          </a:p>
          <a:p>
            <a:r>
              <a:rPr lang="en-US" dirty="0"/>
              <a:t>Step2:  write some sample code in script 1 and script 2</a:t>
            </a:r>
          </a:p>
          <a:p>
            <a:r>
              <a:rPr lang="en-US" dirty="0"/>
              <a:t>Step3 : Create a Reference to the Target </a:t>
            </a:r>
            <a:r>
              <a:rPr lang="en-US" dirty="0" err="1"/>
              <a:t>GameObject</a:t>
            </a:r>
            <a:endParaRPr lang="en-US" dirty="0"/>
          </a:p>
          <a:p>
            <a:r>
              <a:rPr lang="en-US" dirty="0"/>
              <a:t>Step4 : use the property of component in target </a:t>
            </a:r>
            <a:r>
              <a:rPr lang="en-US" dirty="0" err="1"/>
              <a:t>gameobject</a:t>
            </a:r>
            <a:endParaRPr lang="en-US" dirty="0"/>
          </a:p>
          <a:p>
            <a:endParaRPr lang="en-IN" dirty="0"/>
          </a:p>
        </p:txBody>
      </p:sp>
    </p:spTree>
    <p:extLst>
      <p:ext uri="{BB962C8B-B14F-4D97-AF65-F5344CB8AC3E}">
        <p14:creationId xmlns:p14="http://schemas.microsoft.com/office/powerpoint/2010/main" val="30104548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30F9B-4F0E-805C-54B6-888D624B6DFA}"/>
              </a:ext>
            </a:extLst>
          </p:cNvPr>
          <p:cNvSpPr>
            <a:spLocks noGrp="1"/>
          </p:cNvSpPr>
          <p:nvPr>
            <p:ph type="ctrTitle"/>
          </p:nvPr>
        </p:nvSpPr>
        <p:spPr>
          <a:xfrm>
            <a:off x="970908" y="1220919"/>
            <a:ext cx="5425781" cy="2387600"/>
          </a:xfrm>
        </p:spPr>
        <p:txBody>
          <a:bodyPr>
            <a:normAutofit fontScale="90000"/>
          </a:bodyPr>
          <a:lstStyle/>
          <a:p>
            <a:pPr algn="l"/>
            <a:r>
              <a:rPr lang="en-US" sz="4200" dirty="0"/>
              <a:t>Transform Components </a:t>
            </a:r>
            <a:r>
              <a:rPr lang="en-US" sz="4200" b="0" i="0" dirty="0">
                <a:effectLst/>
                <a:latin typeface="Udemy Sans"/>
              </a:rPr>
              <a:t>Moving Rotating &amp; Scaling with Transform Component</a:t>
            </a:r>
            <a:endParaRPr lang="en-IN" sz="4200" dirty="0"/>
          </a:p>
        </p:txBody>
      </p:sp>
      <p:sp>
        <p:nvSpPr>
          <p:cNvPr id="9" name="Freeform: Shape 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Block Arc 1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Shape 1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7" name="Straight Connector 1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7" name="Arc 26">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01337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4293-C5DC-16AC-A270-1CFE606DF3C2}"/>
              </a:ext>
            </a:extLst>
          </p:cNvPr>
          <p:cNvSpPr>
            <a:spLocks noGrp="1"/>
          </p:cNvSpPr>
          <p:nvPr>
            <p:ph type="title"/>
          </p:nvPr>
        </p:nvSpPr>
        <p:spPr/>
        <p:txBody>
          <a:bodyPr/>
          <a:lstStyle/>
          <a:p>
            <a:r>
              <a:rPr lang="en-IN" dirty="0"/>
              <a:t>TRANSFORM COMPONENT</a:t>
            </a:r>
          </a:p>
        </p:txBody>
      </p:sp>
      <p:sp>
        <p:nvSpPr>
          <p:cNvPr id="3" name="Content Placeholder 2">
            <a:extLst>
              <a:ext uri="{FF2B5EF4-FFF2-40B4-BE49-F238E27FC236}">
                <a16:creationId xmlns:a16="http://schemas.microsoft.com/office/drawing/2014/main" id="{DD1A8062-E505-5AF2-92E2-54C0D6D73C70}"/>
              </a:ext>
            </a:extLst>
          </p:cNvPr>
          <p:cNvSpPr>
            <a:spLocks noGrp="1"/>
          </p:cNvSpPr>
          <p:nvPr>
            <p:ph idx="1"/>
          </p:nvPr>
        </p:nvSpPr>
        <p:spPr/>
        <p:txBody>
          <a:bodyPr/>
          <a:lstStyle/>
          <a:p>
            <a:r>
              <a:rPr lang="en-US" dirty="0"/>
              <a:t>Every </a:t>
            </a:r>
            <a:r>
              <a:rPr lang="en-US" dirty="0" err="1"/>
              <a:t>GameObject</a:t>
            </a:r>
            <a:r>
              <a:rPr lang="en-US" dirty="0"/>
              <a:t> in Unity has a Transform component.</a:t>
            </a:r>
          </a:p>
          <a:p>
            <a:r>
              <a:rPr lang="en-US" dirty="0"/>
              <a:t>It defines three key things about an object in space:</a:t>
            </a:r>
          </a:p>
          <a:p>
            <a:pPr lvl="1"/>
            <a:r>
              <a:rPr lang="en-US" dirty="0"/>
              <a:t>Position</a:t>
            </a:r>
          </a:p>
          <a:p>
            <a:pPr lvl="1"/>
            <a:r>
              <a:rPr lang="en-US" dirty="0"/>
              <a:t>Rotation</a:t>
            </a:r>
          </a:p>
          <a:p>
            <a:pPr lvl="1"/>
            <a:r>
              <a:rPr lang="en-US" dirty="0"/>
              <a:t>Scale</a:t>
            </a:r>
          </a:p>
          <a:p>
            <a:endParaRPr lang="en-IN" dirty="0"/>
          </a:p>
        </p:txBody>
      </p:sp>
    </p:spTree>
    <p:extLst>
      <p:ext uri="{BB962C8B-B14F-4D97-AF65-F5344CB8AC3E}">
        <p14:creationId xmlns:p14="http://schemas.microsoft.com/office/powerpoint/2010/main" val="12293319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2DFD-66A9-61BF-86B4-4AA71BD29825}"/>
              </a:ext>
            </a:extLst>
          </p:cNvPr>
          <p:cNvSpPr>
            <a:spLocks noGrp="1"/>
          </p:cNvSpPr>
          <p:nvPr>
            <p:ph type="title"/>
          </p:nvPr>
        </p:nvSpPr>
        <p:spPr/>
        <p:txBody>
          <a:bodyPr/>
          <a:lstStyle/>
          <a:p>
            <a:r>
              <a:rPr lang="en-US" dirty="0"/>
              <a:t>Position</a:t>
            </a:r>
            <a:endParaRPr lang="en-IN" dirty="0"/>
          </a:p>
        </p:txBody>
      </p:sp>
      <p:sp>
        <p:nvSpPr>
          <p:cNvPr id="3" name="Content Placeholder 2">
            <a:extLst>
              <a:ext uri="{FF2B5EF4-FFF2-40B4-BE49-F238E27FC236}">
                <a16:creationId xmlns:a16="http://schemas.microsoft.com/office/drawing/2014/main" id="{23D1B152-DFA2-0DCB-A9E6-D53CF78CA109}"/>
              </a:ext>
            </a:extLst>
          </p:cNvPr>
          <p:cNvSpPr>
            <a:spLocks noGrp="1"/>
          </p:cNvSpPr>
          <p:nvPr>
            <p:ph idx="1"/>
          </p:nvPr>
        </p:nvSpPr>
        <p:spPr/>
        <p:txBody>
          <a:bodyPr>
            <a:normAutofit/>
          </a:bodyPr>
          <a:lstStyle/>
          <a:p>
            <a:r>
              <a:rPr lang="en-US" dirty="0"/>
              <a:t>Position defines where a </a:t>
            </a:r>
            <a:r>
              <a:rPr lang="en-US" dirty="0" err="1"/>
              <a:t>GameObject</a:t>
            </a:r>
            <a:r>
              <a:rPr lang="en-US" dirty="0"/>
              <a:t> is in the scene, based on its coordinates (x, y, z).</a:t>
            </a:r>
          </a:p>
          <a:p>
            <a:r>
              <a:rPr lang="en-US" dirty="0" err="1"/>
              <a:t>transform.position</a:t>
            </a:r>
            <a:r>
              <a:rPr lang="en-US" dirty="0"/>
              <a:t> = new Vector3(0, 5, -10);</a:t>
            </a:r>
          </a:p>
          <a:p>
            <a:pPr lvl="2"/>
            <a:r>
              <a:rPr lang="en-US" dirty="0"/>
              <a:t>x = 0 → no movement left or right</a:t>
            </a:r>
          </a:p>
          <a:p>
            <a:pPr lvl="2"/>
            <a:r>
              <a:rPr lang="en-US" dirty="0"/>
              <a:t>y = 5 → 5 units up</a:t>
            </a:r>
          </a:p>
          <a:p>
            <a:pPr lvl="2"/>
            <a:r>
              <a:rPr lang="en-US" dirty="0"/>
              <a:t>z = -10 → 10 units backward</a:t>
            </a:r>
          </a:p>
          <a:p>
            <a:r>
              <a:rPr lang="en-IN" dirty="0"/>
              <a:t>We can change the position of </a:t>
            </a:r>
            <a:r>
              <a:rPr lang="en-IN" dirty="0" err="1"/>
              <a:t>GameObject</a:t>
            </a:r>
            <a:r>
              <a:rPr lang="en-IN" dirty="0"/>
              <a:t> in a different ways;</a:t>
            </a:r>
          </a:p>
          <a:p>
            <a:pPr lvl="2"/>
            <a:r>
              <a:rPr lang="en-IN" dirty="0" err="1"/>
              <a:t>Transform.position</a:t>
            </a:r>
            <a:r>
              <a:rPr lang="en-IN" dirty="0"/>
              <a:t> += new vector3(1,0,0)</a:t>
            </a:r>
          </a:p>
          <a:p>
            <a:pPr lvl="2"/>
            <a:r>
              <a:rPr lang="en-IN" dirty="0" err="1"/>
              <a:t>Transform.posttion</a:t>
            </a:r>
            <a:r>
              <a:rPr lang="en-IN" dirty="0"/>
              <a:t>  = </a:t>
            </a:r>
            <a:r>
              <a:rPr lang="en-IN" dirty="0" err="1"/>
              <a:t>transform.up</a:t>
            </a:r>
            <a:r>
              <a:rPr lang="en-IN" dirty="0"/>
              <a:t>/forward/right * speed</a:t>
            </a:r>
          </a:p>
          <a:p>
            <a:pPr lvl="2"/>
            <a:r>
              <a:rPr lang="en-IN" dirty="0" err="1"/>
              <a:t>Transform.Translate</a:t>
            </a:r>
            <a:r>
              <a:rPr lang="en-IN" dirty="0"/>
              <a:t>(speed,0,0)</a:t>
            </a:r>
          </a:p>
        </p:txBody>
      </p:sp>
    </p:spTree>
    <p:extLst>
      <p:ext uri="{BB962C8B-B14F-4D97-AF65-F5344CB8AC3E}">
        <p14:creationId xmlns:p14="http://schemas.microsoft.com/office/powerpoint/2010/main" val="36870463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1BC7-A38F-4F08-A80E-C8C44762EB78}"/>
              </a:ext>
            </a:extLst>
          </p:cNvPr>
          <p:cNvSpPr>
            <a:spLocks noGrp="1"/>
          </p:cNvSpPr>
          <p:nvPr>
            <p:ph type="title"/>
          </p:nvPr>
        </p:nvSpPr>
        <p:spPr/>
        <p:txBody>
          <a:bodyPr/>
          <a:lstStyle/>
          <a:p>
            <a:r>
              <a:rPr lang="en-IN" dirty="0"/>
              <a:t>ROTATION — Rotating Objects</a:t>
            </a:r>
          </a:p>
        </p:txBody>
      </p:sp>
      <p:sp>
        <p:nvSpPr>
          <p:cNvPr id="3" name="Content Placeholder 2">
            <a:extLst>
              <a:ext uri="{FF2B5EF4-FFF2-40B4-BE49-F238E27FC236}">
                <a16:creationId xmlns:a16="http://schemas.microsoft.com/office/drawing/2014/main" id="{1063707D-2962-F414-EF16-EF6343A86F73}"/>
              </a:ext>
            </a:extLst>
          </p:cNvPr>
          <p:cNvSpPr>
            <a:spLocks noGrp="1"/>
          </p:cNvSpPr>
          <p:nvPr>
            <p:ph idx="1"/>
          </p:nvPr>
        </p:nvSpPr>
        <p:spPr/>
        <p:txBody>
          <a:bodyPr/>
          <a:lstStyle/>
          <a:p>
            <a:r>
              <a:rPr lang="en-US" dirty="0"/>
              <a:t>Rotation means turning your object.</a:t>
            </a:r>
          </a:p>
          <a:p>
            <a:pPr lvl="1"/>
            <a:r>
              <a:rPr lang="en-US" dirty="0"/>
              <a:t>Like spinning a wheel or turning your head left and right.</a:t>
            </a:r>
          </a:p>
          <a:p>
            <a:r>
              <a:rPr lang="en-US" dirty="0"/>
              <a:t>We can rotate the </a:t>
            </a:r>
            <a:r>
              <a:rPr lang="en-US" dirty="0" err="1"/>
              <a:t>GameObject</a:t>
            </a:r>
            <a:r>
              <a:rPr lang="en-US" dirty="0"/>
              <a:t> by using Transform</a:t>
            </a:r>
          </a:p>
          <a:p>
            <a:pPr lvl="1"/>
            <a:r>
              <a:rPr lang="en-IN" dirty="0" err="1"/>
              <a:t>transform.Rotate</a:t>
            </a:r>
            <a:r>
              <a:rPr lang="en-IN" dirty="0"/>
              <a:t>(x-value, y-value, x-value);</a:t>
            </a:r>
          </a:p>
          <a:p>
            <a:r>
              <a:rPr lang="en-IN" dirty="0"/>
              <a:t>Note:-</a:t>
            </a:r>
          </a:p>
          <a:p>
            <a:pPr lvl="1"/>
            <a:r>
              <a:rPr lang="en-US" dirty="0"/>
              <a:t>Unity stores rotations as quaternions internally to avoid gimbal lock, but you interact with Euler angles in the Inspector.</a:t>
            </a:r>
            <a:endParaRPr lang="en-IN" dirty="0"/>
          </a:p>
        </p:txBody>
      </p:sp>
    </p:spTree>
    <p:extLst>
      <p:ext uri="{BB962C8B-B14F-4D97-AF65-F5344CB8AC3E}">
        <p14:creationId xmlns:p14="http://schemas.microsoft.com/office/powerpoint/2010/main" val="4696704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5297-70F8-1178-2198-990EF2F919D2}"/>
              </a:ext>
            </a:extLst>
          </p:cNvPr>
          <p:cNvSpPr>
            <a:spLocks noGrp="1"/>
          </p:cNvSpPr>
          <p:nvPr>
            <p:ph type="title"/>
          </p:nvPr>
        </p:nvSpPr>
        <p:spPr/>
        <p:txBody>
          <a:bodyPr/>
          <a:lstStyle/>
          <a:p>
            <a:r>
              <a:rPr lang="en-IN" dirty="0"/>
              <a:t>SCALE — Resizing Objects</a:t>
            </a:r>
          </a:p>
        </p:txBody>
      </p:sp>
      <p:sp>
        <p:nvSpPr>
          <p:cNvPr id="3" name="Content Placeholder 2">
            <a:extLst>
              <a:ext uri="{FF2B5EF4-FFF2-40B4-BE49-F238E27FC236}">
                <a16:creationId xmlns:a16="http://schemas.microsoft.com/office/drawing/2014/main" id="{B0088B19-2558-43D7-3554-13E43A801ABE}"/>
              </a:ext>
            </a:extLst>
          </p:cNvPr>
          <p:cNvSpPr>
            <a:spLocks noGrp="1"/>
          </p:cNvSpPr>
          <p:nvPr>
            <p:ph idx="1"/>
          </p:nvPr>
        </p:nvSpPr>
        <p:spPr/>
        <p:txBody>
          <a:bodyPr/>
          <a:lstStyle/>
          <a:p>
            <a:r>
              <a:rPr lang="en-US" dirty="0"/>
              <a:t>Scale changes how large or small an object appears along each axis.</a:t>
            </a:r>
          </a:p>
          <a:p>
            <a:r>
              <a:rPr lang="en-US" dirty="0"/>
              <a:t>Example:</a:t>
            </a:r>
          </a:p>
          <a:p>
            <a:pPr lvl="1"/>
            <a:r>
              <a:rPr lang="en-US" dirty="0"/>
              <a:t>Scale (1, 1, 1) → Default size.</a:t>
            </a:r>
          </a:p>
          <a:p>
            <a:pPr lvl="1"/>
            <a:r>
              <a:rPr lang="en-US" dirty="0"/>
              <a:t>Scale (2, 2, 2) → Double size.</a:t>
            </a:r>
          </a:p>
          <a:p>
            <a:pPr lvl="1"/>
            <a:r>
              <a:rPr lang="en-US" dirty="0"/>
              <a:t>Scale (1, 2, 1) → Stretched vertically.</a:t>
            </a:r>
          </a:p>
          <a:p>
            <a:r>
              <a:rPr lang="en-US" dirty="0"/>
              <a:t>If we  set scale to 0 — the object disappears.</a:t>
            </a:r>
          </a:p>
          <a:p>
            <a:r>
              <a:rPr lang="en-US" dirty="0"/>
              <a:t>We can set the scale by using </a:t>
            </a:r>
          </a:p>
          <a:p>
            <a:pPr lvl="1"/>
            <a:r>
              <a:rPr lang="en-US" dirty="0" err="1"/>
              <a:t>Transform.localScale</a:t>
            </a:r>
            <a:r>
              <a:rPr lang="en-US" dirty="0"/>
              <a:t>(</a:t>
            </a:r>
            <a:r>
              <a:rPr lang="en-US" dirty="0" err="1"/>
              <a:t>x,y,z</a:t>
            </a:r>
            <a:r>
              <a:rPr lang="en-US" dirty="0"/>
              <a:t>)</a:t>
            </a:r>
          </a:p>
          <a:p>
            <a:endParaRPr lang="en-IN" dirty="0"/>
          </a:p>
        </p:txBody>
      </p:sp>
    </p:spTree>
    <p:extLst>
      <p:ext uri="{BB962C8B-B14F-4D97-AF65-F5344CB8AC3E}">
        <p14:creationId xmlns:p14="http://schemas.microsoft.com/office/powerpoint/2010/main" val="28886750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9690F0-A70A-757F-D9A4-8A5478CA8896}"/>
              </a:ext>
            </a:extLst>
          </p:cNvPr>
          <p:cNvSpPr>
            <a:spLocks noGrp="1"/>
          </p:cNvSpPr>
          <p:nvPr>
            <p:ph type="ctrTitle"/>
          </p:nvPr>
        </p:nvSpPr>
        <p:spPr>
          <a:xfrm>
            <a:off x="838199" y="1093788"/>
            <a:ext cx="10506455" cy="2967208"/>
          </a:xfrm>
        </p:spPr>
        <p:txBody>
          <a:bodyPr>
            <a:normAutofit/>
          </a:bodyPr>
          <a:lstStyle/>
          <a:p>
            <a:pPr algn="l"/>
            <a:r>
              <a:rPr lang="en-US" sz="8000" b="0" i="0">
                <a:effectLst/>
                <a:latin typeface="Udemy Sans"/>
              </a:rPr>
              <a:t>Instantiating Random Objects in C#</a:t>
            </a:r>
            <a:endParaRPr lang="en-IN" sz="8000"/>
          </a:p>
        </p:txBody>
      </p:sp>
      <p:sp>
        <p:nvSpPr>
          <p:cNvPr id="25" name="Rectangle 24">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11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C12C5-27D6-79ED-E596-B371127F1AA9}"/>
              </a:ext>
            </a:extLst>
          </p:cNvPr>
          <p:cNvSpPr>
            <a:spLocks noGrp="1"/>
          </p:cNvSpPr>
          <p:nvPr>
            <p:ph type="title"/>
          </p:nvPr>
        </p:nvSpPr>
        <p:spPr/>
        <p:txBody>
          <a:bodyPr/>
          <a:lstStyle/>
          <a:p>
            <a:r>
              <a:rPr lang="en-US" b="1" dirty="0"/>
              <a:t>What is Instantiating</a:t>
            </a:r>
            <a:r>
              <a:rPr lang="en-US" dirty="0"/>
              <a:t> </a:t>
            </a:r>
            <a:r>
              <a:rPr lang="en-US" b="1" dirty="0"/>
              <a:t> ?</a:t>
            </a:r>
            <a:endParaRPr lang="en-IN" dirty="0"/>
          </a:p>
        </p:txBody>
      </p:sp>
      <p:sp>
        <p:nvSpPr>
          <p:cNvPr id="3" name="Content Placeholder 2">
            <a:extLst>
              <a:ext uri="{FF2B5EF4-FFF2-40B4-BE49-F238E27FC236}">
                <a16:creationId xmlns:a16="http://schemas.microsoft.com/office/drawing/2014/main" id="{A94A60BC-FA65-3905-0001-740F06DBD7E4}"/>
              </a:ext>
            </a:extLst>
          </p:cNvPr>
          <p:cNvSpPr>
            <a:spLocks noGrp="1"/>
          </p:cNvSpPr>
          <p:nvPr>
            <p:ph idx="1"/>
          </p:nvPr>
        </p:nvSpPr>
        <p:spPr/>
        <p:txBody>
          <a:bodyPr>
            <a:normAutofit fontScale="85000" lnSpcReduction="10000"/>
          </a:bodyPr>
          <a:lstStyle/>
          <a:p>
            <a:r>
              <a:rPr lang="en-US" dirty="0"/>
              <a:t>Instantiating means creating a new copy of something — usually a Prefab or an existing </a:t>
            </a:r>
            <a:r>
              <a:rPr lang="en-US" dirty="0" err="1"/>
              <a:t>GameObject</a:t>
            </a:r>
            <a:r>
              <a:rPr lang="en-US" dirty="0"/>
              <a:t> — while your game is running (at runtime).</a:t>
            </a:r>
          </a:p>
          <a:p>
            <a:r>
              <a:rPr lang="en-US" dirty="0"/>
              <a:t>Example</a:t>
            </a:r>
          </a:p>
          <a:p>
            <a:pPr lvl="1"/>
            <a:r>
              <a:rPr lang="en-US" dirty="0"/>
              <a:t>bullets, enemies, items, or effects during gameplay</a:t>
            </a:r>
          </a:p>
          <a:p>
            <a:r>
              <a:rPr lang="en-US" dirty="0"/>
              <a:t>We can use Instantiate keyword to create a new instance or </a:t>
            </a:r>
            <a:r>
              <a:rPr lang="en-US" dirty="0" err="1"/>
              <a:t>GameObject</a:t>
            </a:r>
            <a:r>
              <a:rPr lang="en-US" dirty="0"/>
              <a:t> during runtime</a:t>
            </a:r>
          </a:p>
          <a:p>
            <a:r>
              <a:rPr lang="en-IN" dirty="0"/>
              <a:t>Instantiate(prefab, position, rotation);</a:t>
            </a:r>
          </a:p>
          <a:p>
            <a:pPr marL="914400" lvl="2" indent="0">
              <a:buNone/>
            </a:pPr>
            <a:r>
              <a:rPr lang="en-US" dirty="0"/>
              <a:t>prefab: The </a:t>
            </a:r>
            <a:r>
              <a:rPr lang="en-US" dirty="0" err="1"/>
              <a:t>GameObject</a:t>
            </a:r>
            <a:r>
              <a:rPr lang="en-US" dirty="0"/>
              <a:t> you want to copy .</a:t>
            </a:r>
          </a:p>
          <a:p>
            <a:pPr marL="914400" lvl="2" indent="0">
              <a:buNone/>
            </a:pPr>
            <a:r>
              <a:rPr lang="en-US" dirty="0"/>
              <a:t>position: Where in the Game Scene you want the new object to appear (Vector3).</a:t>
            </a:r>
          </a:p>
          <a:p>
            <a:pPr marL="914400" lvl="2" indent="0">
              <a:buNone/>
            </a:pPr>
            <a:r>
              <a:rPr lang="en-US" dirty="0"/>
              <a:t>rotation: The rotation you want the new object to have .</a:t>
            </a:r>
            <a:br>
              <a:rPr lang="en-US" dirty="0"/>
            </a:br>
            <a:r>
              <a:rPr lang="en-US" dirty="0"/>
              <a:t>Note:-</a:t>
            </a:r>
          </a:p>
          <a:p>
            <a:pPr marL="914400" lvl="2" indent="0">
              <a:buNone/>
            </a:pPr>
            <a:r>
              <a:rPr lang="en-US" dirty="0" err="1"/>
              <a:t>Quaternion.identity</a:t>
            </a:r>
            <a:r>
              <a:rPr lang="en-US" dirty="0"/>
              <a:t> </a:t>
            </a:r>
            <a:r>
              <a:rPr lang="en-US" dirty="0">
                <a:sym typeface="Wingdings" panose="05000000000000000000" pitchFamily="2" charset="2"/>
              </a:rPr>
              <a:t> no rotation if you want use rotation use </a:t>
            </a:r>
            <a:r>
              <a:rPr lang="en-US" dirty="0" err="1">
                <a:sym typeface="Wingdings" panose="05000000000000000000" pitchFamily="2" charset="2"/>
              </a:rPr>
              <a:t>Transform.rotation</a:t>
            </a:r>
            <a:r>
              <a:rPr lang="en-US" dirty="0">
                <a:sym typeface="Wingdings" panose="05000000000000000000" pitchFamily="2" charset="2"/>
              </a:rPr>
              <a:t>(</a:t>
            </a:r>
            <a:r>
              <a:rPr lang="en-US" dirty="0" err="1">
                <a:sym typeface="Wingdings" panose="05000000000000000000" pitchFamily="2" charset="2"/>
              </a:rPr>
              <a:t>x,y,z</a:t>
            </a:r>
            <a:r>
              <a:rPr lang="en-US" dirty="0">
                <a:sym typeface="Wingdings" panose="05000000000000000000" pitchFamily="2" charset="2"/>
              </a:rPr>
              <a:t>)</a:t>
            </a:r>
            <a:br>
              <a:rPr lang="en-US" dirty="0">
                <a:sym typeface="Wingdings" panose="05000000000000000000" pitchFamily="2" charset="2"/>
              </a:rPr>
            </a:br>
            <a:r>
              <a:rPr lang="en-US" dirty="0">
                <a:sym typeface="Wingdings" panose="05000000000000000000" pitchFamily="2" charset="2"/>
              </a:rPr>
              <a:t>Note:-</a:t>
            </a:r>
          </a:p>
          <a:p>
            <a:pPr marL="914400" lvl="2" indent="0">
              <a:buNone/>
            </a:pPr>
            <a:r>
              <a:rPr lang="en-US" dirty="0" err="1">
                <a:sym typeface="Wingdings" panose="05000000000000000000" pitchFamily="2" charset="2"/>
              </a:rPr>
              <a:t>Random.range</a:t>
            </a:r>
            <a:r>
              <a:rPr lang="en-US" dirty="0">
                <a:sym typeface="Wingdings" panose="05000000000000000000" pitchFamily="2" charset="2"/>
              </a:rPr>
              <a:t>(</a:t>
            </a:r>
            <a:r>
              <a:rPr lang="en-US" dirty="0" err="1">
                <a:sym typeface="Wingdings" panose="05000000000000000000" pitchFamily="2" charset="2"/>
              </a:rPr>
              <a:t>min,max</a:t>
            </a:r>
            <a:r>
              <a:rPr lang="en-US" dirty="0">
                <a:sym typeface="Wingdings" panose="05000000000000000000" pitchFamily="2" charset="2"/>
              </a:rPr>
              <a:t>) to generate random number</a:t>
            </a:r>
            <a:endParaRPr lang="en-IN" dirty="0"/>
          </a:p>
        </p:txBody>
      </p:sp>
    </p:spTree>
    <p:extLst>
      <p:ext uri="{BB962C8B-B14F-4D97-AF65-F5344CB8AC3E}">
        <p14:creationId xmlns:p14="http://schemas.microsoft.com/office/powerpoint/2010/main" val="10274934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D5A5D9-B982-254F-702B-41118EB66571}"/>
              </a:ext>
            </a:extLst>
          </p:cNvPr>
          <p:cNvSpPr>
            <a:spLocks noGrp="1"/>
          </p:cNvSpPr>
          <p:nvPr>
            <p:ph type="ctrTitle"/>
          </p:nvPr>
        </p:nvSpPr>
        <p:spPr>
          <a:xfrm>
            <a:off x="838199" y="1093788"/>
            <a:ext cx="10506455" cy="2967208"/>
          </a:xfrm>
        </p:spPr>
        <p:txBody>
          <a:bodyPr>
            <a:normAutofit/>
          </a:bodyPr>
          <a:lstStyle/>
          <a:p>
            <a:pPr algn="l"/>
            <a:r>
              <a:rPr lang="en-US" sz="6800" b="0" i="0">
                <a:effectLst/>
                <a:latin typeface="Udemy Sans"/>
              </a:rPr>
              <a:t>Repeatedly Calling Funtions with InvokeRepeating</a:t>
            </a:r>
            <a:endParaRPr lang="en-IN" sz="6800"/>
          </a:p>
        </p:txBody>
      </p:sp>
      <p:sp>
        <p:nvSpPr>
          <p:cNvPr id="30" name="Rectangle 2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499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8804-4361-9471-B15B-0E4171068056}"/>
              </a:ext>
            </a:extLst>
          </p:cNvPr>
          <p:cNvSpPr>
            <a:spLocks noGrp="1"/>
          </p:cNvSpPr>
          <p:nvPr>
            <p:ph type="title"/>
          </p:nvPr>
        </p:nvSpPr>
        <p:spPr/>
        <p:txBody>
          <a:bodyPr/>
          <a:lstStyle/>
          <a:p>
            <a:r>
              <a:rPr lang="en-IN"/>
              <a:t>What is InvokeRepeating?</a:t>
            </a:r>
            <a:endParaRPr lang="en-IN" dirty="0"/>
          </a:p>
        </p:txBody>
      </p:sp>
      <p:sp>
        <p:nvSpPr>
          <p:cNvPr id="3" name="Content Placeholder 2">
            <a:extLst>
              <a:ext uri="{FF2B5EF4-FFF2-40B4-BE49-F238E27FC236}">
                <a16:creationId xmlns:a16="http://schemas.microsoft.com/office/drawing/2014/main" id="{38788576-B926-4323-B50C-2BC5EBF94320}"/>
              </a:ext>
            </a:extLst>
          </p:cNvPr>
          <p:cNvSpPr>
            <a:spLocks noGrp="1"/>
          </p:cNvSpPr>
          <p:nvPr>
            <p:ph idx="1"/>
          </p:nvPr>
        </p:nvSpPr>
        <p:spPr/>
        <p:txBody>
          <a:bodyPr/>
          <a:lstStyle/>
          <a:p>
            <a:r>
              <a:rPr lang="en-US" dirty="0" err="1"/>
              <a:t>InvokeRepeating</a:t>
            </a:r>
            <a:r>
              <a:rPr lang="en-US" dirty="0"/>
              <a:t> is a built in unity methods which are used to call a  specific method </a:t>
            </a:r>
            <a:r>
              <a:rPr lang="en-IN" dirty="0"/>
              <a:t>repeatedly</a:t>
            </a:r>
            <a:r>
              <a:rPr lang="en-US" dirty="0"/>
              <a:t> at certain time interval.</a:t>
            </a:r>
          </a:p>
          <a:p>
            <a:r>
              <a:rPr lang="en-IN" dirty="0"/>
              <a:t>We can perform this </a:t>
            </a:r>
          </a:p>
          <a:p>
            <a:endParaRPr lang="en-IN" dirty="0"/>
          </a:p>
        </p:txBody>
      </p:sp>
      <p:graphicFrame>
        <p:nvGraphicFramePr>
          <p:cNvPr id="5" name="Table 4">
            <a:extLst>
              <a:ext uri="{FF2B5EF4-FFF2-40B4-BE49-F238E27FC236}">
                <a16:creationId xmlns:a16="http://schemas.microsoft.com/office/drawing/2014/main" id="{B01E39A3-99B8-1327-7743-3B613E9CD3C4}"/>
              </a:ext>
            </a:extLst>
          </p:cNvPr>
          <p:cNvGraphicFramePr>
            <a:graphicFrameLocks noGrp="1"/>
          </p:cNvGraphicFramePr>
          <p:nvPr/>
        </p:nvGraphicFramePr>
        <p:xfrm>
          <a:off x="957943" y="3433763"/>
          <a:ext cx="10515600" cy="2743200"/>
        </p:xfrm>
        <a:graphic>
          <a:graphicData uri="http://schemas.openxmlformats.org/drawingml/2006/table">
            <a:tbl>
              <a:tblPr>
                <a:tableStyleId>{775DCB02-9BB8-47FD-8907-85C794F793BA}</a:tableStyleId>
              </a:tblPr>
              <a:tblGrid>
                <a:gridCol w="2628900">
                  <a:extLst>
                    <a:ext uri="{9D8B030D-6E8A-4147-A177-3AD203B41FA5}">
                      <a16:colId xmlns:a16="http://schemas.microsoft.com/office/drawing/2014/main" val="3916574626"/>
                    </a:ext>
                  </a:extLst>
                </a:gridCol>
                <a:gridCol w="2628900">
                  <a:extLst>
                    <a:ext uri="{9D8B030D-6E8A-4147-A177-3AD203B41FA5}">
                      <a16:colId xmlns:a16="http://schemas.microsoft.com/office/drawing/2014/main" val="2036830558"/>
                    </a:ext>
                  </a:extLst>
                </a:gridCol>
                <a:gridCol w="2628900">
                  <a:extLst>
                    <a:ext uri="{9D8B030D-6E8A-4147-A177-3AD203B41FA5}">
                      <a16:colId xmlns:a16="http://schemas.microsoft.com/office/drawing/2014/main" val="3419566512"/>
                    </a:ext>
                  </a:extLst>
                </a:gridCol>
                <a:gridCol w="2628900">
                  <a:extLst>
                    <a:ext uri="{9D8B030D-6E8A-4147-A177-3AD203B41FA5}">
                      <a16:colId xmlns:a16="http://schemas.microsoft.com/office/drawing/2014/main" val="3668329272"/>
                    </a:ext>
                  </a:extLst>
                </a:gridCol>
              </a:tblGrid>
              <a:tr h="0">
                <a:tc>
                  <a:txBody>
                    <a:bodyPr/>
                    <a:lstStyle/>
                    <a:p>
                      <a:r>
                        <a:rPr lang="en-IN" b="1" dirty="0"/>
                        <a:t>Method Name</a:t>
                      </a:r>
                      <a:endParaRPr lang="en-IN" dirty="0"/>
                    </a:p>
                  </a:txBody>
                  <a:tcPr anchor="ctr"/>
                </a:tc>
                <a:tc>
                  <a:txBody>
                    <a:bodyPr/>
                    <a:lstStyle/>
                    <a:p>
                      <a:r>
                        <a:rPr lang="en-IN" b="1" dirty="0"/>
                        <a:t>Purpose</a:t>
                      </a:r>
                      <a:endParaRPr lang="en-IN" dirty="0"/>
                    </a:p>
                  </a:txBody>
                  <a:tcPr anchor="ctr"/>
                </a:tc>
                <a:tc>
                  <a:txBody>
                    <a:bodyPr/>
                    <a:lstStyle/>
                    <a:p>
                      <a:r>
                        <a:rPr lang="en-IN" b="1"/>
                        <a:t>Syntax</a:t>
                      </a:r>
                      <a:endParaRPr lang="en-IN"/>
                    </a:p>
                  </a:txBody>
                  <a:tcPr anchor="ctr"/>
                </a:tc>
                <a:tc>
                  <a:txBody>
                    <a:bodyPr/>
                    <a:lstStyle/>
                    <a:p>
                      <a:r>
                        <a:rPr lang="en-IN" b="1"/>
                        <a:t>Example</a:t>
                      </a:r>
                      <a:endParaRPr lang="en-IN"/>
                    </a:p>
                  </a:txBody>
                  <a:tcPr anchor="ctr"/>
                </a:tc>
                <a:extLst>
                  <a:ext uri="{0D108BD9-81ED-4DB2-BD59-A6C34878D82A}">
                    <a16:rowId xmlns:a16="http://schemas.microsoft.com/office/drawing/2014/main" val="2426181650"/>
                  </a:ext>
                </a:extLst>
              </a:tr>
              <a:tr h="0">
                <a:tc>
                  <a:txBody>
                    <a:bodyPr/>
                    <a:lstStyle/>
                    <a:p>
                      <a:r>
                        <a:rPr lang="en-IN"/>
                        <a:t>InvokeRepeating</a:t>
                      </a:r>
                    </a:p>
                  </a:txBody>
                  <a:tcPr anchor="ctr"/>
                </a:tc>
                <a:tc>
                  <a:txBody>
                    <a:bodyPr/>
                    <a:lstStyle/>
                    <a:p>
                      <a:r>
                        <a:rPr lang="en-US"/>
                        <a:t>Repeatedly calls a method after a delay, at set intervals</a:t>
                      </a:r>
                    </a:p>
                  </a:txBody>
                  <a:tcPr anchor="ctr"/>
                </a:tc>
                <a:tc>
                  <a:txBody>
                    <a:bodyPr/>
                    <a:lstStyle/>
                    <a:p>
                      <a:r>
                        <a:rPr lang="en-IN" dirty="0" err="1"/>
                        <a:t>InvokeRepeating</a:t>
                      </a:r>
                      <a:r>
                        <a:rPr lang="en-IN" dirty="0"/>
                        <a:t>("</a:t>
                      </a:r>
                      <a:r>
                        <a:rPr lang="en-IN" dirty="0" err="1"/>
                        <a:t>MethodName</a:t>
                      </a:r>
                      <a:r>
                        <a:rPr lang="en-IN" dirty="0"/>
                        <a:t>", delay, </a:t>
                      </a:r>
                      <a:r>
                        <a:rPr lang="en-IN" dirty="0" err="1"/>
                        <a:t>repeatRate</a:t>
                      </a:r>
                      <a:r>
                        <a:rPr lang="en-IN" dirty="0"/>
                        <a:t>);</a:t>
                      </a:r>
                    </a:p>
                  </a:txBody>
                  <a:tcPr anchor="ctr"/>
                </a:tc>
                <a:tc>
                  <a:txBody>
                    <a:bodyPr/>
                    <a:lstStyle/>
                    <a:p>
                      <a:r>
                        <a:rPr lang="en-US"/>
                        <a:t>InvokeRepeating("SpawnEnemy", 2f, 5f); (Calls SpawnEnemy after 2 seconds, then every 5 seconds)</a:t>
                      </a:r>
                    </a:p>
                  </a:txBody>
                  <a:tcPr anchor="ctr"/>
                </a:tc>
                <a:extLst>
                  <a:ext uri="{0D108BD9-81ED-4DB2-BD59-A6C34878D82A}">
                    <a16:rowId xmlns:a16="http://schemas.microsoft.com/office/drawing/2014/main" val="1941786341"/>
                  </a:ext>
                </a:extLst>
              </a:tr>
              <a:tr h="0">
                <a:tc>
                  <a:txBody>
                    <a:bodyPr/>
                    <a:lstStyle/>
                    <a:p>
                      <a:r>
                        <a:rPr lang="en-IN"/>
                        <a:t>CancelInvoke</a:t>
                      </a:r>
                    </a:p>
                  </a:txBody>
                  <a:tcPr anchor="ctr"/>
                </a:tc>
                <a:tc>
                  <a:txBody>
                    <a:bodyPr/>
                    <a:lstStyle/>
                    <a:p>
                      <a:r>
                        <a:rPr lang="en-US" dirty="0"/>
                        <a:t>Stops the repeating calls of a method</a:t>
                      </a:r>
                    </a:p>
                  </a:txBody>
                  <a:tcPr anchor="ctr"/>
                </a:tc>
                <a:tc>
                  <a:txBody>
                    <a:bodyPr/>
                    <a:lstStyle/>
                    <a:p>
                      <a:r>
                        <a:rPr lang="en-IN" dirty="0" err="1"/>
                        <a:t>CancelInvoke</a:t>
                      </a:r>
                      <a:r>
                        <a:rPr lang="en-IN" dirty="0"/>
                        <a:t>("</a:t>
                      </a:r>
                      <a:r>
                        <a:rPr lang="en-IN" dirty="0" err="1"/>
                        <a:t>MethodName</a:t>
                      </a:r>
                      <a:r>
                        <a:rPr lang="en-IN" dirty="0"/>
                        <a:t>");</a:t>
                      </a:r>
                    </a:p>
                  </a:txBody>
                  <a:tcPr anchor="ctr"/>
                </a:tc>
                <a:tc>
                  <a:txBody>
                    <a:bodyPr/>
                    <a:lstStyle/>
                    <a:p>
                      <a:r>
                        <a:rPr lang="en-US" dirty="0" err="1"/>
                        <a:t>CancelInvoke</a:t>
                      </a:r>
                      <a:r>
                        <a:rPr lang="en-US" dirty="0"/>
                        <a:t>("</a:t>
                      </a:r>
                      <a:r>
                        <a:rPr lang="en-US" dirty="0" err="1"/>
                        <a:t>SpawnEnemy</a:t>
                      </a:r>
                      <a:r>
                        <a:rPr lang="en-US" dirty="0"/>
                        <a:t>"); (Stops repeating calls to </a:t>
                      </a:r>
                      <a:r>
                        <a:rPr lang="en-US" dirty="0" err="1"/>
                        <a:t>SpawnEnemy</a:t>
                      </a:r>
                      <a:r>
                        <a:rPr lang="en-US" dirty="0"/>
                        <a:t>)</a:t>
                      </a:r>
                    </a:p>
                  </a:txBody>
                  <a:tcPr anchor="ctr"/>
                </a:tc>
                <a:extLst>
                  <a:ext uri="{0D108BD9-81ED-4DB2-BD59-A6C34878D82A}">
                    <a16:rowId xmlns:a16="http://schemas.microsoft.com/office/drawing/2014/main" val="3801175244"/>
                  </a:ext>
                </a:extLst>
              </a:tr>
            </a:tbl>
          </a:graphicData>
        </a:graphic>
      </p:graphicFrame>
    </p:spTree>
    <p:extLst>
      <p:ext uri="{BB962C8B-B14F-4D97-AF65-F5344CB8AC3E}">
        <p14:creationId xmlns:p14="http://schemas.microsoft.com/office/powerpoint/2010/main" val="30598195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54676E-8063-9D15-3F84-14EEDC59C435}"/>
              </a:ext>
            </a:extLst>
          </p:cNvPr>
          <p:cNvSpPr>
            <a:spLocks noGrp="1"/>
          </p:cNvSpPr>
          <p:nvPr>
            <p:ph type="ctrTitle"/>
          </p:nvPr>
        </p:nvSpPr>
        <p:spPr>
          <a:xfrm>
            <a:off x="838199" y="1093788"/>
            <a:ext cx="10506455" cy="2967208"/>
          </a:xfrm>
        </p:spPr>
        <p:txBody>
          <a:bodyPr>
            <a:normAutofit/>
          </a:bodyPr>
          <a:lstStyle/>
          <a:p>
            <a:pPr algn="l"/>
            <a:r>
              <a:rPr lang="en-US" sz="8000" b="0" i="0" dirty="0">
                <a:effectLst/>
                <a:latin typeface="Udemy Sans"/>
              </a:rPr>
              <a:t>Working With </a:t>
            </a:r>
            <a:r>
              <a:rPr lang="en-US" sz="8000" b="0" i="0" dirty="0" err="1">
                <a:effectLst/>
                <a:latin typeface="Udemy Sans"/>
              </a:rPr>
              <a:t>KeyBoard</a:t>
            </a:r>
            <a:r>
              <a:rPr lang="en-US" sz="8000" b="0" i="0" dirty="0">
                <a:effectLst/>
                <a:latin typeface="Udemy Sans"/>
              </a:rPr>
              <a:t> Inputs in Unity</a:t>
            </a:r>
            <a:endParaRPr lang="en-IN" sz="8000" dirty="0"/>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64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A84F8-E5F3-5B80-AA2B-03F42F7C4D20}"/>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sz="3600" b="1"/>
              <a:t>Types of Keyboard Input</a:t>
            </a:r>
          </a:p>
        </p:txBody>
      </p:sp>
      <p:graphicFrame>
        <p:nvGraphicFramePr>
          <p:cNvPr id="7" name="Content Placeholder 6">
            <a:extLst>
              <a:ext uri="{FF2B5EF4-FFF2-40B4-BE49-F238E27FC236}">
                <a16:creationId xmlns:a16="http://schemas.microsoft.com/office/drawing/2014/main" id="{1EAA69D4-22AF-A8A9-CE2E-D3066DA4A88D}"/>
              </a:ext>
            </a:extLst>
          </p:cNvPr>
          <p:cNvGraphicFramePr>
            <a:graphicFrameLocks noGrp="1"/>
          </p:cNvGraphicFramePr>
          <p:nvPr>
            <p:ph idx="1"/>
          </p:nvPr>
        </p:nvGraphicFramePr>
        <p:xfrm>
          <a:off x="1023257" y="1360713"/>
          <a:ext cx="10076784" cy="5170714"/>
        </p:xfrm>
        <a:graphic>
          <a:graphicData uri="http://schemas.openxmlformats.org/drawingml/2006/table">
            <a:tbl>
              <a:tblPr>
                <a:tableStyleId>{775DCB02-9BB8-47FD-8907-85C794F793BA}</a:tableStyleId>
              </a:tblPr>
              <a:tblGrid>
                <a:gridCol w="3358928">
                  <a:extLst>
                    <a:ext uri="{9D8B030D-6E8A-4147-A177-3AD203B41FA5}">
                      <a16:colId xmlns:a16="http://schemas.microsoft.com/office/drawing/2014/main" val="2529776492"/>
                    </a:ext>
                  </a:extLst>
                </a:gridCol>
                <a:gridCol w="3358928">
                  <a:extLst>
                    <a:ext uri="{9D8B030D-6E8A-4147-A177-3AD203B41FA5}">
                      <a16:colId xmlns:a16="http://schemas.microsoft.com/office/drawing/2014/main" val="1155113603"/>
                    </a:ext>
                  </a:extLst>
                </a:gridCol>
                <a:gridCol w="3358928">
                  <a:extLst>
                    <a:ext uri="{9D8B030D-6E8A-4147-A177-3AD203B41FA5}">
                      <a16:colId xmlns:a16="http://schemas.microsoft.com/office/drawing/2014/main" val="713112184"/>
                    </a:ext>
                  </a:extLst>
                </a:gridCol>
              </a:tblGrid>
              <a:tr h="413657">
                <a:tc>
                  <a:txBody>
                    <a:bodyPr/>
                    <a:lstStyle/>
                    <a:p>
                      <a:r>
                        <a:rPr lang="en-IN" sz="1700" b="0"/>
                        <a:t>Input Method</a:t>
                      </a:r>
                    </a:p>
                  </a:txBody>
                  <a:tcPr marL="87027" marR="87027" marT="43513" marB="43513" anchor="ctr"/>
                </a:tc>
                <a:tc>
                  <a:txBody>
                    <a:bodyPr/>
                    <a:lstStyle/>
                    <a:p>
                      <a:r>
                        <a:rPr lang="en-IN" sz="1700" b="0"/>
                        <a:t>Purpose</a:t>
                      </a:r>
                    </a:p>
                  </a:txBody>
                  <a:tcPr marL="87027" marR="87027" marT="43513" marB="43513" anchor="ctr"/>
                </a:tc>
                <a:tc>
                  <a:txBody>
                    <a:bodyPr/>
                    <a:lstStyle/>
                    <a:p>
                      <a:r>
                        <a:rPr lang="en-IN" sz="1700" b="0"/>
                        <a:t>Usage Example</a:t>
                      </a:r>
                    </a:p>
                  </a:txBody>
                  <a:tcPr marL="87027" marR="87027" marT="43513" marB="43513" anchor="ctr"/>
                </a:tc>
                <a:extLst>
                  <a:ext uri="{0D108BD9-81ED-4DB2-BD59-A6C34878D82A}">
                    <a16:rowId xmlns:a16="http://schemas.microsoft.com/office/drawing/2014/main" val="4107861942"/>
                  </a:ext>
                </a:extLst>
              </a:tr>
              <a:tr h="413657">
                <a:tc>
                  <a:txBody>
                    <a:bodyPr/>
                    <a:lstStyle/>
                    <a:p>
                      <a:r>
                        <a:rPr lang="en-IN" sz="1700" b="0"/>
                        <a:t>Input.GetKey()</a:t>
                      </a:r>
                    </a:p>
                  </a:txBody>
                  <a:tcPr marL="87027" marR="87027" marT="43513" marB="43513" anchor="ctr"/>
                </a:tc>
                <a:tc>
                  <a:txBody>
                    <a:bodyPr/>
                    <a:lstStyle/>
                    <a:p>
                      <a:r>
                        <a:rPr lang="en-US" sz="1700" b="0"/>
                        <a:t>Detect if a key is held down</a:t>
                      </a:r>
                    </a:p>
                  </a:txBody>
                  <a:tcPr marL="87027" marR="87027" marT="43513" marB="43513" anchor="ctr"/>
                </a:tc>
                <a:tc>
                  <a:txBody>
                    <a:bodyPr/>
                    <a:lstStyle/>
                    <a:p>
                      <a:r>
                        <a:rPr lang="en-IN" sz="1700" b="0"/>
                        <a:t>Input.GetKey(KeyCode.W)</a:t>
                      </a:r>
                    </a:p>
                  </a:txBody>
                  <a:tcPr marL="87027" marR="87027" marT="43513" marB="43513" anchor="ctr"/>
                </a:tc>
                <a:extLst>
                  <a:ext uri="{0D108BD9-81ED-4DB2-BD59-A6C34878D82A}">
                    <a16:rowId xmlns:a16="http://schemas.microsoft.com/office/drawing/2014/main" val="1574972569"/>
                  </a:ext>
                </a:extLst>
              </a:tr>
              <a:tr h="723900">
                <a:tc>
                  <a:txBody>
                    <a:bodyPr/>
                    <a:lstStyle/>
                    <a:p>
                      <a:r>
                        <a:rPr lang="en-IN" sz="1700" b="0"/>
                        <a:t>Input.GetKeyDown()</a:t>
                      </a:r>
                    </a:p>
                  </a:txBody>
                  <a:tcPr marL="87027" marR="87027" marT="43513" marB="43513" anchor="ctr"/>
                </a:tc>
                <a:tc>
                  <a:txBody>
                    <a:bodyPr/>
                    <a:lstStyle/>
                    <a:p>
                      <a:r>
                        <a:rPr lang="en-US" sz="1700" b="0"/>
                        <a:t>Detect when a key is pressed once</a:t>
                      </a:r>
                    </a:p>
                  </a:txBody>
                  <a:tcPr marL="87027" marR="87027" marT="43513" marB="43513" anchor="ctr"/>
                </a:tc>
                <a:tc>
                  <a:txBody>
                    <a:bodyPr/>
                    <a:lstStyle/>
                    <a:p>
                      <a:r>
                        <a:rPr lang="en-IN" sz="1700" b="0"/>
                        <a:t>Input.GetKeyDown(KeyCode.Space)</a:t>
                      </a:r>
                    </a:p>
                  </a:txBody>
                  <a:tcPr marL="87027" marR="87027" marT="43513" marB="43513" anchor="ctr"/>
                </a:tc>
                <a:extLst>
                  <a:ext uri="{0D108BD9-81ED-4DB2-BD59-A6C34878D82A}">
                    <a16:rowId xmlns:a16="http://schemas.microsoft.com/office/drawing/2014/main" val="1164465880"/>
                  </a:ext>
                </a:extLst>
              </a:tr>
              <a:tr h="723900">
                <a:tc>
                  <a:txBody>
                    <a:bodyPr/>
                    <a:lstStyle/>
                    <a:p>
                      <a:r>
                        <a:rPr lang="en-IN" sz="1700" b="0"/>
                        <a:t>Input.GetKeyUp()</a:t>
                      </a:r>
                    </a:p>
                  </a:txBody>
                  <a:tcPr marL="87027" marR="87027" marT="43513" marB="43513" anchor="ctr"/>
                </a:tc>
                <a:tc>
                  <a:txBody>
                    <a:bodyPr/>
                    <a:lstStyle/>
                    <a:p>
                      <a:r>
                        <a:rPr lang="en-US" sz="1700" b="0"/>
                        <a:t>Detect when a key is released</a:t>
                      </a:r>
                    </a:p>
                  </a:txBody>
                  <a:tcPr marL="87027" marR="87027" marT="43513" marB="43513" anchor="ctr"/>
                </a:tc>
                <a:tc>
                  <a:txBody>
                    <a:bodyPr/>
                    <a:lstStyle/>
                    <a:p>
                      <a:r>
                        <a:rPr lang="en-IN" sz="1700" b="0" dirty="0" err="1"/>
                        <a:t>Input.GetKeyUp</a:t>
                      </a:r>
                      <a:r>
                        <a:rPr lang="en-IN" sz="1700" b="0" dirty="0"/>
                        <a:t>(</a:t>
                      </a:r>
                      <a:r>
                        <a:rPr lang="en-IN" sz="1700" b="0" dirty="0" err="1"/>
                        <a:t>KeyCode.Escape</a:t>
                      </a:r>
                      <a:r>
                        <a:rPr lang="en-IN" sz="1700" b="0" dirty="0"/>
                        <a:t>)</a:t>
                      </a:r>
                    </a:p>
                  </a:txBody>
                  <a:tcPr marL="87027" marR="87027" marT="43513" marB="43513" anchor="ctr"/>
                </a:tc>
                <a:extLst>
                  <a:ext uri="{0D108BD9-81ED-4DB2-BD59-A6C34878D82A}">
                    <a16:rowId xmlns:a16="http://schemas.microsoft.com/office/drawing/2014/main" val="2279966157"/>
                  </a:ext>
                </a:extLst>
              </a:tr>
              <a:tr h="723900">
                <a:tc>
                  <a:txBody>
                    <a:bodyPr/>
                    <a:lstStyle/>
                    <a:p>
                      <a:r>
                        <a:rPr lang="en-IN" sz="1700" b="0" dirty="0" err="1"/>
                        <a:t>Input.GetAxis</a:t>
                      </a:r>
                      <a:r>
                        <a:rPr lang="en-IN" sz="1700" b="0" dirty="0"/>
                        <a:t>()</a:t>
                      </a:r>
                    </a:p>
                  </a:txBody>
                  <a:tcPr marL="87027" marR="87027" marT="43513" marB="43513" anchor="ctr"/>
                </a:tc>
                <a:tc>
                  <a:txBody>
                    <a:bodyPr/>
                    <a:lstStyle/>
                    <a:p>
                      <a:r>
                        <a:rPr lang="en-US" sz="1700" b="0"/>
                        <a:t>Get smooth input values (joystick, keys)</a:t>
                      </a:r>
                    </a:p>
                  </a:txBody>
                  <a:tcPr marL="87027" marR="87027" marT="43513" marB="43513" anchor="ctr"/>
                </a:tc>
                <a:tc>
                  <a:txBody>
                    <a:bodyPr/>
                    <a:lstStyle/>
                    <a:p>
                      <a:r>
                        <a:rPr lang="en-IN" sz="1700" b="0"/>
                        <a:t>Input.GetAxis("Horizontal")</a:t>
                      </a:r>
                    </a:p>
                  </a:txBody>
                  <a:tcPr marL="87027" marR="87027" marT="43513" marB="43513" anchor="ctr"/>
                </a:tc>
                <a:extLst>
                  <a:ext uri="{0D108BD9-81ED-4DB2-BD59-A6C34878D82A}">
                    <a16:rowId xmlns:a16="http://schemas.microsoft.com/office/drawing/2014/main" val="1510365641"/>
                  </a:ext>
                </a:extLst>
              </a:tr>
              <a:tr h="723900">
                <a:tc>
                  <a:txBody>
                    <a:bodyPr/>
                    <a:lstStyle/>
                    <a:p>
                      <a:r>
                        <a:rPr lang="en-IN" sz="1700" b="0"/>
                        <a:t>Input.mousePosition</a:t>
                      </a:r>
                    </a:p>
                  </a:txBody>
                  <a:tcPr marL="87027" marR="87027" marT="43513" marB="43513" anchor="ctr"/>
                </a:tc>
                <a:tc>
                  <a:txBody>
                    <a:bodyPr/>
                    <a:lstStyle/>
                    <a:p>
                      <a:r>
                        <a:rPr lang="en-US" sz="1700" b="0"/>
                        <a:t>Get current mouse cursor position</a:t>
                      </a:r>
                    </a:p>
                  </a:txBody>
                  <a:tcPr marL="87027" marR="87027" marT="43513" marB="43513" anchor="ctr"/>
                </a:tc>
                <a:tc>
                  <a:txBody>
                    <a:bodyPr/>
                    <a:lstStyle/>
                    <a:p>
                      <a:r>
                        <a:rPr lang="en-IN" sz="1700" b="0"/>
                        <a:t>Vector3 pos = Input.mousePosition</a:t>
                      </a:r>
                    </a:p>
                  </a:txBody>
                  <a:tcPr marL="87027" marR="87027" marT="43513" marB="43513" anchor="ctr"/>
                </a:tc>
                <a:extLst>
                  <a:ext uri="{0D108BD9-81ED-4DB2-BD59-A6C34878D82A}">
                    <a16:rowId xmlns:a16="http://schemas.microsoft.com/office/drawing/2014/main" val="370437086"/>
                  </a:ext>
                </a:extLst>
              </a:tr>
              <a:tr h="723900">
                <a:tc>
                  <a:txBody>
                    <a:bodyPr/>
                    <a:lstStyle/>
                    <a:p>
                      <a:r>
                        <a:rPr lang="en-IN" sz="1700" b="0"/>
                        <a:t>Input.GetButton()</a:t>
                      </a:r>
                    </a:p>
                  </a:txBody>
                  <a:tcPr marL="87027" marR="87027" marT="43513" marB="43513" anchor="ctr"/>
                </a:tc>
                <a:tc>
                  <a:txBody>
                    <a:bodyPr/>
                    <a:lstStyle/>
                    <a:p>
                      <a:r>
                        <a:rPr lang="en-US" sz="1700" b="0"/>
                        <a:t>Detect if a configured button is held down</a:t>
                      </a:r>
                    </a:p>
                  </a:txBody>
                  <a:tcPr marL="87027" marR="87027" marT="43513" marB="43513" anchor="ctr"/>
                </a:tc>
                <a:tc>
                  <a:txBody>
                    <a:bodyPr/>
                    <a:lstStyle/>
                    <a:p>
                      <a:r>
                        <a:rPr lang="en-IN" sz="1700" b="0"/>
                        <a:t>Input.GetButton("Jump")</a:t>
                      </a:r>
                    </a:p>
                  </a:txBody>
                  <a:tcPr marL="87027" marR="87027" marT="43513" marB="43513" anchor="ctr"/>
                </a:tc>
                <a:extLst>
                  <a:ext uri="{0D108BD9-81ED-4DB2-BD59-A6C34878D82A}">
                    <a16:rowId xmlns:a16="http://schemas.microsoft.com/office/drawing/2014/main" val="1663155074"/>
                  </a:ext>
                </a:extLst>
              </a:tr>
              <a:tr h="723900">
                <a:tc>
                  <a:txBody>
                    <a:bodyPr/>
                    <a:lstStyle/>
                    <a:p>
                      <a:r>
                        <a:rPr lang="en-IN" sz="1700" b="0"/>
                        <a:t>Input.GetButtonDown()</a:t>
                      </a:r>
                    </a:p>
                  </a:txBody>
                  <a:tcPr marL="87027" marR="87027" marT="43513" marB="43513" anchor="ctr"/>
                </a:tc>
                <a:tc>
                  <a:txBody>
                    <a:bodyPr/>
                    <a:lstStyle/>
                    <a:p>
                      <a:r>
                        <a:rPr lang="en-US" sz="1700" b="0"/>
                        <a:t>Detect when a configured button is pressed</a:t>
                      </a:r>
                    </a:p>
                  </a:txBody>
                  <a:tcPr marL="87027" marR="87027" marT="43513" marB="43513" anchor="ctr"/>
                </a:tc>
                <a:tc>
                  <a:txBody>
                    <a:bodyPr/>
                    <a:lstStyle/>
                    <a:p>
                      <a:r>
                        <a:rPr lang="en-IN" sz="1700" b="0" dirty="0" err="1"/>
                        <a:t>Input.GetButtonDown</a:t>
                      </a:r>
                      <a:r>
                        <a:rPr lang="en-IN" sz="1700" b="0" dirty="0"/>
                        <a:t>("Fire1")</a:t>
                      </a:r>
                    </a:p>
                  </a:txBody>
                  <a:tcPr marL="87027" marR="87027" marT="43513" marB="43513" anchor="ctr"/>
                </a:tc>
                <a:extLst>
                  <a:ext uri="{0D108BD9-81ED-4DB2-BD59-A6C34878D82A}">
                    <a16:rowId xmlns:a16="http://schemas.microsoft.com/office/drawing/2014/main" val="4109541950"/>
                  </a:ext>
                </a:extLst>
              </a:tr>
            </a:tbl>
          </a:graphicData>
        </a:graphic>
      </p:graphicFrame>
    </p:spTree>
    <p:extLst>
      <p:ext uri="{BB962C8B-B14F-4D97-AF65-F5344CB8AC3E}">
        <p14:creationId xmlns:p14="http://schemas.microsoft.com/office/powerpoint/2010/main" val="32158599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F4DCD-6A80-7174-9F35-459DA572782C}"/>
              </a:ext>
            </a:extLst>
          </p:cNvPr>
          <p:cNvSpPr>
            <a:spLocks noGrp="1"/>
          </p:cNvSpPr>
          <p:nvPr>
            <p:ph type="title"/>
          </p:nvPr>
        </p:nvSpPr>
        <p:spPr/>
        <p:txBody>
          <a:bodyPr/>
          <a:lstStyle/>
          <a:p>
            <a:r>
              <a:rPr lang="en-US" dirty="0" err="1"/>
              <a:t>KeyCode</a:t>
            </a:r>
            <a:endParaRPr lang="en-IN" dirty="0"/>
          </a:p>
        </p:txBody>
      </p:sp>
      <p:sp>
        <p:nvSpPr>
          <p:cNvPr id="3" name="Content Placeholder 2">
            <a:extLst>
              <a:ext uri="{FF2B5EF4-FFF2-40B4-BE49-F238E27FC236}">
                <a16:creationId xmlns:a16="http://schemas.microsoft.com/office/drawing/2014/main" id="{2AC104BC-CCFF-5103-CA7E-0A061EEC20D0}"/>
              </a:ext>
            </a:extLst>
          </p:cNvPr>
          <p:cNvSpPr>
            <a:spLocks noGrp="1"/>
          </p:cNvSpPr>
          <p:nvPr>
            <p:ph idx="1"/>
          </p:nvPr>
        </p:nvSpPr>
        <p:spPr/>
        <p:txBody>
          <a:bodyPr/>
          <a:lstStyle/>
          <a:p>
            <a:r>
              <a:rPr lang="en-US" dirty="0" err="1"/>
              <a:t>KeyCode</a:t>
            </a:r>
            <a:r>
              <a:rPr lang="en-US" dirty="0"/>
              <a:t> is an enumeration (</a:t>
            </a:r>
            <a:r>
              <a:rPr lang="en-US" dirty="0" err="1"/>
              <a:t>enum</a:t>
            </a:r>
            <a:r>
              <a:rPr lang="en-US" dirty="0"/>
              <a:t>) provided by Unity to represent keyboard keys, mouse buttons, and some controller buttons.</a:t>
            </a:r>
          </a:p>
          <a:p>
            <a:r>
              <a:rPr lang="en-US" dirty="0"/>
              <a:t>Example of </a:t>
            </a:r>
            <a:r>
              <a:rPr lang="en-US" dirty="0" err="1"/>
              <a:t>KeyCode</a:t>
            </a:r>
            <a:r>
              <a:rPr lang="en-US" dirty="0"/>
              <a:t> are</a:t>
            </a:r>
          </a:p>
          <a:p>
            <a:pPr lvl="2"/>
            <a:r>
              <a:rPr lang="en-US" dirty="0" err="1"/>
              <a:t>KeyCode.Space</a:t>
            </a:r>
            <a:r>
              <a:rPr lang="en-US" dirty="0"/>
              <a:t>, </a:t>
            </a:r>
            <a:r>
              <a:rPr lang="en-US" dirty="0" err="1"/>
              <a:t>KeyCode.LeftShift</a:t>
            </a:r>
            <a:r>
              <a:rPr lang="en-US" dirty="0"/>
              <a:t>, </a:t>
            </a:r>
            <a:r>
              <a:rPr lang="en-US" dirty="0" err="1"/>
              <a:t>KeyCode.LeftControl</a:t>
            </a:r>
            <a:r>
              <a:rPr lang="en-US" dirty="0"/>
              <a:t>, </a:t>
            </a:r>
            <a:r>
              <a:rPr lang="en-US" dirty="0" err="1"/>
              <a:t>KeyCode.Escape</a:t>
            </a:r>
            <a:r>
              <a:rPr lang="en-US" dirty="0"/>
              <a:t>, </a:t>
            </a:r>
            <a:r>
              <a:rPr lang="en-US" dirty="0" err="1"/>
              <a:t>KeyCode.Return</a:t>
            </a:r>
            <a:r>
              <a:rPr lang="en-US" dirty="0"/>
              <a:t>, </a:t>
            </a:r>
            <a:r>
              <a:rPr lang="en-US" dirty="0" err="1"/>
              <a:t>KeyCode.Backspace</a:t>
            </a:r>
            <a:r>
              <a:rPr lang="en-US" dirty="0"/>
              <a:t>, </a:t>
            </a:r>
            <a:r>
              <a:rPr lang="en-US" dirty="0" err="1"/>
              <a:t>KeyCode.Tab</a:t>
            </a:r>
            <a:r>
              <a:rPr lang="en-US" dirty="0"/>
              <a:t>, KeyCode.Mouse0, KeyCode.Mouse1, KeyCode.Mouse2, </a:t>
            </a:r>
            <a:r>
              <a:rPr lang="en-US" dirty="0" err="1"/>
              <a:t>KeyCode.UpArrow</a:t>
            </a:r>
            <a:r>
              <a:rPr lang="en-US" dirty="0"/>
              <a:t>, </a:t>
            </a:r>
            <a:r>
              <a:rPr lang="en-US" dirty="0" err="1"/>
              <a:t>KeyCode.DownArrow</a:t>
            </a:r>
            <a:r>
              <a:rPr lang="en-US" dirty="0"/>
              <a:t>, </a:t>
            </a:r>
            <a:r>
              <a:rPr lang="en-US" dirty="0" err="1"/>
              <a:t>KeyCode.LeftArrow</a:t>
            </a:r>
            <a:r>
              <a:rPr lang="en-US" dirty="0"/>
              <a:t>, </a:t>
            </a:r>
            <a:r>
              <a:rPr lang="en-US" dirty="0" err="1"/>
              <a:t>KeyCode.RightArrow</a:t>
            </a:r>
            <a:endParaRPr lang="en-US" dirty="0"/>
          </a:p>
          <a:p>
            <a:endParaRPr lang="en-US" dirty="0"/>
          </a:p>
          <a:p>
            <a:endParaRPr lang="en-IN" dirty="0"/>
          </a:p>
        </p:txBody>
      </p:sp>
    </p:spTree>
    <p:extLst>
      <p:ext uri="{BB962C8B-B14F-4D97-AF65-F5344CB8AC3E}">
        <p14:creationId xmlns:p14="http://schemas.microsoft.com/office/powerpoint/2010/main" val="29547660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9592-3337-5711-0A8F-C4FA8D905FAA}"/>
              </a:ext>
            </a:extLst>
          </p:cNvPr>
          <p:cNvSpPr>
            <a:spLocks noGrp="1"/>
          </p:cNvSpPr>
          <p:nvPr>
            <p:ph type="title"/>
          </p:nvPr>
        </p:nvSpPr>
        <p:spPr/>
        <p:txBody>
          <a:bodyPr/>
          <a:lstStyle/>
          <a:p>
            <a:r>
              <a:rPr lang="en-US" dirty="0"/>
              <a:t>Why use </a:t>
            </a:r>
            <a:r>
              <a:rPr lang="en-US" dirty="0" err="1"/>
              <a:t>Input.GetAxis</a:t>
            </a:r>
            <a:r>
              <a:rPr lang="en-US" dirty="0"/>
              <a:t>() instead of </a:t>
            </a:r>
            <a:r>
              <a:rPr lang="en-US" dirty="0" err="1"/>
              <a:t>Input.GetKey</a:t>
            </a:r>
            <a:r>
              <a:rPr lang="en-US" dirty="0"/>
              <a:t>()?</a:t>
            </a:r>
            <a:endParaRPr lang="en-IN" dirty="0"/>
          </a:p>
        </p:txBody>
      </p:sp>
      <p:sp>
        <p:nvSpPr>
          <p:cNvPr id="3" name="Content Placeholder 2">
            <a:extLst>
              <a:ext uri="{FF2B5EF4-FFF2-40B4-BE49-F238E27FC236}">
                <a16:creationId xmlns:a16="http://schemas.microsoft.com/office/drawing/2014/main" id="{7427938A-7C7C-2FF5-658B-6CA5E8DD7569}"/>
              </a:ext>
            </a:extLst>
          </p:cNvPr>
          <p:cNvSpPr>
            <a:spLocks noGrp="1"/>
          </p:cNvSpPr>
          <p:nvPr>
            <p:ph idx="1"/>
          </p:nvPr>
        </p:nvSpPr>
        <p:spPr/>
        <p:txBody>
          <a:bodyPr/>
          <a:lstStyle/>
          <a:p>
            <a:r>
              <a:rPr lang="en-US" dirty="0"/>
              <a:t>Smooth input: Instead of jumpy on/off values, it lets you have gradual speed changes.</a:t>
            </a:r>
          </a:p>
          <a:p>
            <a:r>
              <a:rPr lang="en-US" dirty="0"/>
              <a:t>Supports multiple input devices: Works with joysticks, controllers, keyboards.</a:t>
            </a:r>
          </a:p>
          <a:p>
            <a:r>
              <a:rPr lang="en-US" dirty="0"/>
              <a:t>Built-in Unity Input System: Easy to use and customize in project settings.</a:t>
            </a:r>
            <a:endParaRPr lang="en-IN" dirty="0"/>
          </a:p>
        </p:txBody>
      </p:sp>
    </p:spTree>
    <p:extLst>
      <p:ext uri="{BB962C8B-B14F-4D97-AF65-F5344CB8AC3E}">
        <p14:creationId xmlns:p14="http://schemas.microsoft.com/office/powerpoint/2010/main" val="27006125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398BC-2900-2910-E231-1D3EE28EADE0}"/>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65BD946C-F6A4-D5A3-67D7-B1AB525E9C0C}"/>
              </a:ext>
            </a:extLst>
          </p:cNvPr>
          <p:cNvSpPr>
            <a:spLocks noGrp="1"/>
          </p:cNvSpPr>
          <p:nvPr>
            <p:ph idx="1"/>
          </p:nvPr>
        </p:nvSpPr>
        <p:spPr/>
        <p:txBody>
          <a:bodyPr/>
          <a:lstStyle/>
          <a:p>
            <a:pPr marL="0" indent="0">
              <a:buNone/>
            </a:pPr>
            <a:r>
              <a:rPr lang="en-IN" dirty="0"/>
              <a:t>void Update()</a:t>
            </a:r>
          </a:p>
          <a:p>
            <a:pPr marL="0" indent="0">
              <a:buNone/>
            </a:pPr>
            <a:r>
              <a:rPr lang="en-IN" dirty="0"/>
              <a:t>{</a:t>
            </a:r>
          </a:p>
          <a:p>
            <a:pPr marL="0" indent="0">
              <a:buNone/>
            </a:pPr>
            <a:r>
              <a:rPr lang="en-IN" dirty="0"/>
              <a:t>    float horizontal = </a:t>
            </a:r>
            <a:r>
              <a:rPr lang="en-IN" dirty="0" err="1"/>
              <a:t>Input.GetAxis</a:t>
            </a:r>
            <a:r>
              <a:rPr lang="en-IN" dirty="0"/>
              <a:t>("Horizontal"); </a:t>
            </a:r>
          </a:p>
          <a:p>
            <a:pPr marL="0" indent="0">
              <a:buNone/>
            </a:pPr>
            <a:r>
              <a:rPr lang="en-IN" dirty="0"/>
              <a:t>    float vertical = </a:t>
            </a:r>
            <a:r>
              <a:rPr lang="en-IN" dirty="0" err="1"/>
              <a:t>Input.GetAxis</a:t>
            </a:r>
            <a:r>
              <a:rPr lang="en-IN" dirty="0"/>
              <a:t>("Vertical");    </a:t>
            </a:r>
          </a:p>
          <a:p>
            <a:pPr marL="0" indent="0">
              <a:buNone/>
            </a:pPr>
            <a:endParaRPr lang="en-IN" dirty="0"/>
          </a:p>
          <a:p>
            <a:pPr marL="0" indent="0">
              <a:buNone/>
            </a:pPr>
            <a:r>
              <a:rPr lang="en-IN" dirty="0"/>
              <a:t>    Vector3 move = new Vector3(horizontal, 0, vertical);</a:t>
            </a:r>
          </a:p>
          <a:p>
            <a:pPr marL="0" indent="0">
              <a:buNone/>
            </a:pPr>
            <a:r>
              <a:rPr lang="en-IN" dirty="0"/>
              <a:t>    </a:t>
            </a:r>
            <a:r>
              <a:rPr lang="en-IN" dirty="0" err="1"/>
              <a:t>transform.Translate</a:t>
            </a:r>
            <a:r>
              <a:rPr lang="en-IN" dirty="0"/>
              <a:t>(move * </a:t>
            </a:r>
            <a:r>
              <a:rPr lang="en-IN" dirty="0" err="1"/>
              <a:t>Time.deltaTime</a:t>
            </a:r>
            <a:r>
              <a:rPr lang="en-IN" dirty="0"/>
              <a:t> * 5f);</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2121801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AFF62C-BFAF-D77E-BF72-C6D7D28C9634}"/>
              </a:ext>
            </a:extLst>
          </p:cNvPr>
          <p:cNvSpPr>
            <a:spLocks noGrp="1"/>
          </p:cNvSpPr>
          <p:nvPr>
            <p:ph type="ctrTitle"/>
          </p:nvPr>
        </p:nvSpPr>
        <p:spPr>
          <a:xfrm>
            <a:off x="838199" y="1093788"/>
            <a:ext cx="10506455" cy="2967208"/>
          </a:xfrm>
        </p:spPr>
        <p:txBody>
          <a:bodyPr>
            <a:normAutofit/>
          </a:bodyPr>
          <a:lstStyle/>
          <a:p>
            <a:pPr algn="l"/>
            <a:r>
              <a:rPr lang="en-US" sz="8000"/>
              <a:t>Working With Mouse Input in Unity</a:t>
            </a:r>
            <a:endParaRPr lang="en-IN" sz="8000"/>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365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86CB-BC16-9080-1296-CFF8576C8475}"/>
              </a:ext>
            </a:extLst>
          </p:cNvPr>
          <p:cNvSpPr>
            <a:spLocks noGrp="1"/>
          </p:cNvSpPr>
          <p:nvPr>
            <p:ph type="title"/>
          </p:nvPr>
        </p:nvSpPr>
        <p:spPr/>
        <p:txBody>
          <a:bodyPr/>
          <a:lstStyle/>
          <a:p>
            <a:r>
              <a:rPr lang="en-US" dirty="0"/>
              <a:t>Mouse Input</a:t>
            </a:r>
            <a:endParaRPr lang="en-IN" dirty="0"/>
          </a:p>
        </p:txBody>
      </p:sp>
      <p:sp>
        <p:nvSpPr>
          <p:cNvPr id="3" name="Content Placeholder 2">
            <a:extLst>
              <a:ext uri="{FF2B5EF4-FFF2-40B4-BE49-F238E27FC236}">
                <a16:creationId xmlns:a16="http://schemas.microsoft.com/office/drawing/2014/main" id="{3AB7FB14-17FC-8E36-5A29-A56640FB9640}"/>
              </a:ext>
            </a:extLst>
          </p:cNvPr>
          <p:cNvSpPr>
            <a:spLocks noGrp="1"/>
          </p:cNvSpPr>
          <p:nvPr>
            <p:ph idx="1"/>
          </p:nvPr>
        </p:nvSpPr>
        <p:spPr/>
        <p:txBody>
          <a:bodyPr>
            <a:normAutofit lnSpcReduction="10000"/>
          </a:bodyPr>
          <a:lstStyle/>
          <a:p>
            <a:r>
              <a:rPr lang="en-US" dirty="0"/>
              <a:t>Mouse input means your game can see what the mouse is doing and react to it when Hover to </a:t>
            </a:r>
            <a:r>
              <a:rPr lang="en-US" dirty="0" err="1"/>
              <a:t>GameObject</a:t>
            </a:r>
            <a:r>
              <a:rPr lang="en-US" dirty="0"/>
              <a:t>.</a:t>
            </a:r>
          </a:p>
          <a:p>
            <a:r>
              <a:rPr lang="en-IN" b="1" dirty="0"/>
              <a:t>Common Mouse Inputs:</a:t>
            </a:r>
          </a:p>
          <a:p>
            <a:pPr lvl="1"/>
            <a:r>
              <a:rPr lang="en-IN" dirty="0"/>
              <a:t>Mouse click</a:t>
            </a:r>
          </a:p>
          <a:p>
            <a:pPr lvl="1"/>
            <a:r>
              <a:rPr lang="en-IN" dirty="0"/>
              <a:t>Mouse position</a:t>
            </a:r>
          </a:p>
          <a:p>
            <a:pPr lvl="1"/>
            <a:r>
              <a:rPr lang="en-IN" dirty="0"/>
              <a:t>Mouse Movement</a:t>
            </a:r>
            <a:endParaRPr lang="en-IN" b="1" dirty="0"/>
          </a:p>
          <a:p>
            <a:r>
              <a:rPr lang="en-IN" dirty="0"/>
              <a:t>Example:-</a:t>
            </a:r>
          </a:p>
          <a:p>
            <a:pPr lvl="1"/>
            <a:r>
              <a:rPr lang="en-IN" dirty="0" err="1"/>
              <a:t>Input.GetButtonDown</a:t>
            </a:r>
            <a:r>
              <a:rPr lang="en-IN" dirty="0"/>
              <a:t>("</a:t>
            </a:r>
            <a:r>
              <a:rPr lang="en-IN" dirty="0" err="1"/>
              <a:t>ButtonName</a:t>
            </a:r>
            <a:r>
              <a:rPr lang="en-IN" dirty="0"/>
              <a:t>")</a:t>
            </a:r>
          </a:p>
          <a:p>
            <a:pPr lvl="1"/>
            <a:r>
              <a:rPr lang="en-IN" dirty="0" err="1"/>
              <a:t>Input.GetMouseButtonDown</a:t>
            </a:r>
            <a:r>
              <a:rPr lang="en-IN" dirty="0"/>
              <a:t>(0) </a:t>
            </a:r>
            <a:r>
              <a:rPr lang="en-IN" dirty="0">
                <a:sym typeface="Wingdings" panose="05000000000000000000" pitchFamily="2" charset="2"/>
              </a:rPr>
              <a:t> left click</a:t>
            </a:r>
            <a:endParaRPr lang="en-IN" dirty="0"/>
          </a:p>
          <a:p>
            <a:pPr lvl="1"/>
            <a:r>
              <a:rPr lang="en-IN" dirty="0" err="1"/>
              <a:t>Input.GetMouseButtonDown</a:t>
            </a:r>
            <a:r>
              <a:rPr lang="en-IN" dirty="0"/>
              <a:t>(1) -&gt; right click</a:t>
            </a:r>
          </a:p>
          <a:p>
            <a:pPr lvl="1"/>
            <a:r>
              <a:rPr lang="en-IN" dirty="0" err="1"/>
              <a:t>Input.mousePosition</a:t>
            </a:r>
            <a:r>
              <a:rPr lang="en-IN" dirty="0"/>
              <a:t> </a:t>
            </a:r>
            <a:r>
              <a:rPr lang="en-IN" dirty="0">
                <a:sym typeface="Wingdings" panose="05000000000000000000" pitchFamily="2" charset="2"/>
              </a:rPr>
              <a:t> get mouse position (return vector3)</a:t>
            </a:r>
            <a:endParaRPr lang="en-IN" dirty="0"/>
          </a:p>
        </p:txBody>
      </p:sp>
    </p:spTree>
    <p:extLst>
      <p:ext uri="{BB962C8B-B14F-4D97-AF65-F5344CB8AC3E}">
        <p14:creationId xmlns:p14="http://schemas.microsoft.com/office/powerpoint/2010/main" val="262320097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C6B8C-2905-F96A-3EE0-677B5A3EC5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524B7D-2D6E-8308-BCA4-A6A71AAFFB8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4888102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Calendar Week">
            <a:extLst>
              <a:ext uri="{FF2B5EF4-FFF2-40B4-BE49-F238E27FC236}">
                <a16:creationId xmlns:a16="http://schemas.microsoft.com/office/drawing/2014/main" id="{B752F4B0-DF91-CCD4-655F-536ED42F3C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31" name="Freeform: Shape 30">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50468DE-7B44-845E-633A-DEA497C175A6}"/>
              </a:ext>
            </a:extLst>
          </p:cNvPr>
          <p:cNvSpPr>
            <a:spLocks noGrp="1"/>
          </p:cNvSpPr>
          <p:nvPr>
            <p:ph type="ctrTitle"/>
          </p:nvPr>
        </p:nvSpPr>
        <p:spPr>
          <a:xfrm>
            <a:off x="5622061" y="762538"/>
            <a:ext cx="5649349" cy="3199862"/>
          </a:xfrm>
        </p:spPr>
        <p:txBody>
          <a:bodyPr anchor="b">
            <a:normAutofit/>
          </a:bodyPr>
          <a:lstStyle/>
          <a:p>
            <a:pPr algn="l"/>
            <a:r>
              <a:rPr lang="en-US" sz="6600">
                <a:solidFill>
                  <a:srgbClr val="FFFFFF"/>
                </a:solidFill>
              </a:rPr>
              <a:t>Week03 </a:t>
            </a:r>
            <a:endParaRPr lang="en-IN" sz="6600">
              <a:solidFill>
                <a:srgbClr val="FFFFFF"/>
              </a:solidFill>
            </a:endParaRPr>
          </a:p>
        </p:txBody>
      </p:sp>
      <p:sp>
        <p:nvSpPr>
          <p:cNvPr id="33"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17123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6804-84C9-3D10-085E-600AC5C049EC}"/>
              </a:ext>
            </a:extLst>
          </p:cNvPr>
          <p:cNvSpPr>
            <a:spLocks noGrp="1"/>
          </p:cNvSpPr>
          <p:nvPr>
            <p:ph type="title"/>
          </p:nvPr>
        </p:nvSpPr>
        <p:spPr/>
        <p:txBody>
          <a:bodyPr/>
          <a:lstStyle/>
          <a:p>
            <a:r>
              <a:rPr lang="en-US" dirty="0"/>
              <a:t>Checking collision in unity</a:t>
            </a:r>
            <a:endParaRPr lang="en-IN" dirty="0"/>
          </a:p>
        </p:txBody>
      </p:sp>
      <p:sp>
        <p:nvSpPr>
          <p:cNvPr id="3" name="Content Placeholder 2">
            <a:extLst>
              <a:ext uri="{FF2B5EF4-FFF2-40B4-BE49-F238E27FC236}">
                <a16:creationId xmlns:a16="http://schemas.microsoft.com/office/drawing/2014/main" id="{264AE111-8915-A584-1F4B-B4E09AA97AAB}"/>
              </a:ext>
            </a:extLst>
          </p:cNvPr>
          <p:cNvSpPr>
            <a:spLocks noGrp="1"/>
          </p:cNvSpPr>
          <p:nvPr>
            <p:ph idx="1"/>
          </p:nvPr>
        </p:nvSpPr>
        <p:spPr/>
        <p:txBody>
          <a:bodyPr>
            <a:normAutofit fontScale="92500" lnSpcReduction="10000"/>
          </a:bodyPr>
          <a:lstStyle/>
          <a:p>
            <a:r>
              <a:rPr lang="en-IN" dirty="0"/>
              <a:t>What is a Trigger?-</a:t>
            </a:r>
          </a:p>
          <a:p>
            <a:r>
              <a:rPr lang="en-US" dirty="0"/>
              <a:t>A special invisible area that detects when something enters, stays, or leaves without blocking it</a:t>
            </a:r>
            <a:r>
              <a:rPr lang="en-IN" dirty="0"/>
              <a:t>.</a:t>
            </a:r>
          </a:p>
          <a:p>
            <a:r>
              <a:rPr lang="en-US" dirty="0"/>
              <a:t>How to Set a Trigger?</a:t>
            </a:r>
            <a:endParaRPr lang="en-IN" dirty="0"/>
          </a:p>
          <a:p>
            <a:pPr lvl="1"/>
            <a:r>
              <a:rPr lang="en-US" dirty="0"/>
              <a:t>Add a Collider (like Box or Sphere Collider) to an object.</a:t>
            </a:r>
          </a:p>
          <a:p>
            <a:pPr lvl="1"/>
            <a:r>
              <a:rPr lang="en-US" dirty="0"/>
              <a:t>Check Is Trigger in the Collider settings.</a:t>
            </a:r>
          </a:p>
          <a:p>
            <a:pPr lvl="1"/>
            <a:r>
              <a:rPr lang="en-US" dirty="0"/>
              <a:t>Use a </a:t>
            </a:r>
            <a:r>
              <a:rPr lang="en-US" dirty="0" err="1"/>
              <a:t>Rigidbody</a:t>
            </a:r>
            <a:r>
              <a:rPr lang="en-US" dirty="0"/>
              <a:t> on the moving object.</a:t>
            </a:r>
          </a:p>
          <a:p>
            <a:r>
              <a:rPr lang="en-IN" dirty="0"/>
              <a:t>Main Trigger Functions:</a:t>
            </a:r>
            <a:endParaRPr lang="en-US" dirty="0"/>
          </a:p>
          <a:p>
            <a:pPr lvl="1"/>
            <a:r>
              <a:rPr lang="en-US" dirty="0" err="1"/>
              <a:t>OnTriggerEnter</a:t>
            </a:r>
            <a:r>
              <a:rPr lang="en-US" dirty="0"/>
              <a:t> — When something enters the area</a:t>
            </a:r>
          </a:p>
          <a:p>
            <a:pPr lvl="1"/>
            <a:r>
              <a:rPr lang="en-US" dirty="0" err="1"/>
              <a:t>OnTriggerStay</a:t>
            </a:r>
            <a:r>
              <a:rPr lang="en-US" dirty="0"/>
              <a:t> — While something stays inside</a:t>
            </a:r>
          </a:p>
          <a:p>
            <a:pPr lvl="1"/>
            <a:r>
              <a:rPr lang="en-US" dirty="0" err="1"/>
              <a:t>OnTriggerExit</a:t>
            </a:r>
            <a:r>
              <a:rPr lang="en-US" dirty="0"/>
              <a:t> — When something leaves the area</a:t>
            </a:r>
            <a:endParaRPr lang="en-IN" dirty="0"/>
          </a:p>
        </p:txBody>
      </p:sp>
    </p:spTree>
    <p:extLst>
      <p:ext uri="{BB962C8B-B14F-4D97-AF65-F5344CB8AC3E}">
        <p14:creationId xmlns:p14="http://schemas.microsoft.com/office/powerpoint/2010/main" val="727293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FF7F7-85BF-199E-2A3F-D7A32EEF6F81}"/>
              </a:ext>
            </a:extLst>
          </p:cNvPr>
          <p:cNvSpPr>
            <a:spLocks noGrp="1"/>
          </p:cNvSpPr>
          <p:nvPr>
            <p:ph type="title"/>
          </p:nvPr>
        </p:nvSpPr>
        <p:spPr/>
        <p:txBody>
          <a:bodyPr/>
          <a:lstStyle/>
          <a:p>
            <a:r>
              <a:rPr lang="en-IN" dirty="0"/>
              <a:t>Why Use Triggers?</a:t>
            </a:r>
          </a:p>
        </p:txBody>
      </p:sp>
      <p:sp>
        <p:nvSpPr>
          <p:cNvPr id="3" name="Content Placeholder 2">
            <a:extLst>
              <a:ext uri="{FF2B5EF4-FFF2-40B4-BE49-F238E27FC236}">
                <a16:creationId xmlns:a16="http://schemas.microsoft.com/office/drawing/2014/main" id="{E8CF1A5A-EA74-A7AB-7F83-DC203179A9CC}"/>
              </a:ext>
            </a:extLst>
          </p:cNvPr>
          <p:cNvSpPr>
            <a:spLocks noGrp="1"/>
          </p:cNvSpPr>
          <p:nvPr>
            <p:ph idx="1"/>
          </p:nvPr>
        </p:nvSpPr>
        <p:spPr/>
        <p:txBody>
          <a:bodyPr/>
          <a:lstStyle/>
          <a:p>
            <a:r>
              <a:rPr lang="en-US" dirty="0"/>
              <a:t>Detect player entering zones (like shops or danger areas)</a:t>
            </a:r>
          </a:p>
          <a:p>
            <a:r>
              <a:rPr lang="en-US" dirty="0"/>
              <a:t>Pick up items (coins, keys)</a:t>
            </a:r>
          </a:p>
          <a:p>
            <a:r>
              <a:rPr lang="en-US" dirty="0"/>
              <a:t>Start events (open doors, play sounds)</a:t>
            </a:r>
          </a:p>
          <a:p>
            <a:r>
              <a:rPr lang="en-IN" dirty="0"/>
              <a:t>Example:</a:t>
            </a:r>
          </a:p>
          <a:p>
            <a:pPr lvl="1"/>
            <a:r>
              <a:rPr lang="en-US" dirty="0"/>
              <a:t>Player walks into a coin → Coin disappears → Score increases</a:t>
            </a:r>
          </a:p>
          <a:p>
            <a:pPr marL="0" indent="0">
              <a:buNone/>
            </a:pPr>
            <a:endParaRPr lang="en-IN" dirty="0"/>
          </a:p>
        </p:txBody>
      </p:sp>
    </p:spTree>
    <p:extLst>
      <p:ext uri="{BB962C8B-B14F-4D97-AF65-F5344CB8AC3E}">
        <p14:creationId xmlns:p14="http://schemas.microsoft.com/office/powerpoint/2010/main" val="21051369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8C493-9428-5198-2E55-8697FE3F3151}"/>
              </a:ext>
            </a:extLst>
          </p:cNvPr>
          <p:cNvSpPr>
            <a:spLocks noGrp="1"/>
          </p:cNvSpPr>
          <p:nvPr>
            <p:ph type="title"/>
          </p:nvPr>
        </p:nvSpPr>
        <p:spPr/>
        <p:txBody>
          <a:bodyPr/>
          <a:lstStyle/>
          <a:p>
            <a:r>
              <a:rPr lang="en-US" dirty="0"/>
              <a:t>Deal With 3D </a:t>
            </a:r>
            <a:r>
              <a:rPr lang="en-US" dirty="0" err="1"/>
              <a:t>objecr</a:t>
            </a:r>
            <a:endParaRPr lang="en-IN" dirty="0"/>
          </a:p>
        </p:txBody>
      </p:sp>
      <p:sp>
        <p:nvSpPr>
          <p:cNvPr id="3" name="Content Placeholder 2">
            <a:extLst>
              <a:ext uri="{FF2B5EF4-FFF2-40B4-BE49-F238E27FC236}">
                <a16:creationId xmlns:a16="http://schemas.microsoft.com/office/drawing/2014/main" id="{C7E616C6-B2A0-5385-85FE-380A76ADC63B}"/>
              </a:ext>
            </a:extLst>
          </p:cNvPr>
          <p:cNvSpPr>
            <a:spLocks noGrp="1"/>
          </p:cNvSpPr>
          <p:nvPr>
            <p:ph idx="1"/>
          </p:nvPr>
        </p:nvSpPr>
        <p:spPr>
          <a:xfrm>
            <a:off x="544286" y="1191192"/>
            <a:ext cx="10635343" cy="5666808"/>
          </a:xfrm>
        </p:spPr>
        <p:txBody>
          <a:bodyPr>
            <a:normAutofit fontScale="92500" lnSpcReduction="20000"/>
          </a:bodyPr>
          <a:lstStyle/>
          <a:p>
            <a:r>
              <a:rPr lang="en-US" dirty="0"/>
              <a:t>How to destroy object after certain Interval of time </a:t>
            </a:r>
          </a:p>
          <a:p>
            <a:pPr lvl="2"/>
            <a:r>
              <a:rPr lang="en-US" dirty="0"/>
              <a:t>Destroy(gameObject,4)</a:t>
            </a:r>
            <a:r>
              <a:rPr lang="en-US" dirty="0">
                <a:sym typeface="Wingdings" panose="05000000000000000000" pitchFamily="2" charset="2"/>
              </a:rPr>
              <a:t>destroy the object after 4 second as soon as game start.</a:t>
            </a:r>
          </a:p>
          <a:p>
            <a:r>
              <a:rPr lang="en-US" dirty="0">
                <a:sym typeface="Wingdings" panose="05000000000000000000" pitchFamily="2" charset="2"/>
              </a:rPr>
              <a:t>How to Jump the </a:t>
            </a:r>
            <a:r>
              <a:rPr lang="en-US" dirty="0" err="1">
                <a:sym typeface="Wingdings" panose="05000000000000000000" pitchFamily="2" charset="2"/>
              </a:rPr>
              <a:t>GameObject</a:t>
            </a:r>
            <a:endParaRPr lang="en-US" dirty="0">
              <a:sym typeface="Wingdings" panose="05000000000000000000" pitchFamily="2" charset="2"/>
            </a:endParaRPr>
          </a:p>
          <a:p>
            <a:pPr marL="457200" lvl="1" indent="0">
              <a:buNone/>
            </a:pPr>
            <a:r>
              <a:rPr lang="en-US" dirty="0">
                <a:sym typeface="Wingdings" panose="05000000000000000000" pitchFamily="2" charset="2"/>
              </a:rPr>
              <a:t>If(</a:t>
            </a:r>
            <a:r>
              <a:rPr lang="en-US" dirty="0" err="1">
                <a:sym typeface="Wingdings" panose="05000000000000000000" pitchFamily="2" charset="2"/>
              </a:rPr>
              <a:t>Input.GetKeyDown</a:t>
            </a:r>
            <a:r>
              <a:rPr lang="en-US" dirty="0">
                <a:sym typeface="Wingdings" panose="05000000000000000000" pitchFamily="2" charset="2"/>
              </a:rPr>
              <a:t>(</a:t>
            </a:r>
            <a:r>
              <a:rPr lang="en-US" dirty="0" err="1">
                <a:sym typeface="Wingdings" panose="05000000000000000000" pitchFamily="2" charset="2"/>
              </a:rPr>
              <a:t>KeyCode.space</a:t>
            </a:r>
            <a:r>
              <a:rPr lang="en-US" dirty="0">
                <a:sym typeface="Wingdings" panose="05000000000000000000" pitchFamily="2" charset="2"/>
              </a:rPr>
              <a:t>)){</a:t>
            </a:r>
          </a:p>
          <a:p>
            <a:pPr marL="457200" lvl="1" indent="0">
              <a:buNone/>
            </a:pPr>
            <a:r>
              <a:rPr lang="en-US" dirty="0">
                <a:sym typeface="Wingdings" panose="05000000000000000000" pitchFamily="2" charset="2"/>
              </a:rPr>
              <a:t>     </a:t>
            </a:r>
            <a:r>
              <a:rPr lang="en-US" dirty="0" err="1">
                <a:sym typeface="Wingdings" panose="05000000000000000000" pitchFamily="2" charset="2"/>
              </a:rPr>
              <a:t>rb.addForce</a:t>
            </a:r>
            <a:r>
              <a:rPr lang="en-US" dirty="0">
                <a:sym typeface="Wingdings" panose="05000000000000000000" pitchFamily="2" charset="2"/>
              </a:rPr>
              <a:t>(vector3.up * speed * Time*</a:t>
            </a:r>
            <a:r>
              <a:rPr lang="en-US" dirty="0" err="1">
                <a:sym typeface="Wingdings" panose="05000000000000000000" pitchFamily="2" charset="2"/>
              </a:rPr>
              <a:t>DeltaTime</a:t>
            </a:r>
            <a:r>
              <a:rPr lang="en-US" dirty="0">
                <a:sym typeface="Wingdings" panose="05000000000000000000" pitchFamily="2" charset="2"/>
              </a:rPr>
              <a:t>)</a:t>
            </a:r>
          </a:p>
          <a:p>
            <a:pPr marL="457200" lvl="1" indent="0">
              <a:buNone/>
            </a:pPr>
            <a:r>
              <a:rPr lang="en-US" dirty="0">
                <a:sym typeface="Wingdings" panose="05000000000000000000" pitchFamily="2" charset="2"/>
              </a:rPr>
              <a:t>}</a:t>
            </a:r>
          </a:p>
          <a:p>
            <a:pPr marL="457200" lvl="1" indent="0">
              <a:buNone/>
            </a:pPr>
            <a:r>
              <a:rPr lang="en-US" dirty="0">
                <a:sym typeface="Wingdings" panose="05000000000000000000" pitchFamily="2" charset="2"/>
              </a:rPr>
              <a:t> forward/left/right  vector3.forward.right/left</a:t>
            </a:r>
          </a:p>
          <a:p>
            <a:r>
              <a:rPr lang="en-IN" dirty="0"/>
              <a:t>How to check collision</a:t>
            </a:r>
          </a:p>
          <a:p>
            <a:pPr marL="457200" lvl="1" indent="0">
              <a:buNone/>
            </a:pPr>
            <a:r>
              <a:rPr lang="en-IN" dirty="0"/>
              <a:t>Private void </a:t>
            </a:r>
            <a:r>
              <a:rPr lang="en-IN" dirty="0" err="1"/>
              <a:t>onCollisionEnter</a:t>
            </a:r>
            <a:r>
              <a:rPr lang="en-IN" dirty="0"/>
              <a:t>(Collision </a:t>
            </a:r>
            <a:r>
              <a:rPr lang="en-IN" dirty="0" err="1"/>
              <a:t>collison</a:t>
            </a:r>
            <a:r>
              <a:rPr lang="en-IN" dirty="0"/>
              <a:t>){</a:t>
            </a:r>
          </a:p>
          <a:p>
            <a:pPr marL="457200" lvl="1" indent="0">
              <a:buNone/>
            </a:pPr>
            <a:r>
              <a:rPr lang="en-IN" dirty="0"/>
              <a:t>    if(</a:t>
            </a:r>
            <a:r>
              <a:rPr lang="en-IN" dirty="0" err="1"/>
              <a:t>collision.GameObject.tag</a:t>
            </a:r>
            <a:r>
              <a:rPr lang="en-IN" dirty="0"/>
              <a:t> == “</a:t>
            </a:r>
            <a:r>
              <a:rPr lang="en-IN" dirty="0" err="1"/>
              <a:t>tagname</a:t>
            </a:r>
            <a:r>
              <a:rPr lang="en-IN" dirty="0"/>
              <a:t>”{</a:t>
            </a:r>
          </a:p>
          <a:p>
            <a:pPr marL="457200" lvl="1" indent="0">
              <a:buNone/>
            </a:pPr>
            <a:r>
              <a:rPr lang="en-IN" dirty="0"/>
              <a:t>           </a:t>
            </a:r>
            <a:r>
              <a:rPr lang="en-IN" dirty="0" err="1"/>
              <a:t>GameObject.setActive</a:t>
            </a:r>
            <a:r>
              <a:rPr lang="en-IN" dirty="0"/>
              <a:t>(False) or Destroy(</a:t>
            </a:r>
            <a:r>
              <a:rPr lang="en-IN" dirty="0" err="1"/>
              <a:t>GameObject</a:t>
            </a:r>
            <a:r>
              <a:rPr lang="en-IN" dirty="0"/>
              <a:t>)</a:t>
            </a:r>
          </a:p>
          <a:p>
            <a:pPr marL="457200" lvl="1" indent="0">
              <a:buNone/>
            </a:pPr>
            <a:endParaRPr lang="en-IN" dirty="0"/>
          </a:p>
          <a:p>
            <a:pPr marL="457200" lvl="1" indent="0">
              <a:buNone/>
            </a:pPr>
            <a:r>
              <a:rPr lang="en-IN" dirty="0"/>
              <a:t>     }</a:t>
            </a:r>
          </a:p>
          <a:p>
            <a:pPr marL="457200" lvl="1" indent="0">
              <a:buNone/>
            </a:pPr>
            <a:r>
              <a:rPr lang="en-IN" dirty="0"/>
              <a:t>}</a:t>
            </a:r>
          </a:p>
          <a:p>
            <a:pPr marL="0" indent="0">
              <a:buNone/>
            </a:pPr>
            <a:r>
              <a:rPr lang="en-IN" dirty="0"/>
              <a:t>Note:- destroy(</a:t>
            </a:r>
            <a:r>
              <a:rPr lang="en-IN" dirty="0" err="1"/>
              <a:t>gameObject</a:t>
            </a:r>
            <a:r>
              <a:rPr lang="en-IN" dirty="0"/>
              <a:t>) vs destroy(</a:t>
            </a:r>
            <a:r>
              <a:rPr lang="en-IN" dirty="0" err="1"/>
              <a:t>collision.gameObject</a:t>
            </a:r>
            <a:r>
              <a:rPr lang="en-IN" dirty="0"/>
              <a:t>)</a:t>
            </a:r>
            <a:br>
              <a:rPr lang="en-IN" dirty="0"/>
            </a:br>
            <a:r>
              <a:rPr lang="en-IN" dirty="0"/>
              <a:t>                           |                                                        |</a:t>
            </a:r>
          </a:p>
          <a:p>
            <a:pPr marL="0" indent="0">
              <a:buNone/>
            </a:pPr>
            <a:r>
              <a:rPr lang="en-IN" dirty="0"/>
              <a:t>                          </a:t>
            </a:r>
            <a:r>
              <a:rPr lang="en-IN" dirty="0" err="1"/>
              <a:t>jisme</a:t>
            </a:r>
            <a:r>
              <a:rPr lang="en-IN" dirty="0"/>
              <a:t> </a:t>
            </a:r>
            <a:r>
              <a:rPr lang="en-IN" dirty="0" err="1"/>
              <a:t>takra</a:t>
            </a:r>
            <a:r>
              <a:rPr lang="en-IN" dirty="0"/>
              <a:t> </a:t>
            </a:r>
            <a:r>
              <a:rPr lang="en-IN" dirty="0" err="1"/>
              <a:t>jayega</a:t>
            </a:r>
            <a:r>
              <a:rPr lang="en-IN" dirty="0"/>
              <a:t>                     jo </a:t>
            </a:r>
            <a:r>
              <a:rPr lang="en-IN" dirty="0" err="1"/>
              <a:t>takrayega</a:t>
            </a:r>
            <a:r>
              <a:rPr lang="en-IN" dirty="0"/>
              <a:t>                                  </a:t>
            </a:r>
          </a:p>
        </p:txBody>
      </p:sp>
    </p:spTree>
    <p:extLst>
      <p:ext uri="{BB962C8B-B14F-4D97-AF65-F5344CB8AC3E}">
        <p14:creationId xmlns:p14="http://schemas.microsoft.com/office/powerpoint/2010/main" val="6504254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6FE0B-FC07-2323-57B9-1926B4D28B41}"/>
              </a:ext>
            </a:extLst>
          </p:cNvPr>
          <p:cNvSpPr>
            <a:spLocks noGrp="1"/>
          </p:cNvSpPr>
          <p:nvPr>
            <p:ph type="title"/>
          </p:nvPr>
        </p:nvSpPr>
        <p:spPr/>
        <p:txBody>
          <a:bodyPr/>
          <a:lstStyle/>
          <a:p>
            <a:r>
              <a:rPr lang="en-US" dirty="0"/>
              <a:t>How to Respawn a </a:t>
            </a:r>
            <a:r>
              <a:rPr lang="en-US" dirty="0" err="1"/>
              <a:t>GameObject</a:t>
            </a:r>
            <a:r>
              <a:rPr lang="en-US" dirty="0"/>
              <a:t> when we press key</a:t>
            </a:r>
            <a:endParaRPr lang="en-IN" dirty="0"/>
          </a:p>
        </p:txBody>
      </p:sp>
      <p:sp>
        <p:nvSpPr>
          <p:cNvPr id="3" name="Content Placeholder 2">
            <a:extLst>
              <a:ext uri="{FF2B5EF4-FFF2-40B4-BE49-F238E27FC236}">
                <a16:creationId xmlns:a16="http://schemas.microsoft.com/office/drawing/2014/main" id="{2C42C5D8-6FE1-5D7E-D908-B8B88B891E57}"/>
              </a:ext>
            </a:extLst>
          </p:cNvPr>
          <p:cNvSpPr>
            <a:spLocks noGrp="1"/>
          </p:cNvSpPr>
          <p:nvPr>
            <p:ph idx="1"/>
          </p:nvPr>
        </p:nvSpPr>
        <p:spPr/>
        <p:txBody>
          <a:bodyPr>
            <a:normAutofit fontScale="85000" lnSpcReduction="20000"/>
          </a:bodyPr>
          <a:lstStyle/>
          <a:p>
            <a:pPr marL="0" indent="0">
              <a:buNone/>
            </a:pPr>
            <a:r>
              <a:rPr lang="en-US" dirty="0"/>
              <a:t>Public </a:t>
            </a:r>
            <a:r>
              <a:rPr lang="en-US" dirty="0" err="1"/>
              <a:t>gameObject</a:t>
            </a:r>
            <a:r>
              <a:rPr lang="en-US" dirty="0"/>
              <a:t> ball;</a:t>
            </a:r>
          </a:p>
          <a:p>
            <a:pPr marL="0" indent="0">
              <a:buNone/>
            </a:pPr>
            <a:r>
              <a:rPr lang="en-US" dirty="0"/>
              <a:t>Public Transform </a:t>
            </a:r>
            <a:r>
              <a:rPr lang="en-US" dirty="0" err="1"/>
              <a:t>spawnPoint</a:t>
            </a:r>
            <a:r>
              <a:rPr lang="en-US" dirty="0"/>
              <a:t> ; this is the position where the object spawn</a:t>
            </a:r>
          </a:p>
          <a:p>
            <a:pPr marL="0" indent="0">
              <a:buNone/>
            </a:pPr>
            <a:r>
              <a:rPr lang="en-US" dirty="0"/>
              <a:t>Void Update(){</a:t>
            </a:r>
          </a:p>
          <a:p>
            <a:pPr marL="0" indent="0">
              <a:buNone/>
            </a:pPr>
            <a:r>
              <a:rPr lang="en-US" dirty="0"/>
              <a:t> if(</a:t>
            </a:r>
            <a:r>
              <a:rPr lang="en-US" dirty="0" err="1"/>
              <a:t>InputGetKeyDown</a:t>
            </a:r>
            <a:r>
              <a:rPr lang="en-US" dirty="0"/>
              <a:t>(</a:t>
            </a:r>
            <a:r>
              <a:rPr lang="en-US" dirty="0" err="1"/>
              <a:t>keycode.s</a:t>
            </a:r>
            <a:r>
              <a:rPr lang="en-US" dirty="0"/>
              <a:t>){</a:t>
            </a:r>
          </a:p>
          <a:p>
            <a:pPr marL="0" indent="0">
              <a:buNone/>
            </a:pPr>
            <a:r>
              <a:rPr lang="en-US" dirty="0"/>
              <a:t>      </a:t>
            </a:r>
            <a:r>
              <a:rPr lang="en-US" dirty="0" err="1"/>
              <a:t>spawan</a:t>
            </a:r>
            <a:r>
              <a:rPr lang="en-US" dirty="0"/>
              <a:t>();</a:t>
            </a:r>
          </a:p>
          <a:p>
            <a:pPr marL="0" indent="0">
              <a:buNone/>
            </a:pPr>
            <a:r>
              <a:rPr lang="en-US" dirty="0"/>
              <a:t>   }</a:t>
            </a:r>
          </a:p>
          <a:p>
            <a:pPr marL="0" indent="0">
              <a:buNone/>
            </a:pPr>
            <a:r>
              <a:rPr lang="en-US" dirty="0"/>
              <a:t>}</a:t>
            </a:r>
          </a:p>
          <a:p>
            <a:pPr marL="0" indent="0">
              <a:buNone/>
            </a:pPr>
            <a:r>
              <a:rPr lang="en-US" dirty="0"/>
              <a:t>Void </a:t>
            </a:r>
            <a:r>
              <a:rPr lang="en-US" dirty="0" err="1"/>
              <a:t>Spawan</a:t>
            </a:r>
            <a:r>
              <a:rPr lang="en-US" dirty="0"/>
              <a:t>(){</a:t>
            </a:r>
          </a:p>
          <a:p>
            <a:pPr marL="0" indent="0">
              <a:buNone/>
            </a:pPr>
            <a:r>
              <a:rPr lang="en-US" dirty="0"/>
              <a:t> Instantiate(</a:t>
            </a:r>
            <a:r>
              <a:rPr lang="en-US" dirty="0" err="1"/>
              <a:t>ball,spawanpoint.postion,Quaterian.identity</a:t>
            </a:r>
            <a:r>
              <a:rPr lang="en-US" dirty="0"/>
              <a:t>)-&gt;(</a:t>
            </a:r>
            <a:r>
              <a:rPr lang="en-US" dirty="0" err="1"/>
              <a:t>object,atWhichpoint,rotation</a:t>
            </a:r>
            <a:r>
              <a:rPr lang="en-US" dirty="0"/>
              <a:t>)</a:t>
            </a:r>
            <a:br>
              <a:rPr lang="en-US" dirty="0"/>
            </a:br>
            <a:endParaRPr lang="en-US" dirty="0"/>
          </a:p>
          <a:p>
            <a:pPr marL="0" indent="0">
              <a:buNone/>
            </a:pPr>
            <a:r>
              <a:rPr lang="en-US" dirty="0"/>
              <a:t>}</a:t>
            </a:r>
            <a:endParaRPr lang="en-IN" dirty="0"/>
          </a:p>
        </p:txBody>
      </p:sp>
    </p:spTree>
    <p:extLst>
      <p:ext uri="{BB962C8B-B14F-4D97-AF65-F5344CB8AC3E}">
        <p14:creationId xmlns:p14="http://schemas.microsoft.com/office/powerpoint/2010/main" val="73536075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9981-AC57-17C2-BF75-37FB35DEFAF0}"/>
              </a:ext>
            </a:extLst>
          </p:cNvPr>
          <p:cNvSpPr>
            <a:spLocks noGrp="1"/>
          </p:cNvSpPr>
          <p:nvPr>
            <p:ph type="title"/>
          </p:nvPr>
        </p:nvSpPr>
        <p:spPr/>
        <p:txBody>
          <a:bodyPr/>
          <a:lstStyle/>
          <a:p>
            <a:r>
              <a:rPr lang="en-US" dirty="0"/>
              <a:t>How to Respawn a </a:t>
            </a:r>
            <a:r>
              <a:rPr lang="en-US" dirty="0" err="1"/>
              <a:t>GameObject</a:t>
            </a:r>
            <a:r>
              <a:rPr lang="en-US" dirty="0"/>
              <a:t> when we left click button of the mouse</a:t>
            </a:r>
            <a:endParaRPr lang="en-IN" dirty="0"/>
          </a:p>
        </p:txBody>
      </p:sp>
      <p:sp>
        <p:nvSpPr>
          <p:cNvPr id="3" name="Content Placeholder 2">
            <a:extLst>
              <a:ext uri="{FF2B5EF4-FFF2-40B4-BE49-F238E27FC236}">
                <a16:creationId xmlns:a16="http://schemas.microsoft.com/office/drawing/2014/main" id="{A1762CE9-CA06-2C77-85ED-88349580F033}"/>
              </a:ext>
            </a:extLst>
          </p:cNvPr>
          <p:cNvSpPr>
            <a:spLocks noGrp="1"/>
          </p:cNvSpPr>
          <p:nvPr>
            <p:ph idx="1"/>
          </p:nvPr>
        </p:nvSpPr>
        <p:spPr/>
        <p:txBody>
          <a:bodyPr>
            <a:normAutofit fontScale="92500" lnSpcReduction="20000"/>
          </a:bodyPr>
          <a:lstStyle/>
          <a:p>
            <a:pPr marL="0" indent="0">
              <a:buNone/>
            </a:pPr>
            <a:r>
              <a:rPr lang="en-US" dirty="0"/>
              <a:t>Void update(){</a:t>
            </a:r>
          </a:p>
          <a:p>
            <a:pPr marL="0" indent="0">
              <a:buNone/>
            </a:pPr>
            <a:r>
              <a:rPr lang="en-US" dirty="0"/>
              <a:t>     </a:t>
            </a:r>
          </a:p>
          <a:p>
            <a:pPr marL="0" indent="0">
              <a:buNone/>
            </a:pPr>
            <a:r>
              <a:rPr lang="en-US" dirty="0"/>
              <a:t>     if(</a:t>
            </a:r>
            <a:r>
              <a:rPr lang="en-US" dirty="0" err="1"/>
              <a:t>Input.GetMouseButtonDown</a:t>
            </a:r>
            <a:r>
              <a:rPr lang="en-US" dirty="0"/>
              <a:t>(0)){</a:t>
            </a:r>
          </a:p>
          <a:p>
            <a:pPr marL="0" indent="0">
              <a:buNone/>
            </a:pPr>
            <a:r>
              <a:rPr lang="en-US" dirty="0"/>
              <a:t>         vector3 </a:t>
            </a:r>
            <a:r>
              <a:rPr lang="en-US" dirty="0" err="1"/>
              <a:t>mouPos</a:t>
            </a:r>
            <a:r>
              <a:rPr lang="en-US" dirty="0"/>
              <a:t> = </a:t>
            </a:r>
            <a:r>
              <a:rPr lang="en-US" dirty="0" err="1"/>
              <a:t>Input.mpusePostion</a:t>
            </a:r>
            <a:r>
              <a:rPr lang="en-US" dirty="0"/>
              <a:t>;</a:t>
            </a:r>
          </a:p>
          <a:p>
            <a:pPr marL="0" indent="0">
              <a:buNone/>
            </a:pPr>
            <a:r>
              <a:rPr lang="en-US" dirty="0"/>
              <a:t>          </a:t>
            </a:r>
            <a:r>
              <a:rPr lang="en-US" dirty="0" err="1"/>
              <a:t>mouPos.z</a:t>
            </a:r>
            <a:r>
              <a:rPr lang="en-US" dirty="0"/>
              <a:t> = 10f;</a:t>
            </a:r>
          </a:p>
          <a:p>
            <a:pPr marL="0" indent="0">
              <a:buNone/>
            </a:pPr>
            <a:r>
              <a:rPr lang="en-US" dirty="0"/>
              <a:t>          vector3 </a:t>
            </a:r>
            <a:r>
              <a:rPr lang="en-US" dirty="0" err="1"/>
              <a:t>spawnPos</a:t>
            </a:r>
            <a:r>
              <a:rPr lang="en-US" dirty="0"/>
              <a:t> = </a:t>
            </a:r>
            <a:r>
              <a:rPr lang="en-US" dirty="0" err="1"/>
              <a:t>Camera.main.ScreenTowardsPoint</a:t>
            </a:r>
            <a:r>
              <a:rPr lang="en-US" dirty="0"/>
              <a:t>(</a:t>
            </a:r>
            <a:r>
              <a:rPr lang="en-US" dirty="0" err="1"/>
              <a:t>mouPos</a:t>
            </a:r>
            <a:r>
              <a:rPr lang="en-US" dirty="0"/>
              <a:t>);</a:t>
            </a:r>
          </a:p>
          <a:p>
            <a:pPr marL="0" indent="0">
              <a:buNone/>
            </a:pPr>
            <a:r>
              <a:rPr lang="en-US" dirty="0"/>
              <a:t>        instantiate(</a:t>
            </a:r>
            <a:r>
              <a:rPr lang="en-US" dirty="0" err="1"/>
              <a:t>ball,spawnPos,Quaterain.identity</a:t>
            </a:r>
            <a:r>
              <a:rPr lang="en-US" dirty="0"/>
              <a:t>);</a:t>
            </a:r>
          </a:p>
          <a:p>
            <a:pPr marL="0" indent="0">
              <a:buNone/>
            </a:pPr>
            <a:r>
              <a:rPr lang="en-US" dirty="0"/>
              <a:t>     </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311701178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717918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69B3A-9153-3E47-BAA9-DD9A52660650}"/>
              </a:ext>
            </a:extLst>
          </p:cNvPr>
          <p:cNvSpPr>
            <a:spLocks noGrp="1"/>
          </p:cNvSpPr>
          <p:nvPr>
            <p:ph type="title"/>
          </p:nvPr>
        </p:nvSpPr>
        <p:spPr/>
        <p:txBody>
          <a:bodyPr/>
          <a:lstStyle/>
          <a:p>
            <a:r>
              <a:rPr lang="en-US" dirty="0"/>
              <a:t>How to Generate </a:t>
            </a:r>
            <a:r>
              <a:rPr lang="en-US" dirty="0" err="1"/>
              <a:t>GameObject</a:t>
            </a:r>
            <a:r>
              <a:rPr lang="en-US" dirty="0"/>
              <a:t> at Random point</a:t>
            </a:r>
            <a:endParaRPr lang="en-IN" dirty="0"/>
          </a:p>
        </p:txBody>
      </p:sp>
      <p:sp>
        <p:nvSpPr>
          <p:cNvPr id="3" name="Content Placeholder 2">
            <a:extLst>
              <a:ext uri="{FF2B5EF4-FFF2-40B4-BE49-F238E27FC236}">
                <a16:creationId xmlns:a16="http://schemas.microsoft.com/office/drawing/2014/main" id="{45E970FB-841A-89F7-D1C9-1869A27B26A5}"/>
              </a:ext>
            </a:extLst>
          </p:cNvPr>
          <p:cNvSpPr>
            <a:spLocks noGrp="1"/>
          </p:cNvSpPr>
          <p:nvPr>
            <p:ph idx="1"/>
          </p:nvPr>
        </p:nvSpPr>
        <p:spPr/>
        <p:txBody>
          <a:bodyPr>
            <a:normAutofit/>
          </a:bodyPr>
          <a:lstStyle/>
          <a:p>
            <a:pPr marL="0" indent="0">
              <a:buNone/>
            </a:pPr>
            <a:r>
              <a:rPr lang="en-US" dirty="0"/>
              <a:t>Public float </a:t>
            </a:r>
            <a:r>
              <a:rPr lang="en-US" dirty="0" err="1"/>
              <a:t>maxX</a:t>
            </a:r>
            <a:r>
              <a:rPr lang="en-US" dirty="0"/>
              <a:t>;</a:t>
            </a:r>
          </a:p>
          <a:p>
            <a:pPr marL="0" indent="0">
              <a:buNone/>
            </a:pPr>
            <a:r>
              <a:rPr lang="en-US" dirty="0"/>
              <a:t>Public float </a:t>
            </a:r>
            <a:r>
              <a:rPr lang="en-US" dirty="0" err="1"/>
              <a:t>maxZ</a:t>
            </a:r>
            <a:r>
              <a:rPr lang="en-US" dirty="0"/>
              <a:t> ;</a:t>
            </a:r>
          </a:p>
          <a:p>
            <a:pPr marL="0" indent="0">
              <a:buNone/>
            </a:pPr>
            <a:r>
              <a:rPr lang="en-US" dirty="0"/>
              <a:t>Void start(){</a:t>
            </a:r>
          </a:p>
          <a:p>
            <a:pPr marL="0" indent="0">
              <a:buNone/>
            </a:pPr>
            <a:r>
              <a:rPr lang="en-US" dirty="0"/>
              <a:t>}</a:t>
            </a:r>
          </a:p>
          <a:p>
            <a:pPr marL="0" indent="0">
              <a:buNone/>
            </a:pPr>
            <a:r>
              <a:rPr lang="en-US" dirty="0"/>
              <a:t>Void Update(){</a:t>
            </a:r>
          </a:p>
          <a:p>
            <a:pPr marL="0" indent="0">
              <a:buNone/>
            </a:pPr>
            <a:r>
              <a:rPr lang="en-US" dirty="0"/>
              <a: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30682263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A09C9-4796-C1C8-88B6-65FDC8643D5E}"/>
              </a:ext>
            </a:extLst>
          </p:cNvPr>
          <p:cNvSpPr>
            <a:spLocks noGrp="1"/>
          </p:cNvSpPr>
          <p:nvPr>
            <p:ph type="title"/>
          </p:nvPr>
        </p:nvSpPr>
        <p:spPr/>
        <p:txBody>
          <a:bodyPr/>
          <a:lstStyle/>
          <a:p>
            <a:r>
              <a:rPr lang="en-US" dirty="0"/>
              <a:t>Give the Properties when </a:t>
            </a:r>
            <a:r>
              <a:rPr lang="en-US" dirty="0" err="1"/>
              <a:t>GameObject</a:t>
            </a:r>
            <a:r>
              <a:rPr lang="en-US" dirty="0"/>
              <a:t> collide</a:t>
            </a:r>
            <a:endParaRPr lang="en-IN" dirty="0"/>
          </a:p>
        </p:txBody>
      </p:sp>
      <p:sp>
        <p:nvSpPr>
          <p:cNvPr id="3" name="Content Placeholder 2">
            <a:extLst>
              <a:ext uri="{FF2B5EF4-FFF2-40B4-BE49-F238E27FC236}">
                <a16:creationId xmlns:a16="http://schemas.microsoft.com/office/drawing/2014/main" id="{7BA33B57-FC52-A1B6-0AD3-6901809B0C6B}"/>
              </a:ext>
            </a:extLst>
          </p:cNvPr>
          <p:cNvSpPr>
            <a:spLocks noGrp="1"/>
          </p:cNvSpPr>
          <p:nvPr>
            <p:ph idx="1"/>
          </p:nvPr>
        </p:nvSpPr>
        <p:spPr/>
        <p:txBody>
          <a:bodyPr/>
          <a:lstStyle/>
          <a:p>
            <a:pPr marL="0" indent="0">
              <a:buNone/>
            </a:pPr>
            <a:r>
              <a:rPr lang="en-US" dirty="0"/>
              <a:t>Private void </a:t>
            </a:r>
            <a:r>
              <a:rPr lang="en-US" dirty="0" err="1"/>
              <a:t>OnColiisionEnter</a:t>
            </a:r>
            <a:r>
              <a:rPr lang="en-US" dirty="0"/>
              <a:t>(Collision col){</a:t>
            </a:r>
          </a:p>
          <a:p>
            <a:pPr marL="0" indent="0">
              <a:buNone/>
            </a:pPr>
            <a:r>
              <a:rPr lang="en-US" dirty="0"/>
              <a:t>    </a:t>
            </a:r>
            <a:r>
              <a:rPr lang="en-US" dirty="0" err="1"/>
              <a:t>GetComponent</a:t>
            </a:r>
            <a:r>
              <a:rPr lang="en-US" dirty="0"/>
              <a:t>&lt;renderer&gt;().</a:t>
            </a:r>
            <a:r>
              <a:rPr lang="en-US" dirty="0" err="1"/>
              <a:t>material.color</a:t>
            </a:r>
            <a:r>
              <a:rPr lang="en-US" dirty="0"/>
              <a:t> = </a:t>
            </a:r>
            <a:r>
              <a:rPr lang="en-US" dirty="0" err="1"/>
              <a:t>Color.red</a:t>
            </a:r>
            <a:r>
              <a:rPr lang="en-US" dirty="0"/>
              <a:t>;</a:t>
            </a:r>
          </a:p>
          <a:p>
            <a:pPr marL="0" indent="0">
              <a:buNone/>
            </a:pPr>
            <a:r>
              <a:rPr lang="en-US" dirty="0"/>
              <a:t>// we can also writes the another functionalities here</a:t>
            </a:r>
          </a:p>
          <a:p>
            <a:pPr marL="0" indent="0">
              <a:buNone/>
            </a:pPr>
            <a:r>
              <a:rPr lang="en-US" dirty="0"/>
              <a:t>If(</a:t>
            </a:r>
            <a:r>
              <a:rPr lang="en-US" dirty="0" err="1"/>
              <a:t>col.GameObject.tag</a:t>
            </a:r>
            <a:r>
              <a:rPr lang="en-US" dirty="0"/>
              <a:t>==“</a:t>
            </a:r>
            <a:r>
              <a:rPr lang="en-US" dirty="0" err="1"/>
              <a:t>tagName</a:t>
            </a:r>
            <a:r>
              <a:rPr lang="en-US" dirty="0"/>
              <a:t> of </a:t>
            </a:r>
            <a:r>
              <a:rPr lang="en-US" dirty="0" err="1"/>
              <a:t>GameObject</a:t>
            </a:r>
            <a:r>
              <a:rPr lang="en-US" dirty="0"/>
              <a:t>”){</a:t>
            </a:r>
          </a:p>
          <a:p>
            <a:pPr marL="0" indent="0">
              <a:buNone/>
            </a:pPr>
            <a:r>
              <a:rPr lang="en-US" dirty="0"/>
              <a:t>               </a:t>
            </a:r>
            <a:r>
              <a:rPr lang="en-US" dirty="0" err="1"/>
              <a:t>GameObject.setActive</a:t>
            </a:r>
            <a:r>
              <a:rPr lang="en-US" dirty="0"/>
              <a:t>(false);</a:t>
            </a:r>
          </a:p>
          <a:p>
            <a:pPr marL="0" indent="0">
              <a:buNone/>
            </a:pPr>
            <a:r>
              <a:rPr lang="en-US" dirty="0"/>
              <a:t>                score++;</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19875263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6E9516-EBDD-047A-4262-DFF10BA5D9CE}"/>
              </a:ext>
            </a:extLst>
          </p:cNvPr>
          <p:cNvSpPr>
            <a:spLocks noGrp="1"/>
          </p:cNvSpPr>
          <p:nvPr>
            <p:ph type="title"/>
          </p:nvPr>
        </p:nvSpPr>
        <p:spPr>
          <a:xfrm>
            <a:off x="1524000" y="548640"/>
            <a:ext cx="9160475" cy="1132258"/>
          </a:xfrm>
        </p:spPr>
        <p:txBody>
          <a:bodyPr anchor="ctr">
            <a:normAutofit/>
          </a:bodyPr>
          <a:lstStyle/>
          <a:p>
            <a:pPr algn="ctr"/>
            <a:r>
              <a:rPr lang="en-US"/>
              <a:t>Methods</a:t>
            </a:r>
            <a:endParaRPr lang="en-IN"/>
          </a:p>
        </p:txBody>
      </p:sp>
      <p:graphicFrame>
        <p:nvGraphicFramePr>
          <p:cNvPr id="4" name="Content Placeholder 3">
            <a:extLst>
              <a:ext uri="{FF2B5EF4-FFF2-40B4-BE49-F238E27FC236}">
                <a16:creationId xmlns:a16="http://schemas.microsoft.com/office/drawing/2014/main" id="{91C4C28A-2BE3-3FB9-610E-4B4023C26ADC}"/>
              </a:ext>
            </a:extLst>
          </p:cNvPr>
          <p:cNvGraphicFramePr>
            <a:graphicFrameLocks noGrp="1"/>
          </p:cNvGraphicFramePr>
          <p:nvPr>
            <p:ph idx="1"/>
          </p:nvPr>
        </p:nvGraphicFramePr>
        <p:xfrm>
          <a:off x="1435141" y="2037806"/>
          <a:ext cx="9326821" cy="4066434"/>
        </p:xfrm>
        <a:graphic>
          <a:graphicData uri="http://schemas.openxmlformats.org/drawingml/2006/table">
            <a:tbl>
              <a:tblPr/>
              <a:tblGrid>
                <a:gridCol w="1997971">
                  <a:extLst>
                    <a:ext uri="{9D8B030D-6E8A-4147-A177-3AD203B41FA5}">
                      <a16:colId xmlns:a16="http://schemas.microsoft.com/office/drawing/2014/main" val="1475106100"/>
                    </a:ext>
                  </a:extLst>
                </a:gridCol>
                <a:gridCol w="2102915">
                  <a:extLst>
                    <a:ext uri="{9D8B030D-6E8A-4147-A177-3AD203B41FA5}">
                      <a16:colId xmlns:a16="http://schemas.microsoft.com/office/drawing/2014/main" val="3567931885"/>
                    </a:ext>
                  </a:extLst>
                </a:gridCol>
                <a:gridCol w="2572278">
                  <a:extLst>
                    <a:ext uri="{9D8B030D-6E8A-4147-A177-3AD203B41FA5}">
                      <a16:colId xmlns:a16="http://schemas.microsoft.com/office/drawing/2014/main" val="4158492792"/>
                    </a:ext>
                  </a:extLst>
                </a:gridCol>
                <a:gridCol w="2653657">
                  <a:extLst>
                    <a:ext uri="{9D8B030D-6E8A-4147-A177-3AD203B41FA5}">
                      <a16:colId xmlns:a16="http://schemas.microsoft.com/office/drawing/2014/main" val="3466874199"/>
                    </a:ext>
                  </a:extLst>
                </a:gridCol>
              </a:tblGrid>
              <a:tr h="300032">
                <a:tc>
                  <a:txBody>
                    <a:bodyPr/>
                    <a:lstStyle/>
                    <a:p>
                      <a:r>
                        <a:rPr lang="en-IN" sz="1300" b="1"/>
                        <a:t>Method</a:t>
                      </a:r>
                      <a:endParaRPr lang="en-IN" sz="1300"/>
                    </a:p>
                  </a:txBody>
                  <a:tcPr marL="64086" marR="64086" marT="32043" marB="32043" anchor="ctr">
                    <a:lnL>
                      <a:noFill/>
                    </a:lnL>
                    <a:lnR>
                      <a:noFill/>
                    </a:lnR>
                    <a:lnT>
                      <a:noFill/>
                    </a:lnT>
                    <a:lnB>
                      <a:noFill/>
                    </a:lnB>
                    <a:noFill/>
                  </a:tcPr>
                </a:tc>
                <a:tc>
                  <a:txBody>
                    <a:bodyPr/>
                    <a:lstStyle/>
                    <a:p>
                      <a:r>
                        <a:rPr lang="en-IN" sz="1300" b="1"/>
                        <a:t>What It Does</a:t>
                      </a:r>
                      <a:endParaRPr lang="en-IN" sz="1300"/>
                    </a:p>
                  </a:txBody>
                  <a:tcPr marL="64086" marR="64086" marT="32043" marB="32043" anchor="ctr">
                    <a:lnL>
                      <a:noFill/>
                    </a:lnL>
                    <a:lnR>
                      <a:noFill/>
                    </a:lnR>
                    <a:lnT>
                      <a:noFill/>
                    </a:lnT>
                    <a:lnB>
                      <a:noFill/>
                    </a:lnB>
                    <a:noFill/>
                  </a:tcPr>
                </a:tc>
                <a:tc>
                  <a:txBody>
                    <a:bodyPr/>
                    <a:lstStyle/>
                    <a:p>
                      <a:r>
                        <a:rPr lang="en-IN" sz="1300" b="1"/>
                        <a:t>Syntax</a:t>
                      </a:r>
                      <a:endParaRPr lang="en-IN" sz="1300"/>
                    </a:p>
                  </a:txBody>
                  <a:tcPr marL="64086" marR="64086" marT="32043" marB="32043" anchor="ctr">
                    <a:lnL>
                      <a:noFill/>
                    </a:lnL>
                    <a:lnR>
                      <a:noFill/>
                    </a:lnR>
                    <a:lnT>
                      <a:noFill/>
                    </a:lnT>
                    <a:lnB>
                      <a:noFill/>
                    </a:lnB>
                    <a:noFill/>
                  </a:tcPr>
                </a:tc>
                <a:tc>
                  <a:txBody>
                    <a:bodyPr/>
                    <a:lstStyle/>
                    <a:p>
                      <a:r>
                        <a:rPr lang="en-IN" sz="1300" b="1"/>
                        <a:t>Example</a:t>
                      </a:r>
                      <a:endParaRPr lang="en-IN" sz="1300"/>
                    </a:p>
                  </a:txBody>
                  <a:tcPr marL="64086" marR="64086" marT="32043" marB="32043" anchor="ctr">
                    <a:lnL>
                      <a:noFill/>
                    </a:lnL>
                    <a:lnR>
                      <a:noFill/>
                    </a:lnR>
                    <a:lnT>
                      <a:noFill/>
                    </a:lnT>
                    <a:lnB>
                      <a:noFill/>
                    </a:lnB>
                    <a:noFill/>
                  </a:tcPr>
                </a:tc>
                <a:extLst>
                  <a:ext uri="{0D108BD9-81ED-4DB2-BD59-A6C34878D82A}">
                    <a16:rowId xmlns:a16="http://schemas.microsoft.com/office/drawing/2014/main" val="2011434660"/>
                  </a:ext>
                </a:extLst>
              </a:tr>
              <a:tr h="496653">
                <a:tc>
                  <a:txBody>
                    <a:bodyPr/>
                    <a:lstStyle/>
                    <a:p>
                      <a:r>
                        <a:rPr lang="en-IN" sz="1300"/>
                        <a:t>Invoke</a:t>
                      </a:r>
                    </a:p>
                  </a:txBody>
                  <a:tcPr marL="64086" marR="64086" marT="32043" marB="32043" anchor="ctr">
                    <a:lnL>
                      <a:noFill/>
                    </a:lnL>
                    <a:lnR>
                      <a:noFill/>
                    </a:lnR>
                    <a:lnT>
                      <a:noFill/>
                    </a:lnT>
                    <a:lnB>
                      <a:noFill/>
                    </a:lnB>
                    <a:noFill/>
                  </a:tcPr>
                </a:tc>
                <a:tc>
                  <a:txBody>
                    <a:bodyPr/>
                    <a:lstStyle/>
                    <a:p>
                      <a:r>
                        <a:rPr lang="en-US" sz="1300"/>
                        <a:t>Calls a method once after a specified delay</a:t>
                      </a:r>
                    </a:p>
                  </a:txBody>
                  <a:tcPr marL="64086" marR="64086" marT="32043" marB="32043" anchor="ctr">
                    <a:lnL>
                      <a:noFill/>
                    </a:lnL>
                    <a:lnR>
                      <a:noFill/>
                    </a:lnR>
                    <a:lnT>
                      <a:noFill/>
                    </a:lnT>
                    <a:lnB>
                      <a:noFill/>
                    </a:lnB>
                    <a:noFill/>
                  </a:tcPr>
                </a:tc>
                <a:tc>
                  <a:txBody>
                    <a:bodyPr/>
                    <a:lstStyle/>
                    <a:p>
                      <a:r>
                        <a:rPr lang="en-IN" sz="1300"/>
                        <a:t>Invoke("MethodName", delaySeconds);</a:t>
                      </a:r>
                    </a:p>
                  </a:txBody>
                  <a:tcPr marL="64086" marR="64086" marT="32043" marB="32043" anchor="ctr">
                    <a:lnL>
                      <a:noFill/>
                    </a:lnL>
                    <a:lnR>
                      <a:noFill/>
                    </a:lnR>
                    <a:lnT>
                      <a:noFill/>
                    </a:lnT>
                    <a:lnB>
                      <a:noFill/>
                    </a:lnB>
                    <a:noFill/>
                  </a:tcPr>
                </a:tc>
                <a:tc>
                  <a:txBody>
                    <a:bodyPr/>
                    <a:lstStyle/>
                    <a:p>
                      <a:r>
                        <a:rPr lang="en-US" sz="1300"/>
                        <a:t>Invoke("PrintMessage", 2f); // Calls PrintMessage after 2s</a:t>
                      </a:r>
                    </a:p>
                  </a:txBody>
                  <a:tcPr marL="64086" marR="64086" marT="32043" marB="32043" anchor="ctr">
                    <a:lnL>
                      <a:noFill/>
                    </a:lnL>
                    <a:lnR>
                      <a:noFill/>
                    </a:lnR>
                    <a:lnT>
                      <a:noFill/>
                    </a:lnT>
                    <a:lnB>
                      <a:noFill/>
                    </a:lnB>
                    <a:noFill/>
                  </a:tcPr>
                </a:tc>
                <a:extLst>
                  <a:ext uri="{0D108BD9-81ED-4DB2-BD59-A6C34878D82A}">
                    <a16:rowId xmlns:a16="http://schemas.microsoft.com/office/drawing/2014/main" val="1271622416"/>
                  </a:ext>
                </a:extLst>
              </a:tr>
              <a:tr h="693274">
                <a:tc>
                  <a:txBody>
                    <a:bodyPr/>
                    <a:lstStyle/>
                    <a:p>
                      <a:r>
                        <a:rPr lang="en-IN" sz="1300"/>
                        <a:t>InvokeRepeating</a:t>
                      </a:r>
                    </a:p>
                  </a:txBody>
                  <a:tcPr marL="64086" marR="64086" marT="32043" marB="32043" anchor="ctr">
                    <a:lnL>
                      <a:noFill/>
                    </a:lnL>
                    <a:lnR>
                      <a:noFill/>
                    </a:lnR>
                    <a:lnT>
                      <a:noFill/>
                    </a:lnT>
                    <a:lnB>
                      <a:noFill/>
                    </a:lnB>
                    <a:noFill/>
                  </a:tcPr>
                </a:tc>
                <a:tc>
                  <a:txBody>
                    <a:bodyPr/>
                    <a:lstStyle/>
                    <a:p>
                      <a:r>
                        <a:rPr lang="en-US" sz="1300"/>
                        <a:t>Calls a method repeatedly after delay and at intervals</a:t>
                      </a:r>
                    </a:p>
                  </a:txBody>
                  <a:tcPr marL="64086" marR="64086" marT="32043" marB="32043" anchor="ctr">
                    <a:lnL>
                      <a:noFill/>
                    </a:lnL>
                    <a:lnR>
                      <a:noFill/>
                    </a:lnR>
                    <a:lnT>
                      <a:noFill/>
                    </a:lnT>
                    <a:lnB>
                      <a:noFill/>
                    </a:lnB>
                    <a:noFill/>
                  </a:tcPr>
                </a:tc>
                <a:tc>
                  <a:txBody>
                    <a:bodyPr/>
                    <a:lstStyle/>
                    <a:p>
                      <a:r>
                        <a:rPr lang="en-IN" sz="1300"/>
                        <a:t>InvokeRepeating("MethodName", timeBeforeFirstCall, repeatRate);</a:t>
                      </a:r>
                    </a:p>
                  </a:txBody>
                  <a:tcPr marL="64086" marR="64086" marT="32043" marB="32043" anchor="ctr">
                    <a:lnL>
                      <a:noFill/>
                    </a:lnL>
                    <a:lnR>
                      <a:noFill/>
                    </a:lnR>
                    <a:lnT>
                      <a:noFill/>
                    </a:lnT>
                    <a:lnB>
                      <a:noFill/>
                    </a:lnB>
                    <a:noFill/>
                  </a:tcPr>
                </a:tc>
                <a:tc>
                  <a:txBody>
                    <a:bodyPr/>
                    <a:lstStyle/>
                    <a:p>
                      <a:r>
                        <a:rPr lang="en-US" sz="1300"/>
                        <a:t>InvokeRepeating("RepeatMethod", 1f, 2f); // Starts after 1s, repeats every 2s</a:t>
                      </a:r>
                    </a:p>
                  </a:txBody>
                  <a:tcPr marL="64086" marR="64086" marT="32043" marB="32043" anchor="ctr">
                    <a:lnL>
                      <a:noFill/>
                    </a:lnL>
                    <a:lnR>
                      <a:noFill/>
                    </a:lnR>
                    <a:lnT>
                      <a:noFill/>
                    </a:lnT>
                    <a:lnB>
                      <a:noFill/>
                    </a:lnB>
                    <a:noFill/>
                  </a:tcPr>
                </a:tc>
                <a:extLst>
                  <a:ext uri="{0D108BD9-81ED-4DB2-BD59-A6C34878D82A}">
                    <a16:rowId xmlns:a16="http://schemas.microsoft.com/office/drawing/2014/main" val="798948586"/>
                  </a:ext>
                </a:extLst>
              </a:tr>
              <a:tr h="693274">
                <a:tc>
                  <a:txBody>
                    <a:bodyPr/>
                    <a:lstStyle/>
                    <a:p>
                      <a:r>
                        <a:rPr lang="en-IN" sz="1300"/>
                        <a:t>CancelInvoke()</a:t>
                      </a:r>
                    </a:p>
                  </a:txBody>
                  <a:tcPr marL="64086" marR="64086" marT="32043" marB="32043" anchor="ctr">
                    <a:lnL>
                      <a:noFill/>
                    </a:lnL>
                    <a:lnR>
                      <a:noFill/>
                    </a:lnR>
                    <a:lnT>
                      <a:noFill/>
                    </a:lnT>
                    <a:lnB>
                      <a:noFill/>
                    </a:lnB>
                    <a:noFill/>
                  </a:tcPr>
                </a:tc>
                <a:tc>
                  <a:txBody>
                    <a:bodyPr/>
                    <a:lstStyle/>
                    <a:p>
                      <a:r>
                        <a:rPr lang="en-US" sz="1300"/>
                        <a:t>Cancels all Invoke and InvokeRepeating calls on this MonoBehaviour</a:t>
                      </a:r>
                    </a:p>
                  </a:txBody>
                  <a:tcPr marL="64086" marR="64086" marT="32043" marB="32043" anchor="ctr">
                    <a:lnL>
                      <a:noFill/>
                    </a:lnL>
                    <a:lnR>
                      <a:noFill/>
                    </a:lnR>
                    <a:lnT>
                      <a:noFill/>
                    </a:lnT>
                    <a:lnB>
                      <a:noFill/>
                    </a:lnB>
                    <a:noFill/>
                  </a:tcPr>
                </a:tc>
                <a:tc>
                  <a:txBody>
                    <a:bodyPr/>
                    <a:lstStyle/>
                    <a:p>
                      <a:r>
                        <a:rPr lang="en-IN" sz="1300" dirty="0" err="1"/>
                        <a:t>CancelInvoke</a:t>
                      </a:r>
                      <a:r>
                        <a:rPr lang="en-IN" sz="1300" dirty="0"/>
                        <a:t>();</a:t>
                      </a:r>
                    </a:p>
                  </a:txBody>
                  <a:tcPr marL="64086" marR="64086" marT="32043" marB="32043" anchor="ctr">
                    <a:lnL>
                      <a:noFill/>
                    </a:lnL>
                    <a:lnR>
                      <a:noFill/>
                    </a:lnR>
                    <a:lnT>
                      <a:noFill/>
                    </a:lnT>
                    <a:lnB>
                      <a:noFill/>
                    </a:lnB>
                    <a:noFill/>
                  </a:tcPr>
                </a:tc>
                <a:tc>
                  <a:txBody>
                    <a:bodyPr/>
                    <a:lstStyle/>
                    <a:p>
                      <a:r>
                        <a:rPr lang="en-IN" sz="1300"/>
                        <a:t>CancelInvoke(); // Stops all invokes</a:t>
                      </a:r>
                    </a:p>
                  </a:txBody>
                  <a:tcPr marL="64086" marR="64086" marT="32043" marB="32043" anchor="ctr">
                    <a:lnL>
                      <a:noFill/>
                    </a:lnL>
                    <a:lnR>
                      <a:noFill/>
                    </a:lnR>
                    <a:lnT>
                      <a:noFill/>
                    </a:lnT>
                    <a:lnB>
                      <a:noFill/>
                    </a:lnB>
                    <a:noFill/>
                  </a:tcPr>
                </a:tc>
                <a:extLst>
                  <a:ext uri="{0D108BD9-81ED-4DB2-BD59-A6C34878D82A}">
                    <a16:rowId xmlns:a16="http://schemas.microsoft.com/office/drawing/2014/main" val="868708018"/>
                  </a:ext>
                </a:extLst>
              </a:tr>
              <a:tr h="693274">
                <a:tc>
                  <a:txBody>
                    <a:bodyPr/>
                    <a:lstStyle/>
                    <a:p>
                      <a:r>
                        <a:rPr lang="en-IN" sz="1300"/>
                        <a:t>CancelInvoke(string methodName)</a:t>
                      </a:r>
                    </a:p>
                  </a:txBody>
                  <a:tcPr marL="64086" marR="64086" marT="32043" marB="32043" anchor="ctr">
                    <a:lnL>
                      <a:noFill/>
                    </a:lnL>
                    <a:lnR>
                      <a:noFill/>
                    </a:lnR>
                    <a:lnT>
                      <a:noFill/>
                    </a:lnT>
                    <a:lnB>
                      <a:noFill/>
                    </a:lnB>
                    <a:noFill/>
                  </a:tcPr>
                </a:tc>
                <a:tc>
                  <a:txBody>
                    <a:bodyPr/>
                    <a:lstStyle/>
                    <a:p>
                      <a:r>
                        <a:rPr lang="en-US" sz="1300"/>
                        <a:t>Cancels Invoke or InvokeRepeating calls for a specific method</a:t>
                      </a:r>
                    </a:p>
                  </a:txBody>
                  <a:tcPr marL="64086" marR="64086" marT="32043" marB="32043" anchor="ctr">
                    <a:lnL>
                      <a:noFill/>
                    </a:lnL>
                    <a:lnR>
                      <a:noFill/>
                    </a:lnR>
                    <a:lnT>
                      <a:noFill/>
                    </a:lnT>
                    <a:lnB>
                      <a:noFill/>
                    </a:lnB>
                    <a:noFill/>
                  </a:tcPr>
                </a:tc>
                <a:tc>
                  <a:txBody>
                    <a:bodyPr/>
                    <a:lstStyle/>
                    <a:p>
                      <a:r>
                        <a:rPr lang="en-IN" sz="1300"/>
                        <a:t>CancelInvoke("MethodName");</a:t>
                      </a:r>
                    </a:p>
                  </a:txBody>
                  <a:tcPr marL="64086" marR="64086" marT="32043" marB="32043" anchor="ctr">
                    <a:lnL>
                      <a:noFill/>
                    </a:lnL>
                    <a:lnR>
                      <a:noFill/>
                    </a:lnR>
                    <a:lnT>
                      <a:noFill/>
                    </a:lnT>
                    <a:lnB>
                      <a:noFill/>
                    </a:lnB>
                    <a:noFill/>
                  </a:tcPr>
                </a:tc>
                <a:tc>
                  <a:txBody>
                    <a:bodyPr/>
                    <a:lstStyle/>
                    <a:p>
                      <a:r>
                        <a:rPr lang="en-US" sz="1300"/>
                        <a:t>CancelInvoke("RepeatMethod"); // Stops repeats of RepeatMethod</a:t>
                      </a:r>
                    </a:p>
                  </a:txBody>
                  <a:tcPr marL="64086" marR="64086" marT="32043" marB="32043" anchor="ctr">
                    <a:lnL>
                      <a:noFill/>
                    </a:lnL>
                    <a:lnR>
                      <a:noFill/>
                    </a:lnR>
                    <a:lnT>
                      <a:noFill/>
                    </a:lnT>
                    <a:lnB>
                      <a:noFill/>
                    </a:lnB>
                    <a:noFill/>
                  </a:tcPr>
                </a:tc>
                <a:extLst>
                  <a:ext uri="{0D108BD9-81ED-4DB2-BD59-A6C34878D82A}">
                    <a16:rowId xmlns:a16="http://schemas.microsoft.com/office/drawing/2014/main" val="2594383490"/>
                  </a:ext>
                </a:extLst>
              </a:tr>
              <a:tr h="693274">
                <a:tc>
                  <a:txBody>
                    <a:bodyPr/>
                    <a:lstStyle/>
                    <a:p>
                      <a:r>
                        <a:rPr lang="en-IN" sz="1300"/>
                        <a:t>IsInvoking()</a:t>
                      </a:r>
                    </a:p>
                  </a:txBody>
                  <a:tcPr marL="64086" marR="64086" marT="32043" marB="32043" anchor="ctr">
                    <a:lnL>
                      <a:noFill/>
                    </a:lnL>
                    <a:lnR>
                      <a:noFill/>
                    </a:lnR>
                    <a:lnT>
                      <a:noFill/>
                    </a:lnT>
                    <a:lnB>
                      <a:noFill/>
                    </a:lnB>
                    <a:noFill/>
                  </a:tcPr>
                </a:tc>
                <a:tc>
                  <a:txBody>
                    <a:bodyPr/>
                    <a:lstStyle/>
                    <a:p>
                      <a:r>
                        <a:rPr lang="en-US" sz="1300"/>
                        <a:t>Returns true if any Invoke or InvokeRepeating is scheduled</a:t>
                      </a:r>
                    </a:p>
                  </a:txBody>
                  <a:tcPr marL="64086" marR="64086" marT="32043" marB="32043" anchor="ctr">
                    <a:lnL>
                      <a:noFill/>
                    </a:lnL>
                    <a:lnR>
                      <a:noFill/>
                    </a:lnR>
                    <a:lnT>
                      <a:noFill/>
                    </a:lnT>
                    <a:lnB>
                      <a:noFill/>
                    </a:lnB>
                    <a:noFill/>
                  </a:tcPr>
                </a:tc>
                <a:tc>
                  <a:txBody>
                    <a:bodyPr/>
                    <a:lstStyle/>
                    <a:p>
                      <a:r>
                        <a:rPr lang="en-IN" sz="1300"/>
                        <a:t>bool result = IsInvoking();</a:t>
                      </a:r>
                    </a:p>
                  </a:txBody>
                  <a:tcPr marL="64086" marR="64086" marT="32043" marB="32043" anchor="ctr">
                    <a:lnL>
                      <a:noFill/>
                    </a:lnL>
                    <a:lnR>
                      <a:noFill/>
                    </a:lnR>
                    <a:lnT>
                      <a:noFill/>
                    </a:lnT>
                    <a:lnB>
                      <a:noFill/>
                    </a:lnB>
                    <a:noFill/>
                  </a:tcPr>
                </a:tc>
                <a:tc>
                  <a:txBody>
                    <a:bodyPr/>
                    <a:lstStyle/>
                    <a:p>
                      <a:r>
                        <a:rPr lang="en-US" sz="1300"/>
                        <a:t>if(IsInvoking()) { Debug.Log("Invoke scheduled"); }</a:t>
                      </a:r>
                    </a:p>
                  </a:txBody>
                  <a:tcPr marL="64086" marR="64086" marT="32043" marB="32043" anchor="ctr">
                    <a:lnL>
                      <a:noFill/>
                    </a:lnL>
                    <a:lnR>
                      <a:noFill/>
                    </a:lnR>
                    <a:lnT>
                      <a:noFill/>
                    </a:lnT>
                    <a:lnB>
                      <a:noFill/>
                    </a:lnB>
                    <a:noFill/>
                  </a:tcPr>
                </a:tc>
                <a:extLst>
                  <a:ext uri="{0D108BD9-81ED-4DB2-BD59-A6C34878D82A}">
                    <a16:rowId xmlns:a16="http://schemas.microsoft.com/office/drawing/2014/main" val="2937213149"/>
                  </a:ext>
                </a:extLst>
              </a:tr>
              <a:tr h="496653">
                <a:tc>
                  <a:txBody>
                    <a:bodyPr/>
                    <a:lstStyle/>
                    <a:p>
                      <a:r>
                        <a:rPr lang="en-IN" sz="1300"/>
                        <a:t>IsInvoking(string methodName)</a:t>
                      </a:r>
                    </a:p>
                  </a:txBody>
                  <a:tcPr marL="64086" marR="64086" marT="32043" marB="32043" anchor="ctr">
                    <a:lnL>
                      <a:noFill/>
                    </a:lnL>
                    <a:lnR>
                      <a:noFill/>
                    </a:lnR>
                    <a:lnT>
                      <a:noFill/>
                    </a:lnT>
                    <a:lnB>
                      <a:noFill/>
                    </a:lnB>
                    <a:noFill/>
                  </a:tcPr>
                </a:tc>
                <a:tc>
                  <a:txBody>
                    <a:bodyPr/>
                    <a:lstStyle/>
                    <a:p>
                      <a:r>
                        <a:rPr lang="en-US" sz="1300"/>
                        <a:t>Returns true if a specific method is scheduled</a:t>
                      </a:r>
                    </a:p>
                  </a:txBody>
                  <a:tcPr marL="64086" marR="64086" marT="32043" marB="32043" anchor="ctr">
                    <a:lnL>
                      <a:noFill/>
                    </a:lnL>
                    <a:lnR>
                      <a:noFill/>
                    </a:lnR>
                    <a:lnT>
                      <a:noFill/>
                    </a:lnT>
                    <a:lnB>
                      <a:noFill/>
                    </a:lnB>
                    <a:noFill/>
                  </a:tcPr>
                </a:tc>
                <a:tc>
                  <a:txBody>
                    <a:bodyPr/>
                    <a:lstStyle/>
                    <a:p>
                      <a:r>
                        <a:rPr lang="en-IN" sz="1300"/>
                        <a:t>bool result = IsInvoking("MethodName");</a:t>
                      </a:r>
                    </a:p>
                  </a:txBody>
                  <a:tcPr marL="64086" marR="64086" marT="32043" marB="32043" anchor="ctr">
                    <a:lnL>
                      <a:noFill/>
                    </a:lnL>
                    <a:lnR>
                      <a:noFill/>
                    </a:lnR>
                    <a:lnT>
                      <a:noFill/>
                    </a:lnT>
                    <a:lnB>
                      <a:noFill/>
                    </a:lnB>
                    <a:noFill/>
                  </a:tcPr>
                </a:tc>
                <a:tc>
                  <a:txBody>
                    <a:bodyPr/>
                    <a:lstStyle/>
                    <a:p>
                      <a:r>
                        <a:rPr lang="en-US" sz="1300" dirty="0"/>
                        <a:t>if(</a:t>
                      </a:r>
                      <a:r>
                        <a:rPr lang="en-US" sz="1300" dirty="0" err="1"/>
                        <a:t>IsInvoking</a:t>
                      </a:r>
                      <a:r>
                        <a:rPr lang="en-US" sz="1300" dirty="0"/>
                        <a:t>("</a:t>
                      </a:r>
                      <a:r>
                        <a:rPr lang="en-US" sz="1300" dirty="0" err="1"/>
                        <a:t>RepeatMethod</a:t>
                      </a:r>
                      <a:r>
                        <a:rPr lang="en-US" sz="1300" dirty="0"/>
                        <a:t>")) { </a:t>
                      </a:r>
                      <a:r>
                        <a:rPr lang="en-US" sz="1300" dirty="0" err="1"/>
                        <a:t>CancelInvoke</a:t>
                      </a:r>
                      <a:r>
                        <a:rPr lang="en-US" sz="1300" dirty="0"/>
                        <a:t>("</a:t>
                      </a:r>
                      <a:r>
                        <a:rPr lang="en-US" sz="1300" dirty="0" err="1"/>
                        <a:t>RepeatMethod</a:t>
                      </a:r>
                      <a:r>
                        <a:rPr lang="en-US" sz="1300" dirty="0"/>
                        <a:t>"); }</a:t>
                      </a:r>
                    </a:p>
                  </a:txBody>
                  <a:tcPr marL="64086" marR="64086" marT="32043" marB="32043" anchor="ctr">
                    <a:lnL>
                      <a:noFill/>
                    </a:lnL>
                    <a:lnR>
                      <a:noFill/>
                    </a:lnR>
                    <a:lnT>
                      <a:noFill/>
                    </a:lnT>
                    <a:lnB>
                      <a:noFill/>
                    </a:lnB>
                    <a:noFill/>
                  </a:tcPr>
                </a:tc>
                <a:extLst>
                  <a:ext uri="{0D108BD9-81ED-4DB2-BD59-A6C34878D82A}">
                    <a16:rowId xmlns:a16="http://schemas.microsoft.com/office/drawing/2014/main" val="2848568715"/>
                  </a:ext>
                </a:extLst>
              </a:tr>
            </a:tbl>
          </a:graphicData>
        </a:graphic>
      </p:graphicFrame>
    </p:spTree>
    <p:extLst>
      <p:ext uri="{BB962C8B-B14F-4D97-AF65-F5344CB8AC3E}">
        <p14:creationId xmlns:p14="http://schemas.microsoft.com/office/powerpoint/2010/main" val="34577220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06192-A459-38BB-7F05-8ADD4B98402D}"/>
              </a:ext>
            </a:extLst>
          </p:cNvPr>
          <p:cNvSpPr>
            <a:spLocks noGrp="1"/>
          </p:cNvSpPr>
          <p:nvPr>
            <p:ph type="title"/>
          </p:nvPr>
        </p:nvSpPr>
        <p:spPr/>
        <p:txBody>
          <a:bodyPr/>
          <a:lstStyle/>
          <a:p>
            <a:r>
              <a:rPr lang="en-US" dirty="0"/>
              <a:t>How to add Audio</a:t>
            </a:r>
            <a:endParaRPr lang="en-IN" dirty="0"/>
          </a:p>
        </p:txBody>
      </p:sp>
      <p:sp>
        <p:nvSpPr>
          <p:cNvPr id="3" name="Content Placeholder 2">
            <a:extLst>
              <a:ext uri="{FF2B5EF4-FFF2-40B4-BE49-F238E27FC236}">
                <a16:creationId xmlns:a16="http://schemas.microsoft.com/office/drawing/2014/main" id="{610891F7-8164-457F-F213-379433D34527}"/>
              </a:ext>
            </a:extLst>
          </p:cNvPr>
          <p:cNvSpPr>
            <a:spLocks noGrp="1"/>
          </p:cNvSpPr>
          <p:nvPr>
            <p:ph idx="1"/>
          </p:nvPr>
        </p:nvSpPr>
        <p:spPr/>
        <p:txBody>
          <a:bodyPr>
            <a:normAutofit fontScale="32500" lnSpcReduction="20000"/>
          </a:bodyPr>
          <a:lstStyle/>
          <a:p>
            <a:pPr marL="0" indent="0">
              <a:buNone/>
            </a:pPr>
            <a:r>
              <a:rPr lang="en-IN" dirty="0"/>
              <a:t>using </a:t>
            </a:r>
            <a:r>
              <a:rPr lang="en-IN" dirty="0" err="1"/>
              <a:t>UnityEngine</a:t>
            </a:r>
            <a:r>
              <a:rPr lang="en-IN" dirty="0"/>
              <a:t>;</a:t>
            </a:r>
          </a:p>
          <a:p>
            <a:pPr marL="0" indent="0">
              <a:buNone/>
            </a:pPr>
            <a:r>
              <a:rPr lang="en-IN" dirty="0"/>
              <a:t>public class </a:t>
            </a:r>
            <a:r>
              <a:rPr lang="en-IN" dirty="0" err="1"/>
              <a:t>ItemPickup</a:t>
            </a:r>
            <a:r>
              <a:rPr lang="en-IN" dirty="0"/>
              <a:t> : </a:t>
            </a:r>
            <a:r>
              <a:rPr lang="en-IN" dirty="0" err="1"/>
              <a:t>MonoBehaviour</a:t>
            </a:r>
            <a:endParaRPr lang="en-IN" dirty="0"/>
          </a:p>
          <a:p>
            <a:pPr marL="0" indent="0">
              <a:buNone/>
            </a:pPr>
            <a:r>
              <a:rPr lang="en-IN" dirty="0"/>
              <a:t>{</a:t>
            </a:r>
          </a:p>
          <a:p>
            <a:pPr marL="0" indent="0">
              <a:buNone/>
            </a:pPr>
            <a:r>
              <a:rPr lang="en-IN" dirty="0"/>
              <a:t>    public </a:t>
            </a:r>
            <a:r>
              <a:rPr lang="en-IN" dirty="0" err="1"/>
              <a:t>AudioClip</a:t>
            </a:r>
            <a:r>
              <a:rPr lang="en-IN" dirty="0"/>
              <a:t> </a:t>
            </a:r>
            <a:r>
              <a:rPr lang="en-IN" dirty="0" err="1"/>
              <a:t>pickupSound</a:t>
            </a:r>
            <a:r>
              <a:rPr lang="en-IN" dirty="0"/>
              <a:t>;  // assign in Inspector</a:t>
            </a:r>
          </a:p>
          <a:p>
            <a:pPr marL="0" indent="0">
              <a:buNone/>
            </a:pPr>
            <a:r>
              <a:rPr lang="en-IN" dirty="0"/>
              <a:t>    private </a:t>
            </a:r>
            <a:r>
              <a:rPr lang="en-IN" dirty="0" err="1"/>
              <a:t>AudioSource</a:t>
            </a:r>
            <a:r>
              <a:rPr lang="en-IN" dirty="0"/>
              <a:t> </a:t>
            </a:r>
            <a:r>
              <a:rPr lang="en-IN" dirty="0" err="1"/>
              <a:t>audioSource</a:t>
            </a:r>
            <a:r>
              <a:rPr lang="en-IN" dirty="0"/>
              <a:t>;</a:t>
            </a:r>
          </a:p>
          <a:p>
            <a:pPr marL="0" indent="0">
              <a:buNone/>
            </a:pPr>
            <a:r>
              <a:rPr lang="en-IN" dirty="0"/>
              <a:t>    void Start()</a:t>
            </a:r>
          </a:p>
          <a:p>
            <a:pPr marL="0" indent="0">
              <a:buNone/>
            </a:pPr>
            <a:r>
              <a:rPr lang="en-IN" dirty="0"/>
              <a:t>    {</a:t>
            </a:r>
          </a:p>
          <a:p>
            <a:pPr marL="0" indent="0">
              <a:buNone/>
            </a:pPr>
            <a:r>
              <a:rPr lang="en-IN" dirty="0"/>
              <a:t>        </a:t>
            </a:r>
            <a:r>
              <a:rPr lang="en-IN" dirty="0" err="1"/>
              <a:t>audioSource</a:t>
            </a:r>
            <a:r>
              <a:rPr lang="en-IN" dirty="0"/>
              <a:t> = </a:t>
            </a:r>
            <a:r>
              <a:rPr lang="en-IN" dirty="0" err="1"/>
              <a:t>GetComponent</a:t>
            </a:r>
            <a:r>
              <a:rPr lang="en-IN" dirty="0"/>
              <a:t>&lt;</a:t>
            </a:r>
            <a:r>
              <a:rPr lang="en-IN" dirty="0" err="1"/>
              <a:t>AudioSource</a:t>
            </a:r>
            <a:r>
              <a:rPr lang="en-IN" dirty="0"/>
              <a:t>&gt;();</a:t>
            </a:r>
          </a:p>
          <a:p>
            <a:pPr marL="0" indent="0">
              <a:buNone/>
            </a:pPr>
            <a:r>
              <a:rPr lang="en-IN" dirty="0"/>
              <a:t>        if (</a:t>
            </a:r>
            <a:r>
              <a:rPr lang="en-IN" dirty="0" err="1"/>
              <a:t>audioSource</a:t>
            </a:r>
            <a:r>
              <a:rPr lang="en-IN" dirty="0"/>
              <a:t> == null)</a:t>
            </a:r>
          </a:p>
          <a:p>
            <a:pPr marL="0" indent="0">
              <a:buNone/>
            </a:pPr>
            <a:r>
              <a:rPr lang="en-IN" dirty="0"/>
              <a:t>            </a:t>
            </a:r>
            <a:r>
              <a:rPr lang="en-IN" dirty="0" err="1"/>
              <a:t>audioSource</a:t>
            </a:r>
            <a:r>
              <a:rPr lang="en-IN" dirty="0"/>
              <a:t> = </a:t>
            </a:r>
            <a:r>
              <a:rPr lang="en-IN" dirty="0" err="1"/>
              <a:t>gameObject.AddComponent</a:t>
            </a:r>
            <a:r>
              <a:rPr lang="en-IN" dirty="0"/>
              <a:t>&lt;</a:t>
            </a:r>
            <a:r>
              <a:rPr lang="en-IN" dirty="0" err="1"/>
              <a:t>AudioSource</a:t>
            </a:r>
            <a:r>
              <a:rPr lang="en-IN" dirty="0"/>
              <a:t>&gt;(); // add if missing</a:t>
            </a:r>
          </a:p>
          <a:p>
            <a:pPr marL="0" indent="0">
              <a:buNone/>
            </a:pPr>
            <a:r>
              <a:rPr lang="en-IN" dirty="0"/>
              <a:t>    }</a:t>
            </a:r>
          </a:p>
          <a:p>
            <a:pPr marL="0" indent="0">
              <a:buNone/>
            </a:pPr>
            <a:r>
              <a:rPr lang="en-IN" dirty="0"/>
              <a:t>    void </a:t>
            </a:r>
            <a:r>
              <a:rPr lang="en-IN" dirty="0" err="1"/>
              <a:t>OnTriggerEnter</a:t>
            </a:r>
            <a:r>
              <a:rPr lang="en-IN" dirty="0"/>
              <a:t>(Collider other)</a:t>
            </a:r>
          </a:p>
          <a:p>
            <a:pPr marL="0" indent="0">
              <a:buNone/>
            </a:pPr>
            <a:r>
              <a:rPr lang="en-IN" dirty="0"/>
              <a:t>    {</a:t>
            </a:r>
          </a:p>
          <a:p>
            <a:pPr marL="0" indent="0">
              <a:buNone/>
            </a:pPr>
            <a:r>
              <a:rPr lang="en-IN" dirty="0"/>
              <a:t>        if (</a:t>
            </a:r>
            <a:r>
              <a:rPr lang="en-IN" dirty="0" err="1"/>
              <a:t>other.CompareTag</a:t>
            </a:r>
            <a:r>
              <a:rPr lang="en-IN" dirty="0"/>
              <a:t>("Item"))  // condition: player collides with item</a:t>
            </a:r>
          </a:p>
          <a:p>
            <a:pPr marL="0" indent="0">
              <a:buNone/>
            </a:pPr>
            <a:r>
              <a:rPr lang="en-IN" dirty="0"/>
              <a:t>        {</a:t>
            </a:r>
          </a:p>
          <a:p>
            <a:pPr marL="0" indent="0">
              <a:buNone/>
            </a:pPr>
            <a:r>
              <a:rPr lang="en-IN" dirty="0"/>
              <a:t>            </a:t>
            </a:r>
            <a:r>
              <a:rPr lang="en-IN" dirty="0" err="1"/>
              <a:t>audioSource.PlayOneShot</a:t>
            </a:r>
            <a:r>
              <a:rPr lang="en-IN" dirty="0"/>
              <a:t>(</a:t>
            </a:r>
            <a:r>
              <a:rPr lang="en-IN" dirty="0" err="1"/>
              <a:t>pickupSound</a:t>
            </a:r>
            <a:r>
              <a:rPr lang="en-IN" dirty="0"/>
              <a:t>);  // play sound once</a:t>
            </a:r>
          </a:p>
          <a:p>
            <a:pPr marL="0" indent="0">
              <a:buNone/>
            </a:pPr>
            <a:r>
              <a:rPr lang="en-IN" dirty="0"/>
              <a:t>            Destroy(</a:t>
            </a:r>
            <a:r>
              <a:rPr lang="en-IN" dirty="0" err="1"/>
              <a:t>other.gameObject</a:t>
            </a:r>
            <a:r>
              <a:rPr lang="en-IN" dirty="0"/>
              <a:t>);              // remove the item</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175318335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92360-0C49-210E-F1B7-EA2C10C859E3}"/>
              </a:ext>
            </a:extLst>
          </p:cNvPr>
          <p:cNvSpPr>
            <a:spLocks noGrp="1"/>
          </p:cNvSpPr>
          <p:nvPr>
            <p:ph type="title"/>
          </p:nvPr>
        </p:nvSpPr>
        <p:spPr/>
        <p:txBody>
          <a:bodyPr/>
          <a:lstStyle/>
          <a:p>
            <a:r>
              <a:rPr lang="en-US" dirty="0"/>
              <a:t>Opps Concept in </a:t>
            </a:r>
            <a:r>
              <a:rPr lang="en-US" dirty="0" err="1"/>
              <a:t>c#</a:t>
            </a:r>
            <a:endParaRPr lang="en-IN" dirty="0"/>
          </a:p>
        </p:txBody>
      </p:sp>
      <p:sp>
        <p:nvSpPr>
          <p:cNvPr id="3" name="Content Placeholder 2">
            <a:extLst>
              <a:ext uri="{FF2B5EF4-FFF2-40B4-BE49-F238E27FC236}">
                <a16:creationId xmlns:a16="http://schemas.microsoft.com/office/drawing/2014/main" id="{7E050573-1C2A-9564-D598-74D88DB3EDD4}"/>
              </a:ext>
            </a:extLst>
          </p:cNvPr>
          <p:cNvSpPr>
            <a:spLocks noGrp="1"/>
          </p:cNvSpPr>
          <p:nvPr>
            <p:ph idx="1"/>
          </p:nvPr>
        </p:nvSpPr>
        <p:spPr/>
        <p:txBody>
          <a:bodyPr>
            <a:normAutofit fontScale="55000" lnSpcReduction="20000"/>
          </a:bodyPr>
          <a:lstStyle/>
          <a:p>
            <a:r>
              <a:rPr lang="en-US" dirty="0"/>
              <a:t>Class and object</a:t>
            </a:r>
          </a:p>
          <a:p>
            <a:r>
              <a:rPr lang="en-US" dirty="0"/>
              <a:t>Constructor</a:t>
            </a:r>
          </a:p>
          <a:p>
            <a:r>
              <a:rPr lang="en-US" dirty="0"/>
              <a:t>Get and set methods</a:t>
            </a:r>
          </a:p>
          <a:p>
            <a:r>
              <a:rPr lang="en-US" dirty="0" err="1"/>
              <a:t>Inheritence</a:t>
            </a:r>
            <a:endParaRPr lang="en-US" dirty="0"/>
          </a:p>
          <a:p>
            <a:r>
              <a:rPr lang="en-US" dirty="0"/>
              <a:t>Polymorphism</a:t>
            </a:r>
          </a:p>
          <a:p>
            <a:r>
              <a:rPr lang="en-US" dirty="0"/>
              <a:t>Namespace</a:t>
            </a:r>
          </a:p>
          <a:p>
            <a:pPr marL="457200" lvl="1" indent="0">
              <a:buNone/>
            </a:pPr>
            <a:r>
              <a:rPr lang="en-US" dirty="0"/>
              <a:t>namespace </a:t>
            </a:r>
            <a:r>
              <a:rPr lang="en-US" dirty="0" err="1"/>
              <a:t>YourCustomNamespace</a:t>
            </a:r>
            <a:endParaRPr lang="en-US" dirty="0"/>
          </a:p>
          <a:p>
            <a:pPr marL="457200" lvl="1" indent="0">
              <a:buNone/>
            </a:pPr>
            <a:r>
              <a:rPr lang="en-US" dirty="0"/>
              <a:t>{</a:t>
            </a:r>
          </a:p>
          <a:p>
            <a:pPr marL="457200" lvl="1" indent="0">
              <a:buNone/>
            </a:pPr>
            <a:r>
              <a:rPr lang="en-US" dirty="0"/>
              <a:t>    public class </a:t>
            </a:r>
            <a:r>
              <a:rPr lang="en-US" dirty="0" err="1"/>
              <a:t>YourClassName</a:t>
            </a:r>
            <a:endParaRPr lang="en-US" dirty="0"/>
          </a:p>
          <a:p>
            <a:pPr marL="457200" lvl="1" indent="0">
              <a:buNone/>
            </a:pPr>
            <a:r>
              <a:rPr lang="en-US" dirty="0"/>
              <a:t>    {</a:t>
            </a:r>
          </a:p>
          <a:p>
            <a:pPr marL="457200" lvl="1" indent="0">
              <a:buNone/>
            </a:pPr>
            <a:r>
              <a:rPr lang="en-US" dirty="0"/>
              <a:t>        // Your code here</a:t>
            </a:r>
          </a:p>
          <a:p>
            <a:pPr marL="457200" lvl="1" indent="0">
              <a:buNone/>
            </a:pPr>
            <a:r>
              <a:rPr lang="en-US" dirty="0"/>
              <a:t>    }</a:t>
            </a:r>
          </a:p>
          <a:p>
            <a:pPr marL="457200" lvl="1" indent="0">
              <a:buNone/>
            </a:pPr>
            <a:r>
              <a:rPr lang="en-US" dirty="0"/>
              <a:t>}</a:t>
            </a:r>
          </a:p>
          <a:p>
            <a:pPr marL="0" indent="0">
              <a:buNone/>
            </a:pPr>
            <a:endParaRPr lang="en-US" dirty="0"/>
          </a:p>
          <a:p>
            <a:endParaRPr lang="en-US" dirty="0"/>
          </a:p>
          <a:p>
            <a:pPr marL="0" indent="0">
              <a:buNone/>
            </a:pPr>
            <a:r>
              <a:rPr lang="en-US" dirty="0"/>
              <a:t>   </a:t>
            </a:r>
          </a:p>
          <a:p>
            <a:endParaRPr lang="en-IN" dirty="0"/>
          </a:p>
        </p:txBody>
      </p:sp>
    </p:spTree>
    <p:extLst>
      <p:ext uri="{BB962C8B-B14F-4D97-AF65-F5344CB8AC3E}">
        <p14:creationId xmlns:p14="http://schemas.microsoft.com/office/powerpoint/2010/main" val="394936436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EBF6D-8798-1633-F326-A0E18C9D9B15}"/>
              </a:ext>
            </a:extLst>
          </p:cNvPr>
          <p:cNvSpPr>
            <a:spLocks noGrp="1"/>
          </p:cNvSpPr>
          <p:nvPr>
            <p:ph type="title"/>
          </p:nvPr>
        </p:nvSpPr>
        <p:spPr/>
        <p:txBody>
          <a:bodyPr/>
          <a:lstStyle/>
          <a:p>
            <a:r>
              <a:rPr lang="en-US" dirty="0"/>
              <a:t>Example of Namespace</a:t>
            </a:r>
            <a:endParaRPr lang="en-IN" dirty="0"/>
          </a:p>
        </p:txBody>
      </p:sp>
      <p:sp>
        <p:nvSpPr>
          <p:cNvPr id="3" name="Content Placeholder 2">
            <a:extLst>
              <a:ext uri="{FF2B5EF4-FFF2-40B4-BE49-F238E27FC236}">
                <a16:creationId xmlns:a16="http://schemas.microsoft.com/office/drawing/2014/main" id="{649EF8A2-EBA5-C91C-0E4C-080010628DCD}"/>
              </a:ext>
            </a:extLst>
          </p:cNvPr>
          <p:cNvSpPr>
            <a:spLocks noGrp="1"/>
          </p:cNvSpPr>
          <p:nvPr>
            <p:ph idx="1"/>
          </p:nvPr>
        </p:nvSpPr>
        <p:spPr>
          <a:xfrm>
            <a:off x="838200" y="1825625"/>
            <a:ext cx="4789714" cy="4351338"/>
          </a:xfrm>
        </p:spPr>
        <p:txBody>
          <a:bodyPr>
            <a:normAutofit fontScale="77500" lnSpcReduction="20000"/>
          </a:bodyPr>
          <a:lstStyle/>
          <a:p>
            <a:pPr marL="0" indent="0">
              <a:buNone/>
            </a:pPr>
            <a:r>
              <a:rPr lang="en-IN" dirty="0"/>
              <a:t>// File: </a:t>
            </a:r>
            <a:r>
              <a:rPr lang="en-IN" dirty="0" err="1"/>
              <a:t>Player.cs</a:t>
            </a:r>
            <a:endParaRPr lang="en-IN" dirty="0"/>
          </a:p>
          <a:p>
            <a:pPr marL="0" indent="0">
              <a:buNone/>
            </a:pPr>
            <a:r>
              <a:rPr lang="en-IN" dirty="0"/>
              <a:t>using </a:t>
            </a:r>
            <a:r>
              <a:rPr lang="en-IN" dirty="0" err="1"/>
              <a:t>UnityEngine</a:t>
            </a:r>
            <a:r>
              <a:rPr lang="en-IN" dirty="0"/>
              <a:t>;</a:t>
            </a:r>
          </a:p>
          <a:p>
            <a:pPr marL="0" indent="0">
              <a:buNone/>
            </a:pPr>
            <a:r>
              <a:rPr lang="en-IN" dirty="0"/>
              <a:t>namespace </a:t>
            </a:r>
            <a:r>
              <a:rPr lang="en-IN" dirty="0" err="1"/>
              <a:t>MyGame.Characters</a:t>
            </a:r>
            <a:endParaRPr lang="en-IN" dirty="0"/>
          </a:p>
          <a:p>
            <a:pPr marL="0" indent="0">
              <a:buNone/>
            </a:pPr>
            <a:r>
              <a:rPr lang="en-IN" dirty="0"/>
              <a:t>{</a:t>
            </a:r>
          </a:p>
          <a:p>
            <a:pPr marL="0" indent="0">
              <a:buNone/>
            </a:pPr>
            <a:r>
              <a:rPr lang="en-IN" dirty="0"/>
              <a:t>    public class Player : </a:t>
            </a:r>
            <a:r>
              <a:rPr lang="en-IN" dirty="0" err="1"/>
              <a:t>MonoBehaviour</a:t>
            </a:r>
            <a:endParaRPr lang="en-IN" dirty="0"/>
          </a:p>
          <a:p>
            <a:pPr marL="0" indent="0">
              <a:buNone/>
            </a:pPr>
            <a:r>
              <a:rPr lang="en-IN" dirty="0"/>
              <a:t>    {</a:t>
            </a:r>
          </a:p>
          <a:p>
            <a:pPr marL="0" indent="0">
              <a:buNone/>
            </a:pPr>
            <a:r>
              <a:rPr lang="en-IN" dirty="0"/>
              <a:t>        public void Jump()</a:t>
            </a:r>
          </a:p>
          <a:p>
            <a:pPr marL="0" indent="0">
              <a:buNone/>
            </a:pPr>
            <a:r>
              <a:rPr lang="en-IN" dirty="0"/>
              <a:t>        {</a:t>
            </a:r>
          </a:p>
          <a:p>
            <a:pPr marL="0" indent="0">
              <a:buNone/>
            </a:pPr>
            <a:r>
              <a:rPr lang="en-IN" dirty="0"/>
              <a:t>            </a:t>
            </a:r>
            <a:r>
              <a:rPr lang="en-IN" dirty="0" err="1"/>
              <a:t>Debug.Log</a:t>
            </a:r>
            <a:r>
              <a:rPr lang="en-IN" dirty="0"/>
              <a:t>("Player jumps!");</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
        <p:nvSpPr>
          <p:cNvPr id="5" name="TextBox 4">
            <a:extLst>
              <a:ext uri="{FF2B5EF4-FFF2-40B4-BE49-F238E27FC236}">
                <a16:creationId xmlns:a16="http://schemas.microsoft.com/office/drawing/2014/main" id="{63E763D6-69D4-C35B-3CE7-E96E058F02B5}"/>
              </a:ext>
            </a:extLst>
          </p:cNvPr>
          <p:cNvSpPr txBox="1"/>
          <p:nvPr/>
        </p:nvSpPr>
        <p:spPr>
          <a:xfrm>
            <a:off x="5867400" y="1582340"/>
            <a:ext cx="4963886" cy="3693319"/>
          </a:xfrm>
          <a:prstGeom prst="rect">
            <a:avLst/>
          </a:prstGeom>
          <a:noFill/>
        </p:spPr>
        <p:txBody>
          <a:bodyPr wrap="square">
            <a:spAutoFit/>
          </a:bodyPr>
          <a:lstStyle/>
          <a:p>
            <a:r>
              <a:rPr lang="en-IN" dirty="0"/>
              <a:t>// File: </a:t>
            </a:r>
            <a:r>
              <a:rPr lang="en-IN" dirty="0" err="1"/>
              <a:t>GameManager.cs</a:t>
            </a:r>
            <a:endParaRPr lang="en-IN" dirty="0"/>
          </a:p>
          <a:p>
            <a:r>
              <a:rPr lang="en-IN" dirty="0"/>
              <a:t>using </a:t>
            </a:r>
            <a:r>
              <a:rPr lang="en-IN" dirty="0" err="1"/>
              <a:t>UnityEngine</a:t>
            </a:r>
            <a:r>
              <a:rPr lang="en-IN" dirty="0"/>
              <a:t>;</a:t>
            </a:r>
          </a:p>
          <a:p>
            <a:r>
              <a:rPr lang="en-IN" dirty="0"/>
              <a:t>using </a:t>
            </a:r>
            <a:r>
              <a:rPr lang="en-IN" dirty="0" err="1"/>
              <a:t>MyGame.Characters</a:t>
            </a:r>
            <a:r>
              <a:rPr lang="en-IN" dirty="0"/>
              <a:t>;  // &lt;-- Import the namespace</a:t>
            </a:r>
          </a:p>
          <a:p>
            <a:endParaRPr lang="en-IN" dirty="0"/>
          </a:p>
          <a:p>
            <a:r>
              <a:rPr lang="en-IN" dirty="0"/>
              <a:t>public class </a:t>
            </a:r>
            <a:r>
              <a:rPr lang="en-IN" dirty="0" err="1"/>
              <a:t>GameManager</a:t>
            </a:r>
            <a:r>
              <a:rPr lang="en-IN" dirty="0"/>
              <a:t> : </a:t>
            </a:r>
            <a:r>
              <a:rPr lang="en-IN" dirty="0" err="1"/>
              <a:t>MonoBehaviour</a:t>
            </a:r>
            <a:endParaRPr lang="en-IN" dirty="0"/>
          </a:p>
          <a:p>
            <a:r>
              <a:rPr lang="en-IN" dirty="0"/>
              <a:t>{</a:t>
            </a:r>
          </a:p>
          <a:p>
            <a:r>
              <a:rPr lang="en-IN" dirty="0"/>
              <a:t>    public Player </a:t>
            </a:r>
            <a:r>
              <a:rPr lang="en-IN" dirty="0" err="1"/>
              <a:t>player</a:t>
            </a:r>
            <a:r>
              <a:rPr lang="en-IN" dirty="0"/>
              <a:t>;  </a:t>
            </a:r>
          </a:p>
          <a:p>
            <a:r>
              <a:rPr lang="en-IN" dirty="0"/>
              <a:t>    void Start()</a:t>
            </a:r>
          </a:p>
          <a:p>
            <a:r>
              <a:rPr lang="en-IN" dirty="0"/>
              <a:t>    {</a:t>
            </a:r>
          </a:p>
          <a:p>
            <a:r>
              <a:rPr lang="en-IN" dirty="0"/>
              <a:t>        </a:t>
            </a:r>
            <a:r>
              <a:rPr lang="en-IN" dirty="0" err="1"/>
              <a:t>player.Jump</a:t>
            </a:r>
            <a:r>
              <a:rPr lang="en-IN" dirty="0"/>
              <a:t>();</a:t>
            </a:r>
          </a:p>
          <a:p>
            <a:r>
              <a:rPr lang="en-IN" dirty="0"/>
              <a:t>    }</a:t>
            </a:r>
          </a:p>
          <a:p>
            <a:r>
              <a:rPr lang="en-IN" dirty="0"/>
              <a:t>}</a:t>
            </a:r>
          </a:p>
        </p:txBody>
      </p:sp>
    </p:spTree>
    <p:extLst>
      <p:ext uri="{BB962C8B-B14F-4D97-AF65-F5344CB8AC3E}">
        <p14:creationId xmlns:p14="http://schemas.microsoft.com/office/powerpoint/2010/main" val="151838181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26CB3-D8BB-8CBB-F4EC-A56073042E86}"/>
              </a:ext>
            </a:extLst>
          </p:cNvPr>
          <p:cNvSpPr>
            <a:spLocks noGrp="1"/>
          </p:cNvSpPr>
          <p:nvPr>
            <p:ph type="title"/>
          </p:nvPr>
        </p:nvSpPr>
        <p:spPr/>
        <p:txBody>
          <a:bodyPr/>
          <a:lstStyle/>
          <a:p>
            <a:r>
              <a:rPr lang="en-US" dirty="0" err="1"/>
              <a:t>Inheritence</a:t>
            </a:r>
            <a:endParaRPr lang="en-IN" dirty="0"/>
          </a:p>
        </p:txBody>
      </p:sp>
      <p:sp>
        <p:nvSpPr>
          <p:cNvPr id="3" name="Content Placeholder 2">
            <a:extLst>
              <a:ext uri="{FF2B5EF4-FFF2-40B4-BE49-F238E27FC236}">
                <a16:creationId xmlns:a16="http://schemas.microsoft.com/office/drawing/2014/main" id="{FFA43B40-7928-AC8C-64AD-78B3EFFEA7F5}"/>
              </a:ext>
            </a:extLst>
          </p:cNvPr>
          <p:cNvSpPr>
            <a:spLocks noGrp="1"/>
          </p:cNvSpPr>
          <p:nvPr>
            <p:ph idx="1"/>
          </p:nvPr>
        </p:nvSpPr>
        <p:spPr/>
        <p:txBody>
          <a:bodyPr>
            <a:normAutofit/>
          </a:bodyPr>
          <a:lstStyle/>
          <a:p>
            <a:r>
              <a:rPr lang="en-US" dirty="0"/>
              <a:t>Inheritance is like passing traits from parents to children.</a:t>
            </a:r>
          </a:p>
          <a:p>
            <a:r>
              <a:rPr lang="en-US" dirty="0"/>
              <a:t>In programming, we say:</a:t>
            </a:r>
          </a:p>
          <a:p>
            <a:pPr lvl="1"/>
            <a:r>
              <a:rPr lang="en-US" dirty="0"/>
              <a:t>A child class inherits from a parent class (also called a base class).</a:t>
            </a:r>
          </a:p>
          <a:p>
            <a:pPr lvl="1"/>
            <a:r>
              <a:rPr lang="en-US" dirty="0"/>
              <a:t>The child class gets:</a:t>
            </a:r>
          </a:p>
          <a:p>
            <a:pPr lvl="2"/>
            <a:r>
              <a:rPr lang="en-US" dirty="0"/>
              <a:t>All public and protected properties, methods, and behaviors of the parent class.</a:t>
            </a:r>
          </a:p>
          <a:p>
            <a:pPr lvl="2"/>
            <a:r>
              <a:rPr lang="en-US" dirty="0"/>
              <a:t>It can also add new things or change how things work (override).</a:t>
            </a:r>
          </a:p>
          <a:p>
            <a:r>
              <a:rPr lang="en-US" dirty="0"/>
              <a:t>Use virtual and override to customize behavior.</a:t>
            </a:r>
          </a:p>
          <a:p>
            <a:pPr lvl="1"/>
            <a:r>
              <a:rPr lang="en-US" dirty="0"/>
              <a:t> virtual — used in the base class to mark a method as customizable.</a:t>
            </a:r>
          </a:p>
          <a:p>
            <a:pPr lvl="1"/>
            <a:r>
              <a:rPr lang="en-US" dirty="0"/>
              <a:t>override — used in the derived class to replace the virtual method’s behavior.</a:t>
            </a:r>
            <a:endParaRPr lang="en-IN" dirty="0"/>
          </a:p>
        </p:txBody>
      </p:sp>
    </p:spTree>
    <p:extLst>
      <p:ext uri="{BB962C8B-B14F-4D97-AF65-F5344CB8AC3E}">
        <p14:creationId xmlns:p14="http://schemas.microsoft.com/office/powerpoint/2010/main" val="190439565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294B1-AC29-B901-573C-81815F852A17}"/>
              </a:ext>
            </a:extLst>
          </p:cNvPr>
          <p:cNvSpPr>
            <a:spLocks noGrp="1"/>
          </p:cNvSpPr>
          <p:nvPr>
            <p:ph type="title"/>
          </p:nvPr>
        </p:nvSpPr>
        <p:spPr/>
        <p:txBody>
          <a:bodyPr/>
          <a:lstStyle/>
          <a:p>
            <a:r>
              <a:rPr lang="en-US" dirty="0"/>
              <a:t>[</a:t>
            </a:r>
            <a:r>
              <a:rPr lang="en-US" dirty="0" err="1"/>
              <a:t>System.serializable</a:t>
            </a:r>
            <a:r>
              <a:rPr lang="en-US" dirty="0"/>
              <a:t>]</a:t>
            </a:r>
            <a:endParaRPr lang="en-IN" dirty="0"/>
          </a:p>
        </p:txBody>
      </p:sp>
      <p:sp>
        <p:nvSpPr>
          <p:cNvPr id="3" name="Content Placeholder 2">
            <a:extLst>
              <a:ext uri="{FF2B5EF4-FFF2-40B4-BE49-F238E27FC236}">
                <a16:creationId xmlns:a16="http://schemas.microsoft.com/office/drawing/2014/main" id="{92C40729-3940-47EB-EB42-BE3DF3B25355}"/>
              </a:ext>
            </a:extLst>
          </p:cNvPr>
          <p:cNvSpPr>
            <a:spLocks noGrp="1"/>
          </p:cNvSpPr>
          <p:nvPr>
            <p:ph idx="1"/>
          </p:nvPr>
        </p:nvSpPr>
        <p:spPr/>
        <p:txBody>
          <a:bodyPr>
            <a:normAutofit fontScale="92500" lnSpcReduction="20000"/>
          </a:bodyPr>
          <a:lstStyle/>
          <a:p>
            <a:r>
              <a:rPr lang="en-US" dirty="0"/>
              <a:t>It’s a tag you put on a class to tell Unity:</a:t>
            </a:r>
            <a:br>
              <a:rPr lang="en-US" dirty="0"/>
            </a:br>
            <a:r>
              <a:rPr lang="en-US" i="1" dirty="0"/>
              <a:t>Hey, please show this class’s data in the Inspector so I can edit it!</a:t>
            </a:r>
          </a:p>
          <a:p>
            <a:r>
              <a:rPr lang="en-US" dirty="0"/>
              <a:t>Why use it?</a:t>
            </a:r>
          </a:p>
          <a:p>
            <a:pPr lvl="1"/>
            <a:r>
              <a:rPr lang="en-US" dirty="0"/>
              <a:t>If you make your own class and want to see and change its values in Unity’s Inspector, you </a:t>
            </a:r>
            <a:r>
              <a:rPr lang="en-US" b="1" dirty="0"/>
              <a:t>need</a:t>
            </a:r>
            <a:r>
              <a:rPr lang="en-US" dirty="0"/>
              <a:t> this tag.</a:t>
            </a:r>
          </a:p>
          <a:p>
            <a:r>
              <a:rPr lang="en-US" dirty="0"/>
              <a:t>Important :- </a:t>
            </a:r>
            <a:r>
              <a:rPr lang="en-US" dirty="0" err="1"/>
              <a:t>Vaaiable</a:t>
            </a:r>
            <a:r>
              <a:rPr lang="en-US" dirty="0"/>
              <a:t> Level annotation</a:t>
            </a:r>
          </a:p>
          <a:p>
            <a:pPr lvl="2"/>
            <a:r>
              <a:rPr lang="en-US" dirty="0"/>
              <a:t>[</a:t>
            </a:r>
            <a:r>
              <a:rPr lang="en-US" dirty="0" err="1"/>
              <a:t>SerializeField</a:t>
            </a:r>
            <a:r>
              <a:rPr lang="en-US" dirty="0"/>
              <a:t>]</a:t>
            </a:r>
          </a:p>
          <a:p>
            <a:pPr lvl="2"/>
            <a:r>
              <a:rPr lang="en-US" dirty="0"/>
              <a:t>[</a:t>
            </a:r>
            <a:r>
              <a:rPr lang="en-US" dirty="0" err="1"/>
              <a:t>HideInInspector</a:t>
            </a:r>
            <a:r>
              <a:rPr lang="en-US" dirty="0"/>
              <a:t>]</a:t>
            </a:r>
          </a:p>
          <a:p>
            <a:pPr lvl="2"/>
            <a:r>
              <a:rPr lang="en-US" dirty="0"/>
              <a:t>[Range(</a:t>
            </a:r>
            <a:r>
              <a:rPr lang="en-US" dirty="0" err="1"/>
              <a:t>minValue,maxValue</a:t>
            </a:r>
            <a:r>
              <a:rPr lang="en-US" dirty="0"/>
              <a:t>)]</a:t>
            </a:r>
            <a:r>
              <a:rPr lang="en-US" dirty="0">
                <a:sym typeface="Wingdings" panose="05000000000000000000" pitchFamily="2" charset="2"/>
              </a:rPr>
              <a:t>create slider in inspector</a:t>
            </a:r>
          </a:p>
          <a:p>
            <a:r>
              <a:rPr lang="en-US" dirty="0">
                <a:sym typeface="Wingdings" panose="05000000000000000000" pitchFamily="2" charset="2"/>
              </a:rPr>
              <a:t>[</a:t>
            </a:r>
            <a:r>
              <a:rPr lang="en-US" dirty="0" err="1">
                <a:sym typeface="Wingdings" panose="05000000000000000000" pitchFamily="2" charset="2"/>
              </a:rPr>
              <a:t>RequiredComponent.typeOf</a:t>
            </a:r>
            <a:r>
              <a:rPr lang="en-US" dirty="0">
                <a:sym typeface="Wingdings" panose="05000000000000000000" pitchFamily="2" charset="2"/>
              </a:rPr>
              <a:t>(</a:t>
            </a:r>
            <a:r>
              <a:rPr lang="en-US" dirty="0" err="1">
                <a:sym typeface="Wingdings" panose="05000000000000000000" pitchFamily="2" charset="2"/>
              </a:rPr>
              <a:t>componentName</a:t>
            </a:r>
            <a:r>
              <a:rPr lang="en-US" dirty="0">
                <a:sym typeface="Wingdings" panose="05000000000000000000" pitchFamily="2" charset="2"/>
              </a:rPr>
              <a:t>)] add required component  and it is class level annotation</a:t>
            </a:r>
          </a:p>
          <a:p>
            <a:br>
              <a:rPr lang="en-US" dirty="0">
                <a:sym typeface="Wingdings" panose="05000000000000000000" pitchFamily="2" charset="2"/>
              </a:rPr>
            </a:br>
            <a:endParaRPr lang="en-US" dirty="0"/>
          </a:p>
          <a:p>
            <a:pPr lvl="2"/>
            <a:endParaRPr lang="en-US" dirty="0"/>
          </a:p>
          <a:p>
            <a:endParaRPr lang="en-IN" dirty="0"/>
          </a:p>
        </p:txBody>
      </p:sp>
    </p:spTree>
    <p:extLst>
      <p:ext uri="{BB962C8B-B14F-4D97-AF65-F5344CB8AC3E}">
        <p14:creationId xmlns:p14="http://schemas.microsoft.com/office/powerpoint/2010/main" val="283939206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6E21E-F17C-9307-BB02-52D970DBD6F8}"/>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C8CA1B6D-9707-B450-D329-AF2012F13EC3}"/>
              </a:ext>
            </a:extLst>
          </p:cNvPr>
          <p:cNvSpPr>
            <a:spLocks noGrp="1"/>
          </p:cNvSpPr>
          <p:nvPr>
            <p:ph idx="1"/>
          </p:nvPr>
        </p:nvSpPr>
        <p:spPr/>
        <p:txBody>
          <a:bodyPr>
            <a:normAutofit fontScale="62500" lnSpcReduction="20000"/>
          </a:bodyPr>
          <a:lstStyle/>
          <a:p>
            <a:pPr marL="0" indent="0" algn="just">
              <a:buNone/>
            </a:pPr>
            <a:r>
              <a:rPr lang="en-US" dirty="0"/>
              <a:t>using </a:t>
            </a:r>
            <a:r>
              <a:rPr lang="en-US" dirty="0" err="1"/>
              <a:t>UnityEngine</a:t>
            </a:r>
            <a:r>
              <a:rPr lang="en-US" dirty="0"/>
              <a:t>;</a:t>
            </a:r>
          </a:p>
          <a:p>
            <a:pPr marL="0" indent="0" algn="just">
              <a:buNone/>
            </a:pPr>
            <a:r>
              <a:rPr lang="en-US" dirty="0"/>
              <a:t>public class Player : </a:t>
            </a:r>
            <a:r>
              <a:rPr lang="en-US" dirty="0" err="1"/>
              <a:t>MonoBehaviour</a:t>
            </a:r>
            <a:endParaRPr lang="en-US" dirty="0"/>
          </a:p>
          <a:p>
            <a:pPr marL="0" indent="0" algn="just">
              <a:buNone/>
            </a:pPr>
            <a:r>
              <a:rPr lang="en-US" dirty="0"/>
              <a:t>{</a:t>
            </a:r>
          </a:p>
          <a:p>
            <a:pPr marL="0" indent="0" algn="just">
              <a:buNone/>
            </a:pPr>
            <a:r>
              <a:rPr lang="en-US" dirty="0"/>
              <a:t>    // Add [</a:t>
            </a:r>
            <a:r>
              <a:rPr lang="en-US" dirty="0" err="1"/>
              <a:t>System.Serializable</a:t>
            </a:r>
            <a:r>
              <a:rPr lang="en-US" dirty="0"/>
              <a:t>] so Unity shows this class in Inspector</a:t>
            </a:r>
          </a:p>
          <a:p>
            <a:pPr marL="0" indent="0" algn="just">
              <a:buNone/>
            </a:pPr>
            <a:r>
              <a:rPr lang="en-US" dirty="0"/>
              <a:t>    [</a:t>
            </a:r>
            <a:r>
              <a:rPr lang="en-US" dirty="0" err="1"/>
              <a:t>System.Serializable</a:t>
            </a:r>
            <a:r>
              <a:rPr lang="en-US" dirty="0"/>
              <a:t>]</a:t>
            </a:r>
          </a:p>
          <a:p>
            <a:pPr marL="0" indent="0" algn="just">
              <a:buNone/>
            </a:pPr>
            <a:r>
              <a:rPr lang="en-US" dirty="0"/>
              <a:t>    public class Stats</a:t>
            </a:r>
          </a:p>
          <a:p>
            <a:pPr marL="0" indent="0" algn="just">
              <a:buNone/>
            </a:pPr>
            <a:r>
              <a:rPr lang="en-US" dirty="0"/>
              <a:t>    {</a:t>
            </a:r>
          </a:p>
          <a:p>
            <a:pPr marL="0" indent="0" algn="just">
              <a:buNone/>
            </a:pPr>
            <a:r>
              <a:rPr lang="en-US" dirty="0"/>
              <a:t>        public int health = 100;</a:t>
            </a:r>
          </a:p>
          <a:p>
            <a:pPr marL="0" indent="0" algn="just">
              <a:buNone/>
            </a:pPr>
            <a:r>
              <a:rPr lang="en-US" dirty="0"/>
              <a:t>        public int mana = 50;</a:t>
            </a:r>
          </a:p>
          <a:p>
            <a:pPr marL="0" indent="0" algn="just">
              <a:buNone/>
            </a:pPr>
            <a:r>
              <a:rPr lang="en-US" dirty="0"/>
              <a:t>    }</a:t>
            </a:r>
          </a:p>
          <a:p>
            <a:pPr marL="0" indent="0" algn="just">
              <a:buNone/>
            </a:pPr>
            <a:r>
              <a:rPr lang="en-US" dirty="0"/>
              <a:t>    // This field will be shown in Inspector because Stats is serializable</a:t>
            </a:r>
          </a:p>
          <a:p>
            <a:pPr marL="0" indent="0" algn="just">
              <a:buNone/>
            </a:pPr>
            <a:r>
              <a:rPr lang="en-US" dirty="0"/>
              <a:t>    public Stats </a:t>
            </a:r>
            <a:r>
              <a:rPr lang="en-US" dirty="0" err="1"/>
              <a:t>playerStats</a:t>
            </a:r>
            <a:r>
              <a:rPr lang="en-US" dirty="0"/>
              <a:t>;</a:t>
            </a:r>
          </a:p>
          <a:p>
            <a:pPr marL="0" indent="0" algn="just">
              <a:buNone/>
            </a:pPr>
            <a:r>
              <a:rPr lang="en-US" dirty="0"/>
              <a:t>}</a:t>
            </a:r>
          </a:p>
          <a:p>
            <a:pPr marL="0" indent="0" algn="just">
              <a:buNone/>
            </a:pPr>
            <a:endParaRPr lang="en-IN" dirty="0"/>
          </a:p>
        </p:txBody>
      </p:sp>
    </p:spTree>
    <p:extLst>
      <p:ext uri="{BB962C8B-B14F-4D97-AF65-F5344CB8AC3E}">
        <p14:creationId xmlns:p14="http://schemas.microsoft.com/office/powerpoint/2010/main" val="6327805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6B63-CB7C-0403-3362-78FF52339D56}"/>
              </a:ext>
            </a:extLst>
          </p:cNvPr>
          <p:cNvSpPr>
            <a:spLocks noGrp="1"/>
          </p:cNvSpPr>
          <p:nvPr>
            <p:ph type="title"/>
          </p:nvPr>
        </p:nvSpPr>
        <p:spPr/>
        <p:txBody>
          <a:bodyPr/>
          <a:lstStyle/>
          <a:p>
            <a:r>
              <a:rPr lang="en-US" b="1" dirty="0"/>
              <a:t>What are Getters and Setters?</a:t>
            </a:r>
            <a:br>
              <a:rPr lang="en-US" b="1" dirty="0"/>
            </a:br>
            <a:endParaRPr lang="en-IN" dirty="0"/>
          </a:p>
        </p:txBody>
      </p:sp>
      <p:sp>
        <p:nvSpPr>
          <p:cNvPr id="3" name="Content Placeholder 2">
            <a:extLst>
              <a:ext uri="{FF2B5EF4-FFF2-40B4-BE49-F238E27FC236}">
                <a16:creationId xmlns:a16="http://schemas.microsoft.com/office/drawing/2014/main" id="{C49ECA7C-2245-DCF0-3E5A-5D94F85E01FD}"/>
              </a:ext>
            </a:extLst>
          </p:cNvPr>
          <p:cNvSpPr>
            <a:spLocks noGrp="1"/>
          </p:cNvSpPr>
          <p:nvPr>
            <p:ph idx="1"/>
          </p:nvPr>
        </p:nvSpPr>
        <p:spPr/>
        <p:txBody>
          <a:bodyPr>
            <a:normAutofit lnSpcReduction="10000"/>
          </a:bodyPr>
          <a:lstStyle/>
          <a:p>
            <a:r>
              <a:rPr lang="en-US" dirty="0"/>
              <a:t>Getters let you access (read) a value.</a:t>
            </a:r>
          </a:p>
          <a:p>
            <a:r>
              <a:rPr lang="en-US" dirty="0"/>
              <a:t>Setters let you change (write) a value.</a:t>
            </a:r>
          </a:p>
          <a:p>
            <a:r>
              <a:rPr lang="en-US" dirty="0"/>
              <a:t>They help control how fields are accessed or modified (like validation, logging, etc.).</a:t>
            </a:r>
          </a:p>
          <a:p>
            <a:r>
              <a:rPr lang="en-US" b="1" dirty="0"/>
              <a:t>Ways to Do Get and Set</a:t>
            </a:r>
          </a:p>
          <a:p>
            <a:pPr lvl="1"/>
            <a:r>
              <a:rPr lang="en-US" dirty="0"/>
              <a:t>Using Methods for Get and Set</a:t>
            </a:r>
          </a:p>
          <a:p>
            <a:pPr lvl="2"/>
            <a:r>
              <a:rPr lang="en-US" dirty="0"/>
              <a:t>Create a methods and return the fields</a:t>
            </a:r>
          </a:p>
          <a:p>
            <a:pPr lvl="1"/>
            <a:r>
              <a:rPr lang="en-IN" dirty="0"/>
              <a:t>Using Properties </a:t>
            </a:r>
          </a:p>
          <a:p>
            <a:pPr lvl="1"/>
            <a:r>
              <a:rPr lang="en-US" dirty="0"/>
              <a:t>Get and set inbuilt methods</a:t>
            </a:r>
          </a:p>
          <a:p>
            <a:pPr lvl="1"/>
            <a:r>
              <a:rPr lang="en-IN" dirty="0"/>
              <a:t>with Auto-Properties</a:t>
            </a:r>
          </a:p>
          <a:p>
            <a:pPr lvl="2"/>
            <a:r>
              <a:rPr lang="en-US" dirty="0"/>
              <a:t>public int Health { get; set; }</a:t>
            </a:r>
          </a:p>
          <a:p>
            <a:pPr lvl="1"/>
            <a:endParaRPr lang="en-IN" dirty="0"/>
          </a:p>
        </p:txBody>
      </p:sp>
    </p:spTree>
    <p:extLst>
      <p:ext uri="{BB962C8B-B14F-4D97-AF65-F5344CB8AC3E}">
        <p14:creationId xmlns:p14="http://schemas.microsoft.com/office/powerpoint/2010/main" val="7320458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1727B-4BE3-E657-F68E-C46699215302}"/>
              </a:ext>
            </a:extLst>
          </p:cNvPr>
          <p:cNvSpPr>
            <a:spLocks noGrp="1"/>
          </p:cNvSpPr>
          <p:nvPr>
            <p:ph type="ctrTitle"/>
          </p:nvPr>
        </p:nvSpPr>
        <p:spPr/>
        <p:txBody>
          <a:bodyPr/>
          <a:lstStyle/>
          <a:p>
            <a:r>
              <a:rPr lang="en-US" dirty="0"/>
              <a:t>Enum</a:t>
            </a:r>
            <a:endParaRPr lang="en-IN" dirty="0"/>
          </a:p>
        </p:txBody>
      </p:sp>
      <p:sp>
        <p:nvSpPr>
          <p:cNvPr id="3" name="Subtitle 2">
            <a:extLst>
              <a:ext uri="{FF2B5EF4-FFF2-40B4-BE49-F238E27FC236}">
                <a16:creationId xmlns:a16="http://schemas.microsoft.com/office/drawing/2014/main" id="{6828667A-0211-D7CB-79F4-AA4ACD9194E6}"/>
              </a:ext>
            </a:extLst>
          </p:cNvPr>
          <p:cNvSpPr>
            <a:spLocks noGrp="1"/>
          </p:cNvSpPr>
          <p:nvPr>
            <p:ph type="subTitle" idx="1"/>
          </p:nvPr>
        </p:nvSpPr>
        <p:spPr/>
        <p:txBody>
          <a:bodyPr/>
          <a:lstStyle/>
          <a:p>
            <a:r>
              <a:rPr lang="en-US" dirty="0"/>
              <a:t>By using Enum we can create a new data Types in unity</a:t>
            </a:r>
            <a:endParaRPr lang="en-IN" dirty="0"/>
          </a:p>
        </p:txBody>
      </p:sp>
    </p:spTree>
    <p:extLst>
      <p:ext uri="{BB962C8B-B14F-4D97-AF65-F5344CB8AC3E}">
        <p14:creationId xmlns:p14="http://schemas.microsoft.com/office/powerpoint/2010/main" val="269193364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6F5353-4CAA-552B-734B-C2E8177AEF8B}"/>
              </a:ext>
            </a:extLst>
          </p:cNvPr>
          <p:cNvSpPr>
            <a:spLocks noGrp="1"/>
          </p:cNvSpPr>
          <p:nvPr>
            <p:ph idx="1"/>
          </p:nvPr>
        </p:nvSpPr>
        <p:spPr/>
        <p:txBody>
          <a:bodyPr>
            <a:normAutofit/>
          </a:bodyPr>
          <a:lstStyle/>
          <a:p>
            <a:r>
              <a:rPr lang="en-US" dirty="0" err="1"/>
              <a:t>enum</a:t>
            </a:r>
            <a:r>
              <a:rPr lang="en-US" dirty="0"/>
              <a:t> = a list of named values or we can create customize </a:t>
            </a:r>
            <a:r>
              <a:rPr lang="en-US" dirty="0" err="1"/>
              <a:t>dataTypes</a:t>
            </a:r>
            <a:endParaRPr lang="en-US" dirty="0"/>
          </a:p>
          <a:p>
            <a:r>
              <a:rPr lang="en-US" dirty="0"/>
              <a:t>Used to represent fixed choices or states</a:t>
            </a:r>
          </a:p>
          <a:p>
            <a:r>
              <a:rPr lang="en-US" dirty="0"/>
              <a:t>Makes code clean, readable, and bug-free</a:t>
            </a:r>
          </a:p>
          <a:p>
            <a:r>
              <a:rPr lang="en-IN" dirty="0"/>
              <a:t>Why:-</a:t>
            </a:r>
          </a:p>
          <a:p>
            <a:pPr lvl="1"/>
            <a:r>
              <a:rPr lang="en-IN" dirty="0"/>
              <a:t> </a:t>
            </a:r>
            <a:r>
              <a:rPr lang="en-US" dirty="0"/>
              <a:t>Replaces magic numbers or strings</a:t>
            </a:r>
          </a:p>
          <a:p>
            <a:pPr lvl="1"/>
            <a:r>
              <a:rPr lang="en-US" dirty="0"/>
              <a:t>Helps with game state, enemy AI, weapon types, etc.</a:t>
            </a:r>
          </a:p>
          <a:p>
            <a:pPr lvl="1"/>
            <a:r>
              <a:rPr lang="en-US" dirty="0"/>
              <a:t>Works great with switch statements</a:t>
            </a:r>
          </a:p>
          <a:p>
            <a:pPr lvl="1"/>
            <a:r>
              <a:rPr lang="en-US" dirty="0"/>
              <a:t>Shows up as dropdown in Unity Inspector</a:t>
            </a:r>
          </a:p>
          <a:p>
            <a:endParaRPr lang="en-US" dirty="0"/>
          </a:p>
        </p:txBody>
      </p:sp>
      <p:sp>
        <p:nvSpPr>
          <p:cNvPr id="5" name="Title 4">
            <a:extLst>
              <a:ext uri="{FF2B5EF4-FFF2-40B4-BE49-F238E27FC236}">
                <a16:creationId xmlns:a16="http://schemas.microsoft.com/office/drawing/2014/main" id="{5AF907DD-0076-DBB6-6215-EA7454B35807}"/>
              </a:ext>
            </a:extLst>
          </p:cNvPr>
          <p:cNvSpPr>
            <a:spLocks noGrp="1"/>
          </p:cNvSpPr>
          <p:nvPr>
            <p:ph type="title"/>
          </p:nvPr>
        </p:nvSpPr>
        <p:spPr/>
        <p:txBody>
          <a:bodyPr/>
          <a:lstStyle/>
          <a:p>
            <a:r>
              <a:rPr lang="en-US" dirty="0"/>
              <a:t>What is </a:t>
            </a:r>
            <a:r>
              <a:rPr lang="en-US" dirty="0" err="1"/>
              <a:t>enum</a:t>
            </a:r>
            <a:r>
              <a:rPr lang="en-US" dirty="0"/>
              <a:t>?</a:t>
            </a:r>
            <a:endParaRPr lang="en-IN" dirty="0"/>
          </a:p>
        </p:txBody>
      </p:sp>
    </p:spTree>
    <p:extLst>
      <p:ext uri="{BB962C8B-B14F-4D97-AF65-F5344CB8AC3E}">
        <p14:creationId xmlns:p14="http://schemas.microsoft.com/office/powerpoint/2010/main" val="12732121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E1DCA-AE6E-9875-2A0F-F2345B00D2A3}"/>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b="1"/>
              <a:t>Example:-</a:t>
            </a:r>
          </a:p>
        </p:txBody>
      </p:sp>
      <p:graphicFrame>
        <p:nvGraphicFramePr>
          <p:cNvPr id="4" name="Content Placeholder 3">
            <a:extLst>
              <a:ext uri="{FF2B5EF4-FFF2-40B4-BE49-F238E27FC236}">
                <a16:creationId xmlns:a16="http://schemas.microsoft.com/office/drawing/2014/main" id="{792E7AAD-596F-D2B0-7229-DA1A6989F5B9}"/>
              </a:ext>
            </a:extLst>
          </p:cNvPr>
          <p:cNvGraphicFramePr>
            <a:graphicFrameLocks noGrp="1"/>
          </p:cNvGraphicFramePr>
          <p:nvPr>
            <p:ph idx="1"/>
          </p:nvPr>
        </p:nvGraphicFramePr>
        <p:xfrm>
          <a:off x="2809809" y="1905445"/>
          <a:ext cx="6572383" cy="3378280"/>
        </p:xfrm>
        <a:graphic>
          <a:graphicData uri="http://schemas.openxmlformats.org/drawingml/2006/table">
            <a:tbl>
              <a:tblPr>
                <a:noFill/>
              </a:tblPr>
              <a:tblGrid>
                <a:gridCol w="2126174">
                  <a:extLst>
                    <a:ext uri="{9D8B030D-6E8A-4147-A177-3AD203B41FA5}">
                      <a16:colId xmlns:a16="http://schemas.microsoft.com/office/drawing/2014/main" val="682186800"/>
                    </a:ext>
                  </a:extLst>
                </a:gridCol>
                <a:gridCol w="4446209">
                  <a:extLst>
                    <a:ext uri="{9D8B030D-6E8A-4147-A177-3AD203B41FA5}">
                      <a16:colId xmlns:a16="http://schemas.microsoft.com/office/drawing/2014/main" val="3127247265"/>
                    </a:ext>
                  </a:extLst>
                </a:gridCol>
              </a:tblGrid>
              <a:tr h="675656">
                <a:tc>
                  <a:txBody>
                    <a:bodyPr/>
                    <a:lstStyle/>
                    <a:p>
                      <a:r>
                        <a:rPr lang="en-IN" sz="1700" cap="none" spc="0">
                          <a:solidFill>
                            <a:schemeClr val="tx1"/>
                          </a:solidFill>
                        </a:rPr>
                        <a:t>Feature</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700" cap="none" spc="0">
                          <a:solidFill>
                            <a:schemeClr val="tx1"/>
                          </a:solidFill>
                        </a:rPr>
                        <a:t>Example Enums</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12559987"/>
                  </a:ext>
                </a:extLst>
              </a:tr>
              <a:tr h="675656">
                <a:tc>
                  <a:txBody>
                    <a:bodyPr/>
                    <a:lstStyle/>
                    <a:p>
                      <a:r>
                        <a:rPr lang="en-IN" sz="1700" cap="none" spc="0">
                          <a:solidFill>
                            <a:schemeClr val="tx1"/>
                          </a:solidFill>
                        </a:rPr>
                        <a:t>Game State</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700" cap="none" spc="0" dirty="0" err="1">
                          <a:solidFill>
                            <a:schemeClr val="tx1"/>
                          </a:solidFill>
                        </a:rPr>
                        <a:t>MainMenu</a:t>
                      </a:r>
                      <a:r>
                        <a:rPr lang="en-IN" sz="1700" cap="none" spc="0" dirty="0">
                          <a:solidFill>
                            <a:schemeClr val="tx1"/>
                          </a:solidFill>
                        </a:rPr>
                        <a:t>, Playing, Paused, </a:t>
                      </a:r>
                      <a:r>
                        <a:rPr lang="en-IN" sz="1700" cap="none" spc="0" dirty="0" err="1">
                          <a:solidFill>
                            <a:schemeClr val="tx1"/>
                          </a:solidFill>
                        </a:rPr>
                        <a:t>GameOver</a:t>
                      </a:r>
                      <a:endParaRPr lang="en-IN" sz="1700" cap="none" spc="0" dirty="0">
                        <a:solidFill>
                          <a:schemeClr val="tx1"/>
                        </a:solidFill>
                      </a:endParaRP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8347655"/>
                  </a:ext>
                </a:extLst>
              </a:tr>
              <a:tr h="675656">
                <a:tc>
                  <a:txBody>
                    <a:bodyPr/>
                    <a:lstStyle/>
                    <a:p>
                      <a:r>
                        <a:rPr lang="en-IN" sz="1700" cap="none" spc="0">
                          <a:solidFill>
                            <a:schemeClr val="tx1"/>
                          </a:solidFill>
                        </a:rPr>
                        <a:t>Enemy Behavior</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700" cap="none" spc="0">
                          <a:solidFill>
                            <a:schemeClr val="tx1"/>
                          </a:solidFill>
                        </a:rPr>
                        <a:t>Idle, Patrol, Chase, Attack</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57800355"/>
                  </a:ext>
                </a:extLst>
              </a:tr>
              <a:tr h="675656">
                <a:tc>
                  <a:txBody>
                    <a:bodyPr/>
                    <a:lstStyle/>
                    <a:p>
                      <a:r>
                        <a:rPr lang="en-IN" sz="1700" cap="none" spc="0">
                          <a:solidFill>
                            <a:schemeClr val="tx1"/>
                          </a:solidFill>
                        </a:rPr>
                        <a:t>Weapon Types</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700" cap="none" spc="0">
                          <a:solidFill>
                            <a:schemeClr val="tx1"/>
                          </a:solidFill>
                        </a:rPr>
                        <a:t>Sword, Bow, Magic</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86313624"/>
                  </a:ext>
                </a:extLst>
              </a:tr>
              <a:tr h="675656">
                <a:tc>
                  <a:txBody>
                    <a:bodyPr/>
                    <a:lstStyle/>
                    <a:p>
                      <a:r>
                        <a:rPr lang="en-IN" sz="1700" cap="none" spc="0">
                          <a:solidFill>
                            <a:schemeClr val="tx1"/>
                          </a:solidFill>
                        </a:rPr>
                        <a:t>Difficulty Level</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IN" sz="1700" cap="none" spc="0" dirty="0">
                          <a:solidFill>
                            <a:schemeClr val="tx1"/>
                          </a:solidFill>
                        </a:rPr>
                        <a:t>Easy, Medium, Hard</a:t>
                      </a:r>
                    </a:p>
                  </a:txBody>
                  <a:tcPr marL="182063" marR="182063" marT="182063" marB="18206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98111269"/>
                  </a:ext>
                </a:extLst>
              </a:tr>
            </a:tbl>
          </a:graphicData>
        </a:graphic>
      </p:graphicFrame>
      <p:sp>
        <p:nvSpPr>
          <p:cNvPr id="6" name="TextBox 5">
            <a:extLst>
              <a:ext uri="{FF2B5EF4-FFF2-40B4-BE49-F238E27FC236}">
                <a16:creationId xmlns:a16="http://schemas.microsoft.com/office/drawing/2014/main" id="{CB18BAC6-D636-4F29-BAB4-1F32028ED64B}"/>
              </a:ext>
            </a:extLst>
          </p:cNvPr>
          <p:cNvSpPr txBox="1"/>
          <p:nvPr/>
        </p:nvSpPr>
        <p:spPr>
          <a:xfrm>
            <a:off x="8763000" y="3659615"/>
            <a:ext cx="6096000" cy="2862322"/>
          </a:xfrm>
          <a:prstGeom prst="rect">
            <a:avLst/>
          </a:prstGeom>
          <a:noFill/>
        </p:spPr>
        <p:txBody>
          <a:bodyPr wrap="square">
            <a:spAutoFit/>
          </a:bodyPr>
          <a:lstStyle/>
          <a:p>
            <a:r>
              <a:rPr lang="en-IN" dirty="0">
                <a:sym typeface="Wingdings" panose="05000000000000000000" pitchFamily="2" charset="2"/>
              </a:rPr>
              <a:t>How to create Enum</a:t>
            </a:r>
            <a:br>
              <a:rPr lang="en-IN" dirty="0"/>
            </a:br>
            <a:br>
              <a:rPr lang="en-IN" dirty="0"/>
            </a:br>
            <a:r>
              <a:rPr lang="en-IN" dirty="0"/>
              <a:t>// Outside any class</a:t>
            </a:r>
          </a:p>
          <a:p>
            <a:r>
              <a:rPr lang="en-IN" dirty="0"/>
              <a:t>public </a:t>
            </a:r>
            <a:r>
              <a:rPr lang="en-IN" dirty="0" err="1"/>
              <a:t>enum</a:t>
            </a:r>
            <a:r>
              <a:rPr lang="en-IN" dirty="0"/>
              <a:t> </a:t>
            </a:r>
            <a:r>
              <a:rPr lang="en-IN" dirty="0" err="1"/>
              <a:t>GameState</a:t>
            </a:r>
            <a:endParaRPr lang="en-IN" dirty="0"/>
          </a:p>
          <a:p>
            <a:r>
              <a:rPr lang="en-IN" dirty="0"/>
              <a:t>{</a:t>
            </a:r>
          </a:p>
          <a:p>
            <a:r>
              <a:rPr lang="en-IN" dirty="0"/>
              <a:t>    </a:t>
            </a:r>
            <a:r>
              <a:rPr lang="en-IN" dirty="0" err="1"/>
              <a:t>MainMenu</a:t>
            </a:r>
            <a:r>
              <a:rPr lang="en-IN" dirty="0"/>
              <a:t>,</a:t>
            </a:r>
          </a:p>
          <a:p>
            <a:r>
              <a:rPr lang="en-IN" dirty="0"/>
              <a:t>    Playing,</a:t>
            </a:r>
          </a:p>
          <a:p>
            <a:r>
              <a:rPr lang="en-IN" dirty="0"/>
              <a:t>    Paused,</a:t>
            </a:r>
          </a:p>
          <a:p>
            <a:r>
              <a:rPr lang="en-IN" dirty="0"/>
              <a:t>    </a:t>
            </a:r>
            <a:r>
              <a:rPr lang="en-IN" dirty="0" err="1"/>
              <a:t>GameOver</a:t>
            </a:r>
            <a:endParaRPr lang="en-IN" dirty="0"/>
          </a:p>
          <a:p>
            <a:r>
              <a:rPr lang="en-IN" dirty="0"/>
              <a:t>}</a:t>
            </a:r>
          </a:p>
        </p:txBody>
      </p:sp>
    </p:spTree>
    <p:extLst>
      <p:ext uri="{BB962C8B-B14F-4D97-AF65-F5344CB8AC3E}">
        <p14:creationId xmlns:p14="http://schemas.microsoft.com/office/powerpoint/2010/main" val="166826875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48E1C-6096-5554-2204-FBF5090F24C6}"/>
              </a:ext>
            </a:extLst>
          </p:cNvPr>
          <p:cNvSpPr>
            <a:spLocks noGrp="1"/>
          </p:cNvSpPr>
          <p:nvPr>
            <p:ph type="title"/>
          </p:nvPr>
        </p:nvSpPr>
        <p:spPr/>
        <p:txBody>
          <a:bodyPr/>
          <a:lstStyle/>
          <a:p>
            <a:r>
              <a:rPr lang="en-US" dirty="0"/>
              <a:t>What is a Coroutine in Unity?</a:t>
            </a:r>
            <a:endParaRPr lang="en-IN" dirty="0"/>
          </a:p>
        </p:txBody>
      </p:sp>
      <p:sp>
        <p:nvSpPr>
          <p:cNvPr id="3" name="Content Placeholder 2">
            <a:extLst>
              <a:ext uri="{FF2B5EF4-FFF2-40B4-BE49-F238E27FC236}">
                <a16:creationId xmlns:a16="http://schemas.microsoft.com/office/drawing/2014/main" id="{C4B38E9E-D8DB-29A9-8C7D-14D0A7DD5817}"/>
              </a:ext>
            </a:extLst>
          </p:cNvPr>
          <p:cNvSpPr>
            <a:spLocks noGrp="1"/>
          </p:cNvSpPr>
          <p:nvPr>
            <p:ph idx="1"/>
          </p:nvPr>
        </p:nvSpPr>
        <p:spPr>
          <a:xfrm>
            <a:off x="956732" y="1236133"/>
            <a:ext cx="10397067" cy="4940830"/>
          </a:xfrm>
        </p:spPr>
        <p:txBody>
          <a:bodyPr>
            <a:normAutofit/>
          </a:bodyPr>
          <a:lstStyle/>
          <a:p>
            <a:r>
              <a:rPr lang="en-US" dirty="0"/>
              <a:t>A Coroutine is a special function that lets you pause execution and resume it later, without blocking the entire game.\</a:t>
            </a:r>
          </a:p>
          <a:p>
            <a:r>
              <a:rPr lang="en-IN" dirty="0"/>
              <a:t>Why use coroutines?</a:t>
            </a:r>
            <a:endParaRPr lang="en-US" dirty="0"/>
          </a:p>
          <a:p>
            <a:pPr lvl="1"/>
            <a:r>
              <a:rPr lang="en-US" dirty="0"/>
              <a:t>To perform time-based tasks (wait for seconds, delays).</a:t>
            </a:r>
          </a:p>
          <a:p>
            <a:pPr lvl="1"/>
            <a:r>
              <a:rPr lang="en-US" dirty="0"/>
              <a:t>To break complex tasks into steps over multiple frames.</a:t>
            </a:r>
          </a:p>
          <a:p>
            <a:pPr lvl="1"/>
            <a:r>
              <a:rPr lang="en-US" dirty="0"/>
              <a:t>To handle asynchronous behavior without freezing your game.</a:t>
            </a:r>
          </a:p>
          <a:p>
            <a:r>
              <a:rPr lang="en-IN" dirty="0"/>
              <a:t>How this works:</a:t>
            </a:r>
          </a:p>
          <a:p>
            <a:pPr lvl="1"/>
            <a:r>
              <a:rPr lang="en-US" dirty="0" err="1"/>
              <a:t>IEnumerator</a:t>
            </a:r>
            <a:r>
              <a:rPr lang="en-US" dirty="0"/>
              <a:t> function is a coroutine.</a:t>
            </a:r>
          </a:p>
          <a:p>
            <a:pPr lvl="2"/>
            <a:r>
              <a:rPr lang="en-US" dirty="0"/>
              <a:t>yield return pauses execution:</a:t>
            </a:r>
          </a:p>
          <a:p>
            <a:pPr lvl="2"/>
            <a:r>
              <a:rPr lang="en-US" dirty="0" err="1"/>
              <a:t>WaitForSeconds</a:t>
            </a:r>
            <a:r>
              <a:rPr lang="en-US" dirty="0"/>
              <a:t>(2) pauses for 2 seconds.</a:t>
            </a:r>
          </a:p>
          <a:p>
            <a:pPr lvl="2"/>
            <a:r>
              <a:rPr lang="en-US" dirty="0"/>
              <a:t>yield return null — waits until next frame.</a:t>
            </a:r>
          </a:p>
          <a:p>
            <a:pPr lvl="1"/>
            <a:r>
              <a:rPr lang="en-US" dirty="0"/>
              <a:t>After waiting, execution resumes where it left off.</a:t>
            </a:r>
            <a:endParaRPr lang="en-IN" dirty="0"/>
          </a:p>
        </p:txBody>
      </p:sp>
    </p:spTree>
    <p:extLst>
      <p:ext uri="{BB962C8B-B14F-4D97-AF65-F5344CB8AC3E}">
        <p14:creationId xmlns:p14="http://schemas.microsoft.com/office/powerpoint/2010/main" val="257776464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A2AE3-C4A8-EF2F-2B19-1C6E27D85F4E}"/>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5E9B686F-9F00-93AA-508E-B201DFA7CF5D}"/>
              </a:ext>
            </a:extLst>
          </p:cNvPr>
          <p:cNvSpPr>
            <a:spLocks noGrp="1"/>
          </p:cNvSpPr>
          <p:nvPr>
            <p:ph idx="1"/>
          </p:nvPr>
        </p:nvSpPr>
        <p:spPr/>
        <p:txBody>
          <a:bodyPr>
            <a:normAutofit fontScale="32500" lnSpcReduction="20000"/>
          </a:bodyPr>
          <a:lstStyle/>
          <a:p>
            <a:pPr marL="0" indent="0">
              <a:buNone/>
            </a:pPr>
            <a:r>
              <a:rPr lang="en-IN" dirty="0"/>
              <a:t>public class </a:t>
            </a:r>
            <a:r>
              <a:rPr lang="en-IN" dirty="0" err="1"/>
              <a:t>CoroutineExample</a:t>
            </a:r>
            <a:r>
              <a:rPr lang="en-IN" dirty="0"/>
              <a:t> : </a:t>
            </a:r>
            <a:r>
              <a:rPr lang="en-IN" dirty="0" err="1"/>
              <a:t>MonoBehaviour</a:t>
            </a:r>
            <a:endParaRPr lang="en-IN" dirty="0"/>
          </a:p>
          <a:p>
            <a:pPr marL="0" indent="0">
              <a:buNone/>
            </a:pPr>
            <a:r>
              <a:rPr lang="en-IN" dirty="0"/>
              <a:t>{</a:t>
            </a:r>
          </a:p>
          <a:p>
            <a:pPr marL="0" indent="0">
              <a:buNone/>
            </a:pPr>
            <a:r>
              <a:rPr lang="en-IN" dirty="0"/>
              <a:t>    void Start()</a:t>
            </a:r>
          </a:p>
          <a:p>
            <a:pPr marL="0" indent="0">
              <a:buNone/>
            </a:pPr>
            <a:r>
              <a:rPr lang="en-IN" dirty="0"/>
              <a:t>    {</a:t>
            </a:r>
          </a:p>
          <a:p>
            <a:pPr marL="0" indent="0">
              <a:buNone/>
            </a:pPr>
            <a:r>
              <a:rPr lang="en-IN" dirty="0"/>
              <a:t>        // Start the coroutine</a:t>
            </a:r>
          </a:p>
          <a:p>
            <a:pPr marL="0" indent="0">
              <a:buNone/>
            </a:pPr>
            <a:r>
              <a:rPr lang="en-IN" dirty="0"/>
              <a:t>        </a:t>
            </a:r>
            <a:r>
              <a:rPr lang="en-IN" dirty="0" err="1"/>
              <a:t>StartCoroutine</a:t>
            </a:r>
            <a:r>
              <a:rPr lang="en-IN" dirty="0"/>
              <a:t>(</a:t>
            </a:r>
            <a:r>
              <a:rPr lang="en-IN" dirty="0" err="1"/>
              <a:t>MyCoroutine</a:t>
            </a:r>
            <a:r>
              <a:rPr lang="en-IN" dirty="0"/>
              <a:t>());   </a:t>
            </a:r>
            <a:r>
              <a:rPr lang="en-IN" dirty="0">
                <a:sym typeface="Wingdings" panose="05000000000000000000" pitchFamily="2" charset="2"/>
              </a:rPr>
              <a:t> ways to call </a:t>
            </a:r>
            <a:r>
              <a:rPr lang="en-IN" dirty="0" err="1">
                <a:sym typeface="Wingdings" panose="05000000000000000000" pitchFamily="2" charset="2"/>
              </a:rPr>
              <a:t>corountine</a:t>
            </a:r>
            <a:r>
              <a:rPr lang="en-IN" dirty="0">
                <a:sym typeface="Wingdings" panose="05000000000000000000" pitchFamily="2" charset="2"/>
              </a:rPr>
              <a:t> and this is not </a:t>
            </a:r>
            <a:r>
              <a:rPr lang="en-IN" dirty="0" err="1">
                <a:sym typeface="Wingdings" panose="05000000000000000000" pitchFamily="2" charset="2"/>
              </a:rPr>
              <a:t>reccommeded</a:t>
            </a:r>
            <a:r>
              <a:rPr lang="en-IN" dirty="0">
                <a:sym typeface="Wingdings" panose="05000000000000000000" pitchFamily="2" charset="2"/>
              </a:rPr>
              <a:t> way  </a:t>
            </a:r>
          </a:p>
          <a:p>
            <a:pPr marL="0" indent="0">
              <a:buNone/>
            </a:pPr>
            <a:br>
              <a:rPr lang="en-IN" dirty="0">
                <a:sym typeface="Wingdings" panose="05000000000000000000" pitchFamily="2" charset="2"/>
              </a:rPr>
            </a:br>
            <a:r>
              <a:rPr lang="en-IN" dirty="0">
                <a:sym typeface="Wingdings" panose="05000000000000000000" pitchFamily="2" charset="2"/>
              </a:rPr>
              <a:t>            </a:t>
            </a:r>
            <a:r>
              <a:rPr lang="en-IN" dirty="0" err="1">
                <a:solidFill>
                  <a:srgbClr val="FF0000"/>
                </a:solidFill>
              </a:rPr>
              <a:t>StartCoroutine</a:t>
            </a:r>
            <a:r>
              <a:rPr lang="en-IN" dirty="0">
                <a:solidFill>
                  <a:srgbClr val="FF0000"/>
                </a:solidFill>
              </a:rPr>
              <a:t>(“</a:t>
            </a:r>
            <a:r>
              <a:rPr lang="en-IN" dirty="0" err="1">
                <a:solidFill>
                  <a:srgbClr val="FF0000"/>
                </a:solidFill>
              </a:rPr>
              <a:t>MyCoroutine</a:t>
            </a:r>
            <a:r>
              <a:rPr lang="en-IN" dirty="0">
                <a:solidFill>
                  <a:srgbClr val="FF0000"/>
                </a:solidFill>
              </a:rPr>
              <a:t>”)</a:t>
            </a:r>
          </a:p>
          <a:p>
            <a:pPr marL="0" indent="0">
              <a:buNone/>
            </a:pPr>
            <a:r>
              <a:rPr lang="en-IN" dirty="0"/>
              <a:t>    }</a:t>
            </a:r>
          </a:p>
          <a:p>
            <a:pPr marL="0" indent="0">
              <a:buNone/>
            </a:pPr>
            <a:r>
              <a:rPr lang="en-IN" dirty="0"/>
              <a:t>    </a:t>
            </a:r>
            <a:r>
              <a:rPr lang="en-IN" dirty="0" err="1"/>
              <a:t>IEnumerator</a:t>
            </a:r>
            <a:r>
              <a:rPr lang="en-IN" dirty="0"/>
              <a:t> </a:t>
            </a:r>
            <a:r>
              <a:rPr lang="en-IN" dirty="0" err="1"/>
              <a:t>MyCoroutine</a:t>
            </a:r>
            <a:r>
              <a:rPr lang="en-IN" dirty="0"/>
              <a:t>()</a:t>
            </a:r>
          </a:p>
          <a:p>
            <a:pPr marL="0" indent="0">
              <a:buNone/>
            </a:pPr>
            <a:r>
              <a:rPr lang="en-IN" dirty="0"/>
              <a:t>    {</a:t>
            </a:r>
          </a:p>
          <a:p>
            <a:pPr marL="0" indent="0">
              <a:buNone/>
            </a:pPr>
            <a:r>
              <a:rPr lang="en-IN" dirty="0"/>
              <a:t>       </a:t>
            </a:r>
            <a:r>
              <a:rPr lang="en-IN" dirty="0" err="1"/>
              <a:t>Debug.Log</a:t>
            </a:r>
            <a:r>
              <a:rPr lang="en-IN" dirty="0"/>
              <a:t>("Coroutine started");</a:t>
            </a:r>
          </a:p>
          <a:p>
            <a:pPr marL="0" indent="0">
              <a:buNone/>
            </a:pPr>
            <a:r>
              <a:rPr lang="en-IN" dirty="0"/>
              <a:t>        // Wait for 2 seconds</a:t>
            </a:r>
          </a:p>
          <a:p>
            <a:pPr marL="0" indent="0">
              <a:buNone/>
            </a:pPr>
            <a:r>
              <a:rPr lang="en-IN" dirty="0"/>
              <a:t> yield return new </a:t>
            </a:r>
            <a:r>
              <a:rPr lang="en-IN" dirty="0" err="1"/>
              <a:t>WaitForSeconds</a:t>
            </a:r>
            <a:r>
              <a:rPr lang="en-IN" dirty="0"/>
              <a:t>(2);</a:t>
            </a:r>
          </a:p>
          <a:p>
            <a:pPr marL="0" indent="0">
              <a:buNone/>
            </a:pPr>
            <a:r>
              <a:rPr lang="en-IN" dirty="0"/>
              <a:t>        </a:t>
            </a:r>
            <a:r>
              <a:rPr lang="en-IN" dirty="0" err="1"/>
              <a:t>Debug.Log</a:t>
            </a:r>
            <a:r>
              <a:rPr lang="en-IN" dirty="0"/>
              <a:t>("2 seconds passed");</a:t>
            </a:r>
          </a:p>
          <a:p>
            <a:pPr marL="0" indent="0">
              <a:buNone/>
            </a:pPr>
            <a:r>
              <a:rPr lang="en-IN" dirty="0"/>
              <a:t>        // Wait for next frame</a:t>
            </a:r>
          </a:p>
          <a:p>
            <a:pPr marL="0" indent="0">
              <a:buNone/>
            </a:pPr>
            <a:r>
              <a:rPr lang="en-IN" dirty="0"/>
              <a:t>        yield return null;</a:t>
            </a:r>
          </a:p>
          <a:p>
            <a:pPr marL="0" indent="0">
              <a:buNone/>
            </a:pPr>
            <a:r>
              <a:rPr lang="en-IN" dirty="0"/>
              <a:t>        </a:t>
            </a:r>
            <a:r>
              <a:rPr lang="en-IN" dirty="0" err="1"/>
              <a:t>Debug.Log</a:t>
            </a:r>
            <a:r>
              <a:rPr lang="en-IN" dirty="0"/>
              <a:t>("Coroutine ended");</a:t>
            </a:r>
          </a:p>
          <a:p>
            <a:pPr marL="0" indent="0">
              <a:buNone/>
            </a:pPr>
            <a:r>
              <a:rPr lang="en-IN" dirty="0"/>
              <a:t>    }</a:t>
            </a:r>
          </a:p>
        </p:txBody>
      </p:sp>
    </p:spTree>
    <p:extLst>
      <p:ext uri="{BB962C8B-B14F-4D97-AF65-F5344CB8AC3E}">
        <p14:creationId xmlns:p14="http://schemas.microsoft.com/office/powerpoint/2010/main" val="35104962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9E4CA-8E1C-21F1-6DF7-69F4A9F4398F}"/>
              </a:ext>
            </a:extLst>
          </p:cNvPr>
          <p:cNvSpPr>
            <a:spLocks noGrp="1"/>
          </p:cNvSpPr>
          <p:nvPr>
            <p:ph type="ctrTitle"/>
          </p:nvPr>
        </p:nvSpPr>
        <p:spPr/>
        <p:txBody>
          <a:bodyPr/>
          <a:lstStyle/>
          <a:p>
            <a:r>
              <a:rPr lang="en-US" dirty="0"/>
              <a:t>Important Methods Used in</a:t>
            </a:r>
            <a:br>
              <a:rPr lang="en-US" dirty="0"/>
            </a:br>
            <a:r>
              <a:rPr lang="en-IN" dirty="0"/>
              <a:t>Coroutine</a:t>
            </a:r>
          </a:p>
        </p:txBody>
      </p:sp>
    </p:spTree>
    <p:extLst>
      <p:ext uri="{BB962C8B-B14F-4D97-AF65-F5344CB8AC3E}">
        <p14:creationId xmlns:p14="http://schemas.microsoft.com/office/powerpoint/2010/main" val="378457928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5F4B296A-DB57-210F-DD88-4AEDC18E8354}"/>
              </a:ext>
            </a:extLst>
          </p:cNvPr>
          <p:cNvGraphicFramePr>
            <a:graphicFrameLocks noGrp="1"/>
          </p:cNvGraphicFramePr>
          <p:nvPr/>
        </p:nvGraphicFramePr>
        <p:xfrm>
          <a:off x="643467" y="912199"/>
          <a:ext cx="10905068" cy="5033601"/>
        </p:xfrm>
        <a:graphic>
          <a:graphicData uri="http://schemas.openxmlformats.org/drawingml/2006/table">
            <a:tbl>
              <a:tblPr/>
              <a:tblGrid>
                <a:gridCol w="2197730">
                  <a:extLst>
                    <a:ext uri="{9D8B030D-6E8A-4147-A177-3AD203B41FA5}">
                      <a16:colId xmlns:a16="http://schemas.microsoft.com/office/drawing/2014/main" val="3800345424"/>
                    </a:ext>
                  </a:extLst>
                </a:gridCol>
                <a:gridCol w="2251481">
                  <a:extLst>
                    <a:ext uri="{9D8B030D-6E8A-4147-A177-3AD203B41FA5}">
                      <a16:colId xmlns:a16="http://schemas.microsoft.com/office/drawing/2014/main" val="3750727856"/>
                    </a:ext>
                  </a:extLst>
                </a:gridCol>
                <a:gridCol w="3402398">
                  <a:extLst>
                    <a:ext uri="{9D8B030D-6E8A-4147-A177-3AD203B41FA5}">
                      <a16:colId xmlns:a16="http://schemas.microsoft.com/office/drawing/2014/main" val="3985796123"/>
                    </a:ext>
                  </a:extLst>
                </a:gridCol>
                <a:gridCol w="3053459">
                  <a:extLst>
                    <a:ext uri="{9D8B030D-6E8A-4147-A177-3AD203B41FA5}">
                      <a16:colId xmlns:a16="http://schemas.microsoft.com/office/drawing/2014/main" val="3988824423"/>
                    </a:ext>
                  </a:extLst>
                </a:gridCol>
              </a:tblGrid>
              <a:tr h="361737">
                <a:tc>
                  <a:txBody>
                    <a:bodyPr/>
                    <a:lstStyle/>
                    <a:p>
                      <a:r>
                        <a:rPr lang="en-IN" sz="1600" b="1"/>
                        <a:t>Concept</a:t>
                      </a:r>
                      <a:endParaRPr lang="en-IN" sz="1600"/>
                    </a:p>
                  </a:txBody>
                  <a:tcPr marL="76443" marR="76443" marT="38221" marB="38221" anchor="ctr">
                    <a:lnL>
                      <a:noFill/>
                    </a:lnL>
                    <a:lnR>
                      <a:noFill/>
                    </a:lnR>
                    <a:lnT>
                      <a:noFill/>
                    </a:lnT>
                    <a:lnB>
                      <a:noFill/>
                    </a:lnB>
                    <a:noFill/>
                  </a:tcPr>
                </a:tc>
                <a:tc>
                  <a:txBody>
                    <a:bodyPr/>
                    <a:lstStyle/>
                    <a:p>
                      <a:r>
                        <a:rPr lang="en-IN" sz="1600" b="1"/>
                        <a:t>What It Does</a:t>
                      </a:r>
                      <a:endParaRPr lang="en-IN" sz="1600"/>
                    </a:p>
                  </a:txBody>
                  <a:tcPr marL="76443" marR="76443" marT="38221" marB="38221" anchor="ctr">
                    <a:lnL>
                      <a:noFill/>
                    </a:lnL>
                    <a:lnR>
                      <a:noFill/>
                    </a:lnR>
                    <a:lnT>
                      <a:noFill/>
                    </a:lnT>
                    <a:lnB>
                      <a:noFill/>
                    </a:lnB>
                    <a:noFill/>
                  </a:tcPr>
                </a:tc>
                <a:tc>
                  <a:txBody>
                    <a:bodyPr/>
                    <a:lstStyle/>
                    <a:p>
                      <a:r>
                        <a:rPr lang="en-IN" sz="1600" b="1"/>
                        <a:t>Syntax</a:t>
                      </a:r>
                      <a:endParaRPr lang="en-IN" sz="1600"/>
                    </a:p>
                  </a:txBody>
                  <a:tcPr marL="76443" marR="76443" marT="38221" marB="38221" anchor="ctr">
                    <a:lnL>
                      <a:noFill/>
                    </a:lnL>
                    <a:lnR>
                      <a:noFill/>
                    </a:lnR>
                    <a:lnT>
                      <a:noFill/>
                    </a:lnT>
                    <a:lnB>
                      <a:noFill/>
                    </a:lnB>
                    <a:noFill/>
                  </a:tcPr>
                </a:tc>
                <a:tc>
                  <a:txBody>
                    <a:bodyPr/>
                    <a:lstStyle/>
                    <a:p>
                      <a:r>
                        <a:rPr lang="en-IN" sz="1600" b="1"/>
                        <a:t>Example</a:t>
                      </a:r>
                      <a:endParaRPr lang="en-IN" sz="1600"/>
                    </a:p>
                  </a:txBody>
                  <a:tcPr marL="76443" marR="76443" marT="38221" marB="38221" anchor="ctr">
                    <a:lnL>
                      <a:noFill/>
                    </a:lnL>
                    <a:lnR>
                      <a:noFill/>
                    </a:lnR>
                    <a:lnT>
                      <a:noFill/>
                    </a:lnT>
                    <a:lnB>
                      <a:noFill/>
                    </a:lnB>
                    <a:noFill/>
                  </a:tcPr>
                </a:tc>
                <a:extLst>
                  <a:ext uri="{0D108BD9-81ED-4DB2-BD59-A6C34878D82A}">
                    <a16:rowId xmlns:a16="http://schemas.microsoft.com/office/drawing/2014/main" val="1427688511"/>
                  </a:ext>
                </a:extLst>
              </a:tr>
              <a:tr h="1074972">
                <a:tc>
                  <a:txBody>
                    <a:bodyPr/>
                    <a:lstStyle/>
                    <a:p>
                      <a:r>
                        <a:rPr lang="en-IN" sz="1600"/>
                        <a:t>Coroutine Method</a:t>
                      </a:r>
                    </a:p>
                  </a:txBody>
                  <a:tcPr marL="76443" marR="76443" marT="38221" marB="38221" anchor="ctr">
                    <a:lnL>
                      <a:noFill/>
                    </a:lnL>
                    <a:lnR>
                      <a:noFill/>
                    </a:lnR>
                    <a:lnT>
                      <a:noFill/>
                    </a:lnT>
                    <a:lnB>
                      <a:noFill/>
                    </a:lnB>
                    <a:noFill/>
                  </a:tcPr>
                </a:tc>
                <a:tc>
                  <a:txBody>
                    <a:bodyPr/>
                    <a:lstStyle/>
                    <a:p>
                      <a:r>
                        <a:rPr lang="en-US" sz="1600"/>
                        <a:t>Method that can pause and resume using yield</a:t>
                      </a:r>
                    </a:p>
                  </a:txBody>
                  <a:tcPr marL="76443" marR="76443" marT="38221" marB="38221" anchor="ctr">
                    <a:lnL>
                      <a:noFill/>
                    </a:lnL>
                    <a:lnR>
                      <a:noFill/>
                    </a:lnR>
                    <a:lnT>
                      <a:noFill/>
                    </a:lnT>
                    <a:lnB>
                      <a:noFill/>
                    </a:lnB>
                    <a:noFill/>
                  </a:tcPr>
                </a:tc>
                <a:tc>
                  <a:txBody>
                    <a:bodyPr/>
                    <a:lstStyle/>
                    <a:p>
                      <a:r>
                        <a:rPr lang="en-IN" sz="1600"/>
                        <a:t>IEnumerator MethodName() { yield return ...; }</a:t>
                      </a:r>
                    </a:p>
                  </a:txBody>
                  <a:tcPr marL="76443" marR="76443" marT="38221" marB="38221" anchor="ctr">
                    <a:lnL>
                      <a:noFill/>
                    </a:lnL>
                    <a:lnR>
                      <a:noFill/>
                    </a:lnR>
                    <a:lnT>
                      <a:noFill/>
                    </a:lnT>
                    <a:lnB>
                      <a:noFill/>
                    </a:lnB>
                    <a:noFill/>
                  </a:tcPr>
                </a:tc>
                <a:tc>
                  <a:txBody>
                    <a:bodyPr/>
                    <a:lstStyle/>
                    <a:p>
                      <a:r>
                        <a:rPr lang="en-US" sz="1600"/>
                        <a:t>IEnumerator WaitThenPrint() { yield return new WaitForSeconds(2); Debug.Log("Waited 2s"); }</a:t>
                      </a:r>
                    </a:p>
                  </a:txBody>
                  <a:tcPr marL="76443" marR="76443" marT="38221" marB="38221" anchor="ctr">
                    <a:lnL>
                      <a:noFill/>
                    </a:lnL>
                    <a:lnR>
                      <a:noFill/>
                    </a:lnR>
                    <a:lnT>
                      <a:noFill/>
                    </a:lnT>
                    <a:lnB>
                      <a:noFill/>
                    </a:lnB>
                    <a:noFill/>
                  </a:tcPr>
                </a:tc>
                <a:extLst>
                  <a:ext uri="{0D108BD9-81ED-4DB2-BD59-A6C34878D82A}">
                    <a16:rowId xmlns:a16="http://schemas.microsoft.com/office/drawing/2014/main" val="268784492"/>
                  </a:ext>
                </a:extLst>
              </a:tr>
              <a:tr h="599482">
                <a:tc>
                  <a:txBody>
                    <a:bodyPr/>
                    <a:lstStyle/>
                    <a:p>
                      <a:r>
                        <a:rPr lang="en-IN" sz="1600" dirty="0"/>
                        <a:t>Start Coroutine</a:t>
                      </a:r>
                    </a:p>
                  </a:txBody>
                  <a:tcPr marL="76443" marR="76443" marT="38221" marB="38221" anchor="ctr">
                    <a:lnL>
                      <a:noFill/>
                    </a:lnL>
                    <a:lnR>
                      <a:noFill/>
                    </a:lnR>
                    <a:lnT>
                      <a:noFill/>
                    </a:lnT>
                    <a:lnB>
                      <a:noFill/>
                    </a:lnB>
                    <a:noFill/>
                  </a:tcPr>
                </a:tc>
                <a:tc>
                  <a:txBody>
                    <a:bodyPr/>
                    <a:lstStyle/>
                    <a:p>
                      <a:r>
                        <a:rPr lang="en-IN" sz="1600"/>
                        <a:t>Starts running the coroutine</a:t>
                      </a:r>
                    </a:p>
                  </a:txBody>
                  <a:tcPr marL="76443" marR="76443" marT="38221" marB="38221" anchor="ctr">
                    <a:lnL>
                      <a:noFill/>
                    </a:lnL>
                    <a:lnR>
                      <a:noFill/>
                    </a:lnR>
                    <a:lnT>
                      <a:noFill/>
                    </a:lnT>
                    <a:lnB>
                      <a:noFill/>
                    </a:lnB>
                    <a:noFill/>
                  </a:tcPr>
                </a:tc>
                <a:tc>
                  <a:txBody>
                    <a:bodyPr/>
                    <a:lstStyle/>
                    <a:p>
                      <a:r>
                        <a:rPr lang="en-IN" sz="1600"/>
                        <a:t>StartCoroutine(MethodName());</a:t>
                      </a:r>
                    </a:p>
                  </a:txBody>
                  <a:tcPr marL="76443" marR="76443" marT="38221" marB="38221" anchor="ctr">
                    <a:lnL>
                      <a:noFill/>
                    </a:lnL>
                    <a:lnR>
                      <a:noFill/>
                    </a:lnR>
                    <a:lnT>
                      <a:noFill/>
                    </a:lnT>
                    <a:lnB>
                      <a:noFill/>
                    </a:lnB>
                    <a:noFill/>
                  </a:tcPr>
                </a:tc>
                <a:tc>
                  <a:txBody>
                    <a:bodyPr/>
                    <a:lstStyle/>
                    <a:p>
                      <a:r>
                        <a:rPr lang="en-IN" sz="1600"/>
                        <a:t>StartCoroutine(WaitThenPrint());</a:t>
                      </a:r>
                    </a:p>
                  </a:txBody>
                  <a:tcPr marL="76443" marR="76443" marT="38221" marB="38221" anchor="ctr">
                    <a:lnL>
                      <a:noFill/>
                    </a:lnL>
                    <a:lnR>
                      <a:noFill/>
                    </a:lnR>
                    <a:lnT>
                      <a:noFill/>
                    </a:lnT>
                    <a:lnB>
                      <a:noFill/>
                    </a:lnB>
                    <a:noFill/>
                  </a:tcPr>
                </a:tc>
                <a:extLst>
                  <a:ext uri="{0D108BD9-81ED-4DB2-BD59-A6C34878D82A}">
                    <a16:rowId xmlns:a16="http://schemas.microsoft.com/office/drawing/2014/main" val="1937071676"/>
                  </a:ext>
                </a:extLst>
              </a:tr>
              <a:tr h="361737">
                <a:tc>
                  <a:txBody>
                    <a:bodyPr/>
                    <a:lstStyle/>
                    <a:p>
                      <a:r>
                        <a:rPr lang="en-IN" sz="1600" dirty="0"/>
                        <a:t>Yield return null</a:t>
                      </a:r>
                    </a:p>
                  </a:txBody>
                  <a:tcPr marL="76443" marR="76443" marT="38221" marB="38221" anchor="ctr">
                    <a:lnL>
                      <a:noFill/>
                    </a:lnL>
                    <a:lnR>
                      <a:noFill/>
                    </a:lnR>
                    <a:lnT>
                      <a:noFill/>
                    </a:lnT>
                    <a:lnB>
                      <a:noFill/>
                    </a:lnB>
                    <a:noFill/>
                  </a:tcPr>
                </a:tc>
                <a:tc>
                  <a:txBody>
                    <a:bodyPr/>
                    <a:lstStyle/>
                    <a:p>
                      <a:r>
                        <a:rPr lang="en-IN" sz="1600"/>
                        <a:t>Waits until next frame</a:t>
                      </a:r>
                    </a:p>
                  </a:txBody>
                  <a:tcPr marL="76443" marR="76443" marT="38221" marB="38221" anchor="ctr">
                    <a:lnL>
                      <a:noFill/>
                    </a:lnL>
                    <a:lnR>
                      <a:noFill/>
                    </a:lnR>
                    <a:lnT>
                      <a:noFill/>
                    </a:lnT>
                    <a:lnB>
                      <a:noFill/>
                    </a:lnB>
                    <a:noFill/>
                  </a:tcPr>
                </a:tc>
                <a:tc>
                  <a:txBody>
                    <a:bodyPr/>
                    <a:lstStyle/>
                    <a:p>
                      <a:r>
                        <a:rPr lang="en-IN" sz="1600"/>
                        <a:t>yield return null;</a:t>
                      </a:r>
                    </a:p>
                  </a:txBody>
                  <a:tcPr marL="76443" marR="76443" marT="38221" marB="38221" anchor="ctr">
                    <a:lnL>
                      <a:noFill/>
                    </a:lnL>
                    <a:lnR>
                      <a:noFill/>
                    </a:lnR>
                    <a:lnT>
                      <a:noFill/>
                    </a:lnT>
                    <a:lnB>
                      <a:noFill/>
                    </a:lnB>
                    <a:noFill/>
                  </a:tcPr>
                </a:tc>
                <a:tc>
                  <a:txBody>
                    <a:bodyPr/>
                    <a:lstStyle/>
                    <a:p>
                      <a:r>
                        <a:rPr lang="en-US" sz="1600"/>
                        <a:t>yield return null; // waits 1 frame</a:t>
                      </a:r>
                    </a:p>
                  </a:txBody>
                  <a:tcPr marL="76443" marR="76443" marT="38221" marB="38221" anchor="ctr">
                    <a:lnL>
                      <a:noFill/>
                    </a:lnL>
                    <a:lnR>
                      <a:noFill/>
                    </a:lnR>
                    <a:lnT>
                      <a:noFill/>
                    </a:lnT>
                    <a:lnB>
                      <a:noFill/>
                    </a:lnB>
                    <a:noFill/>
                  </a:tcPr>
                </a:tc>
                <a:extLst>
                  <a:ext uri="{0D108BD9-81ED-4DB2-BD59-A6C34878D82A}">
                    <a16:rowId xmlns:a16="http://schemas.microsoft.com/office/drawing/2014/main" val="823463300"/>
                  </a:ext>
                </a:extLst>
              </a:tr>
              <a:tr h="837227">
                <a:tc>
                  <a:txBody>
                    <a:bodyPr/>
                    <a:lstStyle/>
                    <a:p>
                      <a:r>
                        <a:rPr lang="en-IN" sz="1600" dirty="0"/>
                        <a:t>Yield return </a:t>
                      </a:r>
                      <a:r>
                        <a:rPr lang="en-IN" sz="1600" dirty="0" err="1"/>
                        <a:t>WaitForSeconds</a:t>
                      </a:r>
                      <a:endParaRPr lang="en-IN" sz="1600" dirty="0"/>
                    </a:p>
                  </a:txBody>
                  <a:tcPr marL="76443" marR="76443" marT="38221" marB="38221" anchor="ctr">
                    <a:lnL>
                      <a:noFill/>
                    </a:lnL>
                    <a:lnR>
                      <a:noFill/>
                    </a:lnR>
                    <a:lnT>
                      <a:noFill/>
                    </a:lnT>
                    <a:lnB>
                      <a:noFill/>
                    </a:lnB>
                    <a:noFill/>
                  </a:tcPr>
                </a:tc>
                <a:tc>
                  <a:txBody>
                    <a:bodyPr/>
                    <a:lstStyle/>
                    <a:p>
                      <a:r>
                        <a:rPr lang="en-IN" sz="1600"/>
                        <a:t>Waits for specified seconds</a:t>
                      </a:r>
                    </a:p>
                  </a:txBody>
                  <a:tcPr marL="76443" marR="76443" marT="38221" marB="38221" anchor="ctr">
                    <a:lnL>
                      <a:noFill/>
                    </a:lnL>
                    <a:lnR>
                      <a:noFill/>
                    </a:lnR>
                    <a:lnT>
                      <a:noFill/>
                    </a:lnT>
                    <a:lnB>
                      <a:noFill/>
                    </a:lnB>
                    <a:noFill/>
                  </a:tcPr>
                </a:tc>
                <a:tc>
                  <a:txBody>
                    <a:bodyPr/>
                    <a:lstStyle/>
                    <a:p>
                      <a:r>
                        <a:rPr lang="en-US" sz="1600"/>
                        <a:t>yield return new WaitForSeconds(seconds);</a:t>
                      </a:r>
                    </a:p>
                  </a:txBody>
                  <a:tcPr marL="76443" marR="76443" marT="38221" marB="38221" anchor="ctr">
                    <a:lnL>
                      <a:noFill/>
                    </a:lnL>
                    <a:lnR>
                      <a:noFill/>
                    </a:lnR>
                    <a:lnT>
                      <a:noFill/>
                    </a:lnT>
                    <a:lnB>
                      <a:noFill/>
                    </a:lnB>
                    <a:noFill/>
                  </a:tcPr>
                </a:tc>
                <a:tc>
                  <a:txBody>
                    <a:bodyPr/>
                    <a:lstStyle/>
                    <a:p>
                      <a:r>
                        <a:rPr lang="en-US" sz="1600"/>
                        <a:t>yield return new WaitForSeconds(1.5f); // waits 1.5 seconds</a:t>
                      </a:r>
                    </a:p>
                  </a:txBody>
                  <a:tcPr marL="76443" marR="76443" marT="38221" marB="38221" anchor="ctr">
                    <a:lnL>
                      <a:noFill/>
                    </a:lnL>
                    <a:lnR>
                      <a:noFill/>
                    </a:lnR>
                    <a:lnT>
                      <a:noFill/>
                    </a:lnT>
                    <a:lnB>
                      <a:noFill/>
                    </a:lnB>
                    <a:noFill/>
                  </a:tcPr>
                </a:tc>
                <a:extLst>
                  <a:ext uri="{0D108BD9-81ED-4DB2-BD59-A6C34878D82A}">
                    <a16:rowId xmlns:a16="http://schemas.microsoft.com/office/drawing/2014/main" val="39364714"/>
                  </a:ext>
                </a:extLst>
              </a:tr>
              <a:tr h="599482">
                <a:tc>
                  <a:txBody>
                    <a:bodyPr/>
                    <a:lstStyle/>
                    <a:p>
                      <a:r>
                        <a:rPr lang="en-IN" sz="1600" dirty="0"/>
                        <a:t>Yield return </a:t>
                      </a:r>
                      <a:r>
                        <a:rPr lang="en-IN" sz="1600" dirty="0" err="1"/>
                        <a:t>WaitForFixedUpdate</a:t>
                      </a:r>
                      <a:endParaRPr lang="en-IN" sz="1600" dirty="0"/>
                    </a:p>
                  </a:txBody>
                  <a:tcPr marL="76443" marR="76443" marT="38221" marB="38221" anchor="ctr">
                    <a:lnL>
                      <a:noFill/>
                    </a:lnL>
                    <a:lnR>
                      <a:noFill/>
                    </a:lnR>
                    <a:lnT>
                      <a:noFill/>
                    </a:lnT>
                    <a:lnB>
                      <a:noFill/>
                    </a:lnB>
                    <a:noFill/>
                  </a:tcPr>
                </a:tc>
                <a:tc>
                  <a:txBody>
                    <a:bodyPr/>
                    <a:lstStyle/>
                    <a:p>
                      <a:r>
                        <a:rPr lang="en-US" sz="1600"/>
                        <a:t>Waits for next physics update</a:t>
                      </a:r>
                    </a:p>
                  </a:txBody>
                  <a:tcPr marL="76443" marR="76443" marT="38221" marB="38221" anchor="ctr">
                    <a:lnL>
                      <a:noFill/>
                    </a:lnL>
                    <a:lnR>
                      <a:noFill/>
                    </a:lnR>
                    <a:lnT>
                      <a:noFill/>
                    </a:lnT>
                    <a:lnB>
                      <a:noFill/>
                    </a:lnB>
                    <a:noFill/>
                  </a:tcPr>
                </a:tc>
                <a:tc>
                  <a:txBody>
                    <a:bodyPr/>
                    <a:lstStyle/>
                    <a:p>
                      <a:r>
                        <a:rPr lang="en-IN" sz="1600"/>
                        <a:t>yield return new WaitForFixedUpdate();</a:t>
                      </a:r>
                    </a:p>
                  </a:txBody>
                  <a:tcPr marL="76443" marR="76443" marT="38221" marB="38221" anchor="ctr">
                    <a:lnL>
                      <a:noFill/>
                    </a:lnL>
                    <a:lnR>
                      <a:noFill/>
                    </a:lnR>
                    <a:lnT>
                      <a:noFill/>
                    </a:lnT>
                    <a:lnB>
                      <a:noFill/>
                    </a:lnB>
                    <a:noFill/>
                  </a:tcPr>
                </a:tc>
                <a:tc>
                  <a:txBody>
                    <a:bodyPr/>
                    <a:lstStyle/>
                    <a:p>
                      <a:r>
                        <a:rPr lang="en-IN" sz="1600"/>
                        <a:t>yield return new WaitForFixedUpdate();</a:t>
                      </a:r>
                    </a:p>
                  </a:txBody>
                  <a:tcPr marL="76443" marR="76443" marT="38221" marB="38221" anchor="ctr">
                    <a:lnL>
                      <a:noFill/>
                    </a:lnL>
                    <a:lnR>
                      <a:noFill/>
                    </a:lnR>
                    <a:lnT>
                      <a:noFill/>
                    </a:lnT>
                    <a:lnB>
                      <a:noFill/>
                    </a:lnB>
                    <a:noFill/>
                  </a:tcPr>
                </a:tc>
                <a:extLst>
                  <a:ext uri="{0D108BD9-81ED-4DB2-BD59-A6C34878D82A}">
                    <a16:rowId xmlns:a16="http://schemas.microsoft.com/office/drawing/2014/main" val="3412773335"/>
                  </a:ext>
                </a:extLst>
              </a:tr>
              <a:tr h="599482">
                <a:tc>
                  <a:txBody>
                    <a:bodyPr/>
                    <a:lstStyle/>
                    <a:p>
                      <a:r>
                        <a:rPr lang="en-IN" sz="1600" dirty="0"/>
                        <a:t>Stop Coroutine</a:t>
                      </a:r>
                    </a:p>
                  </a:txBody>
                  <a:tcPr marL="76443" marR="76443" marT="38221" marB="38221" anchor="ctr">
                    <a:lnL>
                      <a:noFill/>
                    </a:lnL>
                    <a:lnR>
                      <a:noFill/>
                    </a:lnR>
                    <a:lnT>
                      <a:noFill/>
                    </a:lnT>
                    <a:lnB>
                      <a:noFill/>
                    </a:lnB>
                    <a:noFill/>
                  </a:tcPr>
                </a:tc>
                <a:tc>
                  <a:txBody>
                    <a:bodyPr/>
                    <a:lstStyle/>
                    <a:p>
                      <a:r>
                        <a:rPr lang="en-IN" sz="1600"/>
                        <a:t>Stops a running coroutine</a:t>
                      </a:r>
                    </a:p>
                  </a:txBody>
                  <a:tcPr marL="76443" marR="76443" marT="38221" marB="38221" anchor="ctr">
                    <a:lnL>
                      <a:noFill/>
                    </a:lnL>
                    <a:lnR>
                      <a:noFill/>
                    </a:lnR>
                    <a:lnT>
                      <a:noFill/>
                    </a:lnT>
                    <a:lnB>
                      <a:noFill/>
                    </a:lnB>
                    <a:noFill/>
                  </a:tcPr>
                </a:tc>
                <a:tc>
                  <a:txBody>
                    <a:bodyPr/>
                    <a:lstStyle/>
                    <a:p>
                      <a:r>
                        <a:rPr lang="en-US" sz="1600"/>
                        <a:t>StopCoroutine(coroutineReference); or StopCoroutine("MethodName");</a:t>
                      </a:r>
                    </a:p>
                  </a:txBody>
                  <a:tcPr marL="76443" marR="76443" marT="38221" marB="38221" anchor="ctr">
                    <a:lnL>
                      <a:noFill/>
                    </a:lnL>
                    <a:lnR>
                      <a:noFill/>
                    </a:lnR>
                    <a:lnT>
                      <a:noFill/>
                    </a:lnT>
                    <a:lnB>
                      <a:noFill/>
                    </a:lnB>
                    <a:noFill/>
                  </a:tcPr>
                </a:tc>
                <a:tc>
                  <a:txBody>
                    <a:bodyPr/>
                    <a:lstStyle/>
                    <a:p>
                      <a:r>
                        <a:rPr lang="en-IN" sz="1600"/>
                        <a:t>StopCoroutine(myCoroutine); or StopCoroutine("WaitThenPrint");</a:t>
                      </a:r>
                    </a:p>
                  </a:txBody>
                  <a:tcPr marL="76443" marR="76443" marT="38221" marB="38221" anchor="ctr">
                    <a:lnL>
                      <a:noFill/>
                    </a:lnL>
                    <a:lnR>
                      <a:noFill/>
                    </a:lnR>
                    <a:lnT>
                      <a:noFill/>
                    </a:lnT>
                    <a:lnB>
                      <a:noFill/>
                    </a:lnB>
                    <a:noFill/>
                  </a:tcPr>
                </a:tc>
                <a:extLst>
                  <a:ext uri="{0D108BD9-81ED-4DB2-BD59-A6C34878D82A}">
                    <a16:rowId xmlns:a16="http://schemas.microsoft.com/office/drawing/2014/main" val="276670039"/>
                  </a:ext>
                </a:extLst>
              </a:tr>
              <a:tr h="599482">
                <a:tc>
                  <a:txBody>
                    <a:bodyPr/>
                    <a:lstStyle/>
                    <a:p>
                      <a:r>
                        <a:rPr lang="en-IN" sz="1600" dirty="0"/>
                        <a:t>Stop All Coroutines</a:t>
                      </a:r>
                    </a:p>
                  </a:txBody>
                  <a:tcPr marL="76443" marR="76443" marT="38221" marB="38221" anchor="ctr">
                    <a:lnL>
                      <a:noFill/>
                    </a:lnL>
                    <a:lnR>
                      <a:noFill/>
                    </a:lnR>
                    <a:lnT>
                      <a:noFill/>
                    </a:lnT>
                    <a:lnB>
                      <a:noFill/>
                    </a:lnB>
                    <a:noFill/>
                  </a:tcPr>
                </a:tc>
                <a:tc>
                  <a:txBody>
                    <a:bodyPr/>
                    <a:lstStyle/>
                    <a:p>
                      <a:r>
                        <a:rPr lang="en-US" sz="1600"/>
                        <a:t>Stops all coroutines on this MonoBehaviour</a:t>
                      </a:r>
                    </a:p>
                  </a:txBody>
                  <a:tcPr marL="76443" marR="76443" marT="38221" marB="38221" anchor="ctr">
                    <a:lnL>
                      <a:noFill/>
                    </a:lnL>
                    <a:lnR>
                      <a:noFill/>
                    </a:lnR>
                    <a:lnT>
                      <a:noFill/>
                    </a:lnT>
                    <a:lnB>
                      <a:noFill/>
                    </a:lnB>
                    <a:noFill/>
                  </a:tcPr>
                </a:tc>
                <a:tc>
                  <a:txBody>
                    <a:bodyPr/>
                    <a:lstStyle/>
                    <a:p>
                      <a:r>
                        <a:rPr lang="en-IN" sz="1600"/>
                        <a:t>StopAllCoroutines();</a:t>
                      </a:r>
                    </a:p>
                  </a:txBody>
                  <a:tcPr marL="76443" marR="76443" marT="38221" marB="38221" anchor="ctr">
                    <a:lnL>
                      <a:noFill/>
                    </a:lnL>
                    <a:lnR>
                      <a:noFill/>
                    </a:lnR>
                    <a:lnT>
                      <a:noFill/>
                    </a:lnT>
                    <a:lnB>
                      <a:noFill/>
                    </a:lnB>
                    <a:noFill/>
                  </a:tcPr>
                </a:tc>
                <a:tc>
                  <a:txBody>
                    <a:bodyPr/>
                    <a:lstStyle/>
                    <a:p>
                      <a:r>
                        <a:rPr lang="en-IN" sz="1600" dirty="0" err="1"/>
                        <a:t>StopAllCoroutines</a:t>
                      </a:r>
                      <a:r>
                        <a:rPr lang="en-IN" sz="1600" dirty="0"/>
                        <a:t>();</a:t>
                      </a:r>
                    </a:p>
                  </a:txBody>
                  <a:tcPr marL="76443" marR="76443" marT="38221" marB="38221" anchor="ctr">
                    <a:lnL>
                      <a:noFill/>
                    </a:lnL>
                    <a:lnR>
                      <a:noFill/>
                    </a:lnR>
                    <a:lnT>
                      <a:noFill/>
                    </a:lnT>
                    <a:lnB>
                      <a:noFill/>
                    </a:lnB>
                    <a:noFill/>
                  </a:tcPr>
                </a:tc>
                <a:extLst>
                  <a:ext uri="{0D108BD9-81ED-4DB2-BD59-A6C34878D82A}">
                    <a16:rowId xmlns:a16="http://schemas.microsoft.com/office/drawing/2014/main" val="2781395297"/>
                  </a:ext>
                </a:extLst>
              </a:tr>
            </a:tbl>
          </a:graphicData>
        </a:graphic>
      </p:graphicFrame>
    </p:spTree>
    <p:extLst>
      <p:ext uri="{BB962C8B-B14F-4D97-AF65-F5344CB8AC3E}">
        <p14:creationId xmlns:p14="http://schemas.microsoft.com/office/powerpoint/2010/main" val="48384935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E2287-9614-FEE0-C39A-150CB0A0A5AD}"/>
              </a:ext>
            </a:extLst>
          </p:cNvPr>
          <p:cNvSpPr>
            <a:spLocks noGrp="1"/>
          </p:cNvSpPr>
          <p:nvPr>
            <p:ph type="ctrTitle"/>
          </p:nvPr>
        </p:nvSpPr>
        <p:spPr>
          <a:xfrm>
            <a:off x="1285241" y="1008993"/>
            <a:ext cx="9231410" cy="3542045"/>
          </a:xfrm>
        </p:spPr>
        <p:txBody>
          <a:bodyPr anchor="b">
            <a:normAutofit/>
          </a:bodyPr>
          <a:lstStyle/>
          <a:p>
            <a:pPr algn="l"/>
            <a:r>
              <a:rPr lang="en-US" sz="11500" dirty="0"/>
              <a:t>2D Game Concepts</a:t>
            </a:r>
            <a:endParaRPr lang="en-IN" sz="11500" dirty="0"/>
          </a:p>
        </p:txBody>
      </p:sp>
    </p:spTree>
    <p:extLst>
      <p:ext uri="{BB962C8B-B14F-4D97-AF65-F5344CB8AC3E}">
        <p14:creationId xmlns:p14="http://schemas.microsoft.com/office/powerpoint/2010/main" val="344425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7AADE-C520-B1E8-DA7E-E3D48EC7FF42}"/>
              </a:ext>
            </a:extLst>
          </p:cNvPr>
          <p:cNvSpPr>
            <a:spLocks noGrp="1"/>
          </p:cNvSpPr>
          <p:nvPr>
            <p:ph type="title"/>
          </p:nvPr>
        </p:nvSpPr>
        <p:spPr/>
        <p:txBody>
          <a:bodyPr/>
          <a:lstStyle/>
          <a:p>
            <a:r>
              <a:rPr lang="en-IN" dirty="0"/>
              <a:t>Sprite in Unity</a:t>
            </a:r>
          </a:p>
        </p:txBody>
      </p:sp>
      <p:sp>
        <p:nvSpPr>
          <p:cNvPr id="3" name="Content Placeholder 2">
            <a:extLst>
              <a:ext uri="{FF2B5EF4-FFF2-40B4-BE49-F238E27FC236}">
                <a16:creationId xmlns:a16="http://schemas.microsoft.com/office/drawing/2014/main" id="{B3BDE5EC-1F35-E3EF-90DA-B749F6D927F4}"/>
              </a:ext>
            </a:extLst>
          </p:cNvPr>
          <p:cNvSpPr>
            <a:spLocks noGrp="1"/>
          </p:cNvSpPr>
          <p:nvPr>
            <p:ph idx="1"/>
          </p:nvPr>
        </p:nvSpPr>
        <p:spPr/>
        <p:txBody>
          <a:bodyPr>
            <a:normAutofit fontScale="92500" lnSpcReduction="20000"/>
          </a:bodyPr>
          <a:lstStyle/>
          <a:p>
            <a:r>
              <a:rPr lang="en-US" dirty="0"/>
              <a:t>A Sprite is a 2D image used in Unity to show graphics like characters, objects, items, buttons, etc.</a:t>
            </a:r>
          </a:p>
          <a:p>
            <a:r>
              <a:rPr lang="en-IN" dirty="0"/>
              <a:t>Why Use Sprites?</a:t>
            </a:r>
            <a:endParaRPr lang="en-US" dirty="0"/>
          </a:p>
          <a:p>
            <a:pPr marL="0" indent="0">
              <a:buNone/>
            </a:pPr>
            <a:endParaRPr lang="en-IN" dirty="0"/>
          </a:p>
          <a:p>
            <a:pPr marL="0" indent="0">
              <a:buNone/>
            </a:pPr>
            <a:endParaRPr lang="en-IN" dirty="0"/>
          </a:p>
          <a:p>
            <a:pPr marL="0" indent="0">
              <a:buNone/>
            </a:pPr>
            <a:endParaRPr lang="en-IN" dirty="0"/>
          </a:p>
          <a:p>
            <a:endParaRPr lang="en-US" dirty="0"/>
          </a:p>
          <a:p>
            <a:endParaRPr lang="en-US" dirty="0"/>
          </a:p>
          <a:p>
            <a:r>
              <a:rPr lang="en-US" dirty="0"/>
              <a:t>Where Do Sprites Fit in Unity?</a:t>
            </a:r>
          </a:p>
          <a:p>
            <a:pPr lvl="3"/>
            <a:r>
              <a:rPr lang="en-US" dirty="0"/>
              <a:t>In a 2D Unity Game:</a:t>
            </a:r>
          </a:p>
          <a:p>
            <a:pPr lvl="3"/>
            <a:r>
              <a:rPr lang="en-US" dirty="0"/>
              <a:t>A Sprite is just the image asset.</a:t>
            </a:r>
          </a:p>
          <a:p>
            <a:pPr lvl="3"/>
            <a:r>
              <a:rPr lang="en-US" dirty="0"/>
              <a:t>A </a:t>
            </a:r>
            <a:r>
              <a:rPr lang="en-US" dirty="0" err="1"/>
              <a:t>GameObject</a:t>
            </a:r>
            <a:r>
              <a:rPr lang="en-US" dirty="0"/>
              <a:t> uses a </a:t>
            </a:r>
            <a:r>
              <a:rPr lang="en-US" dirty="0" err="1"/>
              <a:t>SpriteRenderer</a:t>
            </a:r>
            <a:r>
              <a:rPr lang="en-US" dirty="0"/>
              <a:t> component to show that image in the scene.</a:t>
            </a:r>
          </a:p>
          <a:p>
            <a:pPr lvl="3"/>
            <a:endParaRPr lang="en-US" b="1" dirty="0"/>
          </a:p>
          <a:p>
            <a:endParaRPr lang="en-IN" b="1" dirty="0"/>
          </a:p>
        </p:txBody>
      </p:sp>
      <p:graphicFrame>
        <p:nvGraphicFramePr>
          <p:cNvPr id="4" name="Table 3">
            <a:extLst>
              <a:ext uri="{FF2B5EF4-FFF2-40B4-BE49-F238E27FC236}">
                <a16:creationId xmlns:a16="http://schemas.microsoft.com/office/drawing/2014/main" id="{C90E87F0-6BD3-2E71-5C6C-AA686D4DB46E}"/>
              </a:ext>
            </a:extLst>
          </p:cNvPr>
          <p:cNvGraphicFramePr>
            <a:graphicFrameLocks noGrp="1"/>
          </p:cNvGraphicFramePr>
          <p:nvPr/>
        </p:nvGraphicFramePr>
        <p:xfrm>
          <a:off x="3287486" y="2792345"/>
          <a:ext cx="5812972" cy="1916520"/>
        </p:xfrm>
        <a:graphic>
          <a:graphicData uri="http://schemas.openxmlformats.org/drawingml/2006/table">
            <a:tbl>
              <a:tblPr/>
              <a:tblGrid>
                <a:gridCol w="2906486">
                  <a:extLst>
                    <a:ext uri="{9D8B030D-6E8A-4147-A177-3AD203B41FA5}">
                      <a16:colId xmlns:a16="http://schemas.microsoft.com/office/drawing/2014/main" val="1985954828"/>
                    </a:ext>
                  </a:extLst>
                </a:gridCol>
                <a:gridCol w="2906486">
                  <a:extLst>
                    <a:ext uri="{9D8B030D-6E8A-4147-A177-3AD203B41FA5}">
                      <a16:colId xmlns:a16="http://schemas.microsoft.com/office/drawing/2014/main" val="171328662"/>
                    </a:ext>
                  </a:extLst>
                </a:gridCol>
              </a:tblGrid>
              <a:tr h="453480">
                <a:tc>
                  <a:txBody>
                    <a:bodyPr/>
                    <a:lstStyle/>
                    <a:p>
                      <a:r>
                        <a:rPr lang="en-IN"/>
                        <a:t>Use Case</a:t>
                      </a:r>
                    </a:p>
                  </a:txBody>
                  <a:tcPr anchor="ctr">
                    <a:lnL>
                      <a:noFill/>
                    </a:lnL>
                    <a:lnR>
                      <a:noFill/>
                    </a:lnR>
                    <a:lnT>
                      <a:noFill/>
                    </a:lnT>
                    <a:lnB>
                      <a:noFill/>
                    </a:lnB>
                    <a:noFill/>
                  </a:tcPr>
                </a:tc>
                <a:tc>
                  <a:txBody>
                    <a:bodyPr/>
                    <a:lstStyle/>
                    <a:p>
                      <a:r>
                        <a:rPr lang="en-IN"/>
                        <a:t>Example</a:t>
                      </a:r>
                    </a:p>
                  </a:txBody>
                  <a:tcPr anchor="ctr">
                    <a:lnL>
                      <a:noFill/>
                    </a:lnL>
                    <a:lnR>
                      <a:noFill/>
                    </a:lnR>
                    <a:lnT>
                      <a:noFill/>
                    </a:lnT>
                    <a:lnB>
                      <a:noFill/>
                    </a:lnB>
                    <a:noFill/>
                  </a:tcPr>
                </a:tc>
                <a:extLst>
                  <a:ext uri="{0D108BD9-81ED-4DB2-BD59-A6C34878D82A}">
                    <a16:rowId xmlns:a16="http://schemas.microsoft.com/office/drawing/2014/main" val="2671715896"/>
                  </a:ext>
                </a:extLst>
              </a:tr>
              <a:tr h="316615">
                <a:tc>
                  <a:txBody>
                    <a:bodyPr/>
                    <a:lstStyle/>
                    <a:p>
                      <a:r>
                        <a:rPr lang="en-IN"/>
                        <a:t>2D Characters</a:t>
                      </a:r>
                    </a:p>
                  </a:txBody>
                  <a:tcPr anchor="ctr">
                    <a:lnL>
                      <a:noFill/>
                    </a:lnL>
                    <a:lnR>
                      <a:noFill/>
                    </a:lnR>
                    <a:lnT>
                      <a:noFill/>
                    </a:lnT>
                    <a:lnB>
                      <a:noFill/>
                    </a:lnB>
                    <a:noFill/>
                  </a:tcPr>
                </a:tc>
                <a:tc>
                  <a:txBody>
                    <a:bodyPr/>
                    <a:lstStyle/>
                    <a:p>
                      <a:r>
                        <a:rPr lang="en-IN"/>
                        <a:t>Player, enemy, NPCs</a:t>
                      </a:r>
                    </a:p>
                  </a:txBody>
                  <a:tcPr anchor="ctr">
                    <a:lnL>
                      <a:noFill/>
                    </a:lnL>
                    <a:lnR>
                      <a:noFill/>
                    </a:lnR>
                    <a:lnT>
                      <a:noFill/>
                    </a:lnT>
                    <a:lnB>
                      <a:noFill/>
                    </a:lnB>
                    <a:noFill/>
                  </a:tcPr>
                </a:tc>
                <a:extLst>
                  <a:ext uri="{0D108BD9-81ED-4DB2-BD59-A6C34878D82A}">
                    <a16:rowId xmlns:a16="http://schemas.microsoft.com/office/drawing/2014/main" val="2541029778"/>
                  </a:ext>
                </a:extLst>
              </a:tr>
              <a:tr h="316615">
                <a:tc>
                  <a:txBody>
                    <a:bodyPr/>
                    <a:lstStyle/>
                    <a:p>
                      <a:r>
                        <a:rPr lang="en-IN" dirty="0"/>
                        <a:t>Backgrounds</a:t>
                      </a:r>
                    </a:p>
                  </a:txBody>
                  <a:tcPr anchor="ctr">
                    <a:lnL>
                      <a:noFill/>
                    </a:lnL>
                    <a:lnR>
                      <a:noFill/>
                    </a:lnR>
                    <a:lnT>
                      <a:noFill/>
                    </a:lnT>
                    <a:lnB>
                      <a:noFill/>
                    </a:lnB>
                    <a:noFill/>
                  </a:tcPr>
                </a:tc>
                <a:tc>
                  <a:txBody>
                    <a:bodyPr/>
                    <a:lstStyle/>
                    <a:p>
                      <a:r>
                        <a:rPr lang="en-IN" dirty="0"/>
                        <a:t>Forest, sky, buildings</a:t>
                      </a:r>
                    </a:p>
                  </a:txBody>
                  <a:tcPr anchor="ctr">
                    <a:lnL>
                      <a:noFill/>
                    </a:lnL>
                    <a:lnR>
                      <a:noFill/>
                    </a:lnR>
                    <a:lnT>
                      <a:noFill/>
                    </a:lnT>
                    <a:lnB>
                      <a:noFill/>
                    </a:lnB>
                    <a:noFill/>
                  </a:tcPr>
                </a:tc>
                <a:extLst>
                  <a:ext uri="{0D108BD9-81ED-4DB2-BD59-A6C34878D82A}">
                    <a16:rowId xmlns:a16="http://schemas.microsoft.com/office/drawing/2014/main" val="3421469758"/>
                  </a:ext>
                </a:extLst>
              </a:tr>
              <a:tr h="316615">
                <a:tc>
                  <a:txBody>
                    <a:bodyPr/>
                    <a:lstStyle/>
                    <a:p>
                      <a:r>
                        <a:rPr lang="en-IN" dirty="0"/>
                        <a:t>UI Elements</a:t>
                      </a:r>
                    </a:p>
                  </a:txBody>
                  <a:tcPr anchor="ctr">
                    <a:lnL>
                      <a:noFill/>
                    </a:lnL>
                    <a:lnR>
                      <a:noFill/>
                    </a:lnR>
                    <a:lnT>
                      <a:noFill/>
                    </a:lnT>
                    <a:lnB>
                      <a:noFill/>
                    </a:lnB>
                    <a:noFill/>
                  </a:tcPr>
                </a:tc>
                <a:tc>
                  <a:txBody>
                    <a:bodyPr/>
                    <a:lstStyle/>
                    <a:p>
                      <a:r>
                        <a:rPr lang="en-IN" dirty="0"/>
                        <a:t>Icons, buttons, lives</a:t>
                      </a:r>
                    </a:p>
                  </a:txBody>
                  <a:tcPr anchor="ctr">
                    <a:lnL>
                      <a:noFill/>
                    </a:lnL>
                    <a:lnR>
                      <a:noFill/>
                    </a:lnR>
                    <a:lnT>
                      <a:noFill/>
                    </a:lnT>
                    <a:lnB>
                      <a:noFill/>
                    </a:lnB>
                    <a:noFill/>
                  </a:tcPr>
                </a:tc>
                <a:extLst>
                  <a:ext uri="{0D108BD9-81ED-4DB2-BD59-A6C34878D82A}">
                    <a16:rowId xmlns:a16="http://schemas.microsoft.com/office/drawing/2014/main" val="2663195721"/>
                  </a:ext>
                </a:extLst>
              </a:tr>
              <a:tr h="316615">
                <a:tc>
                  <a:txBody>
                    <a:bodyPr/>
                    <a:lstStyle/>
                    <a:p>
                      <a:r>
                        <a:rPr lang="en-IN" dirty="0"/>
                        <a:t>Items</a:t>
                      </a:r>
                    </a:p>
                  </a:txBody>
                  <a:tcPr anchor="ctr">
                    <a:lnL>
                      <a:noFill/>
                    </a:lnL>
                    <a:lnR>
                      <a:noFill/>
                    </a:lnR>
                    <a:lnT>
                      <a:noFill/>
                    </a:lnT>
                    <a:lnB>
                      <a:noFill/>
                    </a:lnB>
                    <a:noFill/>
                  </a:tcPr>
                </a:tc>
                <a:tc>
                  <a:txBody>
                    <a:bodyPr/>
                    <a:lstStyle/>
                    <a:p>
                      <a:r>
                        <a:rPr lang="en-IN" dirty="0"/>
                        <a:t>Coins, keys, weapons</a:t>
                      </a:r>
                    </a:p>
                  </a:txBody>
                  <a:tcPr anchor="ctr">
                    <a:lnL>
                      <a:noFill/>
                    </a:lnL>
                    <a:lnR>
                      <a:noFill/>
                    </a:lnR>
                    <a:lnT>
                      <a:noFill/>
                    </a:lnT>
                    <a:lnB>
                      <a:noFill/>
                    </a:lnB>
                    <a:noFill/>
                  </a:tcPr>
                </a:tc>
                <a:extLst>
                  <a:ext uri="{0D108BD9-81ED-4DB2-BD59-A6C34878D82A}">
                    <a16:rowId xmlns:a16="http://schemas.microsoft.com/office/drawing/2014/main" val="4201120807"/>
                  </a:ext>
                </a:extLst>
              </a:tr>
            </a:tbl>
          </a:graphicData>
        </a:graphic>
      </p:graphicFrame>
    </p:spTree>
    <p:extLst>
      <p:ext uri="{BB962C8B-B14F-4D97-AF65-F5344CB8AC3E}">
        <p14:creationId xmlns:p14="http://schemas.microsoft.com/office/powerpoint/2010/main" val="64396800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FDE62-686A-446E-03C6-7BAA34A502FC}"/>
              </a:ext>
            </a:extLst>
          </p:cNvPr>
          <p:cNvSpPr>
            <a:spLocks noGrp="1"/>
          </p:cNvSpPr>
          <p:nvPr>
            <p:ph type="title"/>
          </p:nvPr>
        </p:nvSpPr>
        <p:spPr/>
        <p:txBody>
          <a:bodyPr/>
          <a:lstStyle/>
          <a:p>
            <a:r>
              <a:rPr lang="en-US" dirty="0"/>
              <a:t>How to Use Sprites (Step-by-Step)</a:t>
            </a:r>
            <a:endParaRPr lang="en-IN" dirty="0"/>
          </a:p>
        </p:txBody>
      </p:sp>
      <p:sp>
        <p:nvSpPr>
          <p:cNvPr id="3" name="Content Placeholder 2">
            <a:extLst>
              <a:ext uri="{FF2B5EF4-FFF2-40B4-BE49-F238E27FC236}">
                <a16:creationId xmlns:a16="http://schemas.microsoft.com/office/drawing/2014/main" id="{3832880E-5132-30BB-A5DC-489645839927}"/>
              </a:ext>
            </a:extLst>
          </p:cNvPr>
          <p:cNvSpPr>
            <a:spLocks noGrp="1"/>
          </p:cNvSpPr>
          <p:nvPr>
            <p:ph idx="1"/>
          </p:nvPr>
        </p:nvSpPr>
        <p:spPr/>
        <p:txBody>
          <a:bodyPr>
            <a:normAutofit/>
          </a:bodyPr>
          <a:lstStyle/>
          <a:p>
            <a:r>
              <a:rPr lang="en-US" dirty="0"/>
              <a:t>Step 1: Import a Sprite</a:t>
            </a:r>
          </a:p>
          <a:p>
            <a:pPr lvl="1">
              <a:buFont typeface="Wingdings" panose="05000000000000000000" pitchFamily="2" charset="2"/>
              <a:buChar char="ü"/>
            </a:pPr>
            <a:r>
              <a:rPr lang="en-US" dirty="0"/>
              <a:t>Drag a .</a:t>
            </a:r>
            <a:r>
              <a:rPr lang="en-US" dirty="0" err="1"/>
              <a:t>png</a:t>
            </a:r>
            <a:r>
              <a:rPr lang="en-US" dirty="0"/>
              <a:t>, .jpg, or .gif into your Assets/ folder.</a:t>
            </a:r>
          </a:p>
          <a:p>
            <a:pPr lvl="1">
              <a:buFont typeface="Wingdings" panose="05000000000000000000" pitchFamily="2" charset="2"/>
              <a:buChar char="ü"/>
            </a:pPr>
            <a:r>
              <a:rPr lang="en-US" dirty="0"/>
              <a:t>Select it in the Project window.</a:t>
            </a:r>
          </a:p>
          <a:p>
            <a:pPr lvl="1">
              <a:buFont typeface="Wingdings" panose="05000000000000000000" pitchFamily="2" charset="2"/>
              <a:buChar char="ü"/>
            </a:pPr>
            <a:r>
              <a:rPr lang="en-US" dirty="0"/>
              <a:t>In the Inspector, set:</a:t>
            </a:r>
          </a:p>
          <a:p>
            <a:pPr lvl="1">
              <a:buFont typeface="Wingdings" panose="05000000000000000000" pitchFamily="2" charset="2"/>
              <a:buChar char="ü"/>
            </a:pPr>
            <a:r>
              <a:rPr lang="en-US" dirty="0"/>
              <a:t>Texture Type → Sprite (2D and UI)</a:t>
            </a:r>
          </a:p>
          <a:p>
            <a:pPr lvl="1">
              <a:buFont typeface="Wingdings" panose="05000000000000000000" pitchFamily="2" charset="2"/>
              <a:buChar char="ü"/>
            </a:pPr>
            <a:r>
              <a:rPr lang="en-US" dirty="0"/>
              <a:t>Click Apply</a:t>
            </a:r>
          </a:p>
          <a:p>
            <a:r>
              <a:rPr lang="en-US" dirty="0"/>
              <a:t>Step 2 :Add a Sprite to the Scene</a:t>
            </a:r>
          </a:p>
          <a:p>
            <a:pPr lvl="1"/>
            <a:r>
              <a:rPr lang="en-US" dirty="0"/>
              <a:t>Drag the image from the Project panel into the Scene — Unity automatically creates a </a:t>
            </a:r>
            <a:r>
              <a:rPr lang="en-US" dirty="0" err="1"/>
              <a:t>GameObject</a:t>
            </a:r>
            <a:r>
              <a:rPr lang="en-US" dirty="0"/>
              <a:t> with a </a:t>
            </a:r>
            <a:r>
              <a:rPr lang="en-US" dirty="0" err="1"/>
              <a:t>SpriteRenderer</a:t>
            </a:r>
            <a:r>
              <a:rPr lang="en-US" dirty="0"/>
              <a:t>.</a:t>
            </a:r>
            <a:endParaRPr lang="en-IN" dirty="0"/>
          </a:p>
        </p:txBody>
      </p:sp>
    </p:spTree>
    <p:extLst>
      <p:ext uri="{BB962C8B-B14F-4D97-AF65-F5344CB8AC3E}">
        <p14:creationId xmlns:p14="http://schemas.microsoft.com/office/powerpoint/2010/main" val="358793270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C7F02F-2A90-FFCC-19B3-B1DE5227BEDA}"/>
              </a:ext>
            </a:extLst>
          </p:cNvPr>
          <p:cNvSpPr txBox="1"/>
          <p:nvPr/>
        </p:nvSpPr>
        <p:spPr>
          <a:xfrm>
            <a:off x="386443" y="1567543"/>
            <a:ext cx="11419114" cy="3970318"/>
          </a:xfrm>
          <a:prstGeom prst="rect">
            <a:avLst/>
          </a:prstGeom>
          <a:noFill/>
        </p:spPr>
        <p:txBody>
          <a:bodyPr wrap="square" rtlCol="0">
            <a:spAutoFit/>
          </a:bodyPr>
          <a:lstStyle/>
          <a:p>
            <a:r>
              <a:rPr lang="en-US" dirty="0"/>
              <a:t>using </a:t>
            </a:r>
            <a:r>
              <a:rPr lang="en-US" dirty="0" err="1"/>
              <a:t>UnityEngine</a:t>
            </a:r>
            <a:r>
              <a:rPr lang="en-US" dirty="0"/>
              <a:t>;</a:t>
            </a:r>
          </a:p>
          <a:p>
            <a:r>
              <a:rPr lang="en-US" dirty="0"/>
              <a:t>public class </a:t>
            </a:r>
            <a:r>
              <a:rPr lang="en-US" dirty="0" err="1"/>
              <a:t>PlayerController</a:t>
            </a:r>
            <a:r>
              <a:rPr lang="en-US" dirty="0"/>
              <a:t> : </a:t>
            </a:r>
            <a:r>
              <a:rPr lang="en-US" dirty="0" err="1"/>
              <a:t>MonoBehaviour</a:t>
            </a:r>
            <a:endParaRPr lang="en-US" dirty="0"/>
          </a:p>
          <a:p>
            <a:r>
              <a:rPr lang="en-US" dirty="0"/>
              <a:t>{</a:t>
            </a:r>
          </a:p>
          <a:p>
            <a:r>
              <a:rPr lang="en-US" dirty="0"/>
              <a:t>    public Sprite </a:t>
            </a:r>
            <a:r>
              <a:rPr lang="en-US" dirty="0" err="1"/>
              <a:t>idleSprite</a:t>
            </a:r>
            <a:r>
              <a:rPr lang="en-US" dirty="0"/>
              <a:t>;   // Assign in Inspector</a:t>
            </a:r>
          </a:p>
          <a:p>
            <a:r>
              <a:rPr lang="en-US" dirty="0"/>
              <a:t>    public Sprite </a:t>
            </a:r>
            <a:r>
              <a:rPr lang="en-US" dirty="0" err="1"/>
              <a:t>jumpSprite</a:t>
            </a:r>
            <a:r>
              <a:rPr lang="en-US" dirty="0"/>
              <a:t>;   // Assign in Inspector</a:t>
            </a:r>
          </a:p>
          <a:p>
            <a:r>
              <a:rPr lang="en-US" dirty="0"/>
              <a:t>    private </a:t>
            </a:r>
            <a:r>
              <a:rPr lang="en-US" dirty="0" err="1"/>
              <a:t>SpriteRenderer</a:t>
            </a:r>
            <a:r>
              <a:rPr lang="en-US" dirty="0"/>
              <a:t> </a:t>
            </a:r>
            <a:r>
              <a:rPr lang="en-US" dirty="0" err="1"/>
              <a:t>spriteRenderer</a:t>
            </a:r>
            <a:r>
              <a:rPr lang="en-US" dirty="0"/>
              <a:t>;</a:t>
            </a:r>
          </a:p>
          <a:p>
            <a:r>
              <a:rPr lang="en-US" dirty="0"/>
              <a:t>    void Start()</a:t>
            </a:r>
          </a:p>
          <a:p>
            <a:r>
              <a:rPr lang="en-US" dirty="0"/>
              <a:t>    {</a:t>
            </a:r>
          </a:p>
          <a:p>
            <a:r>
              <a:rPr lang="en-US" dirty="0"/>
              <a:t>        // Get the </a:t>
            </a:r>
            <a:r>
              <a:rPr lang="en-US" dirty="0" err="1"/>
              <a:t>SpriteRenderer</a:t>
            </a:r>
            <a:r>
              <a:rPr lang="en-US" dirty="0"/>
              <a:t> component on this </a:t>
            </a:r>
            <a:r>
              <a:rPr lang="en-US" dirty="0" err="1"/>
              <a:t>GameObject</a:t>
            </a:r>
            <a:endParaRPr lang="en-US" dirty="0"/>
          </a:p>
          <a:p>
            <a:r>
              <a:rPr lang="en-US" dirty="0"/>
              <a:t>        </a:t>
            </a:r>
            <a:r>
              <a:rPr lang="en-US" dirty="0" err="1"/>
              <a:t>spriteRenderer</a:t>
            </a:r>
            <a:r>
              <a:rPr lang="en-US" dirty="0"/>
              <a:t> = </a:t>
            </a:r>
            <a:r>
              <a:rPr lang="en-US" dirty="0" err="1"/>
              <a:t>GetComponent</a:t>
            </a:r>
            <a:r>
              <a:rPr lang="en-US" dirty="0"/>
              <a:t>&lt;</a:t>
            </a:r>
            <a:r>
              <a:rPr lang="en-US" dirty="0" err="1"/>
              <a:t>SpriteRenderer</a:t>
            </a:r>
            <a:r>
              <a:rPr lang="en-US" dirty="0"/>
              <a:t>&gt;();</a:t>
            </a:r>
          </a:p>
          <a:p>
            <a:r>
              <a:rPr lang="en-US" dirty="0"/>
              <a:t>        // Set default idle sprite</a:t>
            </a:r>
          </a:p>
          <a:p>
            <a:r>
              <a:rPr lang="en-US" dirty="0"/>
              <a:t>        </a:t>
            </a:r>
            <a:r>
              <a:rPr lang="en-US" dirty="0" err="1"/>
              <a:t>spriteRenderer.sprite</a:t>
            </a:r>
            <a:r>
              <a:rPr lang="en-US" dirty="0"/>
              <a:t> = </a:t>
            </a:r>
            <a:r>
              <a:rPr lang="en-US" dirty="0" err="1"/>
              <a:t>idleSprite</a:t>
            </a:r>
            <a:r>
              <a:rPr lang="en-US" dirty="0"/>
              <a:t>;</a:t>
            </a:r>
          </a:p>
          <a:p>
            <a:r>
              <a:rPr lang="en-US" dirty="0"/>
              <a:t>    }</a:t>
            </a:r>
          </a:p>
          <a:p>
            <a:r>
              <a:rPr lang="en-US" dirty="0"/>
              <a:t> </a:t>
            </a:r>
            <a:endParaRPr lang="en-IN" dirty="0"/>
          </a:p>
        </p:txBody>
      </p:sp>
      <p:sp>
        <p:nvSpPr>
          <p:cNvPr id="4" name="TextBox 3">
            <a:extLst>
              <a:ext uri="{FF2B5EF4-FFF2-40B4-BE49-F238E27FC236}">
                <a16:creationId xmlns:a16="http://schemas.microsoft.com/office/drawing/2014/main" id="{D72853DA-FA06-5569-C46D-0FAE8D647C0A}"/>
              </a:ext>
            </a:extLst>
          </p:cNvPr>
          <p:cNvSpPr txBox="1"/>
          <p:nvPr/>
        </p:nvSpPr>
        <p:spPr>
          <a:xfrm>
            <a:off x="6204858" y="1277702"/>
            <a:ext cx="5791200" cy="3970318"/>
          </a:xfrm>
          <a:prstGeom prst="rect">
            <a:avLst/>
          </a:prstGeom>
          <a:noFill/>
        </p:spPr>
        <p:txBody>
          <a:bodyPr wrap="square" rtlCol="0">
            <a:spAutoFit/>
          </a:bodyPr>
          <a:lstStyle/>
          <a:p>
            <a:r>
              <a:rPr lang="en-US" dirty="0"/>
              <a:t> void Update()</a:t>
            </a:r>
          </a:p>
          <a:p>
            <a:r>
              <a:rPr lang="en-US" dirty="0"/>
              <a:t>    {</a:t>
            </a:r>
          </a:p>
          <a:p>
            <a:r>
              <a:rPr lang="en-US" dirty="0"/>
              <a:t>        // If the player presses Space, change to jump sprite</a:t>
            </a:r>
          </a:p>
          <a:p>
            <a:r>
              <a:rPr lang="en-US" dirty="0"/>
              <a:t>        if (</a:t>
            </a:r>
            <a:r>
              <a:rPr lang="en-US" dirty="0" err="1"/>
              <a:t>Input.GetKeyDown</a:t>
            </a:r>
            <a:r>
              <a:rPr lang="en-US" dirty="0"/>
              <a:t>(</a:t>
            </a:r>
            <a:r>
              <a:rPr lang="en-US" dirty="0" err="1"/>
              <a:t>KeyCode.Space</a:t>
            </a:r>
            <a:r>
              <a:rPr lang="en-US" dirty="0"/>
              <a:t>))</a:t>
            </a:r>
          </a:p>
          <a:p>
            <a:r>
              <a:rPr lang="en-US" dirty="0"/>
              <a:t>        {</a:t>
            </a:r>
          </a:p>
          <a:p>
            <a:r>
              <a:rPr lang="en-US" dirty="0"/>
              <a:t>            </a:t>
            </a:r>
            <a:r>
              <a:rPr lang="en-US" dirty="0" err="1"/>
              <a:t>spriteRenderer.sprite</a:t>
            </a:r>
            <a:r>
              <a:rPr lang="en-US" dirty="0"/>
              <a:t> = </a:t>
            </a:r>
            <a:r>
              <a:rPr lang="en-US" dirty="0" err="1"/>
              <a:t>jumpSprite</a:t>
            </a:r>
            <a:r>
              <a:rPr lang="en-US" dirty="0"/>
              <a:t>;</a:t>
            </a:r>
          </a:p>
          <a:p>
            <a:r>
              <a:rPr lang="en-US" dirty="0"/>
              <a:t>        }</a:t>
            </a:r>
          </a:p>
          <a:p>
            <a:r>
              <a:rPr lang="en-US" dirty="0"/>
              <a:t>        // When the player releases Space, go back to idle</a:t>
            </a:r>
          </a:p>
          <a:p>
            <a:r>
              <a:rPr lang="en-US" dirty="0"/>
              <a:t>        if (</a:t>
            </a:r>
            <a:r>
              <a:rPr lang="en-US" dirty="0" err="1"/>
              <a:t>Input.GetKeyUp</a:t>
            </a:r>
            <a:r>
              <a:rPr lang="en-US" dirty="0"/>
              <a:t>(</a:t>
            </a:r>
            <a:r>
              <a:rPr lang="en-US" dirty="0" err="1"/>
              <a:t>KeyCode.Space</a:t>
            </a:r>
            <a:r>
              <a:rPr lang="en-US" dirty="0"/>
              <a:t>))</a:t>
            </a:r>
          </a:p>
          <a:p>
            <a:r>
              <a:rPr lang="en-US" dirty="0"/>
              <a:t>        {</a:t>
            </a:r>
          </a:p>
          <a:p>
            <a:r>
              <a:rPr lang="en-US" dirty="0"/>
              <a:t>            </a:t>
            </a:r>
            <a:r>
              <a:rPr lang="en-US" dirty="0" err="1"/>
              <a:t>spriteRenderer.sprite</a:t>
            </a:r>
            <a:r>
              <a:rPr lang="en-US" dirty="0"/>
              <a:t> = </a:t>
            </a:r>
            <a:r>
              <a:rPr lang="en-US" dirty="0" err="1"/>
              <a:t>idleSprite</a:t>
            </a:r>
            <a:r>
              <a:rPr lang="en-US" dirty="0"/>
              <a:t>;</a:t>
            </a:r>
          </a:p>
          <a:p>
            <a:r>
              <a:rPr lang="en-US" dirty="0"/>
              <a:t>        }</a:t>
            </a:r>
          </a:p>
          <a:p>
            <a:r>
              <a:rPr lang="en-US" dirty="0"/>
              <a:t>    }</a:t>
            </a:r>
          </a:p>
          <a:p>
            <a:r>
              <a:rPr lang="en-US" dirty="0"/>
              <a:t>}</a:t>
            </a:r>
            <a:endParaRPr lang="en-IN" dirty="0"/>
          </a:p>
        </p:txBody>
      </p:sp>
      <p:sp>
        <p:nvSpPr>
          <p:cNvPr id="5" name="TextBox 4">
            <a:extLst>
              <a:ext uri="{FF2B5EF4-FFF2-40B4-BE49-F238E27FC236}">
                <a16:creationId xmlns:a16="http://schemas.microsoft.com/office/drawing/2014/main" id="{DD407795-3404-FABE-EF15-627E0E19981E}"/>
              </a:ext>
            </a:extLst>
          </p:cNvPr>
          <p:cNvSpPr txBox="1"/>
          <p:nvPr/>
        </p:nvSpPr>
        <p:spPr>
          <a:xfrm>
            <a:off x="489857" y="631371"/>
            <a:ext cx="9612086" cy="646331"/>
          </a:xfrm>
          <a:prstGeom prst="rect">
            <a:avLst/>
          </a:prstGeom>
          <a:noFill/>
        </p:spPr>
        <p:txBody>
          <a:bodyPr wrap="square" rtlCol="0">
            <a:spAutoFit/>
          </a:bodyPr>
          <a:lstStyle/>
          <a:p>
            <a:r>
              <a:rPr lang="en-US" dirty="0"/>
              <a:t>Step 3: Access or Change Sprite in Code</a:t>
            </a:r>
            <a:br>
              <a:rPr lang="en-US" dirty="0"/>
            </a:br>
            <a:endParaRPr lang="en-IN" dirty="0"/>
          </a:p>
        </p:txBody>
      </p:sp>
    </p:spTree>
    <p:extLst>
      <p:ext uri="{BB962C8B-B14F-4D97-AF65-F5344CB8AC3E}">
        <p14:creationId xmlns:p14="http://schemas.microsoft.com/office/powerpoint/2010/main" val="12314897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96273B-E651-B9DB-6A42-A38DD88770CD}"/>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Weak 4</a:t>
            </a:r>
            <a:endParaRPr lang="en-IN" sz="4800">
              <a:solidFill>
                <a:srgbClr val="FFFFFF"/>
              </a:solidFill>
            </a:endParaRPr>
          </a:p>
        </p:txBody>
      </p:sp>
      <p:sp>
        <p:nvSpPr>
          <p:cNvPr id="26" name="Rectangle 25">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871020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201FC-7FAD-E9A9-7FD8-AC6C22E65CA2}"/>
              </a:ext>
            </a:extLst>
          </p:cNvPr>
          <p:cNvSpPr>
            <a:spLocks noGrp="1"/>
          </p:cNvSpPr>
          <p:nvPr>
            <p:ph type="title"/>
          </p:nvPr>
        </p:nvSpPr>
        <p:spPr/>
        <p:txBody>
          <a:bodyPr/>
          <a:lstStyle/>
          <a:p>
            <a:r>
              <a:rPr lang="en-US" b="0" i="0" dirty="0">
                <a:solidFill>
                  <a:srgbClr val="2A2B3F"/>
                </a:solidFill>
                <a:effectLst/>
                <a:latin typeface="Udemy Sans"/>
              </a:rPr>
              <a:t>Restricting Player Movement within Boundaries</a:t>
            </a:r>
            <a:endParaRPr lang="en-IN" dirty="0"/>
          </a:p>
        </p:txBody>
      </p:sp>
      <p:sp>
        <p:nvSpPr>
          <p:cNvPr id="3" name="Content Placeholder 2">
            <a:extLst>
              <a:ext uri="{FF2B5EF4-FFF2-40B4-BE49-F238E27FC236}">
                <a16:creationId xmlns:a16="http://schemas.microsoft.com/office/drawing/2014/main" id="{0AF775F1-4469-3556-37EC-BE703A097D98}"/>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39907901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5606-B901-AF31-0827-FF0E7725DFB0}"/>
              </a:ext>
            </a:extLst>
          </p:cNvPr>
          <p:cNvSpPr>
            <a:spLocks noGrp="1"/>
          </p:cNvSpPr>
          <p:nvPr>
            <p:ph type="title"/>
          </p:nvPr>
        </p:nvSpPr>
        <p:spPr/>
        <p:txBody>
          <a:bodyPr/>
          <a:lstStyle/>
          <a:p>
            <a:r>
              <a:rPr lang="en-US" dirty="0"/>
              <a:t>Removing Object When Out of Screen</a:t>
            </a:r>
            <a:endParaRPr lang="en-IN" dirty="0"/>
          </a:p>
        </p:txBody>
      </p:sp>
      <p:sp>
        <p:nvSpPr>
          <p:cNvPr id="3" name="Content Placeholder 2">
            <a:extLst>
              <a:ext uri="{FF2B5EF4-FFF2-40B4-BE49-F238E27FC236}">
                <a16:creationId xmlns:a16="http://schemas.microsoft.com/office/drawing/2014/main" id="{98C339A0-AF7E-10AA-9DD2-0D9B3D307383}"/>
              </a:ext>
            </a:extLst>
          </p:cNvPr>
          <p:cNvSpPr>
            <a:spLocks noGrp="1"/>
          </p:cNvSpPr>
          <p:nvPr>
            <p:ph idx="1"/>
          </p:nvPr>
        </p:nvSpPr>
        <p:spPr/>
        <p:txBody>
          <a:bodyPr/>
          <a:lstStyle/>
          <a:p>
            <a:r>
              <a:rPr lang="en-US" dirty="0"/>
              <a:t>First create a collider that is bigger than screen and then check </a:t>
            </a:r>
            <a:r>
              <a:rPr lang="en-US" dirty="0" err="1"/>
              <a:t>ig</a:t>
            </a:r>
            <a:r>
              <a:rPr lang="en-US" dirty="0"/>
              <a:t> the </a:t>
            </a:r>
            <a:r>
              <a:rPr lang="en-US" dirty="0" err="1"/>
              <a:t>gameObject</a:t>
            </a:r>
            <a:r>
              <a:rPr lang="en-US" dirty="0"/>
              <a:t> </a:t>
            </a:r>
            <a:r>
              <a:rPr lang="en-US" dirty="0" err="1"/>
              <a:t>coolide</a:t>
            </a:r>
            <a:r>
              <a:rPr lang="en-US" dirty="0"/>
              <a:t> or not if collide then we </a:t>
            </a:r>
            <a:r>
              <a:rPr lang="en-US" dirty="0" err="1"/>
              <a:t>desgtroy</a:t>
            </a:r>
            <a:r>
              <a:rPr lang="en-US" dirty="0"/>
              <a:t> the game Object </a:t>
            </a:r>
          </a:p>
          <a:p>
            <a:r>
              <a:rPr lang="en-US" dirty="0"/>
              <a:t>We can use the Methods like </a:t>
            </a:r>
            <a:r>
              <a:rPr lang="en-US" dirty="0" err="1"/>
              <a:t>OnCollisionEnter</a:t>
            </a:r>
            <a:r>
              <a:rPr lang="en-US" dirty="0"/>
              <a:t>();</a:t>
            </a:r>
            <a:endParaRPr lang="en-IN" dirty="0"/>
          </a:p>
        </p:txBody>
      </p:sp>
    </p:spTree>
    <p:extLst>
      <p:ext uri="{BB962C8B-B14F-4D97-AF65-F5344CB8AC3E}">
        <p14:creationId xmlns:p14="http://schemas.microsoft.com/office/powerpoint/2010/main" val="20376426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39D4-3FEB-F209-1393-C652C0DCF837}"/>
              </a:ext>
            </a:extLst>
          </p:cNvPr>
          <p:cNvSpPr>
            <a:spLocks noGrp="1"/>
          </p:cNvSpPr>
          <p:nvPr>
            <p:ph type="title"/>
          </p:nvPr>
        </p:nvSpPr>
        <p:spPr/>
        <p:txBody>
          <a:bodyPr/>
          <a:lstStyle/>
          <a:p>
            <a:r>
              <a:rPr lang="en-US" dirty="0"/>
              <a:t>How to </a:t>
            </a:r>
            <a:r>
              <a:rPr lang="en-US" dirty="0" err="1"/>
              <a:t>Respawan</a:t>
            </a:r>
            <a:r>
              <a:rPr lang="en-US" dirty="0"/>
              <a:t> the </a:t>
            </a:r>
            <a:r>
              <a:rPr lang="en-US" dirty="0" err="1"/>
              <a:t>GameObject</a:t>
            </a:r>
            <a:r>
              <a:rPr lang="en-US" dirty="0"/>
              <a:t> in 2D</a:t>
            </a:r>
            <a:endParaRPr lang="en-IN" dirty="0"/>
          </a:p>
        </p:txBody>
      </p:sp>
      <p:sp>
        <p:nvSpPr>
          <p:cNvPr id="3" name="Content Placeholder 2">
            <a:extLst>
              <a:ext uri="{FF2B5EF4-FFF2-40B4-BE49-F238E27FC236}">
                <a16:creationId xmlns:a16="http://schemas.microsoft.com/office/drawing/2014/main" id="{E9AEBBFC-ECB1-3C96-37EC-E2CC04DAA123}"/>
              </a:ext>
            </a:extLst>
          </p:cNvPr>
          <p:cNvSpPr>
            <a:spLocks noGrp="1"/>
          </p:cNvSpPr>
          <p:nvPr>
            <p:ph idx="1"/>
          </p:nvPr>
        </p:nvSpPr>
        <p:spPr/>
        <p:txBody>
          <a:bodyPr/>
          <a:lstStyle/>
          <a:p>
            <a:r>
              <a:rPr lang="en-US" dirty="0"/>
              <a:t>First create a </a:t>
            </a:r>
            <a:r>
              <a:rPr lang="en-US" dirty="0" err="1"/>
              <a:t>EmptyGame</a:t>
            </a:r>
            <a:r>
              <a:rPr lang="en-US" dirty="0"/>
              <a:t> Object and </a:t>
            </a:r>
            <a:r>
              <a:rPr lang="en-US" dirty="0" err="1"/>
              <a:t>remane</a:t>
            </a:r>
            <a:r>
              <a:rPr lang="en-US" dirty="0"/>
              <a:t> it </a:t>
            </a:r>
            <a:r>
              <a:rPr lang="en-US" dirty="0" err="1"/>
              <a:t>SpawanPoint</a:t>
            </a:r>
            <a:r>
              <a:rPr lang="en-US" dirty="0"/>
              <a:t> because from this the Object is </a:t>
            </a:r>
            <a:r>
              <a:rPr lang="en-US" dirty="0" err="1"/>
              <a:t>Respawan</a:t>
            </a:r>
            <a:endParaRPr lang="en-US" dirty="0"/>
          </a:p>
          <a:p>
            <a:r>
              <a:rPr lang="en-US" dirty="0"/>
              <a:t>And then create h float variable </a:t>
            </a:r>
            <a:r>
              <a:rPr lang="en-US" dirty="0" err="1"/>
              <a:t>maxX</a:t>
            </a:r>
            <a:r>
              <a:rPr lang="en-US" dirty="0"/>
              <a:t> and assigned </a:t>
            </a:r>
          </a:p>
          <a:p>
            <a:r>
              <a:rPr lang="en-US" dirty="0"/>
              <a:t>Use </a:t>
            </a:r>
            <a:r>
              <a:rPr lang="en-US" dirty="0" err="1"/>
              <a:t>Random.Range</a:t>
            </a:r>
            <a:r>
              <a:rPr lang="en-US" dirty="0"/>
              <a:t> (</a:t>
            </a:r>
            <a:r>
              <a:rPr lang="en-US" dirty="0" err="1"/>
              <a:t>min,max</a:t>
            </a:r>
            <a:r>
              <a:rPr lang="en-US" dirty="0"/>
              <a:t>) to generate the random position in the </a:t>
            </a:r>
            <a:r>
              <a:rPr lang="en-US" dirty="0" err="1"/>
              <a:t>screem</a:t>
            </a:r>
            <a:endParaRPr lang="en-US" dirty="0"/>
          </a:p>
          <a:p>
            <a:r>
              <a:rPr lang="en-US" dirty="0"/>
              <a:t>And then Instantiate Methods to </a:t>
            </a:r>
            <a:r>
              <a:rPr lang="en-US" dirty="0" err="1"/>
              <a:t>respawan</a:t>
            </a:r>
            <a:endParaRPr lang="en-US" dirty="0"/>
          </a:p>
          <a:p>
            <a:r>
              <a:rPr lang="en-US" dirty="0"/>
              <a:t>Call the method </a:t>
            </a:r>
          </a:p>
          <a:p>
            <a:endParaRPr lang="en-IN" dirty="0"/>
          </a:p>
        </p:txBody>
      </p:sp>
    </p:spTree>
    <p:extLst>
      <p:ext uri="{BB962C8B-B14F-4D97-AF65-F5344CB8AC3E}">
        <p14:creationId xmlns:p14="http://schemas.microsoft.com/office/powerpoint/2010/main" val="282881047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BDDDE-6EEA-320C-0181-A9CDFD5A9A03}"/>
              </a:ext>
            </a:extLst>
          </p:cNvPr>
          <p:cNvSpPr>
            <a:spLocks noGrp="1"/>
          </p:cNvSpPr>
          <p:nvPr>
            <p:ph type="title"/>
          </p:nvPr>
        </p:nvSpPr>
        <p:spPr/>
        <p:txBody>
          <a:bodyPr/>
          <a:lstStyle/>
          <a:p>
            <a:r>
              <a:rPr lang="en-US" dirty="0"/>
              <a:t>How we  can I zoom In and Zoom out the Game</a:t>
            </a:r>
            <a:endParaRPr lang="en-IN" dirty="0"/>
          </a:p>
        </p:txBody>
      </p:sp>
      <p:sp>
        <p:nvSpPr>
          <p:cNvPr id="3" name="Content Placeholder 2">
            <a:extLst>
              <a:ext uri="{FF2B5EF4-FFF2-40B4-BE49-F238E27FC236}">
                <a16:creationId xmlns:a16="http://schemas.microsoft.com/office/drawing/2014/main" id="{7D5777F3-BBA2-7B37-43E4-CE56B753DB50}"/>
              </a:ext>
            </a:extLst>
          </p:cNvPr>
          <p:cNvSpPr>
            <a:spLocks noGrp="1"/>
          </p:cNvSpPr>
          <p:nvPr>
            <p:ph idx="1"/>
          </p:nvPr>
        </p:nvSpPr>
        <p:spPr>
          <a:xfrm>
            <a:off x="605287" y="1690688"/>
            <a:ext cx="10515600" cy="4351338"/>
          </a:xfrm>
        </p:spPr>
        <p:txBody>
          <a:bodyPr>
            <a:normAutofit fontScale="92500"/>
          </a:bodyPr>
          <a:lstStyle/>
          <a:p>
            <a:r>
              <a:rPr lang="en-US" dirty="0"/>
              <a:t>We can Zoom Out and Zoom in the camera By using Camera property .</a:t>
            </a:r>
          </a:p>
          <a:p>
            <a:r>
              <a:rPr lang="en-US" dirty="0"/>
              <a:t>In Unity For 2D the Camera has the property called {Size and Projection} </a:t>
            </a:r>
          </a:p>
          <a:p>
            <a:r>
              <a:rPr lang="en-US" dirty="0"/>
              <a:t>And for the 3D the camera has the property {filed of view And  perspective } through which we can Zoom IN and Zoom Out the camera.</a:t>
            </a:r>
          </a:p>
          <a:p>
            <a:pPr lvl="1"/>
            <a:r>
              <a:rPr lang="en-US" dirty="0"/>
              <a:t>Public </a:t>
            </a:r>
            <a:r>
              <a:rPr lang="en-US" dirty="0" err="1"/>
              <a:t>Camra</a:t>
            </a:r>
            <a:r>
              <a:rPr lang="en-US" dirty="0"/>
              <a:t> cam ;</a:t>
            </a:r>
          </a:p>
          <a:p>
            <a:pPr lvl="1"/>
            <a:r>
              <a:rPr lang="en-US" dirty="0"/>
              <a:t>Cam.</a:t>
            </a:r>
            <a:r>
              <a:rPr lang="en-IN" dirty="0"/>
              <a:t> </a:t>
            </a:r>
            <a:r>
              <a:rPr lang="en-IN" dirty="0" err="1"/>
              <a:t>orthographicSize</a:t>
            </a:r>
            <a:r>
              <a:rPr lang="en-IN" dirty="0"/>
              <a:t> if </a:t>
            </a:r>
            <a:r>
              <a:rPr lang="en-IN" dirty="0" err="1"/>
              <a:t>inscreses</a:t>
            </a:r>
            <a:r>
              <a:rPr lang="en-IN" dirty="0"/>
              <a:t>/decreases for 2D</a:t>
            </a:r>
          </a:p>
          <a:p>
            <a:pPr lvl="1"/>
            <a:r>
              <a:rPr lang="en-IN" dirty="0" err="1"/>
              <a:t>Cam.filedOfView</a:t>
            </a:r>
            <a:r>
              <a:rPr lang="en-IN" dirty="0"/>
              <a:t> for 3D </a:t>
            </a:r>
          </a:p>
          <a:p>
            <a:pPr lvl="1"/>
            <a:r>
              <a:rPr lang="en-IN" dirty="0" err="1"/>
              <a:t>cam.orthographicSize</a:t>
            </a:r>
            <a:r>
              <a:rPr lang="en-IN" dirty="0"/>
              <a:t> = </a:t>
            </a:r>
            <a:r>
              <a:rPr lang="en-IN" dirty="0" err="1"/>
              <a:t>Mathf.Clamp</a:t>
            </a:r>
            <a:r>
              <a:rPr lang="en-IN" dirty="0"/>
              <a:t>(</a:t>
            </a:r>
            <a:r>
              <a:rPr lang="en-IN" dirty="0" err="1"/>
              <a:t>cam.orthographicSize</a:t>
            </a:r>
            <a:r>
              <a:rPr lang="en-IN" dirty="0"/>
              <a:t>, </a:t>
            </a:r>
            <a:r>
              <a:rPr lang="en-IN" dirty="0" err="1"/>
              <a:t>minZoom</a:t>
            </a:r>
            <a:r>
              <a:rPr lang="en-IN" dirty="0"/>
              <a:t>, </a:t>
            </a:r>
            <a:r>
              <a:rPr lang="en-IN" dirty="0" err="1"/>
              <a:t>maxZoom</a:t>
            </a:r>
            <a:r>
              <a:rPr lang="en-IN" dirty="0"/>
              <a:t>); // set the limits of camera to zoom and Zoo out </a:t>
            </a:r>
          </a:p>
          <a:p>
            <a:pPr marL="457200" lvl="1" indent="0">
              <a:buNone/>
            </a:pPr>
            <a:endParaRPr lang="en-IN" dirty="0"/>
          </a:p>
        </p:txBody>
      </p:sp>
    </p:spTree>
    <p:extLst>
      <p:ext uri="{BB962C8B-B14F-4D97-AF65-F5344CB8AC3E}">
        <p14:creationId xmlns:p14="http://schemas.microsoft.com/office/powerpoint/2010/main" val="383417858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FB568-5710-129F-F5FE-04D614599876}"/>
              </a:ext>
            </a:extLst>
          </p:cNvPr>
          <p:cNvSpPr>
            <a:spLocks noGrp="1"/>
          </p:cNvSpPr>
          <p:nvPr>
            <p:ph type="title"/>
          </p:nvPr>
        </p:nvSpPr>
        <p:spPr/>
        <p:txBody>
          <a:bodyPr/>
          <a:lstStyle/>
          <a:p>
            <a:r>
              <a:rPr lang="en-US" dirty="0"/>
              <a:t>Zoom In and Zoom Out the Camera In 2D</a:t>
            </a:r>
            <a:endParaRPr lang="en-IN" dirty="0"/>
          </a:p>
        </p:txBody>
      </p:sp>
      <p:sp>
        <p:nvSpPr>
          <p:cNvPr id="7" name="Content Placeholder 6">
            <a:extLst>
              <a:ext uri="{FF2B5EF4-FFF2-40B4-BE49-F238E27FC236}">
                <a16:creationId xmlns:a16="http://schemas.microsoft.com/office/drawing/2014/main" id="{F424948E-8737-8B95-5532-DF3F97C76972}"/>
              </a:ext>
            </a:extLst>
          </p:cNvPr>
          <p:cNvSpPr>
            <a:spLocks noGrp="1"/>
          </p:cNvSpPr>
          <p:nvPr>
            <p:ph idx="1"/>
          </p:nvPr>
        </p:nvSpPr>
        <p:spPr>
          <a:xfrm>
            <a:off x="838200" y="1290320"/>
            <a:ext cx="4993640" cy="4886643"/>
          </a:xfrm>
        </p:spPr>
        <p:txBody>
          <a:bodyPr>
            <a:normAutofit fontScale="70000" lnSpcReduction="20000"/>
          </a:bodyPr>
          <a:lstStyle/>
          <a:p>
            <a:pPr marL="0" indent="0">
              <a:buNone/>
            </a:pPr>
            <a:r>
              <a:rPr lang="en-IN" dirty="0"/>
              <a:t>public class CameraZoom2D : </a:t>
            </a:r>
            <a:r>
              <a:rPr lang="en-IN" dirty="0" err="1"/>
              <a:t>MonoBehaviour</a:t>
            </a:r>
            <a:endParaRPr lang="en-IN" dirty="0"/>
          </a:p>
          <a:p>
            <a:pPr marL="0" indent="0">
              <a:buNone/>
            </a:pPr>
            <a:r>
              <a:rPr lang="en-IN" dirty="0"/>
              <a:t>   public Camera cam;              // Reference to the camera</a:t>
            </a:r>
          </a:p>
          <a:p>
            <a:pPr marL="0" indent="0">
              <a:buNone/>
            </a:pPr>
            <a:r>
              <a:rPr lang="en-IN" dirty="0"/>
              <a:t>    public float </a:t>
            </a:r>
            <a:r>
              <a:rPr lang="en-IN" dirty="0" err="1"/>
              <a:t>zoomSpeed</a:t>
            </a:r>
            <a:r>
              <a:rPr lang="en-IN" dirty="0"/>
              <a:t> = 1f;    // Speed of zooming</a:t>
            </a:r>
          </a:p>
          <a:p>
            <a:pPr marL="0" indent="0">
              <a:buNone/>
            </a:pPr>
            <a:r>
              <a:rPr lang="en-IN" dirty="0"/>
              <a:t>    public float </a:t>
            </a:r>
            <a:r>
              <a:rPr lang="en-IN" dirty="0" err="1"/>
              <a:t>minZoom</a:t>
            </a:r>
            <a:r>
              <a:rPr lang="en-IN" dirty="0"/>
              <a:t> = 2f;      // Minimum orthographic size (zoom in limit)</a:t>
            </a:r>
          </a:p>
          <a:p>
            <a:pPr marL="0" indent="0">
              <a:buNone/>
            </a:pPr>
            <a:r>
              <a:rPr lang="en-IN" dirty="0"/>
              <a:t>    public float </a:t>
            </a:r>
            <a:r>
              <a:rPr lang="en-IN" dirty="0" err="1"/>
              <a:t>maxZoom</a:t>
            </a:r>
            <a:r>
              <a:rPr lang="en-IN" dirty="0"/>
              <a:t> = 10f;     // Maximum orthographic size (zoom out limit)</a:t>
            </a:r>
          </a:p>
          <a:p>
            <a:pPr marL="0" indent="0">
              <a:buNone/>
            </a:pPr>
            <a:r>
              <a:rPr lang="en-IN" dirty="0"/>
              <a:t>    void Start()</a:t>
            </a:r>
          </a:p>
          <a:p>
            <a:pPr marL="0" indent="0">
              <a:buNone/>
            </a:pPr>
            <a:r>
              <a:rPr lang="en-IN" dirty="0"/>
              <a:t>    {</a:t>
            </a:r>
          </a:p>
          <a:p>
            <a:pPr marL="0" indent="0">
              <a:buNone/>
            </a:pPr>
            <a:r>
              <a:rPr lang="en-IN" dirty="0"/>
              <a:t>        if (cam == null)</a:t>
            </a:r>
          </a:p>
          <a:p>
            <a:pPr marL="0" indent="0">
              <a:buNone/>
            </a:pPr>
            <a:r>
              <a:rPr lang="en-IN" dirty="0"/>
              <a:t>            cam = </a:t>
            </a:r>
            <a:r>
              <a:rPr lang="en-IN" dirty="0" err="1"/>
              <a:t>Camera.main</a:t>
            </a:r>
            <a:r>
              <a:rPr lang="en-IN" dirty="0"/>
              <a:t>;     // Automatically assign main camera if not set</a:t>
            </a:r>
          </a:p>
          <a:p>
            <a:pPr marL="0" indent="0">
              <a:buNone/>
            </a:pPr>
            <a:r>
              <a:rPr lang="en-IN" dirty="0"/>
              <a:t>    }</a:t>
            </a:r>
          </a:p>
          <a:p>
            <a:pPr marL="0" indent="0">
              <a:buNone/>
            </a:pPr>
            <a:endParaRPr lang="en-IN" dirty="0"/>
          </a:p>
        </p:txBody>
      </p:sp>
      <p:sp>
        <p:nvSpPr>
          <p:cNvPr id="10" name="TextBox 9">
            <a:extLst>
              <a:ext uri="{FF2B5EF4-FFF2-40B4-BE49-F238E27FC236}">
                <a16:creationId xmlns:a16="http://schemas.microsoft.com/office/drawing/2014/main" id="{76D6A5A9-D3CE-5062-C62B-F96EAFBD9C03}"/>
              </a:ext>
            </a:extLst>
          </p:cNvPr>
          <p:cNvSpPr txBox="1"/>
          <p:nvPr/>
        </p:nvSpPr>
        <p:spPr>
          <a:xfrm>
            <a:off x="6360162" y="1310640"/>
            <a:ext cx="5191758" cy="5355312"/>
          </a:xfrm>
          <a:prstGeom prst="rect">
            <a:avLst/>
          </a:prstGeom>
          <a:noFill/>
        </p:spPr>
        <p:txBody>
          <a:bodyPr wrap="square">
            <a:spAutoFit/>
          </a:bodyPr>
          <a:lstStyle/>
          <a:p>
            <a:pPr marL="0" indent="0">
              <a:buNone/>
            </a:pPr>
            <a:r>
              <a:rPr lang="en-IN" dirty="0"/>
              <a:t> void Update()</a:t>
            </a:r>
          </a:p>
          <a:p>
            <a:pPr marL="0" indent="0">
              <a:buNone/>
            </a:pPr>
            <a:r>
              <a:rPr lang="en-IN" dirty="0"/>
              <a:t>    {</a:t>
            </a:r>
          </a:p>
          <a:p>
            <a:pPr marL="0" indent="0">
              <a:buNone/>
            </a:pPr>
            <a:r>
              <a:rPr lang="en-IN" dirty="0"/>
              <a:t>        // Get scroll wheel input</a:t>
            </a:r>
          </a:p>
          <a:p>
            <a:pPr marL="0" indent="0">
              <a:buNone/>
            </a:pPr>
            <a:r>
              <a:rPr lang="en-IN" dirty="0"/>
              <a:t>        float scroll = </a:t>
            </a:r>
            <a:r>
              <a:rPr lang="en-IN" dirty="0" err="1"/>
              <a:t>Input.GetAxis</a:t>
            </a:r>
            <a:r>
              <a:rPr lang="en-IN" dirty="0"/>
              <a:t>("Mouse </a:t>
            </a:r>
            <a:r>
              <a:rPr lang="en-IN" dirty="0" err="1"/>
              <a:t>ScrollWheel</a:t>
            </a:r>
            <a:r>
              <a:rPr lang="en-IN" dirty="0"/>
              <a:t>");</a:t>
            </a:r>
          </a:p>
          <a:p>
            <a:pPr marL="0" indent="0">
              <a:buNone/>
            </a:pPr>
            <a:endParaRPr lang="en-IN" dirty="0"/>
          </a:p>
          <a:p>
            <a:pPr marL="0" indent="0">
              <a:buNone/>
            </a:pPr>
            <a:r>
              <a:rPr lang="en-IN" dirty="0"/>
              <a:t>        // Change orthographic size based on scroll input</a:t>
            </a:r>
          </a:p>
          <a:p>
            <a:pPr marL="0" indent="0">
              <a:buNone/>
            </a:pPr>
            <a:endParaRPr lang="en-IN" dirty="0"/>
          </a:p>
          <a:p>
            <a:pPr marL="0" indent="0">
              <a:buNone/>
            </a:pPr>
            <a:r>
              <a:rPr lang="en-IN" dirty="0"/>
              <a:t>        </a:t>
            </a:r>
            <a:r>
              <a:rPr lang="en-IN" dirty="0" err="1"/>
              <a:t>cam.orthographicSize</a:t>
            </a:r>
            <a:r>
              <a:rPr lang="en-IN" dirty="0"/>
              <a:t> -= scroll * </a:t>
            </a:r>
            <a:r>
              <a:rPr lang="en-IN" dirty="0" err="1"/>
              <a:t>zoomSpeed</a:t>
            </a:r>
            <a:r>
              <a:rPr lang="en-IN" dirty="0"/>
              <a:t>;</a:t>
            </a:r>
          </a:p>
          <a:p>
            <a:pPr marL="0" indent="0">
              <a:buNone/>
            </a:pPr>
            <a:endParaRPr lang="en-IN" dirty="0"/>
          </a:p>
          <a:p>
            <a:pPr marL="0" indent="0">
              <a:buNone/>
            </a:pPr>
            <a:r>
              <a:rPr lang="en-IN" dirty="0"/>
              <a:t>        // Clamp orthographic size so it stays</a:t>
            </a:r>
          </a:p>
          <a:p>
            <a:pPr marL="0" indent="0">
              <a:buNone/>
            </a:pPr>
            <a:r>
              <a:rPr lang="en-IN" dirty="0"/>
              <a:t> between </a:t>
            </a:r>
            <a:r>
              <a:rPr lang="en-IN" dirty="0" err="1"/>
              <a:t>minZoom</a:t>
            </a:r>
            <a:r>
              <a:rPr lang="en-IN" dirty="0"/>
              <a:t> and </a:t>
            </a:r>
            <a:r>
              <a:rPr lang="en-IN" dirty="0" err="1"/>
              <a:t>maxZoom</a:t>
            </a:r>
            <a:endParaRPr lang="en-IN" dirty="0"/>
          </a:p>
          <a:p>
            <a:pPr marL="0" indent="0">
              <a:buNone/>
            </a:pPr>
            <a:endParaRPr lang="en-IN" dirty="0"/>
          </a:p>
          <a:p>
            <a:pPr marL="0" indent="0">
              <a:buNone/>
            </a:pPr>
            <a:r>
              <a:rPr lang="en-IN" dirty="0"/>
              <a:t>        </a:t>
            </a:r>
            <a:r>
              <a:rPr lang="en-IN" dirty="0" err="1"/>
              <a:t>cam.orthographicSize</a:t>
            </a:r>
            <a:r>
              <a:rPr lang="en-IN" dirty="0"/>
              <a:t> = </a:t>
            </a:r>
            <a:r>
              <a:rPr lang="en-IN" dirty="0" err="1"/>
              <a:t>Mathf.Clamp</a:t>
            </a:r>
            <a:r>
              <a:rPr lang="en-IN" dirty="0"/>
              <a:t>(</a:t>
            </a:r>
            <a:r>
              <a:rPr lang="en-IN" dirty="0" err="1"/>
              <a:t>cam.orthographicSize</a:t>
            </a:r>
            <a:r>
              <a:rPr lang="en-IN" dirty="0"/>
              <a:t>, </a:t>
            </a:r>
            <a:r>
              <a:rPr lang="en-IN" dirty="0" err="1"/>
              <a:t>minZoom</a:t>
            </a:r>
            <a:r>
              <a:rPr lang="en-IN" dirty="0"/>
              <a:t>, </a:t>
            </a:r>
            <a:r>
              <a:rPr lang="en-IN" dirty="0" err="1"/>
              <a:t>maxZoom</a:t>
            </a:r>
            <a:r>
              <a:rPr lang="en-IN" dirty="0"/>
              <a:t>);</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5860275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A3DD0-83AB-E342-8B23-B46898EE240C}"/>
              </a:ext>
            </a:extLst>
          </p:cNvPr>
          <p:cNvSpPr>
            <a:spLocks noGrp="1"/>
          </p:cNvSpPr>
          <p:nvPr>
            <p:ph type="title"/>
          </p:nvPr>
        </p:nvSpPr>
        <p:spPr/>
        <p:txBody>
          <a:bodyPr/>
          <a:lstStyle/>
          <a:p>
            <a:r>
              <a:rPr lang="en-US" b="0" i="0" dirty="0">
                <a:solidFill>
                  <a:srgbClr val="2A2B3F"/>
                </a:solidFill>
                <a:effectLst/>
                <a:latin typeface="Udemy Sans"/>
              </a:rPr>
              <a:t>Creating Camera Shake in Unity with C#</a:t>
            </a:r>
            <a:endParaRPr lang="en-IN" dirty="0"/>
          </a:p>
        </p:txBody>
      </p:sp>
      <p:sp>
        <p:nvSpPr>
          <p:cNvPr id="3" name="Content Placeholder 2">
            <a:extLst>
              <a:ext uri="{FF2B5EF4-FFF2-40B4-BE49-F238E27FC236}">
                <a16:creationId xmlns:a16="http://schemas.microsoft.com/office/drawing/2014/main" id="{843FDFDA-78EC-17D1-DA03-1F41EDBDA1F1}"/>
              </a:ext>
            </a:extLst>
          </p:cNvPr>
          <p:cNvSpPr>
            <a:spLocks noGrp="1"/>
          </p:cNvSpPr>
          <p:nvPr>
            <p:ph idx="1"/>
          </p:nvPr>
        </p:nvSpPr>
        <p:spPr/>
        <p:txBody>
          <a:bodyPr>
            <a:normAutofit fontScale="55000" lnSpcReduction="20000"/>
          </a:bodyPr>
          <a:lstStyle/>
          <a:p>
            <a:pPr marL="0" indent="0">
              <a:buNone/>
            </a:pPr>
            <a:r>
              <a:rPr lang="en-IN" dirty="0" err="1"/>
              <a:t>IEnumerator</a:t>
            </a:r>
            <a:r>
              <a:rPr lang="en-IN" dirty="0"/>
              <a:t> Shake()    {</a:t>
            </a:r>
          </a:p>
          <a:p>
            <a:pPr marL="0" indent="0">
              <a:buNone/>
            </a:pPr>
            <a:r>
              <a:rPr lang="en-IN" dirty="0"/>
              <a:t>        float elapsed = 0f;</a:t>
            </a:r>
          </a:p>
          <a:p>
            <a:pPr marL="0" indent="0">
              <a:buNone/>
            </a:pPr>
            <a:r>
              <a:rPr lang="en-IN" dirty="0"/>
              <a:t>        while (elapsed &lt; </a:t>
            </a:r>
            <a:r>
              <a:rPr lang="en-IN" dirty="0" err="1"/>
              <a:t>shakeDuration</a:t>
            </a:r>
            <a:r>
              <a:rPr lang="en-IN" dirty="0"/>
              <a:t>)</a:t>
            </a:r>
          </a:p>
          <a:p>
            <a:pPr marL="0" indent="0">
              <a:buNone/>
            </a:pPr>
            <a:r>
              <a:rPr lang="en-IN" dirty="0"/>
              <a:t>        {</a:t>
            </a:r>
          </a:p>
          <a:p>
            <a:pPr marL="0" indent="0">
              <a:buNone/>
            </a:pPr>
            <a:r>
              <a:rPr lang="en-IN" dirty="0"/>
              <a:t>            // Random point camera </a:t>
            </a:r>
            <a:r>
              <a:rPr lang="en-IN" dirty="0" err="1"/>
              <a:t>ke</a:t>
            </a:r>
            <a:r>
              <a:rPr lang="en-IN" dirty="0"/>
              <a:t> </a:t>
            </a:r>
            <a:r>
              <a:rPr lang="en-IN" dirty="0" err="1"/>
              <a:t>aas</a:t>
            </a:r>
            <a:r>
              <a:rPr lang="en-IN" dirty="0"/>
              <a:t> </a:t>
            </a:r>
            <a:r>
              <a:rPr lang="en-IN" dirty="0" err="1"/>
              <a:t>paas</a:t>
            </a:r>
            <a:r>
              <a:rPr lang="en-IN" dirty="0"/>
              <a:t> within </a:t>
            </a:r>
            <a:r>
              <a:rPr lang="en-IN" dirty="0" err="1"/>
              <a:t>shakeMagnitude</a:t>
            </a:r>
            <a:r>
              <a:rPr lang="en-IN" dirty="0"/>
              <a:t> range</a:t>
            </a:r>
          </a:p>
          <a:p>
            <a:pPr marL="0" indent="0">
              <a:buNone/>
            </a:pPr>
            <a:r>
              <a:rPr lang="en-IN" dirty="0"/>
              <a:t>            float x = </a:t>
            </a:r>
            <a:r>
              <a:rPr lang="en-IN" dirty="0" err="1"/>
              <a:t>Random.Range</a:t>
            </a:r>
            <a:r>
              <a:rPr lang="en-IN" dirty="0"/>
              <a:t>(-</a:t>
            </a:r>
            <a:r>
              <a:rPr lang="en-IN" dirty="0" err="1"/>
              <a:t>shakeMagnitude</a:t>
            </a:r>
            <a:r>
              <a:rPr lang="en-IN" dirty="0"/>
              <a:t>, </a:t>
            </a:r>
            <a:r>
              <a:rPr lang="en-IN" dirty="0" err="1"/>
              <a:t>shakeMagnitude</a:t>
            </a:r>
            <a:r>
              <a:rPr lang="en-IN" dirty="0"/>
              <a:t>);</a:t>
            </a:r>
          </a:p>
          <a:p>
            <a:pPr marL="0" indent="0">
              <a:buNone/>
            </a:pPr>
            <a:r>
              <a:rPr lang="en-IN" dirty="0"/>
              <a:t>            float y = </a:t>
            </a:r>
            <a:r>
              <a:rPr lang="en-IN" dirty="0" err="1"/>
              <a:t>Random.Range</a:t>
            </a:r>
            <a:r>
              <a:rPr lang="en-IN" dirty="0"/>
              <a:t>(-</a:t>
            </a:r>
            <a:r>
              <a:rPr lang="en-IN" dirty="0" err="1"/>
              <a:t>shakeMagnitude</a:t>
            </a:r>
            <a:r>
              <a:rPr lang="en-IN" dirty="0"/>
              <a:t>, </a:t>
            </a:r>
            <a:r>
              <a:rPr lang="en-IN" dirty="0" err="1"/>
              <a:t>shakeMagnitude</a:t>
            </a:r>
            <a:r>
              <a:rPr lang="en-IN" dirty="0"/>
              <a:t>);</a:t>
            </a:r>
          </a:p>
          <a:p>
            <a:pPr marL="0" indent="0">
              <a:buNone/>
            </a:pPr>
            <a:r>
              <a:rPr lang="en-IN" dirty="0"/>
              <a:t>            </a:t>
            </a:r>
            <a:r>
              <a:rPr lang="en-IN" dirty="0" err="1"/>
              <a:t>transform.localPosition</a:t>
            </a:r>
            <a:r>
              <a:rPr lang="en-IN" dirty="0"/>
              <a:t> = </a:t>
            </a:r>
            <a:r>
              <a:rPr lang="en-IN" dirty="0" err="1"/>
              <a:t>originalPos</a:t>
            </a:r>
            <a:r>
              <a:rPr lang="en-IN" dirty="0"/>
              <a:t> + new Vector3(x, y, 0);</a:t>
            </a:r>
          </a:p>
          <a:p>
            <a:pPr marL="0" indent="0">
              <a:buNone/>
            </a:pPr>
            <a:r>
              <a:rPr lang="en-IN" dirty="0"/>
              <a:t>            elapsed += </a:t>
            </a:r>
            <a:r>
              <a:rPr lang="en-IN" dirty="0" err="1"/>
              <a:t>Time.deltaTime</a:t>
            </a:r>
            <a:r>
              <a:rPr lang="en-IN" dirty="0"/>
              <a:t>;</a:t>
            </a:r>
          </a:p>
          <a:p>
            <a:pPr marL="0" indent="0">
              <a:buNone/>
            </a:pPr>
            <a:r>
              <a:rPr lang="en-IN" dirty="0"/>
              <a:t>            yield return null;  // Wait for next frame</a:t>
            </a:r>
          </a:p>
          <a:p>
            <a:pPr marL="0" indent="0">
              <a:buNone/>
            </a:pPr>
            <a:r>
              <a:rPr lang="en-IN" dirty="0"/>
              <a:t>        }</a:t>
            </a:r>
          </a:p>
          <a:p>
            <a:pPr marL="0" indent="0">
              <a:buNone/>
            </a:pPr>
            <a:r>
              <a:rPr lang="en-IN" dirty="0"/>
              <a:t>        // Shake khatam hone </a:t>
            </a:r>
            <a:r>
              <a:rPr lang="en-IN" dirty="0" err="1"/>
              <a:t>ke</a:t>
            </a:r>
            <a:r>
              <a:rPr lang="en-IN" dirty="0"/>
              <a:t> </a:t>
            </a:r>
            <a:r>
              <a:rPr lang="en-IN" dirty="0" err="1"/>
              <a:t>baad</a:t>
            </a:r>
            <a:r>
              <a:rPr lang="en-IN" dirty="0"/>
              <a:t> camera ko </a:t>
            </a:r>
            <a:r>
              <a:rPr lang="en-IN" dirty="0" err="1"/>
              <a:t>wapas</a:t>
            </a:r>
            <a:r>
              <a:rPr lang="en-IN" dirty="0"/>
              <a:t> </a:t>
            </a:r>
            <a:r>
              <a:rPr lang="en-IN" dirty="0" err="1"/>
              <a:t>asli</a:t>
            </a:r>
            <a:r>
              <a:rPr lang="en-IN" dirty="0"/>
              <a:t> position pe le </a:t>
            </a:r>
            <a:r>
              <a:rPr lang="en-IN" dirty="0" err="1"/>
              <a:t>aao</a:t>
            </a:r>
            <a:endParaRPr lang="en-IN" dirty="0"/>
          </a:p>
          <a:p>
            <a:pPr marL="0" indent="0">
              <a:buNone/>
            </a:pPr>
            <a:r>
              <a:rPr lang="en-IN" dirty="0"/>
              <a:t>        </a:t>
            </a:r>
            <a:r>
              <a:rPr lang="en-IN" dirty="0" err="1"/>
              <a:t>transform.localPosition</a:t>
            </a:r>
            <a:r>
              <a:rPr lang="en-IN" dirty="0"/>
              <a:t> = </a:t>
            </a:r>
            <a:r>
              <a:rPr lang="en-IN" dirty="0" err="1"/>
              <a:t>originalPos</a:t>
            </a:r>
            <a:r>
              <a:rPr lang="en-IN" dirty="0"/>
              <a:t>;</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4707149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CF72F-8579-56C4-A88E-E209D436E903}"/>
              </a:ext>
            </a:extLst>
          </p:cNvPr>
          <p:cNvSpPr>
            <a:spLocks noGrp="1"/>
          </p:cNvSpPr>
          <p:nvPr>
            <p:ph type="title"/>
          </p:nvPr>
        </p:nvSpPr>
        <p:spPr/>
        <p:txBody>
          <a:bodyPr/>
          <a:lstStyle/>
          <a:p>
            <a:r>
              <a:rPr lang="en-US" dirty="0"/>
              <a:t>How to open </a:t>
            </a:r>
            <a:r>
              <a:rPr lang="en-US" dirty="0" err="1"/>
              <a:t>Url</a:t>
            </a:r>
            <a:r>
              <a:rPr lang="en-US" dirty="0"/>
              <a:t> in Unity</a:t>
            </a:r>
            <a:endParaRPr lang="en-IN" dirty="0"/>
          </a:p>
        </p:txBody>
      </p:sp>
      <p:sp>
        <p:nvSpPr>
          <p:cNvPr id="3" name="Content Placeholder 2">
            <a:extLst>
              <a:ext uri="{FF2B5EF4-FFF2-40B4-BE49-F238E27FC236}">
                <a16:creationId xmlns:a16="http://schemas.microsoft.com/office/drawing/2014/main" id="{87EB4454-3F49-2406-0522-EF29637DBF37}"/>
              </a:ext>
            </a:extLst>
          </p:cNvPr>
          <p:cNvSpPr>
            <a:spLocks noGrp="1"/>
          </p:cNvSpPr>
          <p:nvPr>
            <p:ph idx="1"/>
          </p:nvPr>
        </p:nvSpPr>
        <p:spPr/>
        <p:txBody>
          <a:bodyPr>
            <a:normAutofit lnSpcReduction="10000"/>
          </a:bodyPr>
          <a:lstStyle/>
          <a:p>
            <a:pPr marL="0" indent="0">
              <a:buNone/>
            </a:pPr>
            <a:r>
              <a:rPr lang="en-IN" dirty="0"/>
              <a:t>using </a:t>
            </a:r>
            <a:r>
              <a:rPr lang="en-IN" dirty="0" err="1"/>
              <a:t>UnityEngine</a:t>
            </a:r>
            <a:r>
              <a:rPr lang="en-IN" dirty="0"/>
              <a:t>;</a:t>
            </a:r>
          </a:p>
          <a:p>
            <a:pPr marL="0" indent="0">
              <a:buNone/>
            </a:pPr>
            <a:r>
              <a:rPr lang="en-IN" dirty="0"/>
              <a:t>public class </a:t>
            </a:r>
            <a:r>
              <a:rPr lang="en-IN" dirty="0" err="1"/>
              <a:t>OpenLink</a:t>
            </a:r>
            <a:r>
              <a:rPr lang="en-IN" dirty="0"/>
              <a:t> : </a:t>
            </a:r>
            <a:r>
              <a:rPr lang="en-IN" dirty="0" err="1"/>
              <a:t>MonoBehaviour</a:t>
            </a:r>
            <a:endParaRPr lang="en-IN" dirty="0"/>
          </a:p>
          <a:p>
            <a:pPr marL="0" indent="0">
              <a:buNone/>
            </a:pPr>
            <a:r>
              <a:rPr lang="en-IN" dirty="0"/>
              <a:t>{</a:t>
            </a:r>
          </a:p>
          <a:p>
            <a:pPr marL="0" indent="0">
              <a:buNone/>
            </a:pPr>
            <a:r>
              <a:rPr lang="en-IN" dirty="0"/>
              <a:t>    public string </a:t>
            </a:r>
            <a:r>
              <a:rPr lang="en-IN" dirty="0" err="1"/>
              <a:t>url</a:t>
            </a:r>
            <a:r>
              <a:rPr lang="en-IN" dirty="0"/>
              <a:t> = "https://yourlink.com";</a:t>
            </a:r>
          </a:p>
          <a:p>
            <a:pPr marL="0" indent="0">
              <a:buNone/>
            </a:pPr>
            <a:r>
              <a:rPr lang="en-IN" dirty="0"/>
              <a:t>    public void </a:t>
            </a:r>
            <a:r>
              <a:rPr lang="en-IN" dirty="0" err="1"/>
              <a:t>OpenBuyLink</a:t>
            </a:r>
            <a:r>
              <a:rPr lang="en-IN" dirty="0"/>
              <a:t>()</a:t>
            </a:r>
          </a:p>
          <a:p>
            <a:pPr marL="0" indent="0">
              <a:buNone/>
            </a:pPr>
            <a:r>
              <a:rPr lang="en-IN" dirty="0"/>
              <a:t>    {</a:t>
            </a:r>
          </a:p>
          <a:p>
            <a:pPr marL="0" indent="0">
              <a:buNone/>
            </a:pPr>
            <a:r>
              <a:rPr lang="en-IN" dirty="0"/>
              <a:t>        </a:t>
            </a:r>
            <a:r>
              <a:rPr lang="en-IN" dirty="0" err="1"/>
              <a:t>Application.OpenURL</a:t>
            </a:r>
            <a:r>
              <a:rPr lang="en-IN" dirty="0"/>
              <a:t>(</a:t>
            </a:r>
            <a:r>
              <a:rPr lang="en-IN" dirty="0" err="1"/>
              <a:t>url</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8500736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FD94-FE3D-14BA-E909-C9ACFE6587F9}"/>
              </a:ext>
            </a:extLst>
          </p:cNvPr>
          <p:cNvSpPr>
            <a:spLocks noGrp="1"/>
          </p:cNvSpPr>
          <p:nvPr>
            <p:ph type="title"/>
          </p:nvPr>
        </p:nvSpPr>
        <p:spPr/>
        <p:txBody>
          <a:bodyPr/>
          <a:lstStyle/>
          <a:p>
            <a:r>
              <a:rPr lang="en-US" dirty="0"/>
              <a:t>Steps to Create a </a:t>
            </a:r>
            <a:r>
              <a:rPr lang="en-US" dirty="0" err="1"/>
              <a:t>infine</a:t>
            </a:r>
            <a:r>
              <a:rPr lang="en-US" dirty="0"/>
              <a:t> Background</a:t>
            </a:r>
            <a:endParaRPr lang="en-IN" dirty="0"/>
          </a:p>
        </p:txBody>
      </p:sp>
      <p:sp>
        <p:nvSpPr>
          <p:cNvPr id="3" name="Content Placeholder 2">
            <a:extLst>
              <a:ext uri="{FF2B5EF4-FFF2-40B4-BE49-F238E27FC236}">
                <a16:creationId xmlns:a16="http://schemas.microsoft.com/office/drawing/2014/main" id="{01817EA5-58BD-EF12-CC1A-3EC826E30748}"/>
              </a:ext>
            </a:extLst>
          </p:cNvPr>
          <p:cNvSpPr>
            <a:spLocks noGrp="1"/>
          </p:cNvSpPr>
          <p:nvPr>
            <p:ph idx="1"/>
          </p:nvPr>
        </p:nvSpPr>
        <p:spPr/>
        <p:txBody>
          <a:bodyPr/>
          <a:lstStyle/>
          <a:p>
            <a:r>
              <a:rPr lang="en-US" dirty="0"/>
              <a:t>There are two Ways to do </a:t>
            </a:r>
          </a:p>
          <a:p>
            <a:r>
              <a:rPr lang="en-US" dirty="0"/>
              <a:t>First Way</a:t>
            </a:r>
          </a:p>
          <a:p>
            <a:pPr lvl="2"/>
            <a:r>
              <a:rPr lang="en-US" dirty="0"/>
              <a:t>Steps 1 :- click on sprite and change the texture to default </a:t>
            </a:r>
          </a:p>
          <a:p>
            <a:pPr lvl="2"/>
            <a:r>
              <a:rPr lang="en-US" dirty="0"/>
              <a:t>Steps 2 :- create 3D object like Quad and then apply to it as a material</a:t>
            </a:r>
          </a:p>
          <a:p>
            <a:pPr lvl="2"/>
            <a:r>
              <a:rPr lang="en-IN" dirty="0"/>
              <a:t>(Drag and drop it)</a:t>
            </a:r>
          </a:p>
          <a:p>
            <a:pPr lvl="2"/>
            <a:r>
              <a:rPr lang="en-IN" dirty="0"/>
              <a:t>Step 3:- and Then click on Quad (the </a:t>
            </a:r>
            <a:r>
              <a:rPr lang="en-IN" dirty="0" err="1"/>
              <a:t>GameObject</a:t>
            </a:r>
            <a:r>
              <a:rPr lang="en-IN" dirty="0"/>
              <a:t> where applied texture) and change the shader to Unlit/texture</a:t>
            </a:r>
          </a:p>
          <a:p>
            <a:r>
              <a:rPr lang="en-IN" dirty="0"/>
              <a:t>Second Way</a:t>
            </a:r>
          </a:p>
          <a:p>
            <a:pPr lvl="2"/>
            <a:r>
              <a:rPr lang="en-IN" dirty="0"/>
              <a:t>Create Materials  and Select the  </a:t>
            </a:r>
            <a:r>
              <a:rPr lang="en-IN" dirty="0" err="1"/>
              <a:t>the</a:t>
            </a:r>
            <a:r>
              <a:rPr lang="en-IN" dirty="0"/>
              <a:t> sprite and drag to Albedo and change the shader to unlit/texture</a:t>
            </a:r>
          </a:p>
        </p:txBody>
      </p:sp>
    </p:spTree>
    <p:extLst>
      <p:ext uri="{BB962C8B-B14F-4D97-AF65-F5344CB8AC3E}">
        <p14:creationId xmlns:p14="http://schemas.microsoft.com/office/powerpoint/2010/main" val="39420344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7FA8-ECB5-E14E-A8F2-6174D12EF011}"/>
              </a:ext>
            </a:extLst>
          </p:cNvPr>
          <p:cNvSpPr>
            <a:spLocks noGrp="1"/>
          </p:cNvSpPr>
          <p:nvPr>
            <p:ph type="title"/>
          </p:nvPr>
        </p:nvSpPr>
        <p:spPr/>
        <p:txBody>
          <a:bodyPr/>
          <a:lstStyle/>
          <a:p>
            <a:r>
              <a:rPr lang="en-IN" b="0" i="0" dirty="0">
                <a:solidFill>
                  <a:srgbClr val="2A2B3F"/>
                </a:solidFill>
                <a:effectLst/>
                <a:latin typeface="Udemy Sans"/>
              </a:rPr>
              <a:t>Create 2D Infinite Scrolling Background for Runner Games</a:t>
            </a:r>
            <a:endParaRPr lang="en-IN" dirty="0"/>
          </a:p>
        </p:txBody>
      </p:sp>
      <p:sp>
        <p:nvSpPr>
          <p:cNvPr id="3" name="Content Placeholder 2">
            <a:extLst>
              <a:ext uri="{FF2B5EF4-FFF2-40B4-BE49-F238E27FC236}">
                <a16:creationId xmlns:a16="http://schemas.microsoft.com/office/drawing/2014/main" id="{10902AC0-4CE6-8BC9-ED8D-2111BD0A123C}"/>
              </a:ext>
            </a:extLst>
          </p:cNvPr>
          <p:cNvSpPr>
            <a:spLocks noGrp="1"/>
          </p:cNvSpPr>
          <p:nvPr>
            <p:ph idx="1"/>
          </p:nvPr>
        </p:nvSpPr>
        <p:spPr/>
        <p:txBody>
          <a:bodyPr>
            <a:normAutofit fontScale="92500" lnSpcReduction="20000"/>
          </a:bodyPr>
          <a:lstStyle/>
          <a:p>
            <a:r>
              <a:rPr lang="en-US" dirty="0"/>
              <a:t>What is Wrap Mode</a:t>
            </a:r>
          </a:p>
          <a:p>
            <a:pPr lvl="1"/>
            <a:r>
              <a:rPr lang="en-US" dirty="0"/>
              <a:t>Wrap Mode controls what happens when a texture’s UV coordinates go outside the normal range (0 to 1).</a:t>
            </a:r>
          </a:p>
          <a:p>
            <a:pPr lvl="1"/>
            <a:r>
              <a:rPr lang="en-US" dirty="0"/>
              <a:t>It decides how the texture behaves when it’s repeated or stretched on 3D objects.</a:t>
            </a:r>
          </a:p>
          <a:p>
            <a:r>
              <a:rPr lang="en-US" dirty="0"/>
              <a:t>Different Types of Wrap Mode</a:t>
            </a:r>
          </a:p>
          <a:p>
            <a:r>
              <a:rPr lang="en-US" dirty="0"/>
              <a:t>Repeat</a:t>
            </a:r>
          </a:p>
          <a:p>
            <a:r>
              <a:rPr lang="en-US" dirty="0"/>
              <a:t>What it does:</a:t>
            </a:r>
          </a:p>
          <a:p>
            <a:pPr lvl="1"/>
            <a:r>
              <a:rPr lang="en-US" dirty="0"/>
              <a:t>The texture repeats horizontally and vertically whenever UV coordinates go beyond 1 or below 0.</a:t>
            </a:r>
          </a:p>
          <a:p>
            <a:pPr lvl="1"/>
            <a:r>
              <a:rPr lang="en-US" dirty="0"/>
              <a:t>Use case:</a:t>
            </a:r>
            <a:br>
              <a:rPr lang="en-US" dirty="0"/>
            </a:br>
            <a:r>
              <a:rPr lang="en-US" dirty="0"/>
              <a:t>Perfect for creating infinite scrolling backgrounds or tiling ground textures.</a:t>
            </a:r>
          </a:p>
          <a:p>
            <a:pPr>
              <a:buFont typeface="Arial" panose="020B0604020202020204" pitchFamily="34" charset="0"/>
              <a:buChar char="•"/>
            </a:pPr>
            <a:r>
              <a:rPr lang="en-US" dirty="0"/>
              <a:t>Example:</a:t>
            </a:r>
          </a:p>
          <a:p>
            <a:endParaRPr lang="en-IN" dirty="0"/>
          </a:p>
        </p:txBody>
      </p:sp>
    </p:spTree>
    <p:extLst>
      <p:ext uri="{BB962C8B-B14F-4D97-AF65-F5344CB8AC3E}">
        <p14:creationId xmlns:p14="http://schemas.microsoft.com/office/powerpoint/2010/main" val="20377537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3EECD-1FBA-9CF4-0B99-976E899808D7}"/>
              </a:ext>
            </a:extLst>
          </p:cNvPr>
          <p:cNvSpPr>
            <a:spLocks noGrp="1"/>
          </p:cNvSpPr>
          <p:nvPr>
            <p:ph type="title"/>
          </p:nvPr>
        </p:nvSpPr>
        <p:spPr/>
        <p:txBody>
          <a:bodyPr/>
          <a:lstStyle/>
          <a:p>
            <a:r>
              <a:rPr lang="en-US" dirty="0"/>
              <a:t>How to use </a:t>
            </a:r>
            <a:r>
              <a:rPr lang="en-US" dirty="0" err="1"/>
              <a:t>Matterial</a:t>
            </a:r>
            <a:r>
              <a:rPr lang="en-US" dirty="0"/>
              <a:t> as at texture in 2D</a:t>
            </a:r>
            <a:endParaRPr lang="en-IN" dirty="0"/>
          </a:p>
        </p:txBody>
      </p:sp>
      <p:sp>
        <p:nvSpPr>
          <p:cNvPr id="3" name="Content Placeholder 2">
            <a:extLst>
              <a:ext uri="{FF2B5EF4-FFF2-40B4-BE49-F238E27FC236}">
                <a16:creationId xmlns:a16="http://schemas.microsoft.com/office/drawing/2014/main" id="{BCE7209C-D2DC-B722-1E36-0748CDEC73EE}"/>
              </a:ext>
            </a:extLst>
          </p:cNvPr>
          <p:cNvSpPr>
            <a:spLocks noGrp="1"/>
          </p:cNvSpPr>
          <p:nvPr>
            <p:ph idx="1"/>
          </p:nvPr>
        </p:nvSpPr>
        <p:spPr/>
        <p:txBody>
          <a:bodyPr/>
          <a:lstStyle/>
          <a:p>
            <a:r>
              <a:rPr lang="en-US" dirty="0"/>
              <a:t>Create a Material </a:t>
            </a:r>
          </a:p>
          <a:p>
            <a:r>
              <a:rPr lang="en-US" dirty="0"/>
              <a:t>Drag and drop to your Sprite </a:t>
            </a:r>
            <a:r>
              <a:rPr lang="en-US" dirty="0" err="1"/>
              <a:t>ir</a:t>
            </a:r>
            <a:r>
              <a:rPr lang="en-US" dirty="0"/>
              <a:t> texture to the Albedo in material  </a:t>
            </a:r>
          </a:p>
          <a:p>
            <a:r>
              <a:rPr lang="en-US" dirty="0"/>
              <a:t> And then change the Shader to </a:t>
            </a:r>
            <a:r>
              <a:rPr lang="en-US" dirty="0" err="1"/>
              <a:t>unit</a:t>
            </a:r>
            <a:r>
              <a:rPr lang="en-US" dirty="0" err="1">
                <a:sym typeface="Wingdings" panose="05000000000000000000" pitchFamily="2" charset="2"/>
              </a:rPr>
              <a:t>texture</a:t>
            </a:r>
            <a:r>
              <a:rPr lang="en-US" dirty="0">
                <a:sym typeface="Wingdings" panose="05000000000000000000" pitchFamily="2" charset="2"/>
              </a:rPr>
              <a:t> and it </a:t>
            </a:r>
            <a:r>
              <a:rPr lang="en-US" dirty="0" err="1">
                <a:sym typeface="Wingdings" panose="05000000000000000000" pitchFamily="2" charset="2"/>
              </a:rPr>
              <a:t>beomes</a:t>
            </a:r>
            <a:r>
              <a:rPr lang="en-US" dirty="0">
                <a:sym typeface="Wingdings" panose="05000000000000000000" pitchFamily="2" charset="2"/>
              </a:rPr>
              <a:t> little bit lighter.</a:t>
            </a:r>
          </a:p>
          <a:p>
            <a:endParaRPr lang="en-IN" dirty="0"/>
          </a:p>
        </p:txBody>
      </p:sp>
    </p:spTree>
    <p:extLst>
      <p:ext uri="{BB962C8B-B14F-4D97-AF65-F5344CB8AC3E}">
        <p14:creationId xmlns:p14="http://schemas.microsoft.com/office/powerpoint/2010/main" val="401002296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649C-028C-1696-3B76-222124BA5E39}"/>
              </a:ext>
            </a:extLst>
          </p:cNvPr>
          <p:cNvSpPr>
            <a:spLocks noGrp="1"/>
          </p:cNvSpPr>
          <p:nvPr>
            <p:ph type="title"/>
          </p:nvPr>
        </p:nvSpPr>
        <p:spPr/>
        <p:txBody>
          <a:bodyPr/>
          <a:lstStyle/>
          <a:p>
            <a:r>
              <a:rPr lang="en-IN" b="1" dirty="0"/>
              <a:t>Clamp</a:t>
            </a:r>
            <a:endParaRPr lang="en-IN" dirty="0"/>
          </a:p>
        </p:txBody>
      </p:sp>
      <p:sp>
        <p:nvSpPr>
          <p:cNvPr id="3" name="Content Placeholder 2">
            <a:extLst>
              <a:ext uri="{FF2B5EF4-FFF2-40B4-BE49-F238E27FC236}">
                <a16:creationId xmlns:a16="http://schemas.microsoft.com/office/drawing/2014/main" id="{C7AEAD25-FC9C-1618-8A17-203A42D0DCE4}"/>
              </a:ext>
            </a:extLst>
          </p:cNvPr>
          <p:cNvSpPr>
            <a:spLocks noGrp="1"/>
          </p:cNvSpPr>
          <p:nvPr>
            <p:ph idx="1"/>
          </p:nvPr>
        </p:nvSpPr>
        <p:spPr/>
        <p:txBody>
          <a:bodyPr>
            <a:normAutofit lnSpcReduction="10000"/>
          </a:bodyPr>
          <a:lstStyle/>
          <a:p>
            <a:r>
              <a:rPr lang="en-US" dirty="0"/>
              <a:t>What it does:</a:t>
            </a:r>
          </a:p>
          <a:p>
            <a:pPr lvl="1"/>
            <a:r>
              <a:rPr lang="en-US" dirty="0"/>
              <a:t>The edge pixels of the texture are stretched beyond the edges.</a:t>
            </a:r>
          </a:p>
          <a:p>
            <a:r>
              <a:rPr lang="en-US" dirty="0"/>
              <a:t>Use case:</a:t>
            </a:r>
          </a:p>
          <a:p>
            <a:pPr lvl="1"/>
            <a:r>
              <a:rPr lang="en-US" dirty="0"/>
              <a:t>Good for UI sprites or textures where you don’t want repeating, just the edges to stretch out.</a:t>
            </a:r>
          </a:p>
          <a:p>
            <a:r>
              <a:rPr lang="en-IN" dirty="0"/>
              <a:t>What is Tiling?</a:t>
            </a:r>
            <a:endParaRPr lang="en-US" dirty="0"/>
          </a:p>
          <a:p>
            <a:pPr lvl="2"/>
            <a:r>
              <a:rPr lang="en-US" dirty="0"/>
              <a:t>Tiling is when a texture or image is repeated multiple times to cover a larger surface seamlessly.</a:t>
            </a:r>
          </a:p>
          <a:p>
            <a:r>
              <a:rPr lang="en-IN" dirty="0"/>
              <a:t>Why use tiling?</a:t>
            </a:r>
            <a:endParaRPr lang="en-US" dirty="0"/>
          </a:p>
          <a:p>
            <a:pPr lvl="1"/>
            <a:r>
              <a:rPr lang="en-US" dirty="0"/>
              <a:t>To create large backgrounds, floors, walls, or other surfaces without using a huge texture.</a:t>
            </a:r>
            <a:endParaRPr lang="en-IN" dirty="0"/>
          </a:p>
        </p:txBody>
      </p:sp>
    </p:spTree>
    <p:extLst>
      <p:ext uri="{BB962C8B-B14F-4D97-AF65-F5344CB8AC3E}">
        <p14:creationId xmlns:p14="http://schemas.microsoft.com/office/powerpoint/2010/main" val="27796521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9612E-8108-6260-0FE9-6FC5A58FB4CC}"/>
              </a:ext>
            </a:extLst>
          </p:cNvPr>
          <p:cNvSpPr>
            <a:spLocks noGrp="1"/>
          </p:cNvSpPr>
          <p:nvPr>
            <p:ph type="title"/>
          </p:nvPr>
        </p:nvSpPr>
        <p:spPr/>
        <p:txBody>
          <a:bodyPr/>
          <a:lstStyle/>
          <a:p>
            <a:r>
              <a:rPr lang="en-IN" dirty="0"/>
              <a:t>What is </a:t>
            </a:r>
            <a:r>
              <a:rPr lang="en-IN" b="1" dirty="0"/>
              <a:t>Offset</a:t>
            </a:r>
            <a:r>
              <a:rPr lang="en-IN" dirty="0"/>
              <a:t>?</a:t>
            </a:r>
          </a:p>
        </p:txBody>
      </p:sp>
      <p:sp>
        <p:nvSpPr>
          <p:cNvPr id="3" name="Content Placeholder 2">
            <a:extLst>
              <a:ext uri="{FF2B5EF4-FFF2-40B4-BE49-F238E27FC236}">
                <a16:creationId xmlns:a16="http://schemas.microsoft.com/office/drawing/2014/main" id="{913A5C75-A64D-F9F6-CDA4-5557DDD4D5E5}"/>
              </a:ext>
            </a:extLst>
          </p:cNvPr>
          <p:cNvSpPr>
            <a:spLocks noGrp="1"/>
          </p:cNvSpPr>
          <p:nvPr>
            <p:ph idx="1"/>
          </p:nvPr>
        </p:nvSpPr>
        <p:spPr/>
        <p:txBody>
          <a:bodyPr/>
          <a:lstStyle/>
          <a:p>
            <a:r>
              <a:rPr lang="en-US" dirty="0"/>
              <a:t>Offset shifts (moves) the texture coordinates on a material.</a:t>
            </a:r>
          </a:p>
          <a:p>
            <a:r>
              <a:rPr lang="en-US" dirty="0"/>
              <a:t>It slides the texture horizontally and/or vertically without changing the actual object.</a:t>
            </a:r>
          </a:p>
          <a:p>
            <a:r>
              <a:rPr lang="en-US" dirty="0"/>
              <a:t>By changing Offset over time, the water texture moves, making it look like the water is flowing, without changing the shape of the water surface.</a:t>
            </a:r>
          </a:p>
          <a:p>
            <a:r>
              <a:rPr lang="en-US" dirty="0"/>
              <a:t>Offset helps create effects like moving floors, flowing water, or scrolling backgrounds in games — by sliding textures in real time!</a:t>
            </a:r>
          </a:p>
          <a:p>
            <a:endParaRPr lang="en-IN" dirty="0"/>
          </a:p>
        </p:txBody>
      </p:sp>
    </p:spTree>
    <p:extLst>
      <p:ext uri="{BB962C8B-B14F-4D97-AF65-F5344CB8AC3E}">
        <p14:creationId xmlns:p14="http://schemas.microsoft.com/office/powerpoint/2010/main" val="95319097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347F-4EB5-DFE2-7652-F13E7812DD5F}"/>
              </a:ext>
            </a:extLst>
          </p:cNvPr>
          <p:cNvSpPr>
            <a:spLocks noGrp="1"/>
          </p:cNvSpPr>
          <p:nvPr>
            <p:ph type="title"/>
          </p:nvPr>
        </p:nvSpPr>
        <p:spPr/>
        <p:txBody>
          <a:bodyPr/>
          <a:lstStyle/>
          <a:p>
            <a:r>
              <a:rPr lang="en-US" dirty="0"/>
              <a:t>What Is Tilling ?</a:t>
            </a:r>
            <a:endParaRPr lang="en-IN" dirty="0"/>
          </a:p>
        </p:txBody>
      </p:sp>
      <p:sp>
        <p:nvSpPr>
          <p:cNvPr id="3" name="Content Placeholder 2">
            <a:extLst>
              <a:ext uri="{FF2B5EF4-FFF2-40B4-BE49-F238E27FC236}">
                <a16:creationId xmlns:a16="http://schemas.microsoft.com/office/drawing/2014/main" id="{F102DE78-3A80-650C-7D85-360CAE233438}"/>
              </a:ext>
            </a:extLst>
          </p:cNvPr>
          <p:cNvSpPr>
            <a:spLocks noGrp="1"/>
          </p:cNvSpPr>
          <p:nvPr>
            <p:ph idx="1"/>
          </p:nvPr>
        </p:nvSpPr>
        <p:spPr/>
        <p:txBody>
          <a:bodyPr/>
          <a:lstStyle/>
          <a:p>
            <a:r>
              <a:rPr lang="en-US" dirty="0"/>
              <a:t>Tiling means repeating a picture (texture) on an object.</a:t>
            </a:r>
          </a:p>
          <a:p>
            <a:r>
              <a:rPr lang="en-US" dirty="0"/>
              <a:t>And from offset we can move the object repeatedly.</a:t>
            </a:r>
          </a:p>
          <a:p>
            <a:r>
              <a:rPr lang="en-US" dirty="0"/>
              <a:t>We can Access the offset </a:t>
            </a:r>
          </a:p>
          <a:p>
            <a:pPr lvl="1"/>
            <a:r>
              <a:rPr lang="en-US" dirty="0" err="1"/>
              <a:t>Material.mainTextureOffset</a:t>
            </a:r>
            <a:r>
              <a:rPr lang="en-US" dirty="0"/>
              <a:t>  = </a:t>
            </a:r>
            <a:r>
              <a:rPr lang="en-US" dirty="0" err="1"/>
              <a:t>material.mainTextureOffset</a:t>
            </a:r>
            <a:r>
              <a:rPr lang="en-US" dirty="0"/>
              <a:t> + </a:t>
            </a:r>
            <a:r>
              <a:rPr lang="en-US" dirty="0" err="1"/>
              <a:t>offst</a:t>
            </a:r>
            <a:r>
              <a:rPr lang="en-US" dirty="0"/>
              <a:t> </a:t>
            </a:r>
            <a:r>
              <a:rPr lang="en-US" dirty="0">
                <a:sym typeface="Wingdings" panose="05000000000000000000" pitchFamily="2" charset="2"/>
              </a:rPr>
              <a:t>Movement of </a:t>
            </a:r>
            <a:r>
              <a:rPr lang="en-US" dirty="0" err="1">
                <a:sym typeface="Wingdings" panose="05000000000000000000" pitchFamily="2" charset="2"/>
              </a:rPr>
              <a:t>GameObject</a:t>
            </a:r>
            <a:endParaRPr lang="en-US" dirty="0"/>
          </a:p>
          <a:p>
            <a:endParaRPr lang="en-IN" dirty="0"/>
          </a:p>
        </p:txBody>
      </p:sp>
    </p:spTree>
    <p:extLst>
      <p:ext uri="{BB962C8B-B14F-4D97-AF65-F5344CB8AC3E}">
        <p14:creationId xmlns:p14="http://schemas.microsoft.com/office/powerpoint/2010/main" val="183740650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5AD50-0174-6ACC-9470-6F6678615F1E}"/>
              </a:ext>
            </a:extLst>
          </p:cNvPr>
          <p:cNvSpPr>
            <a:spLocks noGrp="1"/>
          </p:cNvSpPr>
          <p:nvPr>
            <p:ph type="title"/>
          </p:nvPr>
        </p:nvSpPr>
        <p:spPr/>
        <p:txBody>
          <a:bodyPr/>
          <a:lstStyle/>
          <a:p>
            <a:r>
              <a:rPr lang="en-US" dirty="0"/>
              <a:t>What is Draw Mode in Sprite Renderer?</a:t>
            </a:r>
            <a:endParaRPr lang="en-IN" dirty="0"/>
          </a:p>
        </p:txBody>
      </p:sp>
      <p:sp>
        <p:nvSpPr>
          <p:cNvPr id="3" name="Content Placeholder 2">
            <a:extLst>
              <a:ext uri="{FF2B5EF4-FFF2-40B4-BE49-F238E27FC236}">
                <a16:creationId xmlns:a16="http://schemas.microsoft.com/office/drawing/2014/main" id="{F70B5E6C-4AF6-1639-1053-B95B1D3CA3E5}"/>
              </a:ext>
            </a:extLst>
          </p:cNvPr>
          <p:cNvSpPr>
            <a:spLocks noGrp="1"/>
          </p:cNvSpPr>
          <p:nvPr>
            <p:ph idx="1"/>
          </p:nvPr>
        </p:nvSpPr>
        <p:spPr/>
        <p:txBody>
          <a:bodyPr>
            <a:normAutofit fontScale="85000" lnSpcReduction="10000"/>
          </a:bodyPr>
          <a:lstStyle/>
          <a:p>
            <a:r>
              <a:rPr lang="en-US" dirty="0"/>
              <a:t>Draw Mode controls how your 2D sprite is drawn or stretched on the screen.</a:t>
            </a:r>
          </a:p>
          <a:p>
            <a:r>
              <a:rPr lang="en-US" dirty="0"/>
              <a:t>It has Three Property</a:t>
            </a:r>
          </a:p>
          <a:p>
            <a:pPr lvl="1"/>
            <a:r>
              <a:rPr lang="en-US" dirty="0"/>
              <a:t>Simple: The sprite is drawn normally, no stretching or repeating.</a:t>
            </a:r>
          </a:p>
          <a:p>
            <a:pPr lvl="1"/>
            <a:r>
              <a:rPr lang="en-US" dirty="0"/>
              <a:t>Tiled: The sprite repeats like tiles if you make the object's size bigger.</a:t>
            </a:r>
          </a:p>
          <a:p>
            <a:pPr lvl="1"/>
            <a:r>
              <a:rPr lang="en-US" dirty="0"/>
              <a:t>Sliced: The sprite is split into 9 parts (corners, edges, center), and only edges and center stretch, corners stay the same size.</a:t>
            </a:r>
          </a:p>
          <a:p>
            <a:r>
              <a:rPr lang="en-US" dirty="0"/>
              <a:t>In Script We can Set </a:t>
            </a:r>
          </a:p>
          <a:p>
            <a:pPr marL="914400" lvl="2" indent="0">
              <a:buNone/>
            </a:pPr>
            <a:r>
              <a:rPr lang="en-US" dirty="0" err="1"/>
              <a:t>SpriteRenderer</a:t>
            </a:r>
            <a:r>
              <a:rPr lang="en-US" dirty="0"/>
              <a:t> </a:t>
            </a:r>
            <a:r>
              <a:rPr lang="en-US" dirty="0" err="1"/>
              <a:t>sr</a:t>
            </a:r>
            <a:r>
              <a:rPr lang="en-US" dirty="0"/>
              <a:t> = </a:t>
            </a:r>
            <a:r>
              <a:rPr lang="en-US" dirty="0" err="1"/>
              <a:t>GetComponent</a:t>
            </a:r>
            <a:r>
              <a:rPr lang="en-US" dirty="0"/>
              <a:t>&lt;</a:t>
            </a:r>
            <a:r>
              <a:rPr lang="en-US" dirty="0" err="1"/>
              <a:t>SpriteRenderer</a:t>
            </a:r>
            <a:r>
              <a:rPr lang="en-US" dirty="0"/>
              <a:t>&gt;();</a:t>
            </a:r>
          </a:p>
          <a:p>
            <a:pPr marL="914400" lvl="2" indent="0">
              <a:buNone/>
            </a:pPr>
            <a:r>
              <a:rPr lang="en-US" dirty="0"/>
              <a:t>// Set draw mode to Tiled</a:t>
            </a:r>
          </a:p>
          <a:p>
            <a:pPr marL="914400" lvl="2" indent="0">
              <a:buNone/>
            </a:pPr>
            <a:r>
              <a:rPr lang="en-US" dirty="0" err="1"/>
              <a:t>sr.drawMode</a:t>
            </a:r>
            <a:r>
              <a:rPr lang="en-US" dirty="0"/>
              <a:t> = </a:t>
            </a:r>
            <a:r>
              <a:rPr lang="en-US" dirty="0" err="1"/>
              <a:t>SpriteDrawMode.Tiled</a:t>
            </a:r>
            <a:r>
              <a:rPr lang="en-US" dirty="0"/>
              <a:t>;</a:t>
            </a:r>
          </a:p>
          <a:p>
            <a:pPr marL="914400" lvl="2" indent="0">
              <a:buNone/>
            </a:pPr>
            <a:r>
              <a:rPr lang="en-US" dirty="0"/>
              <a:t>// Set draw mode to Sliced</a:t>
            </a:r>
          </a:p>
          <a:p>
            <a:pPr marL="914400" lvl="2" indent="0">
              <a:buNone/>
            </a:pPr>
            <a:r>
              <a:rPr lang="en-US" dirty="0" err="1"/>
              <a:t>sr.drawMode</a:t>
            </a:r>
            <a:r>
              <a:rPr lang="en-US" dirty="0"/>
              <a:t> = </a:t>
            </a:r>
            <a:r>
              <a:rPr lang="en-US" dirty="0" err="1"/>
              <a:t>SpriteDrawMode.Sliced</a:t>
            </a:r>
            <a:r>
              <a:rPr lang="en-US" dirty="0"/>
              <a:t>;</a:t>
            </a:r>
          </a:p>
          <a:p>
            <a:pPr marL="914400" lvl="2" indent="0">
              <a:buNone/>
            </a:pPr>
            <a:r>
              <a:rPr lang="en-US" dirty="0"/>
              <a:t>// Set draw mode back to Simple</a:t>
            </a:r>
          </a:p>
          <a:p>
            <a:pPr marL="914400" lvl="2" indent="0">
              <a:buNone/>
            </a:pPr>
            <a:r>
              <a:rPr lang="en-US" dirty="0" err="1"/>
              <a:t>sr.drawMode</a:t>
            </a:r>
            <a:r>
              <a:rPr lang="en-US" dirty="0"/>
              <a:t> = </a:t>
            </a:r>
            <a:r>
              <a:rPr lang="en-US" dirty="0" err="1"/>
              <a:t>SpriteDrawMode.Simple</a:t>
            </a:r>
            <a:r>
              <a:rPr lang="en-US" dirty="0"/>
              <a:t>;</a:t>
            </a:r>
          </a:p>
          <a:p>
            <a:endParaRPr lang="en-US" dirty="0"/>
          </a:p>
          <a:p>
            <a:pPr lvl="1"/>
            <a:endParaRPr lang="en-US" dirty="0"/>
          </a:p>
          <a:p>
            <a:endParaRPr lang="en-US" dirty="0"/>
          </a:p>
          <a:p>
            <a:endParaRPr lang="en-IN" dirty="0"/>
          </a:p>
        </p:txBody>
      </p:sp>
    </p:spTree>
    <p:extLst>
      <p:ext uri="{BB962C8B-B14F-4D97-AF65-F5344CB8AC3E}">
        <p14:creationId xmlns:p14="http://schemas.microsoft.com/office/powerpoint/2010/main" val="165130798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Dice and pins on a board game">
            <a:extLst>
              <a:ext uri="{FF2B5EF4-FFF2-40B4-BE49-F238E27FC236}">
                <a16:creationId xmlns:a16="http://schemas.microsoft.com/office/drawing/2014/main" id="{100DECF1-69E9-649D-8484-2B6B6EF1C165}"/>
              </a:ext>
            </a:extLst>
          </p:cNvPr>
          <p:cNvPicPr>
            <a:picLocks noChangeAspect="1"/>
          </p:cNvPicPr>
          <p:nvPr/>
        </p:nvPicPr>
        <p:blipFill>
          <a:blip r:embed="rId2">
            <a:alphaModFix/>
          </a:blip>
          <a:srcRect l="803" r="22514"/>
          <a:stretch>
            <a:fillRect/>
          </a:stretch>
        </p:blipFill>
        <p:spPr>
          <a:xfrm>
            <a:off x="4283902" y="10"/>
            <a:ext cx="7908098" cy="6857992"/>
          </a:xfrm>
          <a:prstGeom prst="rect">
            <a:avLst/>
          </a:prstGeom>
        </p:spPr>
      </p:pic>
      <p:sp>
        <p:nvSpPr>
          <p:cNvPr id="20" name="Rectangle 19">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F4EB25-10A2-8DEE-462E-13FDAB90EB9F}"/>
              </a:ext>
            </a:extLst>
          </p:cNvPr>
          <p:cNvSpPr>
            <a:spLocks noGrp="1"/>
          </p:cNvSpPr>
          <p:nvPr>
            <p:ph type="ctrTitle"/>
          </p:nvPr>
        </p:nvSpPr>
        <p:spPr>
          <a:xfrm>
            <a:off x="728663" y="1115219"/>
            <a:ext cx="5505449" cy="2387600"/>
          </a:xfrm>
        </p:spPr>
        <p:txBody>
          <a:bodyPr>
            <a:normAutofit/>
          </a:bodyPr>
          <a:lstStyle/>
          <a:p>
            <a:pPr algn="l"/>
            <a:r>
              <a:rPr lang="en-US" sz="5000" b="0" i="0">
                <a:solidFill>
                  <a:schemeClr val="bg1"/>
                </a:solidFill>
                <a:effectLst/>
                <a:latin typeface="Udemy Sans"/>
              </a:rPr>
              <a:t> Build Your First Android Game with Unity &amp; C#</a:t>
            </a:r>
            <a:endParaRPr lang="en-IN" sz="5000">
              <a:solidFill>
                <a:schemeClr val="bg1"/>
              </a:solidFill>
            </a:endParaRPr>
          </a:p>
        </p:txBody>
      </p:sp>
      <p:cxnSp>
        <p:nvCxnSpPr>
          <p:cNvPr id="22" name="Straight Connector 21">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23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756AC9-7E8F-7D5E-AA79-2A0B413EF95B}"/>
              </a:ext>
            </a:extLst>
          </p:cNvPr>
          <p:cNvSpPr>
            <a:spLocks noGrp="1"/>
          </p:cNvSpPr>
          <p:nvPr>
            <p:ph type="title"/>
          </p:nvPr>
        </p:nvSpPr>
        <p:spPr>
          <a:xfrm>
            <a:off x="630936" y="640080"/>
            <a:ext cx="4818888" cy="1481328"/>
          </a:xfrm>
        </p:spPr>
        <p:txBody>
          <a:bodyPr anchor="b">
            <a:normAutofit/>
          </a:bodyPr>
          <a:lstStyle/>
          <a:p>
            <a:r>
              <a:rPr lang="en-US" sz="5400"/>
              <a:t>Joystick</a:t>
            </a:r>
            <a:endParaRPr lang="en-IN" sz="540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63CF240-B0C7-9589-6289-07E334052501}"/>
              </a:ext>
            </a:extLst>
          </p:cNvPr>
          <p:cNvSpPr>
            <a:spLocks noGrp="1"/>
          </p:cNvSpPr>
          <p:nvPr>
            <p:ph idx="1"/>
          </p:nvPr>
        </p:nvSpPr>
        <p:spPr>
          <a:xfrm>
            <a:off x="630936" y="2660904"/>
            <a:ext cx="4818888" cy="3547872"/>
          </a:xfrm>
        </p:spPr>
        <p:txBody>
          <a:bodyPr anchor="t">
            <a:normAutofit/>
          </a:bodyPr>
          <a:lstStyle/>
          <a:p>
            <a:r>
              <a:rPr lang="en-US" sz="2200"/>
              <a:t>A Joystick is a type of on-screen that stays in one place on the screen — usually for mobile games.</a:t>
            </a:r>
          </a:p>
          <a:p>
            <a:r>
              <a:rPr lang="en-US" sz="2200"/>
              <a:t>You use it to let the player move a character, control a camera, or do other actions by touching the screen</a:t>
            </a:r>
          </a:p>
          <a:p>
            <a:r>
              <a:rPr lang="en-US" sz="2200"/>
              <a:t>Different types of joystick</a:t>
            </a:r>
          </a:p>
          <a:p>
            <a:endParaRPr lang="en-IN" sz="2200"/>
          </a:p>
        </p:txBody>
      </p:sp>
      <p:graphicFrame>
        <p:nvGraphicFramePr>
          <p:cNvPr id="4" name="Table 3">
            <a:extLst>
              <a:ext uri="{FF2B5EF4-FFF2-40B4-BE49-F238E27FC236}">
                <a16:creationId xmlns:a16="http://schemas.microsoft.com/office/drawing/2014/main" id="{C18543EE-43CA-04EF-BB74-065BE05CC2EE}"/>
              </a:ext>
            </a:extLst>
          </p:cNvPr>
          <p:cNvGraphicFramePr>
            <a:graphicFrameLocks noGrp="1"/>
          </p:cNvGraphicFramePr>
          <p:nvPr>
            <p:extLst>
              <p:ext uri="{D42A27DB-BD31-4B8C-83A1-F6EECF244321}">
                <p14:modId xmlns:p14="http://schemas.microsoft.com/office/powerpoint/2010/main" val="276742684"/>
              </p:ext>
            </p:extLst>
          </p:nvPr>
        </p:nvGraphicFramePr>
        <p:xfrm>
          <a:off x="5467943" y="1559249"/>
          <a:ext cx="6111240" cy="4649527"/>
        </p:xfrm>
        <a:graphic>
          <a:graphicData uri="http://schemas.openxmlformats.org/drawingml/2006/table">
            <a:tbl>
              <a:tblPr>
                <a:tableStyleId>{775DCB02-9BB8-47FD-8907-85C794F793BA}</a:tableStyleId>
              </a:tblPr>
              <a:tblGrid>
                <a:gridCol w="1140113">
                  <a:extLst>
                    <a:ext uri="{9D8B030D-6E8A-4147-A177-3AD203B41FA5}">
                      <a16:colId xmlns:a16="http://schemas.microsoft.com/office/drawing/2014/main" val="2916540078"/>
                    </a:ext>
                  </a:extLst>
                </a:gridCol>
                <a:gridCol w="1513452">
                  <a:extLst>
                    <a:ext uri="{9D8B030D-6E8A-4147-A177-3AD203B41FA5}">
                      <a16:colId xmlns:a16="http://schemas.microsoft.com/office/drawing/2014/main" val="2331995606"/>
                    </a:ext>
                  </a:extLst>
                </a:gridCol>
                <a:gridCol w="939086">
                  <a:extLst>
                    <a:ext uri="{9D8B030D-6E8A-4147-A177-3AD203B41FA5}">
                      <a16:colId xmlns:a16="http://schemas.microsoft.com/office/drawing/2014/main" val="495693500"/>
                    </a:ext>
                  </a:extLst>
                </a:gridCol>
                <a:gridCol w="2518589">
                  <a:extLst>
                    <a:ext uri="{9D8B030D-6E8A-4147-A177-3AD203B41FA5}">
                      <a16:colId xmlns:a16="http://schemas.microsoft.com/office/drawing/2014/main" val="4221313102"/>
                    </a:ext>
                  </a:extLst>
                </a:gridCol>
              </a:tblGrid>
              <a:tr h="323969">
                <a:tc>
                  <a:txBody>
                    <a:bodyPr/>
                    <a:lstStyle/>
                    <a:p>
                      <a:pPr lvl="0"/>
                      <a:r>
                        <a:rPr lang="en-IN" sz="1400"/>
                        <a:t>Joystick Type</a:t>
                      </a:r>
                    </a:p>
                  </a:txBody>
                  <a:tcPr marL="46175" marR="46175" marT="23088" marB="23088" anchor="ctr"/>
                </a:tc>
                <a:tc>
                  <a:txBody>
                    <a:bodyPr/>
                    <a:lstStyle/>
                    <a:p>
                      <a:pPr lvl="0"/>
                      <a:r>
                        <a:rPr lang="en-IN" sz="1400"/>
                        <a:t>Syntax (in Script)</a:t>
                      </a:r>
                    </a:p>
                  </a:txBody>
                  <a:tcPr marL="46175" marR="46175" marT="23088" marB="23088" anchor="ctr"/>
                </a:tc>
                <a:tc>
                  <a:txBody>
                    <a:bodyPr/>
                    <a:lstStyle/>
                    <a:p>
                      <a:pPr lvl="0"/>
                      <a:r>
                        <a:rPr lang="en-IN" sz="1400"/>
                        <a:t>Behavior</a:t>
                      </a:r>
                    </a:p>
                  </a:txBody>
                  <a:tcPr marL="46175" marR="46175" marT="23088" marB="23088" anchor="ctr"/>
                </a:tc>
                <a:tc>
                  <a:txBody>
                    <a:bodyPr/>
                    <a:lstStyle/>
                    <a:p>
                      <a:pPr lvl="0"/>
                      <a:r>
                        <a:rPr lang="en-IN" sz="1400"/>
                        <a:t>Example Usage</a:t>
                      </a:r>
                    </a:p>
                  </a:txBody>
                  <a:tcPr marL="46175" marR="46175" marT="23088" marB="23088" anchor="ctr"/>
                </a:tc>
                <a:extLst>
                  <a:ext uri="{0D108BD9-81ED-4DB2-BD59-A6C34878D82A}">
                    <a16:rowId xmlns:a16="http://schemas.microsoft.com/office/drawing/2014/main" val="615634503"/>
                  </a:ext>
                </a:extLst>
              </a:tr>
              <a:tr h="765743">
                <a:tc>
                  <a:txBody>
                    <a:bodyPr/>
                    <a:lstStyle/>
                    <a:p>
                      <a:pPr lvl="0"/>
                      <a:r>
                        <a:rPr lang="en-IN" sz="1400"/>
                        <a:t>FixedJoystick</a:t>
                      </a:r>
                    </a:p>
                  </a:txBody>
                  <a:tcPr marL="46175" marR="46175" marT="23088" marB="23088" anchor="ctr"/>
                </a:tc>
                <a:tc>
                  <a:txBody>
                    <a:bodyPr/>
                    <a:lstStyle/>
                    <a:p>
                      <a:pPr lvl="0"/>
                      <a:r>
                        <a:rPr lang="en-IN" sz="1400"/>
                        <a:t>public FixedJoystick joystick;</a:t>
                      </a:r>
                    </a:p>
                  </a:txBody>
                  <a:tcPr marL="46175" marR="46175" marT="23088" marB="23088" anchor="ctr"/>
                </a:tc>
                <a:tc>
                  <a:txBody>
                    <a:bodyPr/>
                    <a:lstStyle/>
                    <a:p>
                      <a:pPr lvl="0"/>
                      <a:r>
                        <a:rPr lang="en-US" sz="1400"/>
                        <a:t>Stays in one fixed spot on screen</a:t>
                      </a:r>
                    </a:p>
                  </a:txBody>
                  <a:tcPr marL="46175" marR="46175" marT="23088" marB="23088" anchor="ctr"/>
                </a:tc>
                <a:tc>
                  <a:txBody>
                    <a:bodyPr/>
                    <a:lstStyle/>
                    <a:p>
                      <a:pPr lvl="0"/>
                      <a:r>
                        <a:rPr lang="en-US" sz="1400"/>
                        <a:t>Movement for top-down, platformer, or racing</a:t>
                      </a:r>
                    </a:p>
                  </a:txBody>
                  <a:tcPr marL="46175" marR="46175" marT="23088" marB="23088" anchor="ctr"/>
                </a:tc>
                <a:extLst>
                  <a:ext uri="{0D108BD9-81ED-4DB2-BD59-A6C34878D82A}">
                    <a16:rowId xmlns:a16="http://schemas.microsoft.com/office/drawing/2014/main" val="1031074101"/>
                  </a:ext>
                </a:extLst>
              </a:tr>
              <a:tr h="986630">
                <a:tc>
                  <a:txBody>
                    <a:bodyPr/>
                    <a:lstStyle/>
                    <a:p>
                      <a:pPr lvl="0"/>
                      <a:r>
                        <a:rPr lang="en-IN" sz="1400"/>
                        <a:t>FloatingJoystick</a:t>
                      </a:r>
                    </a:p>
                  </a:txBody>
                  <a:tcPr marL="46175" marR="46175" marT="23088" marB="23088" anchor="ctr"/>
                </a:tc>
                <a:tc>
                  <a:txBody>
                    <a:bodyPr/>
                    <a:lstStyle/>
                    <a:p>
                      <a:pPr lvl="0"/>
                      <a:r>
                        <a:rPr lang="en-IN" sz="1400" dirty="0"/>
                        <a:t>public </a:t>
                      </a:r>
                      <a:r>
                        <a:rPr lang="en-IN" sz="1400" dirty="0" err="1"/>
                        <a:t>FloatingJoystick</a:t>
                      </a:r>
                      <a:r>
                        <a:rPr lang="en-IN" sz="1400" dirty="0"/>
                        <a:t> joystick;</a:t>
                      </a:r>
                    </a:p>
                  </a:txBody>
                  <a:tcPr marL="46175" marR="46175" marT="23088" marB="23088" anchor="ctr"/>
                </a:tc>
                <a:tc>
                  <a:txBody>
                    <a:bodyPr/>
                    <a:lstStyle/>
                    <a:p>
                      <a:pPr lvl="0"/>
                      <a:r>
                        <a:rPr lang="en-US" sz="1400"/>
                        <a:t>Appears where the user first touches</a:t>
                      </a:r>
                    </a:p>
                  </a:txBody>
                  <a:tcPr marL="46175" marR="46175" marT="23088" marB="23088" anchor="ctr"/>
                </a:tc>
                <a:tc>
                  <a:txBody>
                    <a:bodyPr/>
                    <a:lstStyle/>
                    <a:p>
                      <a:pPr lvl="0"/>
                      <a:r>
                        <a:rPr lang="en-IN" sz="1400"/>
                        <a:t>Free movement, camera control</a:t>
                      </a:r>
                    </a:p>
                  </a:txBody>
                  <a:tcPr marL="46175" marR="46175" marT="23088" marB="23088" anchor="ctr"/>
                </a:tc>
                <a:extLst>
                  <a:ext uri="{0D108BD9-81ED-4DB2-BD59-A6C34878D82A}">
                    <a16:rowId xmlns:a16="http://schemas.microsoft.com/office/drawing/2014/main" val="597124170"/>
                  </a:ext>
                </a:extLst>
              </a:tr>
              <a:tr h="765743">
                <a:tc>
                  <a:txBody>
                    <a:bodyPr/>
                    <a:lstStyle/>
                    <a:p>
                      <a:pPr lvl="0"/>
                      <a:r>
                        <a:rPr lang="en-IN" sz="1400"/>
                        <a:t>DynamicJoystick</a:t>
                      </a:r>
                    </a:p>
                  </a:txBody>
                  <a:tcPr marL="46175" marR="46175" marT="23088" marB="23088" anchor="ctr"/>
                </a:tc>
                <a:tc>
                  <a:txBody>
                    <a:bodyPr/>
                    <a:lstStyle/>
                    <a:p>
                      <a:pPr lvl="0"/>
                      <a:r>
                        <a:rPr lang="en-IN" sz="1400"/>
                        <a:t>public DynamicJoystick joystick;</a:t>
                      </a:r>
                    </a:p>
                  </a:txBody>
                  <a:tcPr marL="46175" marR="46175" marT="23088" marB="23088" anchor="ctr"/>
                </a:tc>
                <a:tc>
                  <a:txBody>
                    <a:bodyPr/>
                    <a:lstStyle/>
                    <a:p>
                      <a:pPr lvl="0"/>
                      <a:r>
                        <a:rPr lang="en-US" sz="1400"/>
                        <a:t>Follows the finger slightly when moving</a:t>
                      </a:r>
                    </a:p>
                  </a:txBody>
                  <a:tcPr marL="46175" marR="46175" marT="23088" marB="23088" anchor="ctr"/>
                </a:tc>
                <a:tc>
                  <a:txBody>
                    <a:bodyPr/>
                    <a:lstStyle/>
                    <a:p>
                      <a:pPr lvl="0"/>
                      <a:r>
                        <a:rPr lang="en-US" sz="1400"/>
                        <a:t>Smooth control for ARPG or casual games</a:t>
                      </a:r>
                    </a:p>
                  </a:txBody>
                  <a:tcPr marL="46175" marR="46175" marT="23088" marB="23088" anchor="ctr"/>
                </a:tc>
                <a:extLst>
                  <a:ext uri="{0D108BD9-81ED-4DB2-BD59-A6C34878D82A}">
                    <a16:rowId xmlns:a16="http://schemas.microsoft.com/office/drawing/2014/main" val="488788134"/>
                  </a:ext>
                </a:extLst>
              </a:tr>
              <a:tr h="1207517">
                <a:tc>
                  <a:txBody>
                    <a:bodyPr/>
                    <a:lstStyle/>
                    <a:p>
                      <a:pPr lvl="0"/>
                      <a:r>
                        <a:rPr lang="en-IN" sz="1400"/>
                        <a:t>VariableJoystick</a:t>
                      </a:r>
                    </a:p>
                  </a:txBody>
                  <a:tcPr marL="46175" marR="46175" marT="23088" marB="23088" anchor="ctr"/>
                </a:tc>
                <a:tc>
                  <a:txBody>
                    <a:bodyPr/>
                    <a:lstStyle/>
                    <a:p>
                      <a:pPr lvl="0"/>
                      <a:r>
                        <a:rPr lang="en-IN" sz="1400"/>
                        <a:t>public VariableJoystick joystick;</a:t>
                      </a:r>
                    </a:p>
                  </a:txBody>
                  <a:tcPr marL="46175" marR="46175" marT="23088" marB="23088" anchor="ctr"/>
                </a:tc>
                <a:tc>
                  <a:txBody>
                    <a:bodyPr/>
                    <a:lstStyle/>
                    <a:p>
                      <a:pPr lvl="0"/>
                      <a:r>
                        <a:rPr lang="en-US" sz="1400"/>
                        <a:t>Can switch between Fixed, Floating, Dynamic</a:t>
                      </a:r>
                    </a:p>
                  </a:txBody>
                  <a:tcPr marL="46175" marR="46175" marT="23088" marB="23088" anchor="ctr"/>
                </a:tc>
                <a:tc>
                  <a:txBody>
                    <a:bodyPr/>
                    <a:lstStyle/>
                    <a:p>
                      <a:pPr lvl="0"/>
                      <a:r>
                        <a:rPr lang="en-US" sz="1400" dirty="0"/>
                        <a:t>Use </a:t>
                      </a:r>
                      <a:r>
                        <a:rPr lang="en-US" sz="1400" dirty="0" err="1"/>
                        <a:t>joystick.SetMode</a:t>
                      </a:r>
                      <a:r>
                        <a:rPr lang="en-US" sz="1400" dirty="0"/>
                        <a:t>(</a:t>
                      </a:r>
                      <a:r>
                        <a:rPr lang="en-US" sz="1400" dirty="0" err="1"/>
                        <a:t>JoystickType.Floating</a:t>
                      </a:r>
                      <a:r>
                        <a:rPr lang="en-US" sz="1400" dirty="0"/>
                        <a:t>);</a:t>
                      </a:r>
                    </a:p>
                  </a:txBody>
                  <a:tcPr marL="46175" marR="46175" marT="23088" marB="23088" anchor="ctr"/>
                </a:tc>
                <a:extLst>
                  <a:ext uri="{0D108BD9-81ED-4DB2-BD59-A6C34878D82A}">
                    <a16:rowId xmlns:a16="http://schemas.microsoft.com/office/drawing/2014/main" val="523479604"/>
                  </a:ext>
                </a:extLst>
              </a:tr>
            </a:tbl>
          </a:graphicData>
        </a:graphic>
      </p:graphicFrame>
    </p:spTree>
    <p:extLst>
      <p:ext uri="{BB962C8B-B14F-4D97-AF65-F5344CB8AC3E}">
        <p14:creationId xmlns:p14="http://schemas.microsoft.com/office/powerpoint/2010/main" val="385939041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5B9334-3E03-4CA7-3616-4D3C9DC2C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6302C-A4FC-B2D7-D7CB-5A6808D2C84D}"/>
              </a:ext>
            </a:extLst>
          </p:cNvPr>
          <p:cNvSpPr>
            <a:spLocks noGrp="1"/>
          </p:cNvSpPr>
          <p:nvPr>
            <p:ph type="title"/>
          </p:nvPr>
        </p:nvSpPr>
        <p:spPr>
          <a:xfrm>
            <a:off x="1514856" y="548640"/>
            <a:ext cx="9162288" cy="1132258"/>
          </a:xfrm>
        </p:spPr>
        <p:txBody>
          <a:bodyPr>
            <a:normAutofit/>
          </a:bodyPr>
          <a:lstStyle/>
          <a:p>
            <a:r>
              <a:rPr lang="en-US"/>
              <a:t>Most common properties of joystick</a:t>
            </a:r>
            <a:endParaRPr lang="en-IN" dirty="0"/>
          </a:p>
        </p:txBody>
      </p:sp>
      <p:graphicFrame>
        <p:nvGraphicFramePr>
          <p:cNvPr id="4" name="Content Placeholder 3">
            <a:extLst>
              <a:ext uri="{FF2B5EF4-FFF2-40B4-BE49-F238E27FC236}">
                <a16:creationId xmlns:a16="http://schemas.microsoft.com/office/drawing/2014/main" id="{37452EA2-EC1A-6037-DCA8-3B5744E4CAB2}"/>
              </a:ext>
            </a:extLst>
          </p:cNvPr>
          <p:cNvGraphicFramePr>
            <a:graphicFrameLocks noGrp="1"/>
          </p:cNvGraphicFramePr>
          <p:nvPr>
            <p:ph idx="1"/>
            <p:extLst>
              <p:ext uri="{D42A27DB-BD31-4B8C-83A1-F6EECF244321}">
                <p14:modId xmlns:p14="http://schemas.microsoft.com/office/powerpoint/2010/main" val="771302503"/>
              </p:ext>
            </p:extLst>
          </p:nvPr>
        </p:nvGraphicFramePr>
        <p:xfrm>
          <a:off x="1514856" y="1879600"/>
          <a:ext cx="9162288" cy="4489821"/>
        </p:xfrm>
        <a:graphic>
          <a:graphicData uri="http://schemas.openxmlformats.org/drawingml/2006/table">
            <a:tbl>
              <a:tblPr>
                <a:tableStyleId>{775DCB02-9BB8-47FD-8907-85C794F793BA}</a:tableStyleId>
              </a:tblPr>
              <a:tblGrid>
                <a:gridCol w="2375697">
                  <a:extLst>
                    <a:ext uri="{9D8B030D-6E8A-4147-A177-3AD203B41FA5}">
                      <a16:colId xmlns:a16="http://schemas.microsoft.com/office/drawing/2014/main" val="3679452598"/>
                    </a:ext>
                  </a:extLst>
                </a:gridCol>
                <a:gridCol w="969035">
                  <a:extLst>
                    <a:ext uri="{9D8B030D-6E8A-4147-A177-3AD203B41FA5}">
                      <a16:colId xmlns:a16="http://schemas.microsoft.com/office/drawing/2014/main" val="193243503"/>
                    </a:ext>
                  </a:extLst>
                </a:gridCol>
                <a:gridCol w="3860508">
                  <a:extLst>
                    <a:ext uri="{9D8B030D-6E8A-4147-A177-3AD203B41FA5}">
                      <a16:colId xmlns:a16="http://schemas.microsoft.com/office/drawing/2014/main" val="3747723476"/>
                    </a:ext>
                  </a:extLst>
                </a:gridCol>
                <a:gridCol w="1957048">
                  <a:extLst>
                    <a:ext uri="{9D8B030D-6E8A-4147-A177-3AD203B41FA5}">
                      <a16:colId xmlns:a16="http://schemas.microsoft.com/office/drawing/2014/main" val="2779255386"/>
                    </a:ext>
                  </a:extLst>
                </a:gridCol>
              </a:tblGrid>
              <a:tr h="510472">
                <a:tc>
                  <a:txBody>
                    <a:bodyPr/>
                    <a:lstStyle/>
                    <a:p>
                      <a:pPr algn="l" fontAlgn="ctr">
                        <a:buNone/>
                      </a:pPr>
                      <a:r>
                        <a:rPr lang="en-IN" sz="1600" b="0" u="none" strike="noStrike" dirty="0">
                          <a:effectLst/>
                        </a:rPr>
                        <a:t>Name</a:t>
                      </a:r>
                      <a:endParaRPr lang="en-IN" sz="1600" b="0" i="0" u="none" strike="noStrike" dirty="0">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Type</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Usage Example</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Description</a:t>
                      </a:r>
                      <a:endParaRPr lang="en-IN" sz="1600" b="0" i="0" u="none" strike="noStrike">
                        <a:effectLst/>
                        <a:latin typeface="Arial" panose="020B0604020202020204" pitchFamily="34" charset="0"/>
                      </a:endParaRPr>
                    </a:p>
                  </a:txBody>
                  <a:tcPr marL="80381" marR="80381" marT="40190" marB="40190" anchor="ctr"/>
                </a:tc>
                <a:extLst>
                  <a:ext uri="{0D108BD9-81ED-4DB2-BD59-A6C34878D82A}">
                    <a16:rowId xmlns:a16="http://schemas.microsoft.com/office/drawing/2014/main" val="1374153326"/>
                  </a:ext>
                </a:extLst>
              </a:tr>
              <a:tr h="858520">
                <a:tc>
                  <a:txBody>
                    <a:bodyPr/>
                    <a:lstStyle/>
                    <a:p>
                      <a:pPr algn="l" fontAlgn="ctr">
                        <a:buNone/>
                      </a:pPr>
                      <a:r>
                        <a:rPr lang="en-IN" sz="1600" b="0" u="none" strike="noStrike">
                          <a:effectLst/>
                        </a:rPr>
                        <a:t>Horizontal</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float</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joystick.Horizontal</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US" sz="1600" b="0" u="none" strike="noStrike">
                          <a:effectLst/>
                        </a:rPr>
                        <a:t>Input on X axis (−1 to +1)</a:t>
                      </a:r>
                      <a:endParaRPr lang="en-US" sz="1600" b="0" i="0" u="none" strike="noStrike">
                        <a:effectLst/>
                        <a:latin typeface="Arial" panose="020B0604020202020204" pitchFamily="34" charset="0"/>
                      </a:endParaRPr>
                    </a:p>
                  </a:txBody>
                  <a:tcPr marL="80381" marR="80381" marT="40190" marB="40190" anchor="ctr"/>
                </a:tc>
                <a:extLst>
                  <a:ext uri="{0D108BD9-81ED-4DB2-BD59-A6C34878D82A}">
                    <a16:rowId xmlns:a16="http://schemas.microsoft.com/office/drawing/2014/main" val="1006791359"/>
                  </a:ext>
                </a:extLst>
              </a:tr>
              <a:tr h="858520">
                <a:tc>
                  <a:txBody>
                    <a:bodyPr/>
                    <a:lstStyle/>
                    <a:p>
                      <a:pPr algn="l" fontAlgn="ctr">
                        <a:buNone/>
                      </a:pPr>
                      <a:r>
                        <a:rPr lang="en-IN" sz="1600" b="0" u="none" strike="noStrike">
                          <a:effectLst/>
                        </a:rPr>
                        <a:t>Vertical</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float</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joystick.Vertical</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US" sz="1600" b="0" u="none" strike="noStrike">
                          <a:effectLst/>
                        </a:rPr>
                        <a:t>Input on Y axis (−1 to +1)</a:t>
                      </a:r>
                      <a:endParaRPr lang="en-US" sz="1600" b="0" i="0" u="none" strike="noStrike">
                        <a:effectLst/>
                        <a:latin typeface="Arial" panose="020B0604020202020204" pitchFamily="34" charset="0"/>
                      </a:endParaRPr>
                    </a:p>
                  </a:txBody>
                  <a:tcPr marL="80381" marR="80381" marT="40190" marB="40190" anchor="ctr"/>
                </a:tc>
                <a:extLst>
                  <a:ext uri="{0D108BD9-81ED-4DB2-BD59-A6C34878D82A}">
                    <a16:rowId xmlns:a16="http://schemas.microsoft.com/office/drawing/2014/main" val="3451017375"/>
                  </a:ext>
                </a:extLst>
              </a:tr>
              <a:tr h="858520">
                <a:tc>
                  <a:txBody>
                    <a:bodyPr/>
                    <a:lstStyle/>
                    <a:p>
                      <a:pPr algn="l" fontAlgn="ctr">
                        <a:buNone/>
                      </a:pPr>
                      <a:r>
                        <a:rPr lang="en-IN" sz="1600" b="0" u="none" strike="noStrike">
                          <a:effectLst/>
                        </a:rPr>
                        <a:t>Direction</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Vector2</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joystick.Direction</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dirty="0">
                          <a:effectLst/>
                        </a:rPr>
                        <a:t>Combined input direction</a:t>
                      </a:r>
                      <a:r>
                        <a:rPr lang="en-IN" sz="1600" b="0" u="none" strike="noStrike" dirty="0">
                          <a:effectLst/>
                          <a:sym typeface="Wingdings" panose="05000000000000000000" pitchFamily="2" charset="2"/>
                        </a:rPr>
                        <a:t></a:t>
                      </a:r>
                      <a:r>
                        <a:rPr lang="en-IN" sz="1600" b="0" u="none" strike="noStrike" dirty="0">
                          <a:effectLst/>
                        </a:rPr>
                        <a:t>(</a:t>
                      </a:r>
                      <a:r>
                        <a:rPr lang="en-US" sz="1600" dirty="0"/>
                        <a:t>Both X and Y in one value (combined)</a:t>
                      </a:r>
                      <a:r>
                        <a:rPr lang="en-IN" sz="1600" b="0" u="none" strike="noStrike" dirty="0">
                          <a:effectLst/>
                        </a:rPr>
                        <a:t>)</a:t>
                      </a:r>
                      <a:endParaRPr lang="en-IN" sz="1600" b="0" i="0" u="none" strike="noStrike" dirty="0">
                        <a:effectLst/>
                        <a:latin typeface="Arial" panose="020B0604020202020204" pitchFamily="34" charset="0"/>
                      </a:endParaRPr>
                    </a:p>
                  </a:txBody>
                  <a:tcPr marL="80381" marR="80381" marT="40190" marB="40190" anchor="ctr"/>
                </a:tc>
                <a:extLst>
                  <a:ext uri="{0D108BD9-81ED-4DB2-BD59-A6C34878D82A}">
                    <a16:rowId xmlns:a16="http://schemas.microsoft.com/office/drawing/2014/main" val="3239158285"/>
                  </a:ext>
                </a:extLst>
              </a:tr>
              <a:tr h="1206569">
                <a:tc>
                  <a:txBody>
                    <a:bodyPr/>
                    <a:lstStyle/>
                    <a:p>
                      <a:pPr algn="l" fontAlgn="ctr">
                        <a:buNone/>
                      </a:pPr>
                      <a:r>
                        <a:rPr lang="en-IN" sz="1600" b="0" u="none" strike="noStrike">
                          <a:effectLst/>
                        </a:rPr>
                        <a:t>SetMode(JoystickType)</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method</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IN" sz="1600" b="0" u="none" strike="noStrike">
                          <a:effectLst/>
                        </a:rPr>
                        <a:t>joystick.SetMode(JoystickType.Floating)</a:t>
                      </a:r>
                      <a:endParaRPr lang="en-IN" sz="1600" b="0" i="0" u="none" strike="noStrike">
                        <a:effectLst/>
                        <a:latin typeface="Arial" panose="020B0604020202020204" pitchFamily="34" charset="0"/>
                      </a:endParaRPr>
                    </a:p>
                  </a:txBody>
                  <a:tcPr marL="80381" marR="80381" marT="40190" marB="40190" anchor="ctr"/>
                </a:tc>
                <a:tc>
                  <a:txBody>
                    <a:bodyPr/>
                    <a:lstStyle/>
                    <a:p>
                      <a:pPr algn="l" fontAlgn="ctr">
                        <a:buNone/>
                      </a:pPr>
                      <a:r>
                        <a:rPr lang="en-US" sz="1600" b="0" u="none" strike="noStrike" dirty="0">
                          <a:effectLst/>
                        </a:rPr>
                        <a:t>Only for </a:t>
                      </a:r>
                      <a:r>
                        <a:rPr lang="en-US" sz="1600" b="0" u="none" strike="noStrike" dirty="0" err="1">
                          <a:effectLst/>
                        </a:rPr>
                        <a:t>VariableJoystick</a:t>
                      </a:r>
                      <a:r>
                        <a:rPr lang="en-US" sz="1600" b="0" u="none" strike="noStrike" dirty="0">
                          <a:effectLst/>
                        </a:rPr>
                        <a:t>, sets mode</a:t>
                      </a:r>
                      <a:endParaRPr lang="en-US" sz="1600" b="0" i="0" u="none" strike="noStrike" dirty="0">
                        <a:effectLst/>
                        <a:latin typeface="Arial" panose="020B0604020202020204" pitchFamily="34" charset="0"/>
                      </a:endParaRPr>
                    </a:p>
                  </a:txBody>
                  <a:tcPr marL="80381" marR="80381" marT="40190" marB="40190" anchor="ctr"/>
                </a:tc>
                <a:extLst>
                  <a:ext uri="{0D108BD9-81ED-4DB2-BD59-A6C34878D82A}">
                    <a16:rowId xmlns:a16="http://schemas.microsoft.com/office/drawing/2014/main" val="1383248165"/>
                  </a:ext>
                </a:extLst>
              </a:tr>
            </a:tbl>
          </a:graphicData>
        </a:graphic>
      </p:graphicFrame>
    </p:spTree>
    <p:extLst>
      <p:ext uri="{BB962C8B-B14F-4D97-AF65-F5344CB8AC3E}">
        <p14:creationId xmlns:p14="http://schemas.microsoft.com/office/powerpoint/2010/main" val="156567155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0ED5E-AC8F-5834-724C-879BD56487E7}"/>
              </a:ext>
            </a:extLst>
          </p:cNvPr>
          <p:cNvSpPr>
            <a:spLocks noGrp="1"/>
          </p:cNvSpPr>
          <p:nvPr>
            <p:ph type="title"/>
          </p:nvPr>
        </p:nvSpPr>
        <p:spPr/>
        <p:txBody>
          <a:bodyPr/>
          <a:lstStyle/>
          <a:p>
            <a:r>
              <a:rPr lang="en-US" b="0" i="0" dirty="0">
                <a:solidFill>
                  <a:srgbClr val="2A2B3F"/>
                </a:solidFill>
                <a:effectLst/>
                <a:latin typeface="Udemy Sans"/>
              </a:rPr>
              <a:t>Working With Touch Inputs In Unity C#</a:t>
            </a:r>
            <a:endParaRPr lang="en-IN" dirty="0"/>
          </a:p>
        </p:txBody>
      </p:sp>
      <p:sp>
        <p:nvSpPr>
          <p:cNvPr id="3" name="Content Placeholder 2">
            <a:extLst>
              <a:ext uri="{FF2B5EF4-FFF2-40B4-BE49-F238E27FC236}">
                <a16:creationId xmlns:a16="http://schemas.microsoft.com/office/drawing/2014/main" id="{66F8C8D2-E77D-F5A0-295C-B16F157FC898}"/>
              </a:ext>
            </a:extLst>
          </p:cNvPr>
          <p:cNvSpPr>
            <a:spLocks noGrp="1"/>
          </p:cNvSpPr>
          <p:nvPr>
            <p:ph idx="1"/>
          </p:nvPr>
        </p:nvSpPr>
        <p:spPr>
          <a:xfrm>
            <a:off x="419100" y="1825624"/>
            <a:ext cx="10934700" cy="5032375"/>
          </a:xfrm>
        </p:spPr>
        <p:txBody>
          <a:bodyPr/>
          <a:lstStyle/>
          <a:p>
            <a:r>
              <a:rPr lang="en-US" dirty="0"/>
              <a:t>Touch input is used on mobile devices (Android, iOS). Unity lets you read:</a:t>
            </a:r>
          </a:p>
          <a:p>
            <a:pPr lvl="1"/>
            <a:r>
              <a:rPr lang="en-US" dirty="0"/>
              <a:t>Where the screen is touched</a:t>
            </a:r>
          </a:p>
          <a:p>
            <a:pPr lvl="1"/>
            <a:r>
              <a:rPr lang="en-US" dirty="0"/>
              <a:t>How many fingers are touching</a:t>
            </a:r>
          </a:p>
          <a:p>
            <a:pPr lvl="1"/>
            <a:r>
              <a:rPr lang="en-US" dirty="0"/>
              <a:t>What phase the touch is in (start, move, end) </a:t>
            </a:r>
          </a:p>
          <a:p>
            <a:r>
              <a:rPr lang="en-US" dirty="0"/>
              <a:t>Common Examples</a:t>
            </a:r>
          </a:p>
          <a:p>
            <a:endParaRPr lang="en-IN" dirty="0"/>
          </a:p>
        </p:txBody>
      </p:sp>
      <p:graphicFrame>
        <p:nvGraphicFramePr>
          <p:cNvPr id="4" name="Table 3">
            <a:extLst>
              <a:ext uri="{FF2B5EF4-FFF2-40B4-BE49-F238E27FC236}">
                <a16:creationId xmlns:a16="http://schemas.microsoft.com/office/drawing/2014/main" id="{B7239562-7080-A904-6BDB-CA7EA0A004D7}"/>
              </a:ext>
            </a:extLst>
          </p:cNvPr>
          <p:cNvGraphicFramePr>
            <a:graphicFrameLocks noGrp="1"/>
          </p:cNvGraphicFramePr>
          <p:nvPr>
            <p:extLst>
              <p:ext uri="{D42A27DB-BD31-4B8C-83A1-F6EECF244321}">
                <p14:modId xmlns:p14="http://schemas.microsoft.com/office/powerpoint/2010/main" val="3168965582"/>
              </p:ext>
            </p:extLst>
          </p:nvPr>
        </p:nvGraphicFramePr>
        <p:xfrm>
          <a:off x="419100" y="4353721"/>
          <a:ext cx="11353800" cy="2209323"/>
        </p:xfrm>
        <a:graphic>
          <a:graphicData uri="http://schemas.openxmlformats.org/drawingml/2006/table">
            <a:tbl>
              <a:tblPr>
                <a:tableStyleId>{775DCB02-9BB8-47FD-8907-85C794F793BA}</a:tableStyleId>
              </a:tblPr>
              <a:tblGrid>
                <a:gridCol w="6250795">
                  <a:extLst>
                    <a:ext uri="{9D8B030D-6E8A-4147-A177-3AD203B41FA5}">
                      <a16:colId xmlns:a16="http://schemas.microsoft.com/office/drawing/2014/main" val="18081521"/>
                    </a:ext>
                  </a:extLst>
                </a:gridCol>
                <a:gridCol w="5103005">
                  <a:extLst>
                    <a:ext uri="{9D8B030D-6E8A-4147-A177-3AD203B41FA5}">
                      <a16:colId xmlns:a16="http://schemas.microsoft.com/office/drawing/2014/main" val="110720388"/>
                    </a:ext>
                  </a:extLst>
                </a:gridCol>
              </a:tblGrid>
              <a:tr h="380461">
                <a:tc>
                  <a:txBody>
                    <a:bodyPr/>
                    <a:lstStyle/>
                    <a:p>
                      <a:r>
                        <a:rPr lang="en-IN" dirty="0"/>
                        <a:t>Code</a:t>
                      </a:r>
                    </a:p>
                  </a:txBody>
                  <a:tcPr anchor="ctr"/>
                </a:tc>
                <a:tc>
                  <a:txBody>
                    <a:bodyPr/>
                    <a:lstStyle/>
                    <a:p>
                      <a:r>
                        <a:rPr lang="en-IN"/>
                        <a:t>What It Does</a:t>
                      </a:r>
                    </a:p>
                  </a:txBody>
                  <a:tcPr anchor="ctr"/>
                </a:tc>
                <a:extLst>
                  <a:ext uri="{0D108BD9-81ED-4DB2-BD59-A6C34878D82A}">
                    <a16:rowId xmlns:a16="http://schemas.microsoft.com/office/drawing/2014/main" val="1520267390"/>
                  </a:ext>
                </a:extLst>
              </a:tr>
              <a:tr h="517283">
                <a:tc>
                  <a:txBody>
                    <a:bodyPr/>
                    <a:lstStyle/>
                    <a:p>
                      <a:r>
                        <a:rPr lang="en-IN" dirty="0" err="1"/>
                        <a:t>Input.touchCount</a:t>
                      </a:r>
                      <a:endParaRPr lang="en-IN" dirty="0"/>
                    </a:p>
                  </a:txBody>
                  <a:tcPr anchor="ctr"/>
                </a:tc>
                <a:tc>
                  <a:txBody>
                    <a:bodyPr/>
                    <a:lstStyle/>
                    <a:p>
                      <a:r>
                        <a:rPr lang="en-US"/>
                        <a:t>How many fingers are touching the screen</a:t>
                      </a:r>
                    </a:p>
                  </a:txBody>
                  <a:tcPr anchor="ctr"/>
                </a:tc>
                <a:extLst>
                  <a:ext uri="{0D108BD9-81ED-4DB2-BD59-A6C34878D82A}">
                    <a16:rowId xmlns:a16="http://schemas.microsoft.com/office/drawing/2014/main" val="1675380464"/>
                  </a:ext>
                </a:extLst>
              </a:tr>
              <a:tr h="295591">
                <a:tc>
                  <a:txBody>
                    <a:bodyPr/>
                    <a:lstStyle/>
                    <a:p>
                      <a:r>
                        <a:rPr lang="en-IN"/>
                        <a:t>Input.GetTouch(0)</a:t>
                      </a:r>
                    </a:p>
                  </a:txBody>
                  <a:tcPr anchor="ctr"/>
                </a:tc>
                <a:tc>
                  <a:txBody>
                    <a:bodyPr/>
                    <a:lstStyle/>
                    <a:p>
                      <a:r>
                        <a:rPr lang="en-US"/>
                        <a:t>Gets the </a:t>
                      </a:r>
                      <a:r>
                        <a:rPr lang="en-US" b="1"/>
                        <a:t>first touch</a:t>
                      </a:r>
                      <a:r>
                        <a:rPr lang="en-US"/>
                        <a:t> info</a:t>
                      </a:r>
                    </a:p>
                  </a:txBody>
                  <a:tcPr anchor="ctr"/>
                </a:tc>
                <a:extLst>
                  <a:ext uri="{0D108BD9-81ED-4DB2-BD59-A6C34878D82A}">
                    <a16:rowId xmlns:a16="http://schemas.microsoft.com/office/drawing/2014/main" val="3678833929"/>
                  </a:ext>
                </a:extLst>
              </a:tr>
              <a:tr h="428536">
                <a:tc>
                  <a:txBody>
                    <a:bodyPr/>
                    <a:lstStyle/>
                    <a:p>
                      <a:r>
                        <a:rPr lang="en-IN"/>
                        <a:t>touch.position</a:t>
                      </a:r>
                    </a:p>
                  </a:txBody>
                  <a:tcPr anchor="ctr"/>
                </a:tc>
                <a:tc>
                  <a:txBody>
                    <a:bodyPr/>
                    <a:lstStyle/>
                    <a:p>
                      <a:r>
                        <a:rPr lang="en-US"/>
                        <a:t>Where on the screen the finger touched</a:t>
                      </a:r>
                    </a:p>
                  </a:txBody>
                  <a:tcPr anchor="ctr"/>
                </a:tc>
                <a:extLst>
                  <a:ext uri="{0D108BD9-81ED-4DB2-BD59-A6C34878D82A}">
                    <a16:rowId xmlns:a16="http://schemas.microsoft.com/office/drawing/2014/main" val="2452095083"/>
                  </a:ext>
                </a:extLst>
              </a:tr>
              <a:tr h="517283">
                <a:tc>
                  <a:txBody>
                    <a:bodyPr/>
                    <a:lstStyle/>
                    <a:p>
                      <a:r>
                        <a:rPr lang="en-IN"/>
                        <a:t>touch.phase</a:t>
                      </a:r>
                    </a:p>
                  </a:txBody>
                  <a:tcPr anchor="ctr"/>
                </a:tc>
                <a:tc>
                  <a:txBody>
                    <a:bodyPr/>
                    <a:lstStyle/>
                    <a:p>
                      <a:r>
                        <a:rPr lang="en-US" dirty="0"/>
                        <a:t>Stage of the touch (Began, Moved, Ended)</a:t>
                      </a:r>
                    </a:p>
                  </a:txBody>
                  <a:tcPr anchor="ctr"/>
                </a:tc>
                <a:extLst>
                  <a:ext uri="{0D108BD9-81ED-4DB2-BD59-A6C34878D82A}">
                    <a16:rowId xmlns:a16="http://schemas.microsoft.com/office/drawing/2014/main" val="4220421479"/>
                  </a:ext>
                </a:extLst>
              </a:tr>
            </a:tbl>
          </a:graphicData>
        </a:graphic>
      </p:graphicFrame>
    </p:spTree>
    <p:extLst>
      <p:ext uri="{BB962C8B-B14F-4D97-AF65-F5344CB8AC3E}">
        <p14:creationId xmlns:p14="http://schemas.microsoft.com/office/powerpoint/2010/main" val="385267786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1EE226-A75D-B552-6360-A9C60FAFDCE9}"/>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sz="3600" b="1"/>
              <a:t>Common Touch Phases</a:t>
            </a:r>
          </a:p>
        </p:txBody>
      </p:sp>
      <p:graphicFrame>
        <p:nvGraphicFramePr>
          <p:cNvPr id="7" name="Content Placeholder 6">
            <a:extLst>
              <a:ext uri="{FF2B5EF4-FFF2-40B4-BE49-F238E27FC236}">
                <a16:creationId xmlns:a16="http://schemas.microsoft.com/office/drawing/2014/main" id="{4A86CA7E-9FD9-E276-42C6-B5651337C84A}"/>
              </a:ext>
            </a:extLst>
          </p:cNvPr>
          <p:cNvGraphicFramePr>
            <a:graphicFrameLocks noGrp="1"/>
          </p:cNvGraphicFramePr>
          <p:nvPr>
            <p:ph idx="1"/>
            <p:extLst>
              <p:ext uri="{D42A27DB-BD31-4B8C-83A1-F6EECF244321}">
                <p14:modId xmlns:p14="http://schemas.microsoft.com/office/powerpoint/2010/main" val="2172540240"/>
              </p:ext>
            </p:extLst>
          </p:nvPr>
        </p:nvGraphicFramePr>
        <p:xfrm>
          <a:off x="914400" y="1691969"/>
          <a:ext cx="10629900" cy="4664684"/>
        </p:xfrm>
        <a:graphic>
          <a:graphicData uri="http://schemas.openxmlformats.org/drawingml/2006/table">
            <a:tbl>
              <a:tblPr>
                <a:solidFill>
                  <a:srgbClr val="F2F2F2">
                    <a:alpha val="30196"/>
                  </a:srgbClr>
                </a:solidFill>
              </a:tblPr>
              <a:tblGrid>
                <a:gridCol w="2357167">
                  <a:extLst>
                    <a:ext uri="{9D8B030D-6E8A-4147-A177-3AD203B41FA5}">
                      <a16:colId xmlns:a16="http://schemas.microsoft.com/office/drawing/2014/main" val="101032761"/>
                    </a:ext>
                  </a:extLst>
                </a:gridCol>
                <a:gridCol w="2765027">
                  <a:extLst>
                    <a:ext uri="{9D8B030D-6E8A-4147-A177-3AD203B41FA5}">
                      <a16:colId xmlns:a16="http://schemas.microsoft.com/office/drawing/2014/main" val="877645766"/>
                    </a:ext>
                  </a:extLst>
                </a:gridCol>
                <a:gridCol w="2753853">
                  <a:extLst>
                    <a:ext uri="{9D8B030D-6E8A-4147-A177-3AD203B41FA5}">
                      <a16:colId xmlns:a16="http://schemas.microsoft.com/office/drawing/2014/main" val="2608255291"/>
                    </a:ext>
                  </a:extLst>
                </a:gridCol>
                <a:gridCol w="2753853">
                  <a:extLst>
                    <a:ext uri="{9D8B030D-6E8A-4147-A177-3AD203B41FA5}">
                      <a16:colId xmlns:a16="http://schemas.microsoft.com/office/drawing/2014/main" val="2870083715"/>
                    </a:ext>
                  </a:extLst>
                </a:gridCol>
              </a:tblGrid>
              <a:tr h="669076">
                <a:tc>
                  <a:txBody>
                    <a:bodyPr/>
                    <a:lstStyle/>
                    <a:p>
                      <a:r>
                        <a:rPr lang="en-IN" sz="1700" cap="none" spc="0">
                          <a:solidFill>
                            <a:schemeClr val="tx1"/>
                          </a:solidFill>
                        </a:rPr>
                        <a:t>Purpose</a:t>
                      </a:r>
                    </a:p>
                  </a:txBody>
                  <a:tcPr marL="145229" marR="111714" marT="111714" marB="111714" anchor="ct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tc>
                  <a:txBody>
                    <a:bodyPr/>
                    <a:lstStyle/>
                    <a:p>
                      <a:r>
                        <a:rPr lang="en-IN" sz="1700" cap="none" spc="0">
                          <a:solidFill>
                            <a:schemeClr val="tx1"/>
                          </a:solidFill>
                        </a:rPr>
                        <a:t>Syntax Example</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IN" sz="1700" cap="none" spc="0" dirty="0">
                          <a:solidFill>
                            <a:schemeClr val="tx1"/>
                          </a:solidFill>
                        </a:rPr>
                        <a:t>Explanation</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round/>
                      <a:headEnd type="none" w="med" len="med"/>
                      <a:tailEnd type="none" w="med" len="me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IN" sz="1600" dirty="0"/>
                        <a:t>Type</a:t>
                      </a:r>
                      <a:endParaRPr lang="en-IN" sz="1700" cap="none" spc="0" dirty="0">
                        <a:solidFill>
                          <a:schemeClr val="tx1"/>
                        </a:solidFill>
                      </a:endParaRPr>
                    </a:p>
                  </a:txBody>
                  <a:tcPr marL="145229" marR="111714" marT="111714" marB="111714"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extLst>
                  <a:ext uri="{0D108BD9-81ED-4DB2-BD59-A6C34878D82A}">
                    <a16:rowId xmlns:a16="http://schemas.microsoft.com/office/drawing/2014/main" val="3099931553"/>
                  </a:ext>
                </a:extLst>
              </a:tr>
              <a:tr h="998902">
                <a:tc>
                  <a:txBody>
                    <a:bodyPr/>
                    <a:lstStyle/>
                    <a:p>
                      <a:r>
                        <a:rPr lang="en-US" sz="1700" b="1" cap="none" spc="0" dirty="0">
                          <a:solidFill>
                            <a:schemeClr val="tx1"/>
                          </a:solidFill>
                        </a:rPr>
                        <a:t>Check if screen is touched</a:t>
                      </a:r>
                      <a:endParaRPr lang="en-US" sz="1700" cap="none" spc="0" dirty="0">
                        <a:solidFill>
                          <a:schemeClr val="tx1"/>
                        </a:solidFill>
                      </a:endParaRPr>
                    </a:p>
                  </a:txBody>
                  <a:tcPr marL="145229" marR="111714" marT="111714" marB="111714" anchor="ct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tc>
                  <a:txBody>
                    <a:bodyPr/>
                    <a:lstStyle/>
                    <a:p>
                      <a:r>
                        <a:rPr lang="en-IN" sz="1700" cap="none" spc="0">
                          <a:solidFill>
                            <a:schemeClr val="tx1"/>
                          </a:solidFill>
                        </a:rPr>
                        <a:t>if (Input.touchCount &gt; 0) { ... }</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700" cap="none" spc="0">
                          <a:solidFill>
                            <a:schemeClr val="tx1"/>
                          </a:solidFill>
                        </a:rPr>
                        <a:t>Checks if there is at least one finger touching</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700" cap="none" spc="0" dirty="0">
                          <a:solidFill>
                            <a:schemeClr val="tx1"/>
                          </a:solidFill>
                        </a:rPr>
                        <a:t>int</a:t>
                      </a:r>
                    </a:p>
                  </a:txBody>
                  <a:tcPr marL="145229" marR="111714" marT="111714" marB="111714"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extLst>
                  <a:ext uri="{0D108BD9-81ED-4DB2-BD59-A6C34878D82A}">
                    <a16:rowId xmlns:a16="http://schemas.microsoft.com/office/drawing/2014/main" val="2331810613"/>
                  </a:ext>
                </a:extLst>
              </a:tr>
              <a:tr h="998902">
                <a:tc>
                  <a:txBody>
                    <a:bodyPr/>
                    <a:lstStyle/>
                    <a:p>
                      <a:r>
                        <a:rPr lang="en-IN" sz="1700" b="1" cap="none" spc="0">
                          <a:solidFill>
                            <a:schemeClr val="tx1"/>
                          </a:solidFill>
                        </a:rPr>
                        <a:t>Get a specific touch</a:t>
                      </a:r>
                      <a:endParaRPr lang="en-IN" sz="1700" cap="none" spc="0">
                        <a:solidFill>
                          <a:schemeClr val="tx1"/>
                        </a:solidFill>
                      </a:endParaRPr>
                    </a:p>
                  </a:txBody>
                  <a:tcPr marL="145229" marR="111714" marT="111714" marB="111714" anchor="ct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tc>
                  <a:txBody>
                    <a:bodyPr/>
                    <a:lstStyle/>
                    <a:p>
                      <a:r>
                        <a:rPr lang="en-US" sz="1700" cap="none" spc="0">
                          <a:solidFill>
                            <a:schemeClr val="tx1"/>
                          </a:solidFill>
                        </a:rPr>
                        <a:t>Touch touch = Input.GetTouch(0);</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700" cap="none" spc="0">
                          <a:solidFill>
                            <a:schemeClr val="tx1"/>
                          </a:solidFill>
                        </a:rPr>
                        <a:t>Get the first touch (finger 0)</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700" cap="none" spc="0" dirty="0">
                          <a:solidFill>
                            <a:schemeClr val="tx1"/>
                          </a:solidFill>
                        </a:rPr>
                        <a:t>touch</a:t>
                      </a:r>
                    </a:p>
                  </a:txBody>
                  <a:tcPr marL="145229" marR="111714" marT="111714" marB="111714"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extLst>
                  <a:ext uri="{0D108BD9-81ED-4DB2-BD59-A6C34878D82A}">
                    <a16:rowId xmlns:a16="http://schemas.microsoft.com/office/drawing/2014/main" val="3839096771"/>
                  </a:ext>
                </a:extLst>
              </a:tr>
              <a:tr h="998902">
                <a:tc>
                  <a:txBody>
                    <a:bodyPr/>
                    <a:lstStyle/>
                    <a:p>
                      <a:r>
                        <a:rPr lang="en-IN" sz="1700" b="1" cap="none" spc="0">
                          <a:solidFill>
                            <a:schemeClr val="tx1"/>
                          </a:solidFill>
                        </a:rPr>
                        <a:t>Get touch position</a:t>
                      </a:r>
                      <a:endParaRPr lang="en-IN" sz="1700" cap="none" spc="0">
                        <a:solidFill>
                          <a:schemeClr val="tx1"/>
                        </a:solidFill>
                      </a:endParaRPr>
                    </a:p>
                  </a:txBody>
                  <a:tcPr marL="145229" marR="111714" marT="111714" marB="111714" anchor="ct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tc>
                  <a:txBody>
                    <a:bodyPr/>
                    <a:lstStyle/>
                    <a:p>
                      <a:r>
                        <a:rPr lang="en-IN" sz="1700" cap="none" spc="0">
                          <a:solidFill>
                            <a:schemeClr val="tx1"/>
                          </a:solidFill>
                        </a:rPr>
                        <a:t>Vector2 pos = touch.position;</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700" cap="none" spc="0">
                          <a:solidFill>
                            <a:schemeClr val="tx1"/>
                          </a:solidFill>
                        </a:rPr>
                        <a:t>Screen coordinates of the touch (pixels)</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700" cap="none" spc="0" dirty="0">
                          <a:solidFill>
                            <a:schemeClr val="tx1"/>
                          </a:solidFill>
                        </a:rPr>
                        <a:t>vector</a:t>
                      </a:r>
                    </a:p>
                  </a:txBody>
                  <a:tcPr marL="145229" marR="111714" marT="111714" marB="111714"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2F2F2">
                        <a:alpha val="30196"/>
                      </a:srgbClr>
                    </a:solidFill>
                  </a:tcPr>
                </a:tc>
                <a:extLst>
                  <a:ext uri="{0D108BD9-81ED-4DB2-BD59-A6C34878D82A}">
                    <a16:rowId xmlns:a16="http://schemas.microsoft.com/office/drawing/2014/main" val="280209371"/>
                  </a:ext>
                </a:extLst>
              </a:tr>
              <a:tr h="998902">
                <a:tc>
                  <a:txBody>
                    <a:bodyPr/>
                    <a:lstStyle/>
                    <a:p>
                      <a:r>
                        <a:rPr lang="en-IN" sz="1700" b="1" cap="none" spc="0" dirty="0">
                          <a:solidFill>
                            <a:schemeClr val="tx1"/>
                          </a:solidFill>
                        </a:rPr>
                        <a:t>Check touch phase</a:t>
                      </a:r>
                      <a:endParaRPr lang="en-IN" sz="1700" cap="none" spc="0" dirty="0">
                        <a:solidFill>
                          <a:schemeClr val="tx1"/>
                        </a:solidFill>
                      </a:endParaRPr>
                    </a:p>
                  </a:txBody>
                  <a:tcPr marL="145229" marR="111714" marT="111714" marB="111714" anchor="ct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round/>
                      <a:headEnd type="none" w="med" len="med"/>
                      <a:tailEnd type="none" w="med" len="med"/>
                    </a:lnT>
                    <a:lnB w="38100" cap="flat" cmpd="sng" algn="ctr">
                      <a:noFill/>
                      <a:prstDash val="solid"/>
                    </a:lnB>
                    <a:solidFill>
                      <a:srgbClr val="F2F2F2">
                        <a:alpha val="30196"/>
                      </a:srgbClr>
                    </a:solidFill>
                  </a:tcPr>
                </a:tc>
                <a:tc>
                  <a:txBody>
                    <a:bodyPr/>
                    <a:lstStyle/>
                    <a:p>
                      <a:r>
                        <a:rPr lang="en-US" sz="1700" cap="none" spc="0">
                          <a:solidFill>
                            <a:schemeClr val="tx1"/>
                          </a:solidFill>
                        </a:rPr>
                        <a:t>if (touch.phase == TouchPhase.Began) { ... }</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r>
                        <a:rPr lang="en-US" sz="1700" cap="none" spc="0" dirty="0">
                          <a:solidFill>
                            <a:schemeClr val="tx1"/>
                          </a:solidFill>
                        </a:rPr>
                        <a:t>Detect touch start, move, end, etc.</a:t>
                      </a:r>
                    </a:p>
                  </a:txBody>
                  <a:tcPr marL="145229" marR="111714" marT="111714" marB="111714"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r>
                        <a:rPr lang="en-IN" sz="1600" dirty="0" err="1"/>
                        <a:t>TouchPhase</a:t>
                      </a:r>
                      <a:r>
                        <a:rPr lang="en-IN" sz="1600" dirty="0"/>
                        <a:t> ( </a:t>
                      </a:r>
                      <a:r>
                        <a:rPr lang="en-IN" sz="1600" dirty="0" err="1"/>
                        <a:t>enum</a:t>
                      </a:r>
                      <a:r>
                        <a:rPr lang="en-IN" sz="1600" dirty="0"/>
                        <a:t>)</a:t>
                      </a:r>
                      <a:endParaRPr lang="en-US" sz="1700" cap="none" spc="0" dirty="0">
                        <a:solidFill>
                          <a:schemeClr val="tx1"/>
                        </a:solidFill>
                      </a:endParaRPr>
                    </a:p>
                  </a:txBody>
                  <a:tcPr marL="145229" marR="111714" marT="111714" marB="111714"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round/>
                      <a:headEnd type="none" w="med" len="med"/>
                      <a:tailEnd type="none" w="med" len="med"/>
                    </a:lnT>
                    <a:lnB w="38100" cap="flat" cmpd="sng" algn="ctr">
                      <a:noFill/>
                      <a:prstDash val="solid"/>
                    </a:lnB>
                    <a:solidFill>
                      <a:srgbClr val="F2F2F2">
                        <a:alpha val="30196"/>
                      </a:srgbClr>
                    </a:solidFill>
                  </a:tcPr>
                </a:tc>
                <a:extLst>
                  <a:ext uri="{0D108BD9-81ED-4DB2-BD59-A6C34878D82A}">
                    <a16:rowId xmlns:a16="http://schemas.microsoft.com/office/drawing/2014/main" val="1780249053"/>
                  </a:ext>
                </a:extLst>
              </a:tr>
            </a:tbl>
          </a:graphicData>
        </a:graphic>
      </p:graphicFrame>
    </p:spTree>
    <p:extLst>
      <p:ext uri="{BB962C8B-B14F-4D97-AF65-F5344CB8AC3E}">
        <p14:creationId xmlns:p14="http://schemas.microsoft.com/office/powerpoint/2010/main" val="8618988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E54659-22E1-2167-709D-46A4D0AD56AE}"/>
              </a:ext>
            </a:extLst>
          </p:cNvPr>
          <p:cNvSpPr>
            <a:spLocks noGrp="1"/>
          </p:cNvSpPr>
          <p:nvPr>
            <p:ph type="title"/>
          </p:nvPr>
        </p:nvSpPr>
        <p:spPr>
          <a:xfrm>
            <a:off x="1524000" y="548640"/>
            <a:ext cx="9160475" cy="1132258"/>
          </a:xfrm>
        </p:spPr>
        <p:txBody>
          <a:bodyPr anchor="ctr">
            <a:normAutofit/>
          </a:bodyPr>
          <a:lstStyle/>
          <a:p>
            <a:pPr algn="ctr"/>
            <a:r>
              <a:rPr lang="en-US"/>
              <a:t>Touches phases</a:t>
            </a:r>
            <a:endParaRPr lang="en-IN"/>
          </a:p>
        </p:txBody>
      </p:sp>
      <p:graphicFrame>
        <p:nvGraphicFramePr>
          <p:cNvPr id="4" name="Content Placeholder 3">
            <a:extLst>
              <a:ext uri="{FF2B5EF4-FFF2-40B4-BE49-F238E27FC236}">
                <a16:creationId xmlns:a16="http://schemas.microsoft.com/office/drawing/2014/main" id="{DED24E07-C9FC-880C-3E31-68ACEB47D923}"/>
              </a:ext>
            </a:extLst>
          </p:cNvPr>
          <p:cNvGraphicFramePr>
            <a:graphicFrameLocks noGrp="1"/>
          </p:cNvGraphicFramePr>
          <p:nvPr>
            <p:ph idx="1"/>
            <p:extLst>
              <p:ext uri="{D42A27DB-BD31-4B8C-83A1-F6EECF244321}">
                <p14:modId xmlns:p14="http://schemas.microsoft.com/office/powerpoint/2010/main" val="486113687"/>
              </p:ext>
            </p:extLst>
          </p:nvPr>
        </p:nvGraphicFramePr>
        <p:xfrm>
          <a:off x="1550878" y="2037806"/>
          <a:ext cx="9383821" cy="4108992"/>
        </p:xfrm>
        <a:graphic>
          <a:graphicData uri="http://schemas.openxmlformats.org/drawingml/2006/table">
            <a:tbl>
              <a:tblPr/>
              <a:tblGrid>
                <a:gridCol w="1908934">
                  <a:extLst>
                    <a:ext uri="{9D8B030D-6E8A-4147-A177-3AD203B41FA5}">
                      <a16:colId xmlns:a16="http://schemas.microsoft.com/office/drawing/2014/main" val="888976789"/>
                    </a:ext>
                  </a:extLst>
                </a:gridCol>
                <a:gridCol w="3866426">
                  <a:extLst>
                    <a:ext uri="{9D8B030D-6E8A-4147-A177-3AD203B41FA5}">
                      <a16:colId xmlns:a16="http://schemas.microsoft.com/office/drawing/2014/main" val="2025945944"/>
                    </a:ext>
                  </a:extLst>
                </a:gridCol>
                <a:gridCol w="3608461">
                  <a:extLst>
                    <a:ext uri="{9D8B030D-6E8A-4147-A177-3AD203B41FA5}">
                      <a16:colId xmlns:a16="http://schemas.microsoft.com/office/drawing/2014/main" val="2174255390"/>
                    </a:ext>
                  </a:extLst>
                </a:gridCol>
              </a:tblGrid>
              <a:tr h="470822">
                <a:tc>
                  <a:txBody>
                    <a:bodyPr/>
                    <a:lstStyle/>
                    <a:p>
                      <a:r>
                        <a:rPr lang="en-IN" sz="2100"/>
                        <a:t>TouchPhase</a:t>
                      </a:r>
                    </a:p>
                  </a:txBody>
                  <a:tcPr marL="105897" marR="105897" marT="52948" marB="52948" anchor="ctr">
                    <a:lnL>
                      <a:noFill/>
                    </a:lnL>
                    <a:lnR>
                      <a:noFill/>
                    </a:lnR>
                    <a:lnT>
                      <a:noFill/>
                    </a:lnT>
                    <a:lnB>
                      <a:noFill/>
                    </a:lnB>
                    <a:noFill/>
                  </a:tcPr>
                </a:tc>
                <a:tc>
                  <a:txBody>
                    <a:bodyPr/>
                    <a:lstStyle/>
                    <a:p>
                      <a:r>
                        <a:rPr lang="en-IN" sz="2100"/>
                        <a:t>What It Means</a:t>
                      </a:r>
                    </a:p>
                  </a:txBody>
                  <a:tcPr marL="105897" marR="105897" marT="52948" marB="52948" anchor="ctr">
                    <a:lnL>
                      <a:noFill/>
                    </a:lnL>
                    <a:lnR>
                      <a:noFill/>
                    </a:lnR>
                    <a:lnT>
                      <a:noFill/>
                    </a:lnT>
                    <a:lnB>
                      <a:noFill/>
                    </a:lnB>
                    <a:noFill/>
                  </a:tcPr>
                </a:tc>
                <a:tc>
                  <a:txBody>
                    <a:bodyPr/>
                    <a:lstStyle/>
                    <a:p>
                      <a:r>
                        <a:rPr lang="en-IN" sz="2100"/>
                        <a:t>When to Use It</a:t>
                      </a:r>
                    </a:p>
                  </a:txBody>
                  <a:tcPr marL="105897" marR="105897" marT="52948" marB="52948" anchor="ctr">
                    <a:lnL>
                      <a:noFill/>
                    </a:lnL>
                    <a:lnR>
                      <a:noFill/>
                    </a:lnR>
                    <a:lnT>
                      <a:noFill/>
                    </a:lnT>
                    <a:lnB>
                      <a:noFill/>
                    </a:lnB>
                    <a:noFill/>
                  </a:tcPr>
                </a:tc>
                <a:extLst>
                  <a:ext uri="{0D108BD9-81ED-4DB2-BD59-A6C34878D82A}">
                    <a16:rowId xmlns:a16="http://schemas.microsoft.com/office/drawing/2014/main" val="690796459"/>
                  </a:ext>
                </a:extLst>
              </a:tr>
              <a:tr h="791837">
                <a:tc>
                  <a:txBody>
                    <a:bodyPr/>
                    <a:lstStyle/>
                    <a:p>
                      <a:r>
                        <a:rPr lang="en-IN" sz="2100" b="1"/>
                        <a:t>Began</a:t>
                      </a:r>
                      <a:endParaRPr lang="en-IN" sz="2100"/>
                    </a:p>
                  </a:txBody>
                  <a:tcPr marL="105897" marR="105897" marT="52948" marB="52948" anchor="ctr">
                    <a:lnL>
                      <a:noFill/>
                    </a:lnL>
                    <a:lnR>
                      <a:noFill/>
                    </a:lnR>
                    <a:lnT>
                      <a:noFill/>
                    </a:lnT>
                    <a:lnB>
                      <a:noFill/>
                    </a:lnB>
                    <a:noFill/>
                  </a:tcPr>
                </a:tc>
                <a:tc>
                  <a:txBody>
                    <a:bodyPr/>
                    <a:lstStyle/>
                    <a:p>
                      <a:r>
                        <a:rPr lang="en-US" sz="2100"/>
                        <a:t>Finger just touched the screen</a:t>
                      </a:r>
                    </a:p>
                  </a:txBody>
                  <a:tcPr marL="105897" marR="105897" marT="52948" marB="52948" anchor="ctr">
                    <a:lnL>
                      <a:noFill/>
                    </a:lnL>
                    <a:lnR>
                      <a:noFill/>
                    </a:lnR>
                    <a:lnT>
                      <a:noFill/>
                    </a:lnT>
                    <a:lnB>
                      <a:noFill/>
                    </a:lnB>
                    <a:noFill/>
                  </a:tcPr>
                </a:tc>
                <a:tc>
                  <a:txBody>
                    <a:bodyPr/>
                    <a:lstStyle/>
                    <a:p>
                      <a:r>
                        <a:rPr lang="en-US" sz="2100"/>
                        <a:t>Start of a tap or drag</a:t>
                      </a:r>
                    </a:p>
                  </a:txBody>
                  <a:tcPr marL="105897" marR="105897" marT="52948" marB="52948" anchor="ctr">
                    <a:lnL>
                      <a:noFill/>
                    </a:lnL>
                    <a:lnR>
                      <a:noFill/>
                    </a:lnR>
                    <a:lnT>
                      <a:noFill/>
                    </a:lnT>
                    <a:lnB>
                      <a:noFill/>
                    </a:lnB>
                    <a:noFill/>
                  </a:tcPr>
                </a:tc>
                <a:extLst>
                  <a:ext uri="{0D108BD9-81ED-4DB2-BD59-A6C34878D82A}">
                    <a16:rowId xmlns:a16="http://schemas.microsoft.com/office/drawing/2014/main" val="2681714850"/>
                  </a:ext>
                </a:extLst>
              </a:tr>
              <a:tr h="791837">
                <a:tc>
                  <a:txBody>
                    <a:bodyPr/>
                    <a:lstStyle/>
                    <a:p>
                      <a:r>
                        <a:rPr lang="en-IN" sz="2100" b="1"/>
                        <a:t>Moved</a:t>
                      </a:r>
                      <a:endParaRPr lang="en-IN" sz="2100"/>
                    </a:p>
                  </a:txBody>
                  <a:tcPr marL="105897" marR="105897" marT="52948" marB="52948" anchor="ctr">
                    <a:lnL>
                      <a:noFill/>
                    </a:lnL>
                    <a:lnR>
                      <a:noFill/>
                    </a:lnR>
                    <a:lnT>
                      <a:noFill/>
                    </a:lnT>
                    <a:lnB>
                      <a:noFill/>
                    </a:lnB>
                    <a:noFill/>
                  </a:tcPr>
                </a:tc>
                <a:tc>
                  <a:txBody>
                    <a:bodyPr/>
                    <a:lstStyle/>
                    <a:p>
                      <a:r>
                        <a:rPr lang="en-US" sz="2100"/>
                        <a:t>Finger is moving on the screen</a:t>
                      </a:r>
                    </a:p>
                  </a:txBody>
                  <a:tcPr marL="105897" marR="105897" marT="52948" marB="52948" anchor="ctr">
                    <a:lnL>
                      <a:noFill/>
                    </a:lnL>
                    <a:lnR>
                      <a:noFill/>
                    </a:lnR>
                    <a:lnT>
                      <a:noFill/>
                    </a:lnT>
                    <a:lnB>
                      <a:noFill/>
                    </a:lnB>
                    <a:noFill/>
                  </a:tcPr>
                </a:tc>
                <a:tc>
                  <a:txBody>
                    <a:bodyPr/>
                    <a:lstStyle/>
                    <a:p>
                      <a:r>
                        <a:rPr lang="en-IN" sz="2100"/>
                        <a:t>Detect dragging or swiping</a:t>
                      </a:r>
                    </a:p>
                  </a:txBody>
                  <a:tcPr marL="105897" marR="105897" marT="52948" marB="52948" anchor="ctr">
                    <a:lnL>
                      <a:noFill/>
                    </a:lnL>
                    <a:lnR>
                      <a:noFill/>
                    </a:lnR>
                    <a:lnT>
                      <a:noFill/>
                    </a:lnT>
                    <a:lnB>
                      <a:noFill/>
                    </a:lnB>
                    <a:noFill/>
                  </a:tcPr>
                </a:tc>
                <a:extLst>
                  <a:ext uri="{0D108BD9-81ED-4DB2-BD59-A6C34878D82A}">
                    <a16:rowId xmlns:a16="http://schemas.microsoft.com/office/drawing/2014/main" val="1516135974"/>
                  </a:ext>
                </a:extLst>
              </a:tr>
              <a:tr h="791837">
                <a:tc>
                  <a:txBody>
                    <a:bodyPr/>
                    <a:lstStyle/>
                    <a:p>
                      <a:r>
                        <a:rPr lang="en-IN" sz="2100" b="1"/>
                        <a:t>Stationary</a:t>
                      </a:r>
                      <a:endParaRPr lang="en-IN" sz="2100"/>
                    </a:p>
                  </a:txBody>
                  <a:tcPr marL="105897" marR="105897" marT="52948" marB="52948" anchor="ctr">
                    <a:lnL>
                      <a:noFill/>
                    </a:lnL>
                    <a:lnR>
                      <a:noFill/>
                    </a:lnR>
                    <a:lnT>
                      <a:noFill/>
                    </a:lnT>
                    <a:lnB>
                      <a:noFill/>
                    </a:lnB>
                    <a:noFill/>
                  </a:tcPr>
                </a:tc>
                <a:tc>
                  <a:txBody>
                    <a:bodyPr/>
                    <a:lstStyle/>
                    <a:p>
                      <a:r>
                        <a:rPr lang="en-US" sz="2100"/>
                        <a:t>Finger is touching but </a:t>
                      </a:r>
                      <a:r>
                        <a:rPr lang="en-US" sz="2100" b="1"/>
                        <a:t>not moving</a:t>
                      </a:r>
                      <a:endParaRPr lang="en-US" sz="2100"/>
                    </a:p>
                  </a:txBody>
                  <a:tcPr marL="105897" marR="105897" marT="52948" marB="52948" anchor="ctr">
                    <a:lnL>
                      <a:noFill/>
                    </a:lnL>
                    <a:lnR>
                      <a:noFill/>
                    </a:lnR>
                    <a:lnT>
                      <a:noFill/>
                    </a:lnT>
                    <a:lnB>
                      <a:noFill/>
                    </a:lnB>
                    <a:noFill/>
                  </a:tcPr>
                </a:tc>
                <a:tc>
                  <a:txBody>
                    <a:bodyPr/>
                    <a:lstStyle/>
                    <a:p>
                      <a:r>
                        <a:rPr lang="en-IN" sz="2100"/>
                        <a:t>Finger is held still</a:t>
                      </a:r>
                    </a:p>
                  </a:txBody>
                  <a:tcPr marL="105897" marR="105897" marT="52948" marB="52948" anchor="ctr">
                    <a:lnL>
                      <a:noFill/>
                    </a:lnL>
                    <a:lnR>
                      <a:noFill/>
                    </a:lnR>
                    <a:lnT>
                      <a:noFill/>
                    </a:lnT>
                    <a:lnB>
                      <a:noFill/>
                    </a:lnB>
                    <a:noFill/>
                  </a:tcPr>
                </a:tc>
                <a:extLst>
                  <a:ext uri="{0D108BD9-81ED-4DB2-BD59-A6C34878D82A}">
                    <a16:rowId xmlns:a16="http://schemas.microsoft.com/office/drawing/2014/main" val="1033274843"/>
                  </a:ext>
                </a:extLst>
              </a:tr>
              <a:tr h="470822">
                <a:tc>
                  <a:txBody>
                    <a:bodyPr/>
                    <a:lstStyle/>
                    <a:p>
                      <a:r>
                        <a:rPr lang="en-IN" sz="2100" b="1"/>
                        <a:t>Ended</a:t>
                      </a:r>
                      <a:endParaRPr lang="en-IN" sz="2100"/>
                    </a:p>
                  </a:txBody>
                  <a:tcPr marL="105897" marR="105897" marT="52948" marB="52948" anchor="ctr">
                    <a:lnL>
                      <a:noFill/>
                    </a:lnL>
                    <a:lnR>
                      <a:noFill/>
                    </a:lnR>
                    <a:lnT>
                      <a:noFill/>
                    </a:lnT>
                    <a:lnB>
                      <a:noFill/>
                    </a:lnB>
                    <a:noFill/>
                  </a:tcPr>
                </a:tc>
                <a:tc>
                  <a:txBody>
                    <a:bodyPr/>
                    <a:lstStyle/>
                    <a:p>
                      <a:r>
                        <a:rPr lang="en-US" sz="2100"/>
                        <a:t>Finger lifted off the screen</a:t>
                      </a:r>
                    </a:p>
                  </a:txBody>
                  <a:tcPr marL="105897" marR="105897" marT="52948" marB="52948" anchor="ctr">
                    <a:lnL>
                      <a:noFill/>
                    </a:lnL>
                    <a:lnR>
                      <a:noFill/>
                    </a:lnR>
                    <a:lnT>
                      <a:noFill/>
                    </a:lnT>
                    <a:lnB>
                      <a:noFill/>
                    </a:lnB>
                    <a:noFill/>
                  </a:tcPr>
                </a:tc>
                <a:tc>
                  <a:txBody>
                    <a:bodyPr/>
                    <a:lstStyle/>
                    <a:p>
                      <a:r>
                        <a:rPr lang="en-US" sz="2100"/>
                        <a:t>End of tap or drag</a:t>
                      </a:r>
                    </a:p>
                  </a:txBody>
                  <a:tcPr marL="105897" marR="105897" marT="52948" marB="52948" anchor="ctr">
                    <a:lnL>
                      <a:noFill/>
                    </a:lnL>
                    <a:lnR>
                      <a:noFill/>
                    </a:lnR>
                    <a:lnT>
                      <a:noFill/>
                    </a:lnT>
                    <a:lnB>
                      <a:noFill/>
                    </a:lnB>
                    <a:noFill/>
                  </a:tcPr>
                </a:tc>
                <a:extLst>
                  <a:ext uri="{0D108BD9-81ED-4DB2-BD59-A6C34878D82A}">
                    <a16:rowId xmlns:a16="http://schemas.microsoft.com/office/drawing/2014/main" val="1385598102"/>
                  </a:ext>
                </a:extLst>
              </a:tr>
              <a:tr h="791837">
                <a:tc>
                  <a:txBody>
                    <a:bodyPr/>
                    <a:lstStyle/>
                    <a:p>
                      <a:r>
                        <a:rPr lang="en-IN" sz="2100" b="1"/>
                        <a:t>Canceled</a:t>
                      </a:r>
                      <a:endParaRPr lang="en-IN" sz="2100"/>
                    </a:p>
                  </a:txBody>
                  <a:tcPr marL="105897" marR="105897" marT="52948" marB="52948" anchor="ctr">
                    <a:lnL>
                      <a:noFill/>
                    </a:lnL>
                    <a:lnR>
                      <a:noFill/>
                    </a:lnR>
                    <a:lnT>
                      <a:noFill/>
                    </a:lnT>
                    <a:lnB>
                      <a:noFill/>
                    </a:lnB>
                    <a:noFill/>
                  </a:tcPr>
                </a:tc>
                <a:tc>
                  <a:txBody>
                    <a:bodyPr/>
                    <a:lstStyle/>
                    <a:p>
                      <a:r>
                        <a:rPr lang="en-US" sz="2100"/>
                        <a:t>System interrupted the touch (e.g., phone call)</a:t>
                      </a:r>
                    </a:p>
                  </a:txBody>
                  <a:tcPr marL="105897" marR="105897" marT="52948" marB="52948" anchor="ctr">
                    <a:lnL>
                      <a:noFill/>
                    </a:lnL>
                    <a:lnR>
                      <a:noFill/>
                    </a:lnR>
                    <a:lnT>
                      <a:noFill/>
                    </a:lnT>
                    <a:lnB>
                      <a:noFill/>
                    </a:lnB>
                    <a:noFill/>
                  </a:tcPr>
                </a:tc>
                <a:tc>
                  <a:txBody>
                    <a:bodyPr/>
                    <a:lstStyle/>
                    <a:p>
                      <a:r>
                        <a:rPr lang="en-IN" sz="2100" dirty="0"/>
                        <a:t>Touch was </a:t>
                      </a:r>
                      <a:r>
                        <a:rPr lang="en-IN" sz="2100" dirty="0" err="1"/>
                        <a:t>canceled</a:t>
                      </a:r>
                      <a:r>
                        <a:rPr lang="en-IN" sz="2100" dirty="0"/>
                        <a:t> unexpectedly</a:t>
                      </a:r>
                    </a:p>
                  </a:txBody>
                  <a:tcPr marL="105897" marR="105897" marT="52948" marB="52948" anchor="ctr">
                    <a:lnL>
                      <a:noFill/>
                    </a:lnL>
                    <a:lnR>
                      <a:noFill/>
                    </a:lnR>
                    <a:lnT>
                      <a:noFill/>
                    </a:lnT>
                    <a:lnB>
                      <a:noFill/>
                    </a:lnB>
                    <a:noFill/>
                  </a:tcPr>
                </a:tc>
                <a:extLst>
                  <a:ext uri="{0D108BD9-81ED-4DB2-BD59-A6C34878D82A}">
                    <a16:rowId xmlns:a16="http://schemas.microsoft.com/office/drawing/2014/main" val="4273766296"/>
                  </a:ext>
                </a:extLst>
              </a:tr>
            </a:tbl>
          </a:graphicData>
        </a:graphic>
      </p:graphicFrame>
    </p:spTree>
    <p:extLst>
      <p:ext uri="{BB962C8B-B14F-4D97-AF65-F5344CB8AC3E}">
        <p14:creationId xmlns:p14="http://schemas.microsoft.com/office/powerpoint/2010/main" val="334547421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7B27-218B-8BCB-E34E-AB48C9F8581C}"/>
              </a:ext>
            </a:extLst>
          </p:cNvPr>
          <p:cNvSpPr>
            <a:spLocks noGrp="1"/>
          </p:cNvSpPr>
          <p:nvPr>
            <p:ph type="title"/>
          </p:nvPr>
        </p:nvSpPr>
        <p:spPr/>
        <p:txBody>
          <a:bodyPr/>
          <a:lstStyle/>
          <a:p>
            <a:r>
              <a:rPr lang="en-US" dirty="0"/>
              <a:t>Touch</a:t>
            </a:r>
            <a:endParaRPr lang="en-IN" dirty="0"/>
          </a:p>
        </p:txBody>
      </p:sp>
      <p:sp>
        <p:nvSpPr>
          <p:cNvPr id="3" name="Content Placeholder 2">
            <a:extLst>
              <a:ext uri="{FF2B5EF4-FFF2-40B4-BE49-F238E27FC236}">
                <a16:creationId xmlns:a16="http://schemas.microsoft.com/office/drawing/2014/main" id="{C358D02A-9F54-255A-8732-9C4C9686FE70}"/>
              </a:ext>
            </a:extLst>
          </p:cNvPr>
          <p:cNvSpPr>
            <a:spLocks noGrp="1"/>
          </p:cNvSpPr>
          <p:nvPr>
            <p:ph idx="1"/>
          </p:nvPr>
        </p:nvSpPr>
        <p:spPr/>
        <p:txBody>
          <a:bodyPr/>
          <a:lstStyle/>
          <a:p>
            <a:r>
              <a:rPr lang="en-US" dirty="0"/>
              <a:t>If (</a:t>
            </a:r>
            <a:r>
              <a:rPr lang="en-US" dirty="0" err="1"/>
              <a:t>touch.touchCount</a:t>
            </a:r>
            <a:r>
              <a:rPr lang="en-US" dirty="0"/>
              <a:t> &gt; 0){</a:t>
            </a:r>
          </a:p>
          <a:p>
            <a:pPr marL="0" indent="0">
              <a:buNone/>
            </a:pPr>
            <a:r>
              <a:rPr lang="en-US" dirty="0"/>
              <a:t>    // it means something is touching </a:t>
            </a:r>
          </a:p>
          <a:p>
            <a:pPr marL="0" indent="0">
              <a:buNone/>
            </a:pPr>
            <a:r>
              <a:rPr lang="en-US" dirty="0"/>
              <a:t>}</a:t>
            </a:r>
          </a:p>
          <a:p>
            <a:endParaRPr lang="en-IN" dirty="0"/>
          </a:p>
        </p:txBody>
      </p:sp>
    </p:spTree>
    <p:extLst>
      <p:ext uri="{BB962C8B-B14F-4D97-AF65-F5344CB8AC3E}">
        <p14:creationId xmlns:p14="http://schemas.microsoft.com/office/powerpoint/2010/main" val="414473239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05CD-3D32-4A69-ECC7-AF3779C5808C}"/>
              </a:ext>
            </a:extLst>
          </p:cNvPr>
          <p:cNvSpPr>
            <a:spLocks noGrp="1"/>
          </p:cNvSpPr>
          <p:nvPr>
            <p:ph type="title"/>
          </p:nvPr>
        </p:nvSpPr>
        <p:spPr>
          <a:xfrm>
            <a:off x="874584" y="293339"/>
            <a:ext cx="10479215" cy="1397350"/>
          </a:xfrm>
        </p:spPr>
        <p:txBody>
          <a:bodyPr/>
          <a:lstStyle/>
          <a:p>
            <a:r>
              <a:rPr lang="en-US" dirty="0"/>
              <a:t>Properties Of touch</a:t>
            </a:r>
            <a:endParaRPr lang="en-IN" dirty="0"/>
          </a:p>
        </p:txBody>
      </p:sp>
      <p:graphicFrame>
        <p:nvGraphicFramePr>
          <p:cNvPr id="4" name="Content Placeholder 3">
            <a:extLst>
              <a:ext uri="{FF2B5EF4-FFF2-40B4-BE49-F238E27FC236}">
                <a16:creationId xmlns:a16="http://schemas.microsoft.com/office/drawing/2014/main" id="{B1F7E69C-8BAB-0A4B-98F6-DC151F6EF9C0}"/>
              </a:ext>
            </a:extLst>
          </p:cNvPr>
          <p:cNvGraphicFramePr>
            <a:graphicFrameLocks noGrp="1"/>
          </p:cNvGraphicFramePr>
          <p:nvPr>
            <p:ph idx="1"/>
            <p:extLst>
              <p:ext uri="{D42A27DB-BD31-4B8C-83A1-F6EECF244321}">
                <p14:modId xmlns:p14="http://schemas.microsoft.com/office/powerpoint/2010/main" val="2853527093"/>
              </p:ext>
            </p:extLst>
          </p:nvPr>
        </p:nvGraphicFramePr>
        <p:xfrm>
          <a:off x="603250" y="1299318"/>
          <a:ext cx="10985499" cy="5265343"/>
        </p:xfrm>
        <a:graphic>
          <a:graphicData uri="http://schemas.openxmlformats.org/drawingml/2006/table">
            <a:tbl>
              <a:tblPr>
                <a:tableStyleId>{775DCB02-9BB8-47FD-8907-85C794F793BA}</a:tableStyleId>
              </a:tblPr>
              <a:tblGrid>
                <a:gridCol w="3661833">
                  <a:extLst>
                    <a:ext uri="{9D8B030D-6E8A-4147-A177-3AD203B41FA5}">
                      <a16:colId xmlns:a16="http://schemas.microsoft.com/office/drawing/2014/main" val="4038206027"/>
                    </a:ext>
                  </a:extLst>
                </a:gridCol>
                <a:gridCol w="3661833">
                  <a:extLst>
                    <a:ext uri="{9D8B030D-6E8A-4147-A177-3AD203B41FA5}">
                      <a16:colId xmlns:a16="http://schemas.microsoft.com/office/drawing/2014/main" val="173870151"/>
                    </a:ext>
                  </a:extLst>
                </a:gridCol>
                <a:gridCol w="3661833">
                  <a:extLst>
                    <a:ext uri="{9D8B030D-6E8A-4147-A177-3AD203B41FA5}">
                      <a16:colId xmlns:a16="http://schemas.microsoft.com/office/drawing/2014/main" val="4237178654"/>
                    </a:ext>
                  </a:extLst>
                </a:gridCol>
              </a:tblGrid>
              <a:tr h="234006">
                <a:tc>
                  <a:txBody>
                    <a:bodyPr/>
                    <a:lstStyle/>
                    <a:p>
                      <a:r>
                        <a:rPr lang="en-IN" sz="1200"/>
                        <a:t>Property</a:t>
                      </a:r>
                    </a:p>
                  </a:txBody>
                  <a:tcPr marL="42660" marR="42660" marT="21330" marB="21330" anchor="ctr"/>
                </a:tc>
                <a:tc>
                  <a:txBody>
                    <a:bodyPr/>
                    <a:lstStyle/>
                    <a:p>
                      <a:r>
                        <a:rPr lang="en-IN" sz="1200"/>
                        <a:t>Type</a:t>
                      </a:r>
                    </a:p>
                  </a:txBody>
                  <a:tcPr marL="42660" marR="42660" marT="21330" marB="21330" anchor="ctr"/>
                </a:tc>
                <a:tc>
                  <a:txBody>
                    <a:bodyPr/>
                    <a:lstStyle/>
                    <a:p>
                      <a:r>
                        <a:rPr lang="en-IN" sz="1200"/>
                        <a:t>Description</a:t>
                      </a:r>
                    </a:p>
                  </a:txBody>
                  <a:tcPr marL="42660" marR="42660" marT="21330" marB="21330" anchor="ctr"/>
                </a:tc>
                <a:extLst>
                  <a:ext uri="{0D108BD9-81ED-4DB2-BD59-A6C34878D82A}">
                    <a16:rowId xmlns:a16="http://schemas.microsoft.com/office/drawing/2014/main" val="1351825099"/>
                  </a:ext>
                </a:extLst>
              </a:tr>
              <a:tr h="303534">
                <a:tc>
                  <a:txBody>
                    <a:bodyPr/>
                    <a:lstStyle/>
                    <a:p>
                      <a:r>
                        <a:rPr lang="en-IN" sz="1200" b="1"/>
                        <a:t>fingerId</a:t>
                      </a:r>
                      <a:endParaRPr lang="en-IN" sz="1200"/>
                    </a:p>
                  </a:txBody>
                  <a:tcPr marL="42660" marR="42660" marT="21330" marB="21330" anchor="ctr"/>
                </a:tc>
                <a:tc>
                  <a:txBody>
                    <a:bodyPr/>
                    <a:lstStyle/>
                    <a:p>
                      <a:r>
                        <a:rPr lang="en-IN" sz="1200"/>
                        <a:t>int</a:t>
                      </a:r>
                    </a:p>
                  </a:txBody>
                  <a:tcPr marL="42660" marR="42660" marT="21330" marB="21330" anchor="ctr"/>
                </a:tc>
                <a:tc>
                  <a:txBody>
                    <a:bodyPr/>
                    <a:lstStyle/>
                    <a:p>
                      <a:r>
                        <a:rPr lang="en-US" sz="1200"/>
                        <a:t>Unique identifier for each finger touching the screen.</a:t>
                      </a:r>
                    </a:p>
                  </a:txBody>
                  <a:tcPr marL="42660" marR="42660" marT="21330" marB="21330" anchor="ctr"/>
                </a:tc>
                <a:extLst>
                  <a:ext uri="{0D108BD9-81ED-4DB2-BD59-A6C34878D82A}">
                    <a16:rowId xmlns:a16="http://schemas.microsoft.com/office/drawing/2014/main" val="262593564"/>
                  </a:ext>
                </a:extLst>
              </a:tr>
              <a:tr h="423751">
                <a:tc>
                  <a:txBody>
                    <a:bodyPr/>
                    <a:lstStyle/>
                    <a:p>
                      <a:r>
                        <a:rPr lang="en-IN" sz="1200" b="1"/>
                        <a:t>position</a:t>
                      </a:r>
                      <a:endParaRPr lang="en-IN" sz="1200"/>
                    </a:p>
                  </a:txBody>
                  <a:tcPr marL="42660" marR="42660" marT="21330" marB="21330" anchor="ctr"/>
                </a:tc>
                <a:tc>
                  <a:txBody>
                    <a:bodyPr/>
                    <a:lstStyle/>
                    <a:p>
                      <a:r>
                        <a:rPr lang="en-IN" sz="1200"/>
                        <a:t>Vector2</a:t>
                      </a:r>
                    </a:p>
                  </a:txBody>
                  <a:tcPr marL="42660" marR="42660" marT="21330" marB="21330" anchor="ctr"/>
                </a:tc>
                <a:tc>
                  <a:txBody>
                    <a:bodyPr/>
                    <a:lstStyle/>
                    <a:p>
                      <a:r>
                        <a:rPr lang="en-US" sz="1200"/>
                        <a:t>Current position of the touch in screen coordinates (pixels).</a:t>
                      </a:r>
                    </a:p>
                  </a:txBody>
                  <a:tcPr marL="42660" marR="42660" marT="21330" marB="21330" anchor="ctr"/>
                </a:tc>
                <a:extLst>
                  <a:ext uri="{0D108BD9-81ED-4DB2-BD59-A6C34878D82A}">
                    <a16:rowId xmlns:a16="http://schemas.microsoft.com/office/drawing/2014/main" val="824160248"/>
                  </a:ext>
                </a:extLst>
              </a:tr>
              <a:tr h="423751">
                <a:tc>
                  <a:txBody>
                    <a:bodyPr/>
                    <a:lstStyle/>
                    <a:p>
                      <a:r>
                        <a:rPr lang="en-IN" sz="1200" b="1"/>
                        <a:t>rawPosition</a:t>
                      </a:r>
                      <a:endParaRPr lang="en-IN" sz="1200"/>
                    </a:p>
                  </a:txBody>
                  <a:tcPr marL="42660" marR="42660" marT="21330" marB="21330" anchor="ctr"/>
                </a:tc>
                <a:tc>
                  <a:txBody>
                    <a:bodyPr/>
                    <a:lstStyle/>
                    <a:p>
                      <a:r>
                        <a:rPr lang="en-IN" sz="1200"/>
                        <a:t>Vector2</a:t>
                      </a:r>
                    </a:p>
                  </a:txBody>
                  <a:tcPr marL="42660" marR="42660" marT="21330" marB="21330" anchor="ctr"/>
                </a:tc>
                <a:tc>
                  <a:txBody>
                    <a:bodyPr/>
                    <a:lstStyle/>
                    <a:p>
                      <a:r>
                        <a:rPr lang="en-US" sz="1200"/>
                        <a:t>Raw position, before any scaling or adjustments by the device.</a:t>
                      </a:r>
                    </a:p>
                  </a:txBody>
                  <a:tcPr marL="42660" marR="42660" marT="21330" marB="21330" anchor="ctr"/>
                </a:tc>
                <a:extLst>
                  <a:ext uri="{0D108BD9-81ED-4DB2-BD59-A6C34878D82A}">
                    <a16:rowId xmlns:a16="http://schemas.microsoft.com/office/drawing/2014/main" val="4149257473"/>
                  </a:ext>
                </a:extLst>
              </a:tr>
              <a:tr h="423751">
                <a:tc>
                  <a:txBody>
                    <a:bodyPr/>
                    <a:lstStyle/>
                    <a:p>
                      <a:r>
                        <a:rPr lang="en-IN" sz="1200" b="1"/>
                        <a:t>deltaPosition</a:t>
                      </a:r>
                      <a:endParaRPr lang="en-IN" sz="1200"/>
                    </a:p>
                  </a:txBody>
                  <a:tcPr marL="42660" marR="42660" marT="21330" marB="21330" anchor="ctr"/>
                </a:tc>
                <a:tc>
                  <a:txBody>
                    <a:bodyPr/>
                    <a:lstStyle/>
                    <a:p>
                      <a:r>
                        <a:rPr lang="en-IN" sz="1200"/>
                        <a:t>Vector2</a:t>
                      </a:r>
                    </a:p>
                  </a:txBody>
                  <a:tcPr marL="42660" marR="42660" marT="21330" marB="21330" anchor="ctr"/>
                </a:tc>
                <a:tc>
                  <a:txBody>
                    <a:bodyPr/>
                    <a:lstStyle/>
                    <a:p>
                      <a:r>
                        <a:rPr lang="en-US" sz="1200"/>
                        <a:t>Difference in position since last frame (how much finger moved).</a:t>
                      </a:r>
                    </a:p>
                  </a:txBody>
                  <a:tcPr marL="42660" marR="42660" marT="21330" marB="21330" anchor="ctr"/>
                </a:tc>
                <a:extLst>
                  <a:ext uri="{0D108BD9-81ED-4DB2-BD59-A6C34878D82A}">
                    <a16:rowId xmlns:a16="http://schemas.microsoft.com/office/drawing/2014/main" val="1203455787"/>
                  </a:ext>
                </a:extLst>
              </a:tr>
              <a:tr h="423751">
                <a:tc>
                  <a:txBody>
                    <a:bodyPr/>
                    <a:lstStyle/>
                    <a:p>
                      <a:r>
                        <a:rPr lang="en-IN" sz="1200" b="1"/>
                        <a:t>deltaTime</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a:t>Time (in seconds) since the last change in deltaPosition.</a:t>
                      </a:r>
                    </a:p>
                  </a:txBody>
                  <a:tcPr marL="42660" marR="42660" marT="21330" marB="21330" anchor="ctr"/>
                </a:tc>
                <a:extLst>
                  <a:ext uri="{0D108BD9-81ED-4DB2-BD59-A6C34878D82A}">
                    <a16:rowId xmlns:a16="http://schemas.microsoft.com/office/drawing/2014/main" val="4193615535"/>
                  </a:ext>
                </a:extLst>
              </a:tr>
              <a:tr h="423751">
                <a:tc>
                  <a:txBody>
                    <a:bodyPr/>
                    <a:lstStyle/>
                    <a:p>
                      <a:r>
                        <a:rPr lang="en-IN" sz="1200" b="1"/>
                        <a:t>tapCount</a:t>
                      </a:r>
                      <a:endParaRPr lang="en-IN" sz="1200"/>
                    </a:p>
                  </a:txBody>
                  <a:tcPr marL="42660" marR="42660" marT="21330" marB="21330" anchor="ctr"/>
                </a:tc>
                <a:tc>
                  <a:txBody>
                    <a:bodyPr/>
                    <a:lstStyle/>
                    <a:p>
                      <a:r>
                        <a:rPr lang="en-IN" sz="1200"/>
                        <a:t>int</a:t>
                      </a:r>
                    </a:p>
                  </a:txBody>
                  <a:tcPr marL="42660" marR="42660" marT="21330" marB="21330" anchor="ctr"/>
                </a:tc>
                <a:tc>
                  <a:txBody>
                    <a:bodyPr/>
                    <a:lstStyle/>
                    <a:p>
                      <a:r>
                        <a:rPr lang="en-US" sz="1200"/>
                        <a:t>Number of taps within a short time (for double-tap, triple-tap).</a:t>
                      </a:r>
                    </a:p>
                  </a:txBody>
                  <a:tcPr marL="42660" marR="42660" marT="21330" marB="21330" anchor="ctr"/>
                </a:tc>
                <a:extLst>
                  <a:ext uri="{0D108BD9-81ED-4DB2-BD59-A6C34878D82A}">
                    <a16:rowId xmlns:a16="http://schemas.microsoft.com/office/drawing/2014/main" val="335728170"/>
                  </a:ext>
                </a:extLst>
              </a:tr>
              <a:tr h="433621">
                <a:tc>
                  <a:txBody>
                    <a:bodyPr/>
                    <a:lstStyle/>
                    <a:p>
                      <a:r>
                        <a:rPr lang="en-IN" sz="1200" b="1"/>
                        <a:t>phase</a:t>
                      </a:r>
                      <a:endParaRPr lang="en-IN" sz="1200"/>
                    </a:p>
                  </a:txBody>
                  <a:tcPr marL="42660" marR="42660" marT="21330" marB="21330" anchor="ctr"/>
                </a:tc>
                <a:tc>
                  <a:txBody>
                    <a:bodyPr/>
                    <a:lstStyle/>
                    <a:p>
                      <a:r>
                        <a:rPr lang="en-IN" sz="1200" dirty="0" err="1"/>
                        <a:t>TouchPhase</a:t>
                      </a:r>
                      <a:endParaRPr lang="en-IN" sz="1200" dirty="0"/>
                    </a:p>
                  </a:txBody>
                  <a:tcPr marL="42660" marR="42660" marT="21330" marB="21330" anchor="ctr"/>
                </a:tc>
                <a:tc>
                  <a:txBody>
                    <a:bodyPr/>
                    <a:lstStyle/>
                    <a:p>
                      <a:r>
                        <a:rPr lang="en-US" sz="1200"/>
                        <a:t>Current phase of the touch (Began, Moved, Stationary, Ended, Canceled).</a:t>
                      </a:r>
                    </a:p>
                  </a:txBody>
                  <a:tcPr marL="42660" marR="42660" marT="21330" marB="21330" anchor="ctr"/>
                </a:tc>
                <a:extLst>
                  <a:ext uri="{0D108BD9-81ED-4DB2-BD59-A6C34878D82A}">
                    <a16:rowId xmlns:a16="http://schemas.microsoft.com/office/drawing/2014/main" val="1239157424"/>
                  </a:ext>
                </a:extLst>
              </a:tr>
              <a:tr h="303534">
                <a:tc>
                  <a:txBody>
                    <a:bodyPr/>
                    <a:lstStyle/>
                    <a:p>
                      <a:r>
                        <a:rPr lang="en-IN" sz="1200" b="1"/>
                        <a:t>pressure</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a:t>Current pressure of the touch (if supported by device).</a:t>
                      </a:r>
                    </a:p>
                  </a:txBody>
                  <a:tcPr marL="42660" marR="42660" marT="21330" marB="21330" anchor="ctr"/>
                </a:tc>
                <a:extLst>
                  <a:ext uri="{0D108BD9-81ED-4DB2-BD59-A6C34878D82A}">
                    <a16:rowId xmlns:a16="http://schemas.microsoft.com/office/drawing/2014/main" val="2910689855"/>
                  </a:ext>
                </a:extLst>
              </a:tr>
              <a:tr h="303534">
                <a:tc>
                  <a:txBody>
                    <a:bodyPr/>
                    <a:lstStyle/>
                    <a:p>
                      <a:r>
                        <a:rPr lang="en-IN" sz="1200" b="1"/>
                        <a:t>maximumPossiblePressure</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a:t>Maximum pressure possible for the device.</a:t>
                      </a:r>
                    </a:p>
                  </a:txBody>
                  <a:tcPr marL="42660" marR="42660" marT="21330" marB="21330" anchor="ctr"/>
                </a:tc>
                <a:extLst>
                  <a:ext uri="{0D108BD9-81ED-4DB2-BD59-A6C34878D82A}">
                    <a16:rowId xmlns:a16="http://schemas.microsoft.com/office/drawing/2014/main" val="3365568823"/>
                  </a:ext>
                </a:extLst>
              </a:tr>
              <a:tr h="303534">
                <a:tc>
                  <a:txBody>
                    <a:bodyPr/>
                    <a:lstStyle/>
                    <a:p>
                      <a:r>
                        <a:rPr lang="en-IN" sz="1200" b="1"/>
                        <a:t>type</a:t>
                      </a:r>
                      <a:endParaRPr lang="en-IN" sz="1200"/>
                    </a:p>
                  </a:txBody>
                  <a:tcPr marL="42660" marR="42660" marT="21330" marB="21330" anchor="ctr"/>
                </a:tc>
                <a:tc>
                  <a:txBody>
                    <a:bodyPr/>
                    <a:lstStyle/>
                    <a:p>
                      <a:r>
                        <a:rPr lang="en-IN" sz="1200"/>
                        <a:t>TouchType</a:t>
                      </a:r>
                    </a:p>
                  </a:txBody>
                  <a:tcPr marL="42660" marR="42660" marT="21330" marB="21330" anchor="ctr"/>
                </a:tc>
                <a:tc>
                  <a:txBody>
                    <a:bodyPr/>
                    <a:lstStyle/>
                    <a:p>
                      <a:r>
                        <a:rPr lang="en-US" sz="1200"/>
                        <a:t>The type of touch (Direct, Indirect, Stylus).</a:t>
                      </a:r>
                    </a:p>
                  </a:txBody>
                  <a:tcPr marL="42660" marR="42660" marT="21330" marB="21330" anchor="ctr"/>
                </a:tc>
                <a:extLst>
                  <a:ext uri="{0D108BD9-81ED-4DB2-BD59-A6C34878D82A}">
                    <a16:rowId xmlns:a16="http://schemas.microsoft.com/office/drawing/2014/main" val="2336453932"/>
                  </a:ext>
                </a:extLst>
              </a:tr>
              <a:tr h="423751">
                <a:tc>
                  <a:txBody>
                    <a:bodyPr/>
                    <a:lstStyle/>
                    <a:p>
                      <a:r>
                        <a:rPr lang="en-IN" sz="1200" b="1"/>
                        <a:t>altitudeAngle</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a:t>Angle of stylus or finger relative to the surface (radians).</a:t>
                      </a:r>
                    </a:p>
                  </a:txBody>
                  <a:tcPr marL="42660" marR="42660" marT="21330" marB="21330" anchor="ctr"/>
                </a:tc>
                <a:extLst>
                  <a:ext uri="{0D108BD9-81ED-4DB2-BD59-A6C34878D82A}">
                    <a16:rowId xmlns:a16="http://schemas.microsoft.com/office/drawing/2014/main" val="3402205264"/>
                  </a:ext>
                </a:extLst>
              </a:tr>
              <a:tr h="303534">
                <a:tc>
                  <a:txBody>
                    <a:bodyPr/>
                    <a:lstStyle/>
                    <a:p>
                      <a:r>
                        <a:rPr lang="en-IN" sz="1200" b="1"/>
                        <a:t>azimuthAngle</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a:t>Direction of the stylus or finger (radians).</a:t>
                      </a:r>
                    </a:p>
                  </a:txBody>
                  <a:tcPr marL="42660" marR="42660" marT="21330" marB="21330" anchor="ctr"/>
                </a:tc>
                <a:extLst>
                  <a:ext uri="{0D108BD9-81ED-4DB2-BD59-A6C34878D82A}">
                    <a16:rowId xmlns:a16="http://schemas.microsoft.com/office/drawing/2014/main" val="2295543771"/>
                  </a:ext>
                </a:extLst>
              </a:tr>
              <a:tr h="234006">
                <a:tc>
                  <a:txBody>
                    <a:bodyPr/>
                    <a:lstStyle/>
                    <a:p>
                      <a:r>
                        <a:rPr lang="en-IN" sz="1200" b="1"/>
                        <a:t>radius</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a:t>Estimated radius of the touch.</a:t>
                      </a:r>
                    </a:p>
                  </a:txBody>
                  <a:tcPr marL="42660" marR="42660" marT="21330" marB="21330" anchor="ctr"/>
                </a:tc>
                <a:extLst>
                  <a:ext uri="{0D108BD9-81ED-4DB2-BD59-A6C34878D82A}">
                    <a16:rowId xmlns:a16="http://schemas.microsoft.com/office/drawing/2014/main" val="3381871731"/>
                  </a:ext>
                </a:extLst>
              </a:tr>
              <a:tr h="303534">
                <a:tc>
                  <a:txBody>
                    <a:bodyPr/>
                    <a:lstStyle/>
                    <a:p>
                      <a:r>
                        <a:rPr lang="en-IN" sz="1200" b="1"/>
                        <a:t>radiusVariance</a:t>
                      </a:r>
                      <a:endParaRPr lang="en-IN" sz="1200"/>
                    </a:p>
                  </a:txBody>
                  <a:tcPr marL="42660" marR="42660" marT="21330" marB="21330" anchor="ctr"/>
                </a:tc>
                <a:tc>
                  <a:txBody>
                    <a:bodyPr/>
                    <a:lstStyle/>
                    <a:p>
                      <a:r>
                        <a:rPr lang="en-IN" sz="1200"/>
                        <a:t>float</a:t>
                      </a:r>
                    </a:p>
                  </a:txBody>
                  <a:tcPr marL="42660" marR="42660" marT="21330" marB="21330" anchor="ctr"/>
                </a:tc>
                <a:tc>
                  <a:txBody>
                    <a:bodyPr/>
                    <a:lstStyle/>
                    <a:p>
                      <a:r>
                        <a:rPr lang="en-US" sz="1200" dirty="0"/>
                        <a:t>Variance in the radius of the touch.</a:t>
                      </a:r>
                    </a:p>
                  </a:txBody>
                  <a:tcPr marL="42660" marR="42660" marT="21330" marB="21330" anchor="ctr"/>
                </a:tc>
                <a:extLst>
                  <a:ext uri="{0D108BD9-81ED-4DB2-BD59-A6C34878D82A}">
                    <a16:rowId xmlns:a16="http://schemas.microsoft.com/office/drawing/2014/main" val="1089037202"/>
                  </a:ext>
                </a:extLst>
              </a:tr>
            </a:tbl>
          </a:graphicData>
        </a:graphic>
      </p:graphicFrame>
    </p:spTree>
    <p:extLst>
      <p:ext uri="{BB962C8B-B14F-4D97-AF65-F5344CB8AC3E}">
        <p14:creationId xmlns:p14="http://schemas.microsoft.com/office/powerpoint/2010/main" val="417379652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65735-6840-9DB3-E65C-3AD33553F2DE}"/>
              </a:ext>
            </a:extLst>
          </p:cNvPr>
          <p:cNvSpPr>
            <a:spLocks noGrp="1"/>
          </p:cNvSpPr>
          <p:nvPr>
            <p:ph type="title"/>
          </p:nvPr>
        </p:nvSpPr>
        <p:spPr/>
        <p:txBody>
          <a:bodyPr/>
          <a:lstStyle/>
          <a:p>
            <a:r>
              <a:rPr lang="en-US" dirty="0"/>
              <a:t>What is </a:t>
            </a:r>
            <a:r>
              <a:rPr lang="en-US" dirty="0" err="1"/>
              <a:t>Input.touches</a:t>
            </a:r>
            <a:endParaRPr lang="en-IN" dirty="0"/>
          </a:p>
        </p:txBody>
      </p:sp>
      <p:sp>
        <p:nvSpPr>
          <p:cNvPr id="3" name="Content Placeholder 2">
            <a:extLst>
              <a:ext uri="{FF2B5EF4-FFF2-40B4-BE49-F238E27FC236}">
                <a16:creationId xmlns:a16="http://schemas.microsoft.com/office/drawing/2014/main" id="{73134FBD-A076-0F51-9D69-2A82037DCD80}"/>
              </a:ext>
            </a:extLst>
          </p:cNvPr>
          <p:cNvSpPr>
            <a:spLocks noGrp="1"/>
          </p:cNvSpPr>
          <p:nvPr>
            <p:ph idx="1"/>
          </p:nvPr>
        </p:nvSpPr>
        <p:spPr/>
        <p:txBody>
          <a:bodyPr>
            <a:normAutofit/>
          </a:bodyPr>
          <a:lstStyle/>
          <a:p>
            <a:r>
              <a:rPr lang="en-US" dirty="0" err="1"/>
              <a:t>Input.touches</a:t>
            </a:r>
            <a:r>
              <a:rPr lang="en-US" dirty="0"/>
              <a:t> is an array of all current touch inputs on the screen.</a:t>
            </a:r>
          </a:p>
          <a:p>
            <a:r>
              <a:rPr lang="en-US" dirty="0"/>
              <a:t>It contains all the fingers currently touching the screen.</a:t>
            </a:r>
          </a:p>
          <a:p>
            <a:r>
              <a:rPr lang="en-US" dirty="0"/>
              <a:t>Each element in this array is a Touch struct with info about that finger’s position, phase, etc.</a:t>
            </a:r>
          </a:p>
          <a:p>
            <a:r>
              <a:rPr lang="en-US" dirty="0"/>
              <a:t>Example:-</a:t>
            </a:r>
          </a:p>
          <a:p>
            <a:pPr marL="457200" lvl="1" indent="0">
              <a:buNone/>
            </a:pPr>
            <a:r>
              <a:rPr lang="en-IN" dirty="0"/>
              <a:t>foreach (Touch </a:t>
            </a:r>
            <a:r>
              <a:rPr lang="en-IN" dirty="0" err="1"/>
              <a:t>touch</a:t>
            </a:r>
            <a:r>
              <a:rPr lang="en-IN" dirty="0"/>
              <a:t> in </a:t>
            </a:r>
            <a:r>
              <a:rPr lang="en-IN" dirty="0" err="1"/>
              <a:t>Input.touches</a:t>
            </a:r>
            <a:r>
              <a:rPr lang="en-IN" dirty="0"/>
              <a:t>)</a:t>
            </a:r>
          </a:p>
          <a:p>
            <a:pPr marL="457200" lvl="1" indent="0">
              <a:buNone/>
            </a:pPr>
            <a:r>
              <a:rPr lang="en-IN" dirty="0"/>
              <a:t>    {</a:t>
            </a:r>
          </a:p>
          <a:p>
            <a:pPr marL="457200" lvl="1" indent="0">
              <a:buNone/>
            </a:pPr>
            <a:r>
              <a:rPr lang="en-IN" dirty="0"/>
              <a:t>        </a:t>
            </a:r>
            <a:r>
              <a:rPr lang="en-IN" dirty="0" err="1"/>
              <a:t>Debug.Log</a:t>
            </a:r>
            <a:r>
              <a:rPr lang="en-IN" dirty="0"/>
              <a:t>($"Finger ID: {</a:t>
            </a:r>
            <a:r>
              <a:rPr lang="en-IN" dirty="0" err="1"/>
              <a:t>touch.fingerId</a:t>
            </a:r>
            <a:r>
              <a:rPr lang="en-IN" dirty="0"/>
              <a:t>}, Position: {</a:t>
            </a:r>
            <a:r>
              <a:rPr lang="en-IN" dirty="0" err="1"/>
              <a:t>touch.position</a:t>
            </a:r>
            <a:r>
              <a:rPr lang="en-IN" dirty="0"/>
              <a:t>}, Phase: {</a:t>
            </a:r>
            <a:r>
              <a:rPr lang="en-IN" dirty="0" err="1"/>
              <a:t>touch.phase</a:t>
            </a:r>
            <a:r>
              <a:rPr lang="en-IN" dirty="0"/>
              <a:t>}");</a:t>
            </a:r>
          </a:p>
          <a:p>
            <a:pPr marL="457200" lvl="1" indent="0">
              <a:buNone/>
            </a:pPr>
            <a:r>
              <a:rPr lang="en-IN" dirty="0"/>
              <a:t>    }</a:t>
            </a:r>
          </a:p>
        </p:txBody>
      </p:sp>
    </p:spTree>
    <p:extLst>
      <p:ext uri="{BB962C8B-B14F-4D97-AF65-F5344CB8AC3E}">
        <p14:creationId xmlns:p14="http://schemas.microsoft.com/office/powerpoint/2010/main" val="289402814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0"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4" name="Freeform: Shape 13">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D0719D6-4B2D-12E2-4F1C-5FAA7391C903}"/>
              </a:ext>
            </a:extLst>
          </p:cNvPr>
          <p:cNvSpPr>
            <a:spLocks noGrp="1"/>
          </p:cNvSpPr>
          <p:nvPr>
            <p:ph type="ctrTitle"/>
          </p:nvPr>
        </p:nvSpPr>
        <p:spPr>
          <a:xfrm>
            <a:off x="789708" y="666351"/>
            <a:ext cx="10558405" cy="3044335"/>
          </a:xfrm>
        </p:spPr>
        <p:txBody>
          <a:bodyPr anchor="b">
            <a:normAutofit/>
          </a:bodyPr>
          <a:lstStyle/>
          <a:p>
            <a:r>
              <a:rPr lang="en-US" sz="4800" b="0" i="0">
                <a:solidFill>
                  <a:schemeClr val="bg1"/>
                </a:solidFill>
                <a:effectLst/>
                <a:latin typeface="Udemy Sans"/>
              </a:rPr>
              <a:t>Touch &amp; Destroy Objects With RayCasting in Unity </a:t>
            </a:r>
            <a:endParaRPr lang="en-IN" sz="4800">
              <a:solidFill>
                <a:schemeClr val="bg1"/>
              </a:solidFill>
            </a:endParaRPr>
          </a:p>
        </p:txBody>
      </p:sp>
    </p:spTree>
    <p:extLst>
      <p:ext uri="{BB962C8B-B14F-4D97-AF65-F5344CB8AC3E}">
        <p14:creationId xmlns:p14="http://schemas.microsoft.com/office/powerpoint/2010/main" val="261289347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3E17-5C23-C4A7-DC4B-44E060218E6D}"/>
              </a:ext>
            </a:extLst>
          </p:cNvPr>
          <p:cNvSpPr>
            <a:spLocks noGrp="1"/>
          </p:cNvSpPr>
          <p:nvPr>
            <p:ph type="title"/>
          </p:nvPr>
        </p:nvSpPr>
        <p:spPr/>
        <p:txBody>
          <a:bodyPr/>
          <a:lstStyle/>
          <a:p>
            <a:r>
              <a:rPr lang="en-US" dirty="0" err="1"/>
              <a:t>RayCasting</a:t>
            </a:r>
            <a:endParaRPr lang="en-IN" dirty="0"/>
          </a:p>
        </p:txBody>
      </p:sp>
      <p:sp>
        <p:nvSpPr>
          <p:cNvPr id="3" name="Content Placeholder 2">
            <a:extLst>
              <a:ext uri="{FF2B5EF4-FFF2-40B4-BE49-F238E27FC236}">
                <a16:creationId xmlns:a16="http://schemas.microsoft.com/office/drawing/2014/main" id="{35D3D299-A3B5-E360-7714-CAA7E213F4EB}"/>
              </a:ext>
            </a:extLst>
          </p:cNvPr>
          <p:cNvSpPr>
            <a:spLocks noGrp="1"/>
          </p:cNvSpPr>
          <p:nvPr>
            <p:ph idx="1"/>
          </p:nvPr>
        </p:nvSpPr>
        <p:spPr/>
        <p:txBody>
          <a:bodyPr>
            <a:normAutofit/>
          </a:bodyPr>
          <a:lstStyle/>
          <a:p>
            <a:r>
              <a:rPr lang="en-US" dirty="0" err="1"/>
              <a:t>Raycasting</a:t>
            </a:r>
            <a:r>
              <a:rPr lang="en-US" dirty="0"/>
              <a:t> is like shooting an invisible laser (a ray) from a point in a direction.</a:t>
            </a:r>
          </a:p>
          <a:p>
            <a:r>
              <a:rPr lang="en-US" dirty="0"/>
              <a:t>It helps you detect what object the ray hits in the 3D world.</a:t>
            </a:r>
          </a:p>
          <a:p>
            <a:r>
              <a:rPr lang="en-US" dirty="0"/>
              <a:t>How </a:t>
            </a:r>
            <a:r>
              <a:rPr lang="en-US" dirty="0" err="1"/>
              <a:t>Raycasting</a:t>
            </a:r>
            <a:r>
              <a:rPr lang="en-US" dirty="0"/>
              <a:t> Works in Unity</a:t>
            </a:r>
          </a:p>
          <a:p>
            <a:pPr lvl="1"/>
            <a:r>
              <a:rPr lang="en-US" dirty="0"/>
              <a:t>You create a Ray — usually from the camera through a screen point.</a:t>
            </a:r>
          </a:p>
          <a:p>
            <a:pPr lvl="1"/>
            <a:r>
              <a:rPr lang="en-US" dirty="0"/>
              <a:t>You ask Unity if the Ray hits any collider in the scene.</a:t>
            </a:r>
          </a:p>
          <a:p>
            <a:pPr lvl="1"/>
            <a:r>
              <a:rPr lang="en-US" dirty="0"/>
              <a:t>If it hits, you get information about what it hit (</a:t>
            </a:r>
            <a:r>
              <a:rPr lang="en-US" dirty="0" err="1"/>
              <a:t>RaycastHit</a:t>
            </a:r>
            <a:r>
              <a:rPr lang="en-US" dirty="0"/>
              <a:t>).</a:t>
            </a:r>
          </a:p>
          <a:p>
            <a:pPr marL="457200" lvl="1" indent="0">
              <a:buNone/>
            </a:pPr>
            <a:endParaRPr lang="en-US" dirty="0"/>
          </a:p>
        </p:txBody>
      </p:sp>
    </p:spTree>
    <p:extLst>
      <p:ext uri="{BB962C8B-B14F-4D97-AF65-F5344CB8AC3E}">
        <p14:creationId xmlns:p14="http://schemas.microsoft.com/office/powerpoint/2010/main" val="173099594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A453-D7DF-1B78-8C47-6269551EA755}"/>
              </a:ext>
            </a:extLst>
          </p:cNvPr>
          <p:cNvSpPr>
            <a:spLocks noGrp="1"/>
          </p:cNvSpPr>
          <p:nvPr>
            <p:ph type="title"/>
          </p:nvPr>
        </p:nvSpPr>
        <p:spPr/>
        <p:txBody>
          <a:bodyPr/>
          <a:lstStyle/>
          <a:p>
            <a:r>
              <a:rPr lang="en-US" dirty="0"/>
              <a:t>Basic Syntax for </a:t>
            </a:r>
            <a:r>
              <a:rPr lang="en-US" dirty="0" err="1"/>
              <a:t>Raycast</a:t>
            </a:r>
            <a:endParaRPr lang="en-IN" dirty="0"/>
          </a:p>
        </p:txBody>
      </p:sp>
      <p:sp>
        <p:nvSpPr>
          <p:cNvPr id="3" name="Content Placeholder 2">
            <a:extLst>
              <a:ext uri="{FF2B5EF4-FFF2-40B4-BE49-F238E27FC236}">
                <a16:creationId xmlns:a16="http://schemas.microsoft.com/office/drawing/2014/main" id="{0B55595B-B93D-B193-E246-A4C69345BA8D}"/>
              </a:ext>
            </a:extLst>
          </p:cNvPr>
          <p:cNvSpPr>
            <a:spLocks noGrp="1"/>
          </p:cNvSpPr>
          <p:nvPr>
            <p:ph idx="1"/>
          </p:nvPr>
        </p:nvSpPr>
        <p:spPr/>
        <p:txBody>
          <a:bodyPr>
            <a:normAutofit/>
          </a:bodyPr>
          <a:lstStyle/>
          <a:p>
            <a:pPr marL="0" indent="0">
              <a:buNone/>
            </a:pPr>
            <a:endParaRPr lang="en-IN" dirty="0"/>
          </a:p>
          <a:p>
            <a:pPr marL="0" indent="0">
              <a:buNone/>
            </a:pPr>
            <a:r>
              <a:rPr lang="en-IN" dirty="0"/>
              <a:t>Ray </a:t>
            </a:r>
            <a:r>
              <a:rPr lang="en-IN" dirty="0" err="1"/>
              <a:t>ray</a:t>
            </a:r>
            <a:r>
              <a:rPr lang="en-IN" dirty="0"/>
              <a:t> = </a:t>
            </a:r>
            <a:r>
              <a:rPr lang="en-IN" dirty="0" err="1"/>
              <a:t>Camera.main.ScreenPointToRay</a:t>
            </a:r>
            <a:r>
              <a:rPr lang="en-IN" dirty="0"/>
              <a:t>(</a:t>
            </a:r>
            <a:r>
              <a:rPr lang="en-IN" dirty="0" err="1"/>
              <a:t>Input.mousePosition</a:t>
            </a:r>
            <a:r>
              <a:rPr lang="en-IN" dirty="0"/>
              <a:t>);</a:t>
            </a:r>
          </a:p>
          <a:p>
            <a:pPr marL="0" indent="0">
              <a:buNone/>
            </a:pPr>
            <a:r>
              <a:rPr lang="en-IN" dirty="0"/>
              <a:t>if (</a:t>
            </a:r>
            <a:r>
              <a:rPr lang="en-IN" dirty="0" err="1"/>
              <a:t>Physics.Raycast</a:t>
            </a:r>
            <a:r>
              <a:rPr lang="en-IN" dirty="0"/>
              <a:t>(ray, out </a:t>
            </a:r>
            <a:r>
              <a:rPr lang="en-IN" dirty="0" err="1"/>
              <a:t>RaycastHit</a:t>
            </a:r>
            <a:r>
              <a:rPr lang="en-IN" dirty="0"/>
              <a:t> </a:t>
            </a:r>
            <a:r>
              <a:rPr lang="en-IN" dirty="0" err="1"/>
              <a:t>hitInfo</a:t>
            </a:r>
            <a:r>
              <a:rPr lang="en-IN" dirty="0"/>
              <a:t>))  or</a:t>
            </a:r>
          </a:p>
          <a:p>
            <a:pPr marL="0" indent="0">
              <a:buNone/>
            </a:pPr>
            <a:r>
              <a:rPr lang="en-US" dirty="0">
                <a:sym typeface="Wingdings" panose="05000000000000000000" pitchFamily="2" charset="2"/>
              </a:rPr>
              <a:t>if (</a:t>
            </a:r>
            <a:r>
              <a:rPr lang="en-US" dirty="0" err="1">
                <a:sym typeface="Wingdings" panose="05000000000000000000" pitchFamily="2" charset="2"/>
              </a:rPr>
              <a:t>Physics.Raycast</a:t>
            </a:r>
            <a:r>
              <a:rPr lang="en-US" dirty="0">
                <a:sym typeface="Wingdings" panose="05000000000000000000" pitchFamily="2" charset="2"/>
              </a:rPr>
              <a:t>(ray, out </a:t>
            </a:r>
            <a:r>
              <a:rPr lang="en-US" dirty="0" err="1">
                <a:sym typeface="Wingdings" panose="05000000000000000000" pitchFamily="2" charset="2"/>
              </a:rPr>
              <a:t>RaycastHit</a:t>
            </a:r>
            <a:r>
              <a:rPr lang="en-US" dirty="0">
                <a:sym typeface="Wingdings" panose="05000000000000000000" pitchFamily="2" charset="2"/>
              </a:rPr>
              <a:t> </a:t>
            </a:r>
            <a:r>
              <a:rPr lang="en-US" dirty="0" err="1">
                <a:sym typeface="Wingdings" panose="05000000000000000000" pitchFamily="2" charset="2"/>
              </a:rPr>
              <a:t>hitInfo</a:t>
            </a:r>
            <a:r>
              <a:rPr lang="en-US" dirty="0">
                <a:sym typeface="Wingdings" panose="05000000000000000000" pitchFamily="2" charset="2"/>
              </a:rPr>
              <a:t>, </a:t>
            </a:r>
            <a:r>
              <a:rPr lang="en-US" dirty="0" err="1">
                <a:sym typeface="Wingdings" panose="05000000000000000000" pitchFamily="2" charset="2"/>
              </a:rPr>
              <a:t>Mathf.Infinity</a:t>
            </a:r>
            <a:r>
              <a:rPr lang="en-US" dirty="0">
                <a:sym typeface="Wingdings" panose="05000000000000000000" pitchFamily="2" charset="2"/>
              </a:rPr>
              <a:t>)) </a:t>
            </a:r>
            <a:r>
              <a:rPr lang="en-IN" dirty="0">
                <a:sym typeface="Wingdings" panose="05000000000000000000" pitchFamily="2" charset="2"/>
              </a:rPr>
              <a:t> create infinite length of ray</a:t>
            </a:r>
            <a:endParaRPr lang="en-IN" dirty="0"/>
          </a:p>
          <a:p>
            <a:pPr marL="0" indent="0">
              <a:buNone/>
            </a:pPr>
            <a:r>
              <a:rPr lang="en-IN" dirty="0"/>
              <a:t>{</a:t>
            </a:r>
          </a:p>
          <a:p>
            <a:pPr marL="0" indent="0">
              <a:buNone/>
            </a:pPr>
            <a:r>
              <a:rPr lang="en-IN" dirty="0"/>
              <a:t>    </a:t>
            </a:r>
            <a:r>
              <a:rPr lang="en-IN" dirty="0" err="1"/>
              <a:t>Debug.Log</a:t>
            </a:r>
            <a:r>
              <a:rPr lang="en-IN" dirty="0"/>
              <a:t>("Hit object: " + hitInfo.collider.name);</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35620252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50E1-F9A4-EA31-C528-5A6203A17E61}"/>
              </a:ext>
            </a:extLst>
          </p:cNvPr>
          <p:cNvSpPr>
            <a:spLocks noGrp="1"/>
          </p:cNvSpPr>
          <p:nvPr>
            <p:ph type="title"/>
          </p:nvPr>
        </p:nvSpPr>
        <p:spPr/>
        <p:txBody>
          <a:bodyPr/>
          <a:lstStyle/>
          <a:p>
            <a:r>
              <a:rPr lang="en-US" dirty="0"/>
              <a:t>Code </a:t>
            </a:r>
            <a:r>
              <a:rPr lang="en-US" dirty="0" err="1"/>
              <a:t>Explantion</a:t>
            </a:r>
            <a:endParaRPr lang="en-IN" dirty="0"/>
          </a:p>
        </p:txBody>
      </p:sp>
      <p:sp>
        <p:nvSpPr>
          <p:cNvPr id="3" name="Content Placeholder 2">
            <a:extLst>
              <a:ext uri="{FF2B5EF4-FFF2-40B4-BE49-F238E27FC236}">
                <a16:creationId xmlns:a16="http://schemas.microsoft.com/office/drawing/2014/main" id="{5454B8C8-35F4-9AD7-0051-86B394B5ADD4}"/>
              </a:ext>
            </a:extLst>
          </p:cNvPr>
          <p:cNvSpPr>
            <a:spLocks noGrp="1"/>
          </p:cNvSpPr>
          <p:nvPr>
            <p:ph idx="1"/>
          </p:nvPr>
        </p:nvSpPr>
        <p:spPr/>
        <p:txBody>
          <a:bodyPr>
            <a:normAutofit lnSpcReduction="10000"/>
          </a:bodyPr>
          <a:lstStyle/>
          <a:p>
            <a:pPr marL="0" indent="0">
              <a:buNone/>
            </a:pPr>
            <a:r>
              <a:rPr lang="en-US" dirty="0"/>
              <a:t>Where</a:t>
            </a:r>
          </a:p>
          <a:p>
            <a:r>
              <a:rPr lang="en-US" u="sng" dirty="0"/>
              <a:t>Ray</a:t>
            </a:r>
            <a:r>
              <a:rPr lang="en-US" u="sng" dirty="0">
                <a:sym typeface="Wingdings" panose="05000000000000000000" pitchFamily="2" charset="2"/>
              </a:rPr>
              <a:t></a:t>
            </a:r>
          </a:p>
          <a:p>
            <a:pPr lvl="1"/>
            <a:r>
              <a:rPr lang="en-US" dirty="0"/>
              <a:t>A data type in Unity that represents a ray in 3D space, starting at an origin and going in a direction infinitely.</a:t>
            </a:r>
          </a:p>
          <a:p>
            <a:r>
              <a:rPr lang="en-IN" u="sng" dirty="0" err="1"/>
              <a:t>Camera.main</a:t>
            </a:r>
            <a:endParaRPr lang="en-IN" u="sng" dirty="0"/>
          </a:p>
          <a:p>
            <a:pPr lvl="1"/>
            <a:r>
              <a:rPr lang="en-US" dirty="0"/>
              <a:t>Refers to the "Main Camera" in the scene (the camera tagged as "</a:t>
            </a:r>
            <a:r>
              <a:rPr lang="en-US" dirty="0" err="1"/>
              <a:t>MainCamera</a:t>
            </a:r>
            <a:r>
              <a:rPr lang="en-US" dirty="0"/>
              <a:t>").</a:t>
            </a:r>
          </a:p>
          <a:p>
            <a:r>
              <a:rPr lang="en-IN" u="sng" dirty="0" err="1"/>
              <a:t>ScreenPointToRay</a:t>
            </a:r>
            <a:r>
              <a:rPr lang="en-IN" u="sng" dirty="0"/>
              <a:t>()</a:t>
            </a:r>
          </a:p>
          <a:p>
            <a:pPr lvl="1"/>
            <a:r>
              <a:rPr lang="en-US" dirty="0"/>
              <a:t>A method of the Camera class. It converts a 2D screen position (pixel coordinates on the screen) into a 3D ray starting at the camera and pointing into the scene.</a:t>
            </a:r>
            <a:endParaRPr lang="en-IN" dirty="0"/>
          </a:p>
        </p:txBody>
      </p:sp>
    </p:spTree>
    <p:extLst>
      <p:ext uri="{BB962C8B-B14F-4D97-AF65-F5344CB8AC3E}">
        <p14:creationId xmlns:p14="http://schemas.microsoft.com/office/powerpoint/2010/main" val="230763085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AAB3C-91DC-6E1F-382D-273112505B7F}"/>
              </a:ext>
            </a:extLst>
          </p:cNvPr>
          <p:cNvSpPr>
            <a:spLocks noGrp="1"/>
          </p:cNvSpPr>
          <p:nvPr>
            <p:ph idx="1"/>
          </p:nvPr>
        </p:nvSpPr>
        <p:spPr>
          <a:xfrm>
            <a:off x="202131" y="356135"/>
            <a:ext cx="11151669" cy="5820828"/>
          </a:xfrm>
        </p:spPr>
        <p:txBody>
          <a:bodyPr>
            <a:normAutofit/>
          </a:bodyPr>
          <a:lstStyle/>
          <a:p>
            <a:r>
              <a:rPr lang="en-IN" dirty="0" err="1"/>
              <a:t>Physics</a:t>
            </a:r>
            <a:r>
              <a:rPr lang="en-IN" u="sng" dirty="0" err="1"/>
              <a:t>.Raycast</a:t>
            </a:r>
            <a:r>
              <a:rPr lang="en-IN" u="sng" dirty="0"/>
              <a:t>(...)</a:t>
            </a:r>
          </a:p>
          <a:p>
            <a:pPr lvl="1"/>
            <a:r>
              <a:rPr lang="en-US" dirty="0"/>
              <a:t>A static method from the Physics class. It "casts" a ray into the scene to detect if it hits any collider (3D object with a physics collider).</a:t>
            </a:r>
          </a:p>
          <a:p>
            <a:r>
              <a:rPr lang="en-US" dirty="0"/>
              <a:t>out </a:t>
            </a:r>
            <a:r>
              <a:rPr lang="en-US" dirty="0" err="1"/>
              <a:t>RaycastHit</a:t>
            </a:r>
            <a:r>
              <a:rPr lang="en-US" dirty="0"/>
              <a:t> </a:t>
            </a:r>
            <a:r>
              <a:rPr lang="en-US" dirty="0" err="1"/>
              <a:t>hitInfo</a:t>
            </a:r>
            <a:endParaRPr lang="en-US" dirty="0"/>
          </a:p>
          <a:p>
            <a:pPr lvl="1"/>
            <a:r>
              <a:rPr lang="en-US" dirty="0">
                <a:solidFill>
                  <a:srgbClr val="FF0000"/>
                </a:solidFill>
              </a:rPr>
              <a:t>out</a:t>
            </a:r>
            <a:r>
              <a:rPr lang="en-US" dirty="0"/>
              <a:t> means that this parameter will be assigned inside the method and returned to us.</a:t>
            </a:r>
          </a:p>
          <a:p>
            <a:pPr lvl="1"/>
            <a:r>
              <a:rPr lang="en-US" dirty="0" err="1">
                <a:solidFill>
                  <a:srgbClr val="FF0000"/>
                </a:solidFill>
              </a:rPr>
              <a:t>RaycastHit</a:t>
            </a:r>
            <a:r>
              <a:rPr lang="en-US" dirty="0"/>
              <a:t> is a struct that stores information about what the ray hits (like position, normal, collider, etc.)</a:t>
            </a:r>
          </a:p>
          <a:p>
            <a:pPr lvl="1"/>
            <a:r>
              <a:rPr lang="en-US" dirty="0" err="1">
                <a:solidFill>
                  <a:srgbClr val="FF0000"/>
                </a:solidFill>
              </a:rPr>
              <a:t>hitInfo</a:t>
            </a:r>
            <a:r>
              <a:rPr lang="en-US" dirty="0">
                <a:solidFill>
                  <a:srgbClr val="FF0000"/>
                </a:solidFill>
              </a:rPr>
              <a:t> </a:t>
            </a:r>
            <a:r>
              <a:rPr lang="en-US" dirty="0"/>
              <a:t>is the variable name that will hold this information if the ray hits something.</a:t>
            </a:r>
          </a:p>
          <a:p>
            <a:r>
              <a:rPr lang="en-US" dirty="0"/>
              <a:t>The </a:t>
            </a:r>
            <a:r>
              <a:rPr lang="en-US" dirty="0" err="1">
                <a:solidFill>
                  <a:srgbClr val="FF0000"/>
                </a:solidFill>
              </a:rPr>
              <a:t>Physics.Raycast</a:t>
            </a:r>
            <a:r>
              <a:rPr lang="en-US" dirty="0">
                <a:solidFill>
                  <a:srgbClr val="FF0000"/>
                </a:solidFill>
              </a:rPr>
              <a:t> </a:t>
            </a:r>
            <a:r>
              <a:rPr lang="en-US" dirty="0"/>
              <a:t>method returns a bool (true or false):</a:t>
            </a:r>
          </a:p>
          <a:p>
            <a:pPr lvl="1"/>
            <a:r>
              <a:rPr lang="en-US" dirty="0"/>
              <a:t>true if the ray hits any collider in the scene,</a:t>
            </a:r>
          </a:p>
          <a:p>
            <a:pPr lvl="1"/>
            <a:r>
              <a:rPr lang="en-US" dirty="0"/>
              <a:t>false if it doesn't.</a:t>
            </a:r>
          </a:p>
          <a:p>
            <a:pPr lvl="1"/>
            <a:r>
              <a:rPr lang="en-US" dirty="0"/>
              <a:t>If the ray hits an object, </a:t>
            </a:r>
            <a:r>
              <a:rPr lang="en-US" dirty="0" err="1"/>
              <a:t>hitInfo</a:t>
            </a:r>
            <a:r>
              <a:rPr lang="en-US" dirty="0"/>
              <a:t> will contain details about that hit.</a:t>
            </a:r>
          </a:p>
        </p:txBody>
      </p:sp>
    </p:spTree>
    <p:extLst>
      <p:ext uri="{BB962C8B-B14F-4D97-AF65-F5344CB8AC3E}">
        <p14:creationId xmlns:p14="http://schemas.microsoft.com/office/powerpoint/2010/main" val="382565312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9CE1-D76A-421F-FABF-1B5ADBC38E50}"/>
              </a:ext>
            </a:extLst>
          </p:cNvPr>
          <p:cNvSpPr>
            <a:spLocks noGrp="1"/>
          </p:cNvSpPr>
          <p:nvPr>
            <p:ph type="title"/>
          </p:nvPr>
        </p:nvSpPr>
        <p:spPr/>
        <p:txBody>
          <a:bodyPr/>
          <a:lstStyle/>
          <a:p>
            <a:r>
              <a:rPr lang="en-US" dirty="0"/>
              <a:t>Example:- for Mouse </a:t>
            </a:r>
            <a:endParaRPr lang="en-IN" dirty="0"/>
          </a:p>
        </p:txBody>
      </p:sp>
      <p:sp>
        <p:nvSpPr>
          <p:cNvPr id="3" name="Content Placeholder 2">
            <a:extLst>
              <a:ext uri="{FF2B5EF4-FFF2-40B4-BE49-F238E27FC236}">
                <a16:creationId xmlns:a16="http://schemas.microsoft.com/office/drawing/2014/main" id="{6B25E86D-29C0-D834-83A3-9ABC2B1E191F}"/>
              </a:ext>
            </a:extLst>
          </p:cNvPr>
          <p:cNvSpPr>
            <a:spLocks noGrp="1"/>
          </p:cNvSpPr>
          <p:nvPr>
            <p:ph idx="1"/>
          </p:nvPr>
        </p:nvSpPr>
        <p:spPr>
          <a:xfrm>
            <a:off x="838200" y="1825625"/>
            <a:ext cx="5601101" cy="4667250"/>
          </a:xfrm>
        </p:spPr>
        <p:txBody>
          <a:bodyPr>
            <a:noAutofit/>
          </a:bodyPr>
          <a:lstStyle/>
          <a:p>
            <a:pPr marL="0" indent="0">
              <a:buNone/>
            </a:pPr>
            <a:r>
              <a:rPr lang="en-IN" sz="1600" dirty="0"/>
              <a:t>using </a:t>
            </a:r>
            <a:r>
              <a:rPr lang="en-IN" sz="1600" dirty="0" err="1"/>
              <a:t>UnityEngine</a:t>
            </a:r>
            <a:r>
              <a:rPr lang="en-IN" sz="1600" dirty="0"/>
              <a:t>;</a:t>
            </a:r>
          </a:p>
          <a:p>
            <a:pPr marL="0" indent="0">
              <a:buNone/>
            </a:pPr>
            <a:r>
              <a:rPr lang="en-IN" sz="1600" dirty="0"/>
              <a:t>public class </a:t>
            </a:r>
            <a:r>
              <a:rPr lang="en-IN" sz="1600" dirty="0" err="1"/>
              <a:t>RaycastExample</a:t>
            </a:r>
            <a:r>
              <a:rPr lang="en-IN" sz="1600" dirty="0"/>
              <a:t> : </a:t>
            </a:r>
            <a:r>
              <a:rPr lang="en-IN" sz="1600" dirty="0" err="1"/>
              <a:t>MonoBehaviour</a:t>
            </a:r>
            <a:endParaRPr lang="en-IN" sz="1600" dirty="0"/>
          </a:p>
          <a:p>
            <a:pPr marL="0" indent="0">
              <a:buNone/>
            </a:pPr>
            <a:r>
              <a:rPr lang="en-IN" sz="1600" dirty="0"/>
              <a:t>{</a:t>
            </a:r>
          </a:p>
          <a:p>
            <a:pPr marL="0" indent="0">
              <a:buNone/>
            </a:pPr>
            <a:r>
              <a:rPr lang="en-IN" sz="1600" dirty="0"/>
              <a:t>void Update()</a:t>
            </a:r>
          </a:p>
          <a:p>
            <a:pPr marL="0" indent="0">
              <a:buNone/>
            </a:pPr>
            <a:r>
              <a:rPr lang="en-IN" sz="1600" dirty="0"/>
              <a:t>    {</a:t>
            </a:r>
          </a:p>
          <a:p>
            <a:pPr marL="0" indent="0">
              <a:buNone/>
            </a:pPr>
            <a:r>
              <a:rPr lang="en-IN" sz="1600" dirty="0"/>
              <a:t>        if (</a:t>
            </a:r>
            <a:r>
              <a:rPr lang="en-IN" sz="1600" dirty="0" err="1"/>
              <a:t>Input.GetMouseButtonDown</a:t>
            </a:r>
            <a:r>
              <a:rPr lang="en-IN" sz="1600" dirty="0"/>
              <a:t>(0)) // When left mouse is clicked</a:t>
            </a:r>
          </a:p>
          <a:p>
            <a:pPr marL="0" indent="0">
              <a:buNone/>
            </a:pPr>
            <a:r>
              <a:rPr lang="en-IN" sz="1600" dirty="0"/>
              <a:t>        {</a:t>
            </a:r>
          </a:p>
          <a:p>
            <a:pPr marL="0" indent="0">
              <a:buNone/>
            </a:pPr>
            <a:r>
              <a:rPr lang="en-IN" sz="1600" dirty="0"/>
              <a:t>            // Create a ray from the camera to the mouse position</a:t>
            </a:r>
          </a:p>
          <a:p>
            <a:pPr marL="0" indent="0">
              <a:buNone/>
            </a:pPr>
            <a:r>
              <a:rPr lang="en-IN" sz="1600" dirty="0"/>
              <a:t>            Ray </a:t>
            </a:r>
            <a:r>
              <a:rPr lang="en-IN" sz="1600" dirty="0" err="1"/>
              <a:t>ray</a:t>
            </a:r>
            <a:r>
              <a:rPr lang="en-IN" sz="1600" dirty="0"/>
              <a:t> = </a:t>
            </a:r>
            <a:r>
              <a:rPr lang="en-IN" sz="1600" dirty="0" err="1"/>
              <a:t>Camera.main.ScreenPointToRay</a:t>
            </a:r>
            <a:r>
              <a:rPr lang="en-IN" sz="1600" dirty="0"/>
              <a:t>(</a:t>
            </a:r>
            <a:r>
              <a:rPr lang="en-IN" sz="1600" dirty="0" err="1"/>
              <a:t>Input.mousePosition</a:t>
            </a:r>
            <a:r>
              <a:rPr lang="en-IN" sz="1600" dirty="0"/>
              <a:t>);</a:t>
            </a:r>
          </a:p>
          <a:p>
            <a:pPr marL="0" indent="0">
              <a:buNone/>
            </a:pPr>
            <a:r>
              <a:rPr lang="en-IN" sz="1600" dirty="0"/>
              <a:t>            // </a:t>
            </a:r>
            <a:r>
              <a:rPr lang="en-IN" sz="1600" dirty="0" err="1"/>
              <a:t>Raycast</a:t>
            </a:r>
            <a:r>
              <a:rPr lang="en-IN" sz="1600" dirty="0"/>
              <a:t> and check if something was hit</a:t>
            </a:r>
          </a:p>
          <a:p>
            <a:pPr marL="0" indent="0">
              <a:buNone/>
            </a:pPr>
            <a:r>
              <a:rPr lang="en-IN" sz="1600" dirty="0"/>
              <a:t>            if (</a:t>
            </a:r>
            <a:r>
              <a:rPr lang="en-IN" sz="1600" dirty="0" err="1"/>
              <a:t>Physics.Raycast</a:t>
            </a:r>
            <a:r>
              <a:rPr lang="en-IN" sz="1600" dirty="0"/>
              <a:t>(ray, out </a:t>
            </a:r>
            <a:r>
              <a:rPr lang="en-IN" sz="1600" dirty="0" err="1"/>
              <a:t>RaycastHit</a:t>
            </a:r>
            <a:r>
              <a:rPr lang="en-IN" sz="1600" dirty="0"/>
              <a:t> </a:t>
            </a:r>
            <a:r>
              <a:rPr lang="en-IN" sz="1600" dirty="0" err="1"/>
              <a:t>hitInfo</a:t>
            </a:r>
            <a:r>
              <a:rPr lang="en-IN" sz="1600" dirty="0"/>
              <a:t>))</a:t>
            </a:r>
          </a:p>
          <a:p>
            <a:pPr marL="0" indent="0">
              <a:buNone/>
            </a:pPr>
            <a:r>
              <a:rPr lang="en-IN" sz="1600" dirty="0"/>
              <a:t>            {</a:t>
            </a:r>
          </a:p>
        </p:txBody>
      </p:sp>
      <p:sp>
        <p:nvSpPr>
          <p:cNvPr id="5" name="TextBox 4">
            <a:extLst>
              <a:ext uri="{FF2B5EF4-FFF2-40B4-BE49-F238E27FC236}">
                <a16:creationId xmlns:a16="http://schemas.microsoft.com/office/drawing/2014/main" id="{595CD0FF-C35F-842B-E4DB-39E05D4CB1A2}"/>
              </a:ext>
            </a:extLst>
          </p:cNvPr>
          <p:cNvSpPr txBox="1"/>
          <p:nvPr/>
        </p:nvSpPr>
        <p:spPr>
          <a:xfrm>
            <a:off x="6590899" y="1968560"/>
            <a:ext cx="5123046" cy="4031873"/>
          </a:xfrm>
          <a:prstGeom prst="rect">
            <a:avLst/>
          </a:prstGeom>
          <a:noFill/>
        </p:spPr>
        <p:txBody>
          <a:bodyPr wrap="square">
            <a:spAutoFit/>
          </a:bodyPr>
          <a:lstStyle/>
          <a:p>
            <a:r>
              <a:rPr lang="en-IN" sz="1600" dirty="0"/>
              <a:t>// Access </a:t>
            </a:r>
            <a:r>
              <a:rPr lang="en-IN" sz="1600" dirty="0" err="1"/>
              <a:t>hitInfo</a:t>
            </a:r>
            <a:r>
              <a:rPr lang="en-IN" sz="1600" dirty="0"/>
              <a:t> properties</a:t>
            </a:r>
          </a:p>
          <a:p>
            <a:r>
              <a:rPr lang="en-IN" sz="1600" dirty="0"/>
              <a:t>                </a:t>
            </a:r>
            <a:r>
              <a:rPr lang="en-IN" sz="1600" dirty="0" err="1"/>
              <a:t>Debug.Log</a:t>
            </a:r>
            <a:r>
              <a:rPr lang="en-IN" sz="1600" dirty="0"/>
              <a:t>("Object hit: " + hitInfo.collider.name);</a:t>
            </a:r>
          </a:p>
          <a:p>
            <a:r>
              <a:rPr lang="en-IN" sz="1600" dirty="0"/>
              <a:t>                </a:t>
            </a:r>
            <a:r>
              <a:rPr lang="en-IN" sz="1600" dirty="0" err="1"/>
              <a:t>Debug.Log</a:t>
            </a:r>
            <a:r>
              <a:rPr lang="en-IN" sz="1600" dirty="0"/>
              <a:t>("Hit point: " + </a:t>
            </a:r>
            <a:r>
              <a:rPr lang="en-IN" sz="1600" dirty="0" err="1"/>
              <a:t>hitInfo.point</a:t>
            </a:r>
            <a:r>
              <a:rPr lang="en-IN" sz="1600" dirty="0"/>
              <a:t>);</a:t>
            </a:r>
          </a:p>
          <a:p>
            <a:r>
              <a:rPr lang="en-IN" sz="1600" dirty="0"/>
              <a:t>                </a:t>
            </a:r>
            <a:r>
              <a:rPr lang="en-IN" sz="1600" dirty="0" err="1"/>
              <a:t>Debug.Log</a:t>
            </a:r>
            <a:r>
              <a:rPr lang="en-IN" sz="1600" dirty="0"/>
              <a:t>("Surface normal: " + </a:t>
            </a:r>
            <a:r>
              <a:rPr lang="en-IN" sz="1600" dirty="0" err="1"/>
              <a:t>hitInfo.normal</a:t>
            </a:r>
            <a:r>
              <a:rPr lang="en-IN" sz="1600" dirty="0"/>
              <a:t>);</a:t>
            </a:r>
          </a:p>
          <a:p>
            <a:r>
              <a:rPr lang="en-IN" sz="1600" dirty="0"/>
              <a:t>                </a:t>
            </a:r>
            <a:r>
              <a:rPr lang="en-IN" sz="1600" dirty="0" err="1"/>
              <a:t>Debug.Log</a:t>
            </a:r>
            <a:r>
              <a:rPr lang="en-IN" sz="1600" dirty="0"/>
              <a:t>("Distance from camera: " + </a:t>
            </a:r>
            <a:r>
              <a:rPr lang="en-IN" sz="1600" dirty="0" err="1"/>
              <a:t>hitInfo.distance</a:t>
            </a:r>
            <a:r>
              <a:rPr lang="en-IN" sz="1600" dirty="0"/>
              <a:t>);</a:t>
            </a:r>
          </a:p>
          <a:p>
            <a:endParaRPr lang="en-IN" sz="1600" dirty="0"/>
          </a:p>
          <a:p>
            <a:r>
              <a:rPr lang="en-IN" sz="1600" dirty="0"/>
              <a:t>                // Optional: move the object that was hit</a:t>
            </a:r>
          </a:p>
          <a:p>
            <a:r>
              <a:rPr lang="en-IN" sz="1600" dirty="0"/>
              <a:t>                if (</a:t>
            </a:r>
            <a:r>
              <a:rPr lang="en-IN" sz="1600" dirty="0" err="1"/>
              <a:t>hitInfo.rigidbody</a:t>
            </a:r>
            <a:r>
              <a:rPr lang="en-IN" sz="1600" dirty="0"/>
              <a:t> != null)</a:t>
            </a:r>
          </a:p>
          <a:p>
            <a:r>
              <a:rPr lang="en-IN" sz="1600" dirty="0"/>
              <a:t>                {</a:t>
            </a:r>
          </a:p>
          <a:p>
            <a:r>
              <a:rPr lang="en-IN" sz="1600" dirty="0"/>
              <a:t>                    </a:t>
            </a:r>
            <a:r>
              <a:rPr lang="en-IN" sz="1600" dirty="0" err="1"/>
              <a:t>hitInfo.rigidbody.AddForce</a:t>
            </a:r>
            <a:r>
              <a:rPr lang="en-IN" sz="1600" dirty="0"/>
              <a:t>(-</a:t>
            </a:r>
            <a:r>
              <a:rPr lang="en-IN" sz="1600" dirty="0" err="1"/>
              <a:t>hitInfo.normal</a:t>
            </a:r>
            <a:r>
              <a:rPr lang="en-IN" sz="1600" dirty="0"/>
              <a:t> * 5f, </a:t>
            </a:r>
            <a:r>
              <a:rPr lang="en-IN" sz="1600" dirty="0" err="1"/>
              <a:t>ForceMode.Impulse</a:t>
            </a:r>
            <a:r>
              <a:rPr lang="en-IN" sz="1600" dirty="0"/>
              <a:t>);</a:t>
            </a:r>
          </a:p>
          <a:p>
            <a:r>
              <a:rPr lang="en-IN" sz="1600" dirty="0"/>
              <a:t>                    </a:t>
            </a:r>
            <a:r>
              <a:rPr lang="en-IN" sz="1600" dirty="0" err="1"/>
              <a:t>Debug.Log</a:t>
            </a:r>
            <a:r>
              <a:rPr lang="en-IN" sz="1600" dirty="0"/>
              <a:t>("Applied force to: " + hitInfo.rigidbody.name);</a:t>
            </a:r>
          </a:p>
          <a:p>
            <a:r>
              <a:rPr lang="en-IN" sz="1600" dirty="0"/>
              <a:t>                }</a:t>
            </a:r>
          </a:p>
          <a:p>
            <a:r>
              <a:rPr lang="en-IN" sz="1600" dirty="0"/>
              <a:t> </a:t>
            </a:r>
          </a:p>
        </p:txBody>
      </p:sp>
    </p:spTree>
    <p:extLst>
      <p:ext uri="{BB962C8B-B14F-4D97-AF65-F5344CB8AC3E}">
        <p14:creationId xmlns:p14="http://schemas.microsoft.com/office/powerpoint/2010/main" val="265163760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08496"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graphicFrame>
        <p:nvGraphicFramePr>
          <p:cNvPr id="2" name="Table 1">
            <a:extLst>
              <a:ext uri="{FF2B5EF4-FFF2-40B4-BE49-F238E27FC236}">
                <a16:creationId xmlns:a16="http://schemas.microsoft.com/office/drawing/2014/main" id="{7C150BC0-D5B6-ACF0-0F5D-6C2C8F2DF2C4}"/>
              </a:ext>
            </a:extLst>
          </p:cNvPr>
          <p:cNvGraphicFramePr>
            <a:graphicFrameLocks noGrp="1"/>
          </p:cNvGraphicFramePr>
          <p:nvPr>
            <p:extLst>
              <p:ext uri="{D42A27DB-BD31-4B8C-83A1-F6EECF244321}">
                <p14:modId xmlns:p14="http://schemas.microsoft.com/office/powerpoint/2010/main" val="1918398061"/>
              </p:ext>
            </p:extLst>
          </p:nvPr>
        </p:nvGraphicFramePr>
        <p:xfrm>
          <a:off x="643467" y="813856"/>
          <a:ext cx="9240040" cy="5230293"/>
        </p:xfrm>
        <a:graphic>
          <a:graphicData uri="http://schemas.openxmlformats.org/drawingml/2006/table">
            <a:tbl>
              <a:tblPr>
                <a:tableStyleId>{775DCB02-9BB8-47FD-8907-85C794F793BA}</a:tableStyleId>
              </a:tblPr>
              <a:tblGrid>
                <a:gridCol w="3260159">
                  <a:extLst>
                    <a:ext uri="{9D8B030D-6E8A-4147-A177-3AD203B41FA5}">
                      <a16:colId xmlns:a16="http://schemas.microsoft.com/office/drawing/2014/main" val="1977243905"/>
                    </a:ext>
                  </a:extLst>
                </a:gridCol>
                <a:gridCol w="5979881">
                  <a:extLst>
                    <a:ext uri="{9D8B030D-6E8A-4147-A177-3AD203B41FA5}">
                      <a16:colId xmlns:a16="http://schemas.microsoft.com/office/drawing/2014/main" val="1459958031"/>
                    </a:ext>
                  </a:extLst>
                </a:gridCol>
              </a:tblGrid>
              <a:tr h="555877">
                <a:tc>
                  <a:txBody>
                    <a:bodyPr/>
                    <a:lstStyle/>
                    <a:p>
                      <a:r>
                        <a:rPr lang="en-IN" sz="2500"/>
                        <a:t>Code</a:t>
                      </a:r>
                    </a:p>
                  </a:txBody>
                  <a:tcPr marL="126336" marR="126336" marT="63168" marB="63168" anchor="ctr"/>
                </a:tc>
                <a:tc>
                  <a:txBody>
                    <a:bodyPr/>
                    <a:lstStyle/>
                    <a:p>
                      <a:r>
                        <a:rPr lang="en-IN" sz="2500"/>
                        <a:t>What it does</a:t>
                      </a:r>
                    </a:p>
                  </a:txBody>
                  <a:tcPr marL="126336" marR="126336" marT="63168" marB="63168" anchor="ctr"/>
                </a:tc>
                <a:extLst>
                  <a:ext uri="{0D108BD9-81ED-4DB2-BD59-A6C34878D82A}">
                    <a16:rowId xmlns:a16="http://schemas.microsoft.com/office/drawing/2014/main" val="127678278"/>
                  </a:ext>
                </a:extLst>
              </a:tr>
              <a:tr h="555877">
                <a:tc>
                  <a:txBody>
                    <a:bodyPr/>
                    <a:lstStyle/>
                    <a:p>
                      <a:r>
                        <a:rPr lang="en-IN" sz="2500"/>
                        <a:t>hitInfo.collider.name</a:t>
                      </a:r>
                    </a:p>
                  </a:txBody>
                  <a:tcPr marL="126336" marR="126336" marT="63168" marB="63168" anchor="ctr"/>
                </a:tc>
                <a:tc>
                  <a:txBody>
                    <a:bodyPr/>
                    <a:lstStyle/>
                    <a:p>
                      <a:r>
                        <a:rPr lang="en-US" sz="2500"/>
                        <a:t>Gets the </a:t>
                      </a:r>
                      <a:r>
                        <a:rPr lang="en-US" sz="2500" b="1"/>
                        <a:t>name of the object hit</a:t>
                      </a:r>
                      <a:r>
                        <a:rPr lang="en-US" sz="2500"/>
                        <a:t>.</a:t>
                      </a:r>
                    </a:p>
                  </a:txBody>
                  <a:tcPr marL="126336" marR="126336" marT="63168" marB="63168" anchor="ctr"/>
                </a:tc>
                <a:extLst>
                  <a:ext uri="{0D108BD9-81ED-4DB2-BD59-A6C34878D82A}">
                    <a16:rowId xmlns:a16="http://schemas.microsoft.com/office/drawing/2014/main" val="1979865430"/>
                  </a:ext>
                </a:extLst>
              </a:tr>
              <a:tr h="934883">
                <a:tc>
                  <a:txBody>
                    <a:bodyPr/>
                    <a:lstStyle/>
                    <a:p>
                      <a:r>
                        <a:rPr lang="en-IN" sz="2500"/>
                        <a:t>hitInfo.point</a:t>
                      </a:r>
                    </a:p>
                  </a:txBody>
                  <a:tcPr marL="126336" marR="126336" marT="63168" marB="63168" anchor="ctr"/>
                </a:tc>
                <a:tc>
                  <a:txBody>
                    <a:bodyPr/>
                    <a:lstStyle/>
                    <a:p>
                      <a:r>
                        <a:rPr lang="en-US" sz="2500"/>
                        <a:t>Gets the </a:t>
                      </a:r>
                      <a:r>
                        <a:rPr lang="en-US" sz="2500" b="1"/>
                        <a:t>exact position</a:t>
                      </a:r>
                      <a:r>
                        <a:rPr lang="en-US" sz="2500"/>
                        <a:t> in world space where the ray hit.</a:t>
                      </a:r>
                    </a:p>
                  </a:txBody>
                  <a:tcPr marL="126336" marR="126336" marT="63168" marB="63168" anchor="ctr"/>
                </a:tc>
                <a:extLst>
                  <a:ext uri="{0D108BD9-81ED-4DB2-BD59-A6C34878D82A}">
                    <a16:rowId xmlns:a16="http://schemas.microsoft.com/office/drawing/2014/main" val="869025038"/>
                  </a:ext>
                </a:extLst>
              </a:tr>
              <a:tr h="1313890">
                <a:tc>
                  <a:txBody>
                    <a:bodyPr/>
                    <a:lstStyle/>
                    <a:p>
                      <a:r>
                        <a:rPr lang="en-IN" sz="2500" dirty="0" err="1"/>
                        <a:t>hitInfo.normal</a:t>
                      </a:r>
                      <a:endParaRPr lang="en-IN" sz="2500" dirty="0"/>
                    </a:p>
                  </a:txBody>
                  <a:tcPr marL="126336" marR="126336" marT="63168" marB="63168" anchor="ctr"/>
                </a:tc>
                <a:tc>
                  <a:txBody>
                    <a:bodyPr/>
                    <a:lstStyle/>
                    <a:p>
                      <a:r>
                        <a:rPr lang="en-US" sz="2500"/>
                        <a:t>Gets the </a:t>
                      </a:r>
                      <a:r>
                        <a:rPr lang="en-US" sz="2500" b="1"/>
                        <a:t>normal vector</a:t>
                      </a:r>
                      <a:r>
                        <a:rPr lang="en-US" sz="2500"/>
                        <a:t> of the surface hit (used for physics effects or aligning objects).</a:t>
                      </a:r>
                    </a:p>
                  </a:txBody>
                  <a:tcPr marL="126336" marR="126336" marT="63168" marB="63168" anchor="ctr"/>
                </a:tc>
                <a:extLst>
                  <a:ext uri="{0D108BD9-81ED-4DB2-BD59-A6C34878D82A}">
                    <a16:rowId xmlns:a16="http://schemas.microsoft.com/office/drawing/2014/main" val="2476028526"/>
                  </a:ext>
                </a:extLst>
              </a:tr>
              <a:tr h="934883">
                <a:tc>
                  <a:txBody>
                    <a:bodyPr/>
                    <a:lstStyle/>
                    <a:p>
                      <a:r>
                        <a:rPr lang="en-IN" sz="2500"/>
                        <a:t>hitInfo.distance</a:t>
                      </a:r>
                    </a:p>
                  </a:txBody>
                  <a:tcPr marL="126336" marR="126336" marT="63168" marB="63168" anchor="ctr"/>
                </a:tc>
                <a:tc>
                  <a:txBody>
                    <a:bodyPr/>
                    <a:lstStyle/>
                    <a:p>
                      <a:r>
                        <a:rPr lang="en-US" sz="2500"/>
                        <a:t>Gets the </a:t>
                      </a:r>
                      <a:r>
                        <a:rPr lang="en-US" sz="2500" b="1"/>
                        <a:t>distance</a:t>
                      </a:r>
                      <a:r>
                        <a:rPr lang="en-US" sz="2500"/>
                        <a:t> from the ray origin to the hit point.</a:t>
                      </a:r>
                    </a:p>
                  </a:txBody>
                  <a:tcPr marL="126336" marR="126336" marT="63168" marB="63168" anchor="ctr"/>
                </a:tc>
                <a:extLst>
                  <a:ext uri="{0D108BD9-81ED-4DB2-BD59-A6C34878D82A}">
                    <a16:rowId xmlns:a16="http://schemas.microsoft.com/office/drawing/2014/main" val="3639262458"/>
                  </a:ext>
                </a:extLst>
              </a:tr>
              <a:tr h="934883">
                <a:tc>
                  <a:txBody>
                    <a:bodyPr/>
                    <a:lstStyle/>
                    <a:p>
                      <a:r>
                        <a:rPr lang="en-IN" sz="2500"/>
                        <a:t>hitInfo.rigidbody</a:t>
                      </a:r>
                    </a:p>
                  </a:txBody>
                  <a:tcPr marL="126336" marR="126336" marT="63168" marB="63168" anchor="ctr"/>
                </a:tc>
                <a:tc>
                  <a:txBody>
                    <a:bodyPr/>
                    <a:lstStyle/>
                    <a:p>
                      <a:r>
                        <a:rPr lang="en-US" sz="2500"/>
                        <a:t>If the object has a Rigidbody, you can interact with it using physics.</a:t>
                      </a:r>
                    </a:p>
                  </a:txBody>
                  <a:tcPr marL="126336" marR="126336" marT="63168" marB="63168" anchor="ctr"/>
                </a:tc>
                <a:extLst>
                  <a:ext uri="{0D108BD9-81ED-4DB2-BD59-A6C34878D82A}">
                    <a16:rowId xmlns:a16="http://schemas.microsoft.com/office/drawing/2014/main" val="2188628593"/>
                  </a:ext>
                </a:extLst>
              </a:tr>
            </a:tbl>
          </a:graphicData>
        </a:graphic>
      </p:graphicFrame>
    </p:spTree>
    <p:extLst>
      <p:ext uri="{BB962C8B-B14F-4D97-AF65-F5344CB8AC3E}">
        <p14:creationId xmlns:p14="http://schemas.microsoft.com/office/powerpoint/2010/main" val="291576623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97F4-7494-25D2-87BD-E1B1F25A1D77}"/>
              </a:ext>
            </a:extLst>
          </p:cNvPr>
          <p:cNvSpPr>
            <a:spLocks noGrp="1"/>
          </p:cNvSpPr>
          <p:nvPr>
            <p:ph type="title"/>
          </p:nvPr>
        </p:nvSpPr>
        <p:spPr>
          <a:xfrm>
            <a:off x="838200" y="365125"/>
            <a:ext cx="8173720" cy="539115"/>
          </a:xfrm>
        </p:spPr>
        <p:txBody>
          <a:bodyPr>
            <a:normAutofit fontScale="90000"/>
          </a:bodyPr>
          <a:lstStyle/>
          <a:p>
            <a:r>
              <a:rPr lang="en-US" dirty="0"/>
              <a:t>Example For Touch </a:t>
            </a:r>
            <a:endParaRPr lang="en-IN" dirty="0"/>
          </a:p>
        </p:txBody>
      </p:sp>
      <p:sp>
        <p:nvSpPr>
          <p:cNvPr id="5" name="TextBox 4">
            <a:extLst>
              <a:ext uri="{FF2B5EF4-FFF2-40B4-BE49-F238E27FC236}">
                <a16:creationId xmlns:a16="http://schemas.microsoft.com/office/drawing/2014/main" id="{BC4C8AF7-3369-EBE2-4F14-AC5B27831CDE}"/>
              </a:ext>
            </a:extLst>
          </p:cNvPr>
          <p:cNvSpPr txBox="1"/>
          <p:nvPr/>
        </p:nvSpPr>
        <p:spPr>
          <a:xfrm>
            <a:off x="7172960" y="1137563"/>
            <a:ext cx="5019040" cy="5355312"/>
          </a:xfrm>
          <a:prstGeom prst="rect">
            <a:avLst/>
          </a:prstGeom>
          <a:noFill/>
        </p:spPr>
        <p:txBody>
          <a:bodyPr wrap="square">
            <a:spAutoFit/>
          </a:bodyPr>
          <a:lstStyle/>
          <a:p>
            <a:r>
              <a:rPr lang="en-IN" dirty="0"/>
              <a:t>if (</a:t>
            </a:r>
            <a:r>
              <a:rPr lang="en-IN" dirty="0" err="1"/>
              <a:t>Physics.Raycast</a:t>
            </a:r>
            <a:r>
              <a:rPr lang="en-IN" dirty="0"/>
              <a:t>(ray, out </a:t>
            </a:r>
            <a:r>
              <a:rPr lang="en-IN" dirty="0" err="1"/>
              <a:t>RaycastHit</a:t>
            </a:r>
            <a:r>
              <a:rPr lang="en-IN" dirty="0"/>
              <a:t> </a:t>
            </a:r>
            <a:r>
              <a:rPr lang="en-IN" dirty="0" err="1"/>
              <a:t>hitInfo</a:t>
            </a:r>
            <a:r>
              <a:rPr lang="en-IN" dirty="0"/>
              <a:t>))</a:t>
            </a:r>
          </a:p>
          <a:p>
            <a:r>
              <a:rPr lang="en-IN" dirty="0"/>
              <a:t>                {</a:t>
            </a:r>
          </a:p>
          <a:p>
            <a:r>
              <a:rPr lang="en-IN" dirty="0"/>
              <a:t>                    </a:t>
            </a:r>
            <a:r>
              <a:rPr lang="en-IN" dirty="0" err="1"/>
              <a:t>Debug.Log</a:t>
            </a:r>
            <a:r>
              <a:rPr lang="en-IN" dirty="0"/>
              <a:t>("Touched object: " + hitInfo.collider.name);</a:t>
            </a:r>
          </a:p>
          <a:p>
            <a:r>
              <a:rPr lang="en-IN" dirty="0"/>
              <a:t>                    </a:t>
            </a:r>
            <a:r>
              <a:rPr lang="en-IN" dirty="0" err="1"/>
              <a:t>Debug.Log</a:t>
            </a:r>
            <a:r>
              <a:rPr lang="en-IN" dirty="0"/>
              <a:t>("Hit point: " + </a:t>
            </a:r>
            <a:r>
              <a:rPr lang="en-IN" dirty="0" err="1"/>
              <a:t>hitInfo.point</a:t>
            </a:r>
            <a:r>
              <a:rPr lang="en-IN" dirty="0"/>
              <a:t>);</a:t>
            </a:r>
          </a:p>
          <a:p>
            <a:r>
              <a:rPr lang="en-IN" dirty="0"/>
              <a:t>                    </a:t>
            </a:r>
            <a:r>
              <a:rPr lang="en-IN" dirty="0" err="1"/>
              <a:t>Debug.Log</a:t>
            </a:r>
            <a:r>
              <a:rPr lang="en-IN" dirty="0"/>
              <a:t>("Surface normal: " + </a:t>
            </a:r>
            <a:r>
              <a:rPr lang="en-IN" dirty="0" err="1"/>
              <a:t>hitInfo.normal</a:t>
            </a:r>
            <a:r>
              <a:rPr lang="en-IN" dirty="0"/>
              <a:t>);</a:t>
            </a:r>
          </a:p>
          <a:p>
            <a:r>
              <a:rPr lang="en-IN" dirty="0"/>
              <a:t>                    </a:t>
            </a:r>
            <a:r>
              <a:rPr lang="en-IN" dirty="0" err="1"/>
              <a:t>Debug.Log</a:t>
            </a:r>
            <a:r>
              <a:rPr lang="en-IN" dirty="0"/>
              <a:t>("Distance from camera: " + </a:t>
            </a:r>
            <a:r>
              <a:rPr lang="en-IN" dirty="0" err="1"/>
              <a:t>hitInfo.distance</a:t>
            </a:r>
            <a:r>
              <a:rPr lang="en-IN" dirty="0"/>
              <a:t>);</a:t>
            </a:r>
          </a:p>
          <a:p>
            <a:endParaRPr lang="en-IN" dirty="0"/>
          </a:p>
          <a:p>
            <a:r>
              <a:rPr lang="en-IN" dirty="0"/>
              <a:t>                    // Apply force if </a:t>
            </a:r>
            <a:r>
              <a:rPr lang="en-IN" dirty="0" err="1"/>
              <a:t>Rigidbody</a:t>
            </a:r>
            <a:r>
              <a:rPr lang="en-IN" dirty="0"/>
              <a:t> is attached</a:t>
            </a:r>
          </a:p>
          <a:p>
            <a:r>
              <a:rPr lang="en-IN" dirty="0"/>
              <a:t>                    if (</a:t>
            </a:r>
            <a:r>
              <a:rPr lang="en-IN" dirty="0" err="1"/>
              <a:t>hitInfo.rigidbody</a:t>
            </a:r>
            <a:r>
              <a:rPr lang="en-IN" dirty="0"/>
              <a:t> != null)</a:t>
            </a:r>
          </a:p>
          <a:p>
            <a:r>
              <a:rPr lang="en-IN" dirty="0"/>
              <a:t>                    {</a:t>
            </a:r>
          </a:p>
          <a:p>
            <a:r>
              <a:rPr lang="en-IN" dirty="0"/>
              <a:t>                        </a:t>
            </a:r>
            <a:r>
              <a:rPr lang="en-IN" dirty="0" err="1"/>
              <a:t>hitInfo.rigidbody.AddForce</a:t>
            </a:r>
            <a:r>
              <a:rPr lang="en-IN" dirty="0"/>
              <a:t>(-</a:t>
            </a:r>
            <a:r>
              <a:rPr lang="en-IN" dirty="0" err="1"/>
              <a:t>hitInfo.normal</a:t>
            </a:r>
            <a:r>
              <a:rPr lang="en-IN" dirty="0"/>
              <a:t> * 5f, </a:t>
            </a:r>
            <a:r>
              <a:rPr lang="en-IN" dirty="0" err="1"/>
              <a:t>ForceMode.Impulse</a:t>
            </a:r>
            <a:r>
              <a:rPr lang="en-IN" dirty="0"/>
              <a:t>);</a:t>
            </a:r>
          </a:p>
          <a:p>
            <a:r>
              <a:rPr lang="en-IN" dirty="0"/>
              <a:t>                        </a:t>
            </a:r>
            <a:r>
              <a:rPr lang="en-IN" dirty="0" err="1"/>
              <a:t>Debug.Log</a:t>
            </a:r>
            <a:r>
              <a:rPr lang="en-IN" dirty="0"/>
              <a:t>("Applied force to: " + hitInfo.rigidbody.name);</a:t>
            </a:r>
          </a:p>
          <a:p>
            <a:r>
              <a:rPr lang="en-IN" dirty="0"/>
              <a:t>                    }</a:t>
            </a:r>
          </a:p>
          <a:p>
            <a:r>
              <a:rPr lang="en-IN" dirty="0"/>
              <a:t>                </a:t>
            </a:r>
          </a:p>
        </p:txBody>
      </p:sp>
      <p:sp>
        <p:nvSpPr>
          <p:cNvPr id="9" name="TextBox 8">
            <a:extLst>
              <a:ext uri="{FF2B5EF4-FFF2-40B4-BE49-F238E27FC236}">
                <a16:creationId xmlns:a16="http://schemas.microsoft.com/office/drawing/2014/main" id="{FA63618E-08F0-D386-4E2B-B6110926CB3D}"/>
              </a:ext>
            </a:extLst>
          </p:cNvPr>
          <p:cNvSpPr txBox="1"/>
          <p:nvPr/>
        </p:nvSpPr>
        <p:spPr>
          <a:xfrm>
            <a:off x="274320" y="904240"/>
            <a:ext cx="6990080" cy="5078313"/>
          </a:xfrm>
          <a:prstGeom prst="rect">
            <a:avLst/>
          </a:prstGeom>
          <a:noFill/>
        </p:spPr>
        <p:txBody>
          <a:bodyPr wrap="square">
            <a:spAutoFit/>
          </a:bodyPr>
          <a:lstStyle/>
          <a:p>
            <a:r>
              <a:rPr lang="en-IN" dirty="0"/>
              <a:t>public class </a:t>
            </a:r>
            <a:r>
              <a:rPr lang="en-IN" dirty="0" err="1"/>
              <a:t>TouchRaycastExample</a:t>
            </a:r>
            <a:r>
              <a:rPr lang="en-IN" dirty="0"/>
              <a:t> : </a:t>
            </a:r>
            <a:r>
              <a:rPr lang="en-IN" dirty="0" err="1"/>
              <a:t>MonoBehaviour</a:t>
            </a:r>
            <a:endParaRPr lang="en-IN" dirty="0"/>
          </a:p>
          <a:p>
            <a:r>
              <a:rPr lang="en-IN" dirty="0"/>
              <a:t>{</a:t>
            </a:r>
          </a:p>
          <a:p>
            <a:r>
              <a:rPr lang="en-IN" dirty="0"/>
              <a:t>    void Update()</a:t>
            </a:r>
          </a:p>
          <a:p>
            <a:r>
              <a:rPr lang="en-IN" dirty="0"/>
              <a:t>    {</a:t>
            </a:r>
          </a:p>
          <a:p>
            <a:r>
              <a:rPr lang="en-IN" dirty="0"/>
              <a:t>        // Check if there is at least one touch</a:t>
            </a:r>
          </a:p>
          <a:p>
            <a:r>
              <a:rPr lang="en-IN" dirty="0"/>
              <a:t>        if (</a:t>
            </a:r>
            <a:r>
              <a:rPr lang="en-IN" dirty="0" err="1"/>
              <a:t>Input.touchCount</a:t>
            </a:r>
            <a:r>
              <a:rPr lang="en-IN" dirty="0"/>
              <a:t> &gt; 0)</a:t>
            </a:r>
          </a:p>
          <a:p>
            <a:r>
              <a:rPr lang="en-IN" dirty="0"/>
              <a:t>        {</a:t>
            </a:r>
          </a:p>
          <a:p>
            <a:r>
              <a:rPr lang="en-IN" dirty="0"/>
              <a:t>            // Get the first touch (you can extend for multi-touch if needed)</a:t>
            </a:r>
          </a:p>
          <a:p>
            <a:r>
              <a:rPr lang="en-IN" dirty="0"/>
              <a:t>            Touch </a:t>
            </a:r>
            <a:r>
              <a:rPr lang="en-IN" dirty="0" err="1"/>
              <a:t>touch</a:t>
            </a:r>
            <a:r>
              <a:rPr lang="en-IN" dirty="0"/>
              <a:t> = </a:t>
            </a:r>
            <a:r>
              <a:rPr lang="en-IN" dirty="0" err="1"/>
              <a:t>Input.GetTouch</a:t>
            </a:r>
            <a:r>
              <a:rPr lang="en-IN" dirty="0"/>
              <a:t>(0);</a:t>
            </a:r>
          </a:p>
          <a:p>
            <a:endParaRPr lang="en-IN" dirty="0"/>
          </a:p>
          <a:p>
            <a:r>
              <a:rPr lang="en-IN" dirty="0"/>
              <a:t>            // Check if this touch just began (like a click)</a:t>
            </a:r>
          </a:p>
          <a:p>
            <a:r>
              <a:rPr lang="en-IN" dirty="0"/>
              <a:t>            if (</a:t>
            </a:r>
            <a:r>
              <a:rPr lang="en-IN" dirty="0" err="1"/>
              <a:t>touch.phase</a:t>
            </a:r>
            <a:r>
              <a:rPr lang="en-IN" dirty="0"/>
              <a:t> == </a:t>
            </a:r>
            <a:r>
              <a:rPr lang="en-IN" dirty="0" err="1"/>
              <a:t>TouchPhase.Began</a:t>
            </a:r>
            <a:r>
              <a:rPr lang="en-IN" dirty="0"/>
              <a:t>)</a:t>
            </a:r>
          </a:p>
          <a:p>
            <a:r>
              <a:rPr lang="en-IN" dirty="0"/>
              <a:t>            {</a:t>
            </a:r>
          </a:p>
          <a:p>
            <a:r>
              <a:rPr lang="en-IN" dirty="0"/>
              <a:t>                // Create a ray from the camera to the touch position on screen</a:t>
            </a:r>
          </a:p>
          <a:p>
            <a:r>
              <a:rPr lang="en-IN" dirty="0"/>
              <a:t>                Ray </a:t>
            </a:r>
            <a:r>
              <a:rPr lang="en-IN" dirty="0" err="1"/>
              <a:t>ray</a:t>
            </a:r>
            <a:r>
              <a:rPr lang="en-IN" dirty="0"/>
              <a:t> = </a:t>
            </a:r>
            <a:r>
              <a:rPr lang="en-IN" dirty="0" err="1"/>
              <a:t>Camera.main.ScreenPointToRay</a:t>
            </a:r>
            <a:r>
              <a:rPr lang="en-IN" dirty="0"/>
              <a:t>(</a:t>
            </a:r>
            <a:r>
              <a:rPr lang="en-IN" dirty="0" err="1"/>
              <a:t>touch.position</a:t>
            </a:r>
            <a:r>
              <a:rPr lang="en-IN" dirty="0"/>
              <a:t>);</a:t>
            </a:r>
          </a:p>
          <a:p>
            <a:endParaRPr lang="en-IN" dirty="0"/>
          </a:p>
          <a:p>
            <a:r>
              <a:rPr lang="en-IN" dirty="0"/>
              <a:t>                // Cast the ray and check if it hits something</a:t>
            </a:r>
          </a:p>
        </p:txBody>
      </p:sp>
    </p:spTree>
    <p:extLst>
      <p:ext uri="{BB962C8B-B14F-4D97-AF65-F5344CB8AC3E}">
        <p14:creationId xmlns:p14="http://schemas.microsoft.com/office/powerpoint/2010/main" val="179892465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D205E-F312-6381-EADC-62D23C753F79}"/>
              </a:ext>
            </a:extLst>
          </p:cNvPr>
          <p:cNvSpPr>
            <a:spLocks noGrp="1"/>
          </p:cNvSpPr>
          <p:nvPr>
            <p:ph type="title"/>
          </p:nvPr>
        </p:nvSpPr>
        <p:spPr/>
        <p:txBody>
          <a:bodyPr/>
          <a:lstStyle/>
          <a:p>
            <a:r>
              <a:rPr lang="en-US" dirty="0"/>
              <a:t>How to Debug </a:t>
            </a:r>
            <a:r>
              <a:rPr lang="en-IN" dirty="0" err="1"/>
              <a:t>raycasts</a:t>
            </a:r>
            <a:endParaRPr lang="en-IN" dirty="0"/>
          </a:p>
        </p:txBody>
      </p:sp>
      <p:sp>
        <p:nvSpPr>
          <p:cNvPr id="3" name="Content Placeholder 2">
            <a:extLst>
              <a:ext uri="{FF2B5EF4-FFF2-40B4-BE49-F238E27FC236}">
                <a16:creationId xmlns:a16="http://schemas.microsoft.com/office/drawing/2014/main" id="{78512D1E-78BC-CA38-30AA-FAD3A4709AE3}"/>
              </a:ext>
            </a:extLst>
          </p:cNvPr>
          <p:cNvSpPr>
            <a:spLocks noGrp="1"/>
          </p:cNvSpPr>
          <p:nvPr>
            <p:ph idx="1"/>
          </p:nvPr>
        </p:nvSpPr>
        <p:spPr/>
        <p:txBody>
          <a:bodyPr/>
          <a:lstStyle/>
          <a:p>
            <a:r>
              <a:rPr lang="en-US" dirty="0"/>
              <a:t>By using </a:t>
            </a:r>
            <a:r>
              <a:rPr lang="en-US" dirty="0" err="1"/>
              <a:t>Debug.Drawray</a:t>
            </a:r>
            <a:r>
              <a:rPr lang="en-US" dirty="0"/>
              <a:t>()</a:t>
            </a:r>
          </a:p>
          <a:p>
            <a:r>
              <a:rPr lang="en-US" dirty="0" err="1"/>
              <a:t>Debug.DrawRay</a:t>
            </a:r>
            <a:r>
              <a:rPr lang="en-US" dirty="0"/>
              <a:t> draws a visible line (ray) in the Scene view (not in the Game view).</a:t>
            </a:r>
          </a:p>
          <a:p>
            <a:r>
              <a:rPr lang="en-US" dirty="0"/>
              <a:t>Syntax:-</a:t>
            </a:r>
          </a:p>
          <a:p>
            <a:pPr lvl="1"/>
            <a:r>
              <a:rPr lang="en-US" dirty="0" err="1">
                <a:solidFill>
                  <a:srgbClr val="FF0000"/>
                </a:solidFill>
              </a:rPr>
              <a:t>Debug.DrawRay</a:t>
            </a:r>
            <a:r>
              <a:rPr lang="en-US" dirty="0">
                <a:solidFill>
                  <a:srgbClr val="FF0000"/>
                </a:solidFill>
              </a:rPr>
              <a:t>(Vector3 </a:t>
            </a:r>
            <a:r>
              <a:rPr lang="en-US" dirty="0" err="1">
                <a:solidFill>
                  <a:srgbClr val="FF0000"/>
                </a:solidFill>
              </a:rPr>
              <a:t>startPosition</a:t>
            </a:r>
            <a:r>
              <a:rPr lang="en-US" dirty="0">
                <a:solidFill>
                  <a:srgbClr val="FF0000"/>
                </a:solidFill>
              </a:rPr>
              <a:t>, Vector3 direction, Color </a:t>
            </a:r>
            <a:r>
              <a:rPr lang="en-US" dirty="0" err="1">
                <a:solidFill>
                  <a:srgbClr val="FF0000"/>
                </a:solidFill>
              </a:rPr>
              <a:t>color</a:t>
            </a:r>
            <a:r>
              <a:rPr lang="en-US" dirty="0">
                <a:solidFill>
                  <a:srgbClr val="FF0000"/>
                </a:solidFill>
              </a:rPr>
              <a:t>, float duration = 0, bool </a:t>
            </a:r>
            <a:r>
              <a:rPr lang="en-US" dirty="0" err="1">
                <a:solidFill>
                  <a:srgbClr val="FF0000"/>
                </a:solidFill>
              </a:rPr>
              <a:t>depthTest</a:t>
            </a:r>
            <a:r>
              <a:rPr lang="en-US" dirty="0">
                <a:solidFill>
                  <a:srgbClr val="FF0000"/>
                </a:solidFill>
              </a:rPr>
              <a:t> = true);</a:t>
            </a:r>
          </a:p>
          <a:p>
            <a:pPr lvl="1"/>
            <a:r>
              <a:rPr lang="en-US" dirty="0"/>
              <a:t>We can Find </a:t>
            </a:r>
            <a:r>
              <a:rPr lang="en-US" dirty="0" err="1"/>
              <a:t>StartPosition</a:t>
            </a:r>
            <a:r>
              <a:rPr lang="en-US" dirty="0"/>
              <a:t> </a:t>
            </a:r>
            <a:r>
              <a:rPr lang="en-US" dirty="0">
                <a:sym typeface="Wingdings" panose="05000000000000000000" pitchFamily="2" charset="2"/>
              </a:rPr>
              <a:t> </a:t>
            </a:r>
            <a:r>
              <a:rPr lang="en-US" dirty="0" err="1">
                <a:solidFill>
                  <a:srgbClr val="FF0000"/>
                </a:solidFill>
                <a:sym typeface="Wingdings" panose="05000000000000000000" pitchFamily="2" charset="2"/>
              </a:rPr>
              <a:t>ray.origin</a:t>
            </a:r>
            <a:r>
              <a:rPr lang="en-US" dirty="0">
                <a:solidFill>
                  <a:srgbClr val="FF0000"/>
                </a:solidFill>
                <a:sym typeface="Wingdings" panose="05000000000000000000" pitchFamily="2" charset="2"/>
              </a:rPr>
              <a:t> </a:t>
            </a:r>
          </a:p>
          <a:p>
            <a:pPr lvl="1"/>
            <a:r>
              <a:rPr lang="en-US" dirty="0">
                <a:sym typeface="Wingdings" panose="05000000000000000000" pitchFamily="2" charset="2"/>
              </a:rPr>
              <a:t>For direction </a:t>
            </a:r>
            <a:r>
              <a:rPr lang="en-US" dirty="0" err="1">
                <a:solidFill>
                  <a:srgbClr val="FF0000"/>
                </a:solidFill>
                <a:sym typeface="Wingdings" panose="05000000000000000000" pitchFamily="2" charset="2"/>
              </a:rPr>
              <a:t>ray.direction</a:t>
            </a:r>
            <a:endParaRPr lang="en-US" dirty="0">
              <a:solidFill>
                <a:srgbClr val="FF0000"/>
              </a:solidFill>
              <a:sym typeface="Wingdings" panose="05000000000000000000" pitchFamily="2" charset="2"/>
            </a:endParaRPr>
          </a:p>
          <a:p>
            <a:pPr lvl="1"/>
            <a:r>
              <a:rPr lang="en-US" dirty="0">
                <a:sym typeface="Wingdings" panose="05000000000000000000" pitchFamily="2" charset="2"/>
              </a:rPr>
              <a:t>And We can also give color </a:t>
            </a:r>
            <a:r>
              <a:rPr lang="en-US" dirty="0" err="1">
                <a:solidFill>
                  <a:srgbClr val="FF0000"/>
                </a:solidFill>
                <a:sym typeface="Wingdings" panose="05000000000000000000" pitchFamily="2" charset="2"/>
              </a:rPr>
              <a:t>Color.red</a:t>
            </a:r>
            <a:endParaRPr lang="en-US" dirty="0">
              <a:solidFill>
                <a:srgbClr val="FF0000"/>
              </a:solidFill>
              <a:sym typeface="Wingdings" panose="05000000000000000000" pitchFamily="2" charset="2"/>
            </a:endParaRPr>
          </a:p>
          <a:p>
            <a:pPr lvl="1"/>
            <a:endParaRPr lang="en-US" dirty="0"/>
          </a:p>
          <a:p>
            <a:endParaRPr lang="en-IN" dirty="0"/>
          </a:p>
        </p:txBody>
      </p:sp>
    </p:spTree>
    <p:extLst>
      <p:ext uri="{BB962C8B-B14F-4D97-AF65-F5344CB8AC3E}">
        <p14:creationId xmlns:p14="http://schemas.microsoft.com/office/powerpoint/2010/main" val="96808717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FE7E-AB6F-1029-714E-BBF9F85BCFBF}"/>
              </a:ext>
            </a:extLst>
          </p:cNvPr>
          <p:cNvSpPr>
            <a:spLocks noGrp="1"/>
          </p:cNvSpPr>
          <p:nvPr>
            <p:ph type="title"/>
          </p:nvPr>
        </p:nvSpPr>
        <p:spPr>
          <a:xfrm>
            <a:off x="838200" y="365125"/>
            <a:ext cx="10642600" cy="1677035"/>
          </a:xfrm>
        </p:spPr>
        <p:txBody>
          <a:bodyPr>
            <a:normAutofit fontScale="90000"/>
          </a:bodyPr>
          <a:lstStyle/>
          <a:p>
            <a:r>
              <a:rPr lang="en-US" dirty="0"/>
              <a:t>Difference Between  </a:t>
            </a:r>
            <a:r>
              <a:rPr lang="en-IN" dirty="0" err="1"/>
              <a:t>ScreenToWorldPoint</a:t>
            </a:r>
            <a:r>
              <a:rPr lang="en-IN" dirty="0"/>
              <a:t>(Vector3)</a:t>
            </a:r>
            <a:br>
              <a:rPr lang="en-IN" dirty="0"/>
            </a:br>
            <a:r>
              <a:rPr lang="en-IN" dirty="0"/>
              <a:t> and  </a:t>
            </a:r>
            <a:r>
              <a:rPr lang="en-IN" dirty="0" err="1"/>
              <a:t>ScreenPointToRay</a:t>
            </a:r>
            <a:r>
              <a:rPr lang="en-IN" dirty="0"/>
              <a:t>(Vector3)</a:t>
            </a:r>
            <a:br>
              <a:rPr lang="en-IN" dirty="0"/>
            </a:br>
            <a:endParaRPr lang="en-IN" dirty="0"/>
          </a:p>
        </p:txBody>
      </p:sp>
      <p:graphicFrame>
        <p:nvGraphicFramePr>
          <p:cNvPr id="4" name="Content Placeholder 3">
            <a:extLst>
              <a:ext uri="{FF2B5EF4-FFF2-40B4-BE49-F238E27FC236}">
                <a16:creationId xmlns:a16="http://schemas.microsoft.com/office/drawing/2014/main" id="{52EF3817-0A73-BAD2-2293-7C1E3B6BE58B}"/>
              </a:ext>
            </a:extLst>
          </p:cNvPr>
          <p:cNvGraphicFramePr>
            <a:graphicFrameLocks noGrp="1"/>
          </p:cNvGraphicFramePr>
          <p:nvPr>
            <p:ph idx="1"/>
            <p:extLst>
              <p:ext uri="{D42A27DB-BD31-4B8C-83A1-F6EECF244321}">
                <p14:modId xmlns:p14="http://schemas.microsoft.com/office/powerpoint/2010/main" val="1987693084"/>
              </p:ext>
            </p:extLst>
          </p:nvPr>
        </p:nvGraphicFramePr>
        <p:xfrm>
          <a:off x="711200" y="2194560"/>
          <a:ext cx="10642600" cy="3041174"/>
        </p:xfrm>
        <a:graphic>
          <a:graphicData uri="http://schemas.openxmlformats.org/drawingml/2006/table">
            <a:tbl>
              <a:tblPr>
                <a:tableStyleId>{775DCB02-9BB8-47FD-8907-85C794F793BA}</a:tableStyleId>
              </a:tblPr>
              <a:tblGrid>
                <a:gridCol w="2660650">
                  <a:extLst>
                    <a:ext uri="{9D8B030D-6E8A-4147-A177-3AD203B41FA5}">
                      <a16:colId xmlns:a16="http://schemas.microsoft.com/office/drawing/2014/main" val="296842251"/>
                    </a:ext>
                  </a:extLst>
                </a:gridCol>
                <a:gridCol w="2660650">
                  <a:extLst>
                    <a:ext uri="{9D8B030D-6E8A-4147-A177-3AD203B41FA5}">
                      <a16:colId xmlns:a16="http://schemas.microsoft.com/office/drawing/2014/main" val="2586990353"/>
                    </a:ext>
                  </a:extLst>
                </a:gridCol>
                <a:gridCol w="2660650">
                  <a:extLst>
                    <a:ext uri="{9D8B030D-6E8A-4147-A177-3AD203B41FA5}">
                      <a16:colId xmlns:a16="http://schemas.microsoft.com/office/drawing/2014/main" val="4032639812"/>
                    </a:ext>
                  </a:extLst>
                </a:gridCol>
                <a:gridCol w="2660650">
                  <a:extLst>
                    <a:ext uri="{9D8B030D-6E8A-4147-A177-3AD203B41FA5}">
                      <a16:colId xmlns:a16="http://schemas.microsoft.com/office/drawing/2014/main" val="654653009"/>
                    </a:ext>
                  </a:extLst>
                </a:gridCol>
              </a:tblGrid>
              <a:tr h="450544">
                <a:tc>
                  <a:txBody>
                    <a:bodyPr/>
                    <a:lstStyle/>
                    <a:p>
                      <a:r>
                        <a:rPr lang="en-IN"/>
                        <a:t>Function</a:t>
                      </a:r>
                    </a:p>
                  </a:txBody>
                  <a:tcPr anchor="ctr"/>
                </a:tc>
                <a:tc>
                  <a:txBody>
                    <a:bodyPr/>
                    <a:lstStyle/>
                    <a:p>
                      <a:r>
                        <a:rPr lang="en-IN"/>
                        <a:t>Input</a:t>
                      </a:r>
                    </a:p>
                  </a:txBody>
                  <a:tcPr anchor="ctr"/>
                </a:tc>
                <a:tc>
                  <a:txBody>
                    <a:bodyPr/>
                    <a:lstStyle/>
                    <a:p>
                      <a:r>
                        <a:rPr lang="en-IN"/>
                        <a:t>Output</a:t>
                      </a:r>
                    </a:p>
                  </a:txBody>
                  <a:tcPr anchor="ctr"/>
                </a:tc>
                <a:tc>
                  <a:txBody>
                    <a:bodyPr/>
                    <a:lstStyle/>
                    <a:p>
                      <a:r>
                        <a:rPr lang="en-IN"/>
                        <a:t>Purpose</a:t>
                      </a:r>
                    </a:p>
                  </a:txBody>
                  <a:tcPr anchor="ctr"/>
                </a:tc>
                <a:extLst>
                  <a:ext uri="{0D108BD9-81ED-4DB2-BD59-A6C34878D82A}">
                    <a16:rowId xmlns:a16="http://schemas.microsoft.com/office/drawing/2014/main" val="4060764548"/>
                  </a:ext>
                </a:extLst>
              </a:tr>
              <a:tr h="1126361">
                <a:tc>
                  <a:txBody>
                    <a:bodyPr/>
                    <a:lstStyle/>
                    <a:p>
                      <a:r>
                        <a:rPr lang="en-IN" dirty="0" err="1"/>
                        <a:t>ScreenToWorldPoint</a:t>
                      </a:r>
                      <a:r>
                        <a:rPr lang="en-IN" dirty="0"/>
                        <a:t>(Vector3)</a:t>
                      </a:r>
                    </a:p>
                  </a:txBody>
                  <a:tcPr anchor="ctr"/>
                </a:tc>
                <a:tc>
                  <a:txBody>
                    <a:bodyPr/>
                    <a:lstStyle/>
                    <a:p>
                      <a:r>
                        <a:rPr lang="en-IN"/>
                        <a:t>Screen position (x, y, z-depth)</a:t>
                      </a:r>
                    </a:p>
                  </a:txBody>
                  <a:tcPr anchor="ctr"/>
                </a:tc>
                <a:tc>
                  <a:txBody>
                    <a:bodyPr/>
                    <a:lstStyle/>
                    <a:p>
                      <a:r>
                        <a:rPr lang="en-IN"/>
                        <a:t>World position (Vector3)</a:t>
                      </a:r>
                    </a:p>
                  </a:txBody>
                  <a:tcPr anchor="ctr"/>
                </a:tc>
                <a:tc>
                  <a:txBody>
                    <a:bodyPr/>
                    <a:lstStyle/>
                    <a:p>
                      <a:r>
                        <a:rPr lang="en-US" dirty="0"/>
                        <a:t>Converts screen point to a world point at given depth</a:t>
                      </a:r>
                    </a:p>
                  </a:txBody>
                  <a:tcPr anchor="ctr"/>
                </a:tc>
                <a:extLst>
                  <a:ext uri="{0D108BD9-81ED-4DB2-BD59-A6C34878D82A}">
                    <a16:rowId xmlns:a16="http://schemas.microsoft.com/office/drawing/2014/main" val="1642122801"/>
                  </a:ext>
                </a:extLst>
              </a:tr>
              <a:tr h="1464269">
                <a:tc>
                  <a:txBody>
                    <a:bodyPr/>
                    <a:lstStyle/>
                    <a:p>
                      <a:r>
                        <a:rPr lang="en-IN" dirty="0" err="1"/>
                        <a:t>ScreenPointToRay</a:t>
                      </a:r>
                      <a:r>
                        <a:rPr lang="en-IN" dirty="0"/>
                        <a:t>(Vector3)</a:t>
                      </a:r>
                    </a:p>
                  </a:txBody>
                  <a:tcPr anchor="ctr"/>
                </a:tc>
                <a:tc>
                  <a:txBody>
                    <a:bodyPr/>
                    <a:lstStyle/>
                    <a:p>
                      <a:r>
                        <a:rPr lang="en-IN"/>
                        <a:t>Screen position (x, y)</a:t>
                      </a:r>
                    </a:p>
                  </a:txBody>
                  <a:tcPr anchor="ctr"/>
                </a:tc>
                <a:tc>
                  <a:txBody>
                    <a:bodyPr/>
                    <a:lstStyle/>
                    <a:p>
                      <a:r>
                        <a:rPr lang="en-IN"/>
                        <a:t>Ray (origin + direction)</a:t>
                      </a:r>
                    </a:p>
                  </a:txBody>
                  <a:tcPr anchor="ctr"/>
                </a:tc>
                <a:tc>
                  <a:txBody>
                    <a:bodyPr/>
                    <a:lstStyle/>
                    <a:p>
                      <a:r>
                        <a:rPr lang="en-US" dirty="0"/>
                        <a:t>Creates a ray from camera through the screen point for </a:t>
                      </a:r>
                      <a:r>
                        <a:rPr lang="en-US" dirty="0" err="1"/>
                        <a:t>raycasting</a:t>
                      </a:r>
                      <a:endParaRPr lang="en-US" dirty="0"/>
                    </a:p>
                  </a:txBody>
                  <a:tcPr anchor="ctr"/>
                </a:tc>
                <a:extLst>
                  <a:ext uri="{0D108BD9-81ED-4DB2-BD59-A6C34878D82A}">
                    <a16:rowId xmlns:a16="http://schemas.microsoft.com/office/drawing/2014/main" val="807412544"/>
                  </a:ext>
                </a:extLst>
              </a:tr>
            </a:tbl>
          </a:graphicData>
        </a:graphic>
      </p:graphicFrame>
    </p:spTree>
    <p:extLst>
      <p:ext uri="{BB962C8B-B14F-4D97-AF65-F5344CB8AC3E}">
        <p14:creationId xmlns:p14="http://schemas.microsoft.com/office/powerpoint/2010/main" val="348223787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olor Cover">
            <a:extLst>
              <a:ext uri="{FF2B5EF4-FFF2-40B4-BE49-F238E27FC236}">
                <a16:creationId xmlns:a16="http://schemas.microsoft.com/office/drawing/2014/main" id="{6BE11944-ED05-4FE9-9927-06C110BB3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A2812508-238C-4BCD-BDD3-25C99C5CA2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12" name="Color">
              <a:extLst>
                <a:ext uri="{FF2B5EF4-FFF2-40B4-BE49-F238E27FC236}">
                  <a16:creationId xmlns:a16="http://schemas.microsoft.com/office/drawing/2014/main" id="{EA98B5EE-6906-45B1-8691-D06F06B6C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a:extLst>
                <a:ext uri="{FF2B5EF4-FFF2-40B4-BE49-F238E27FC236}">
                  <a16:creationId xmlns:a16="http://schemas.microsoft.com/office/drawing/2014/main" id="{3CB4D77E-DA74-4797-88E4-C7D817D31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6" name="Freeform: Shape 1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A921405-8CC9-F219-C4B5-6551C58A6BF8}"/>
              </a:ext>
            </a:extLst>
          </p:cNvPr>
          <p:cNvSpPr>
            <a:spLocks noGrp="1"/>
          </p:cNvSpPr>
          <p:nvPr>
            <p:ph type="ctrTitle"/>
          </p:nvPr>
        </p:nvSpPr>
        <p:spPr>
          <a:xfrm>
            <a:off x="789708" y="1014574"/>
            <a:ext cx="9725730" cy="2226769"/>
          </a:xfrm>
        </p:spPr>
        <p:txBody>
          <a:bodyPr anchor="ctr">
            <a:normAutofit/>
          </a:bodyPr>
          <a:lstStyle/>
          <a:p>
            <a:pPr algn="l"/>
            <a:r>
              <a:rPr lang="en-IN" sz="4800" b="0" i="0">
                <a:solidFill>
                  <a:schemeClr val="bg1"/>
                </a:solidFill>
                <a:effectLst/>
                <a:latin typeface="Udemy Sans"/>
              </a:rPr>
              <a:t>Accelerometer Inputs in Unity</a:t>
            </a:r>
            <a:endParaRPr lang="en-IN" sz="4800">
              <a:solidFill>
                <a:schemeClr val="bg1"/>
              </a:solidFill>
            </a:endParaRPr>
          </a:p>
        </p:txBody>
      </p:sp>
    </p:spTree>
    <p:extLst>
      <p:ext uri="{BB962C8B-B14F-4D97-AF65-F5344CB8AC3E}">
        <p14:creationId xmlns:p14="http://schemas.microsoft.com/office/powerpoint/2010/main" val="4076559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5943-6FA8-3832-9028-B049FD0A048A}"/>
              </a:ext>
            </a:extLst>
          </p:cNvPr>
          <p:cNvSpPr>
            <a:spLocks noGrp="1"/>
          </p:cNvSpPr>
          <p:nvPr>
            <p:ph type="title"/>
          </p:nvPr>
        </p:nvSpPr>
        <p:spPr/>
        <p:txBody>
          <a:bodyPr/>
          <a:lstStyle/>
          <a:p>
            <a:r>
              <a:rPr lang="en-IN" dirty="0"/>
              <a:t>What is an Accelerometer</a:t>
            </a:r>
          </a:p>
        </p:txBody>
      </p:sp>
      <p:sp>
        <p:nvSpPr>
          <p:cNvPr id="3" name="Content Placeholder 2">
            <a:extLst>
              <a:ext uri="{FF2B5EF4-FFF2-40B4-BE49-F238E27FC236}">
                <a16:creationId xmlns:a16="http://schemas.microsoft.com/office/drawing/2014/main" id="{868E7F38-AA6B-5857-8B3E-7A563CA85D02}"/>
              </a:ext>
            </a:extLst>
          </p:cNvPr>
          <p:cNvSpPr>
            <a:spLocks noGrp="1"/>
          </p:cNvSpPr>
          <p:nvPr>
            <p:ph idx="1"/>
          </p:nvPr>
        </p:nvSpPr>
        <p:spPr/>
        <p:txBody>
          <a:bodyPr>
            <a:normAutofit/>
          </a:bodyPr>
          <a:lstStyle/>
          <a:p>
            <a:r>
              <a:rPr lang="en-US" dirty="0"/>
              <a:t>An accelerometer is a sensor in phones/tablets that detects how the device is tilted or moved in 3D space.</a:t>
            </a:r>
          </a:p>
          <a:p>
            <a:pPr lvl="1"/>
            <a:r>
              <a:rPr lang="en-US" dirty="0"/>
              <a:t>In Unity, we can use the accelerometer to:</a:t>
            </a:r>
          </a:p>
          <a:p>
            <a:pPr lvl="2"/>
            <a:r>
              <a:rPr lang="en-US" dirty="0"/>
              <a:t>Move a character by tilting the phone</a:t>
            </a:r>
          </a:p>
          <a:p>
            <a:pPr lvl="2"/>
            <a:r>
              <a:rPr lang="en-US" dirty="0"/>
              <a:t>Control the camera</a:t>
            </a:r>
          </a:p>
          <a:p>
            <a:pPr lvl="2"/>
            <a:r>
              <a:rPr lang="en-US" dirty="0"/>
              <a:t>Detect shakes</a:t>
            </a:r>
          </a:p>
          <a:p>
            <a:r>
              <a:rPr lang="en-IN" dirty="0"/>
              <a:t>Example:-</a:t>
            </a:r>
          </a:p>
          <a:p>
            <a:pPr marL="914400" lvl="2" indent="0">
              <a:buNone/>
            </a:pPr>
            <a:r>
              <a:rPr lang="en-IN" dirty="0"/>
              <a:t>Vector3 move = </a:t>
            </a:r>
            <a:r>
              <a:rPr lang="en-IN" dirty="0" err="1"/>
              <a:t>Input.acceleration</a:t>
            </a:r>
            <a:r>
              <a:rPr lang="en-IN" dirty="0"/>
              <a:t>;</a:t>
            </a:r>
          </a:p>
          <a:p>
            <a:pPr marL="914400" lvl="2" indent="0">
              <a:buNone/>
            </a:pPr>
            <a:r>
              <a:rPr lang="en-IN" dirty="0" err="1"/>
              <a:t>move.z</a:t>
            </a:r>
            <a:r>
              <a:rPr lang="en-IN" dirty="0"/>
              <a:t> = </a:t>
            </a:r>
            <a:r>
              <a:rPr lang="en-IN" dirty="0" err="1"/>
              <a:t>move.y</a:t>
            </a:r>
            <a:r>
              <a:rPr lang="en-IN" dirty="0"/>
              <a:t>;</a:t>
            </a:r>
          </a:p>
          <a:p>
            <a:pPr marL="914400" lvl="2" indent="0">
              <a:buNone/>
            </a:pPr>
            <a:r>
              <a:rPr lang="en-IN" dirty="0" err="1"/>
              <a:t>move.y</a:t>
            </a:r>
            <a:r>
              <a:rPr lang="en-IN" dirty="0"/>
              <a:t> = 0;</a:t>
            </a:r>
          </a:p>
          <a:p>
            <a:pPr marL="914400" lvl="2" indent="0">
              <a:buNone/>
            </a:pPr>
            <a:r>
              <a:rPr lang="en-IN" dirty="0" err="1"/>
              <a:t>transform.Translate</a:t>
            </a:r>
            <a:r>
              <a:rPr lang="en-IN" dirty="0"/>
              <a:t>(move * speed * </a:t>
            </a:r>
            <a:r>
              <a:rPr lang="en-IN" dirty="0" err="1"/>
              <a:t>Time.deltaTime</a:t>
            </a:r>
            <a:r>
              <a:rPr lang="en-IN" dirty="0"/>
              <a:t>);</a:t>
            </a:r>
          </a:p>
          <a:p>
            <a:endParaRPr lang="en-IN" dirty="0"/>
          </a:p>
        </p:txBody>
      </p:sp>
    </p:spTree>
    <p:extLst>
      <p:ext uri="{BB962C8B-B14F-4D97-AF65-F5344CB8AC3E}">
        <p14:creationId xmlns:p14="http://schemas.microsoft.com/office/powerpoint/2010/main" val="104684412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984A9A2-4CB1-54BB-4912-F44F5650EB9B}"/>
              </a:ext>
            </a:extLst>
          </p:cNvPr>
          <p:cNvSpPr>
            <a:spLocks noGrp="1"/>
          </p:cNvSpPr>
          <p:nvPr>
            <p:ph type="title"/>
          </p:nvPr>
        </p:nvSpPr>
        <p:spPr>
          <a:xfrm>
            <a:off x="550863" y="365125"/>
            <a:ext cx="11090274" cy="1325563"/>
          </a:xfrm>
        </p:spPr>
        <p:txBody>
          <a:bodyPr>
            <a:normAutofit/>
          </a:bodyPr>
          <a:lstStyle/>
          <a:p>
            <a:r>
              <a:rPr lang="en-US" sz="4000" dirty="0"/>
              <a:t>Important acceleration Properties</a:t>
            </a:r>
            <a:endParaRPr lang="en-IN" sz="4000" dirty="0"/>
          </a:p>
        </p:txBody>
      </p:sp>
      <p:graphicFrame>
        <p:nvGraphicFramePr>
          <p:cNvPr id="4" name="Content Placeholder 3">
            <a:extLst>
              <a:ext uri="{FF2B5EF4-FFF2-40B4-BE49-F238E27FC236}">
                <a16:creationId xmlns:a16="http://schemas.microsoft.com/office/drawing/2014/main" id="{18AB961E-E446-393B-A147-8B0E8B68CEB6}"/>
              </a:ext>
            </a:extLst>
          </p:cNvPr>
          <p:cNvGraphicFramePr>
            <a:graphicFrameLocks noGrp="1"/>
          </p:cNvGraphicFramePr>
          <p:nvPr>
            <p:ph idx="1"/>
            <p:extLst>
              <p:ext uri="{D42A27DB-BD31-4B8C-83A1-F6EECF244321}">
                <p14:modId xmlns:p14="http://schemas.microsoft.com/office/powerpoint/2010/main" val="372099394"/>
              </p:ext>
            </p:extLst>
          </p:nvPr>
        </p:nvGraphicFramePr>
        <p:xfrm>
          <a:off x="547688" y="2192544"/>
          <a:ext cx="11093451" cy="4039778"/>
        </p:xfrm>
        <a:graphic>
          <a:graphicData uri="http://schemas.openxmlformats.org/drawingml/2006/table">
            <a:tbl>
              <a:tblPr/>
              <a:tblGrid>
                <a:gridCol w="4862693">
                  <a:extLst>
                    <a:ext uri="{9D8B030D-6E8A-4147-A177-3AD203B41FA5}">
                      <a16:colId xmlns:a16="http://schemas.microsoft.com/office/drawing/2014/main" val="3716928718"/>
                    </a:ext>
                  </a:extLst>
                </a:gridCol>
                <a:gridCol w="6230758">
                  <a:extLst>
                    <a:ext uri="{9D8B030D-6E8A-4147-A177-3AD203B41FA5}">
                      <a16:colId xmlns:a16="http://schemas.microsoft.com/office/drawing/2014/main" val="696710624"/>
                    </a:ext>
                  </a:extLst>
                </a:gridCol>
              </a:tblGrid>
              <a:tr h="548612">
                <a:tc>
                  <a:txBody>
                    <a:bodyPr/>
                    <a:lstStyle/>
                    <a:p>
                      <a:r>
                        <a:rPr lang="en-IN" sz="2500"/>
                        <a:t>Property</a:t>
                      </a:r>
                    </a:p>
                  </a:txBody>
                  <a:tcPr marL="124684" marR="124684" marT="62342" marB="62342" anchor="ctr">
                    <a:lnL>
                      <a:noFill/>
                    </a:lnL>
                    <a:lnR>
                      <a:noFill/>
                    </a:lnR>
                    <a:lnT>
                      <a:noFill/>
                    </a:lnT>
                    <a:lnB>
                      <a:noFill/>
                    </a:lnB>
                    <a:noFill/>
                  </a:tcPr>
                </a:tc>
                <a:tc>
                  <a:txBody>
                    <a:bodyPr/>
                    <a:lstStyle/>
                    <a:p>
                      <a:r>
                        <a:rPr lang="en-IN" sz="2500"/>
                        <a:t>Description</a:t>
                      </a:r>
                    </a:p>
                  </a:txBody>
                  <a:tcPr marL="124684" marR="124684" marT="62342" marB="62342" anchor="ctr">
                    <a:lnL>
                      <a:noFill/>
                    </a:lnL>
                    <a:lnR>
                      <a:noFill/>
                    </a:lnR>
                    <a:lnT>
                      <a:noFill/>
                    </a:lnT>
                    <a:lnB>
                      <a:noFill/>
                    </a:lnB>
                    <a:noFill/>
                  </a:tcPr>
                </a:tc>
                <a:extLst>
                  <a:ext uri="{0D108BD9-81ED-4DB2-BD59-A6C34878D82A}">
                    <a16:rowId xmlns:a16="http://schemas.microsoft.com/office/drawing/2014/main" val="1035651449"/>
                  </a:ext>
                </a:extLst>
              </a:tr>
              <a:tr h="922665">
                <a:tc>
                  <a:txBody>
                    <a:bodyPr/>
                    <a:lstStyle/>
                    <a:p>
                      <a:r>
                        <a:rPr lang="en-IN" sz="2500"/>
                        <a:t>Input.acceleration</a:t>
                      </a:r>
                    </a:p>
                  </a:txBody>
                  <a:tcPr marL="124684" marR="124684" marT="62342" marB="62342" anchor="ctr">
                    <a:lnL>
                      <a:noFill/>
                    </a:lnL>
                    <a:lnR>
                      <a:noFill/>
                    </a:lnR>
                    <a:lnT>
                      <a:noFill/>
                    </a:lnT>
                    <a:lnB>
                      <a:noFill/>
                    </a:lnB>
                    <a:noFill/>
                  </a:tcPr>
                </a:tc>
                <a:tc>
                  <a:txBody>
                    <a:bodyPr/>
                    <a:lstStyle/>
                    <a:p>
                      <a:r>
                        <a:rPr lang="en-US" sz="2500" dirty="0"/>
                        <a:t>The current tilt/movement of the device as a Vector3</a:t>
                      </a:r>
                    </a:p>
                  </a:txBody>
                  <a:tcPr marL="124684" marR="124684" marT="62342" marB="62342" anchor="ctr">
                    <a:lnL>
                      <a:noFill/>
                    </a:lnL>
                    <a:lnR>
                      <a:noFill/>
                    </a:lnR>
                    <a:lnT>
                      <a:noFill/>
                    </a:lnT>
                    <a:lnB>
                      <a:noFill/>
                    </a:lnB>
                    <a:noFill/>
                  </a:tcPr>
                </a:tc>
                <a:extLst>
                  <a:ext uri="{0D108BD9-81ED-4DB2-BD59-A6C34878D82A}">
                    <a16:rowId xmlns:a16="http://schemas.microsoft.com/office/drawing/2014/main" val="3232571847"/>
                  </a:ext>
                </a:extLst>
              </a:tr>
              <a:tr h="548612">
                <a:tc>
                  <a:txBody>
                    <a:bodyPr/>
                    <a:lstStyle/>
                    <a:p>
                      <a:r>
                        <a:rPr lang="en-IN" sz="2500"/>
                        <a:t>Input.acceleration.x</a:t>
                      </a:r>
                    </a:p>
                  </a:txBody>
                  <a:tcPr marL="124684" marR="124684" marT="62342" marB="62342" anchor="ctr">
                    <a:lnL>
                      <a:noFill/>
                    </a:lnL>
                    <a:lnR>
                      <a:noFill/>
                    </a:lnR>
                    <a:lnT>
                      <a:noFill/>
                    </a:lnT>
                    <a:lnB>
                      <a:noFill/>
                    </a:lnB>
                    <a:noFill/>
                  </a:tcPr>
                </a:tc>
                <a:tc>
                  <a:txBody>
                    <a:bodyPr/>
                    <a:lstStyle/>
                    <a:p>
                      <a:r>
                        <a:rPr lang="en-IN" sz="2500"/>
                        <a:t>Left/right tilt</a:t>
                      </a:r>
                    </a:p>
                  </a:txBody>
                  <a:tcPr marL="124684" marR="124684" marT="62342" marB="62342" anchor="ctr">
                    <a:lnL>
                      <a:noFill/>
                    </a:lnL>
                    <a:lnR>
                      <a:noFill/>
                    </a:lnR>
                    <a:lnT>
                      <a:noFill/>
                    </a:lnT>
                    <a:lnB>
                      <a:noFill/>
                    </a:lnB>
                    <a:noFill/>
                  </a:tcPr>
                </a:tc>
                <a:extLst>
                  <a:ext uri="{0D108BD9-81ED-4DB2-BD59-A6C34878D82A}">
                    <a16:rowId xmlns:a16="http://schemas.microsoft.com/office/drawing/2014/main" val="2017712252"/>
                  </a:ext>
                </a:extLst>
              </a:tr>
              <a:tr h="548612">
                <a:tc>
                  <a:txBody>
                    <a:bodyPr/>
                    <a:lstStyle/>
                    <a:p>
                      <a:r>
                        <a:rPr lang="en-IN" sz="2500"/>
                        <a:t>Input.acceleration.y</a:t>
                      </a:r>
                    </a:p>
                  </a:txBody>
                  <a:tcPr marL="124684" marR="124684" marT="62342" marB="62342" anchor="ctr">
                    <a:lnL>
                      <a:noFill/>
                    </a:lnL>
                    <a:lnR>
                      <a:noFill/>
                    </a:lnR>
                    <a:lnT>
                      <a:noFill/>
                    </a:lnT>
                    <a:lnB>
                      <a:noFill/>
                    </a:lnB>
                    <a:noFill/>
                  </a:tcPr>
                </a:tc>
                <a:tc>
                  <a:txBody>
                    <a:bodyPr/>
                    <a:lstStyle/>
                    <a:p>
                      <a:r>
                        <a:rPr lang="en-IN" sz="2500"/>
                        <a:t>Up/down (gravity-related)</a:t>
                      </a:r>
                    </a:p>
                  </a:txBody>
                  <a:tcPr marL="124684" marR="124684" marT="62342" marB="62342" anchor="ctr">
                    <a:lnL>
                      <a:noFill/>
                    </a:lnL>
                    <a:lnR>
                      <a:noFill/>
                    </a:lnR>
                    <a:lnT>
                      <a:noFill/>
                    </a:lnT>
                    <a:lnB>
                      <a:noFill/>
                    </a:lnB>
                    <a:noFill/>
                  </a:tcPr>
                </a:tc>
                <a:extLst>
                  <a:ext uri="{0D108BD9-81ED-4DB2-BD59-A6C34878D82A}">
                    <a16:rowId xmlns:a16="http://schemas.microsoft.com/office/drawing/2014/main" val="2545903477"/>
                  </a:ext>
                </a:extLst>
              </a:tr>
              <a:tr h="548612">
                <a:tc>
                  <a:txBody>
                    <a:bodyPr/>
                    <a:lstStyle/>
                    <a:p>
                      <a:r>
                        <a:rPr lang="en-IN" sz="2500"/>
                        <a:t>Input.acceleration.z</a:t>
                      </a:r>
                    </a:p>
                  </a:txBody>
                  <a:tcPr marL="124684" marR="124684" marT="62342" marB="62342" anchor="ctr">
                    <a:lnL>
                      <a:noFill/>
                    </a:lnL>
                    <a:lnR>
                      <a:noFill/>
                    </a:lnR>
                    <a:lnT>
                      <a:noFill/>
                    </a:lnT>
                    <a:lnB>
                      <a:noFill/>
                    </a:lnB>
                    <a:noFill/>
                  </a:tcPr>
                </a:tc>
                <a:tc>
                  <a:txBody>
                    <a:bodyPr/>
                    <a:lstStyle/>
                    <a:p>
                      <a:r>
                        <a:rPr lang="en-IN" sz="2500"/>
                        <a:t>Forward/back tilt</a:t>
                      </a:r>
                    </a:p>
                  </a:txBody>
                  <a:tcPr marL="124684" marR="124684" marT="62342" marB="62342" anchor="ctr">
                    <a:lnL>
                      <a:noFill/>
                    </a:lnL>
                    <a:lnR>
                      <a:noFill/>
                    </a:lnR>
                    <a:lnT>
                      <a:noFill/>
                    </a:lnT>
                    <a:lnB>
                      <a:noFill/>
                    </a:lnB>
                    <a:noFill/>
                  </a:tcPr>
                </a:tc>
                <a:extLst>
                  <a:ext uri="{0D108BD9-81ED-4DB2-BD59-A6C34878D82A}">
                    <a16:rowId xmlns:a16="http://schemas.microsoft.com/office/drawing/2014/main" val="553629409"/>
                  </a:ext>
                </a:extLst>
              </a:tr>
              <a:tr h="922665">
                <a:tc>
                  <a:txBody>
                    <a:bodyPr/>
                    <a:lstStyle/>
                    <a:p>
                      <a:r>
                        <a:rPr lang="en-IN" sz="2500"/>
                        <a:t>Input.acceleration.sqrMagnitude</a:t>
                      </a:r>
                    </a:p>
                  </a:txBody>
                  <a:tcPr marL="124684" marR="124684" marT="62342" marB="62342" anchor="ctr">
                    <a:lnL>
                      <a:noFill/>
                    </a:lnL>
                    <a:lnR>
                      <a:noFill/>
                    </a:lnR>
                    <a:lnT>
                      <a:noFill/>
                    </a:lnT>
                    <a:lnB>
                      <a:noFill/>
                    </a:lnB>
                    <a:noFill/>
                  </a:tcPr>
                </a:tc>
                <a:tc>
                  <a:txBody>
                    <a:bodyPr/>
                    <a:lstStyle/>
                    <a:p>
                      <a:r>
                        <a:rPr lang="en-US" sz="2500" dirty="0"/>
                        <a:t>Total strength of the motion (used to detect shake)</a:t>
                      </a:r>
                    </a:p>
                  </a:txBody>
                  <a:tcPr marL="124684" marR="124684" marT="62342" marB="62342" anchor="ctr">
                    <a:lnL>
                      <a:noFill/>
                    </a:lnL>
                    <a:lnR>
                      <a:noFill/>
                    </a:lnR>
                    <a:lnT>
                      <a:noFill/>
                    </a:lnT>
                    <a:lnB>
                      <a:noFill/>
                    </a:lnB>
                    <a:noFill/>
                  </a:tcPr>
                </a:tc>
                <a:extLst>
                  <a:ext uri="{0D108BD9-81ED-4DB2-BD59-A6C34878D82A}">
                    <a16:rowId xmlns:a16="http://schemas.microsoft.com/office/drawing/2014/main" val="2764600551"/>
                  </a:ext>
                </a:extLst>
              </a:tr>
            </a:tbl>
          </a:graphicData>
        </a:graphic>
      </p:graphicFrame>
    </p:spTree>
    <p:extLst>
      <p:ext uri="{BB962C8B-B14F-4D97-AF65-F5344CB8AC3E}">
        <p14:creationId xmlns:p14="http://schemas.microsoft.com/office/powerpoint/2010/main" val="26665900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E8DE7-88DB-2BEC-22B4-59A06319C383}"/>
              </a:ext>
            </a:extLst>
          </p:cNvPr>
          <p:cNvSpPr>
            <a:spLocks noGrp="1"/>
          </p:cNvSpPr>
          <p:nvPr>
            <p:ph type="title"/>
          </p:nvPr>
        </p:nvSpPr>
        <p:spPr/>
        <p:txBody>
          <a:bodyPr/>
          <a:lstStyle/>
          <a:p>
            <a:r>
              <a:rPr lang="en-IN" b="0" i="0" dirty="0">
                <a:solidFill>
                  <a:srgbClr val="2A2B3F"/>
                </a:solidFill>
                <a:effectLst/>
                <a:latin typeface="Udemy Sans"/>
              </a:rPr>
              <a:t>Creating Responsive UI in Unity</a:t>
            </a:r>
            <a:endParaRPr lang="en-IN" dirty="0"/>
          </a:p>
        </p:txBody>
      </p:sp>
      <p:sp>
        <p:nvSpPr>
          <p:cNvPr id="3" name="Content Placeholder 2">
            <a:extLst>
              <a:ext uri="{FF2B5EF4-FFF2-40B4-BE49-F238E27FC236}">
                <a16:creationId xmlns:a16="http://schemas.microsoft.com/office/drawing/2014/main" id="{55DCE827-D63C-0863-D469-4297A100CCA2}"/>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7777221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4071</TotalTime>
  <Words>12516</Words>
  <Application>Microsoft Office PowerPoint</Application>
  <PresentationFormat>Widescreen</PresentationFormat>
  <Paragraphs>1626</Paragraphs>
  <Slides>175</Slides>
  <Notes>8</Notes>
  <HiddenSlides>0</HiddenSlides>
  <MMClips>0</MMClips>
  <ScaleCrop>false</ScaleCrop>
  <HeadingPairs>
    <vt:vector size="6" baseType="variant">
      <vt:variant>
        <vt:lpstr>Fonts Used</vt:lpstr>
      </vt:variant>
      <vt:variant>
        <vt:i4>11</vt:i4>
      </vt:variant>
      <vt:variant>
        <vt:lpstr>Theme</vt:lpstr>
      </vt:variant>
      <vt:variant>
        <vt:i4>8</vt:i4>
      </vt:variant>
      <vt:variant>
        <vt:lpstr>Slide Titles</vt:lpstr>
      </vt:variant>
      <vt:variant>
        <vt:i4>175</vt:i4>
      </vt:variant>
    </vt:vector>
  </HeadingPairs>
  <TitlesOfParts>
    <vt:vector size="194" baseType="lpstr">
      <vt:lpstr>Aptos</vt:lpstr>
      <vt:lpstr>Aptos Display</vt:lpstr>
      <vt:lpstr>Arial</vt:lpstr>
      <vt:lpstr>Arial Unicode MS</vt:lpstr>
      <vt:lpstr>Calibri</vt:lpstr>
      <vt:lpstr>Roboto</vt:lpstr>
      <vt:lpstr>Trebuchet MS</vt:lpstr>
      <vt:lpstr>Udemy Sans</vt:lpstr>
      <vt:lpstr>ui-sans-serif</vt:lpstr>
      <vt:lpstr>Wingdings</vt:lpstr>
      <vt:lpstr>Wingdings 3</vt:lpstr>
      <vt:lpstr>Facet</vt:lpstr>
      <vt:lpstr>Office Theme</vt:lpstr>
      <vt:lpstr>Office Theme</vt:lpstr>
      <vt:lpstr>Office Theme</vt:lpstr>
      <vt:lpstr>Office Theme</vt:lpstr>
      <vt:lpstr>Office Theme</vt:lpstr>
      <vt:lpstr>Office Theme</vt:lpstr>
      <vt:lpstr>Office Theme</vt:lpstr>
      <vt:lpstr>Weak 1</vt:lpstr>
      <vt:lpstr>Computer Graphics</vt:lpstr>
      <vt:lpstr>Introduction</vt:lpstr>
      <vt:lpstr>Types Of Graphics</vt:lpstr>
      <vt:lpstr>Vector Graphics</vt:lpstr>
      <vt:lpstr>Basic of Computer Graphics</vt:lpstr>
      <vt:lpstr>Graphics Pipeline</vt:lpstr>
      <vt:lpstr>Vertex processing</vt:lpstr>
      <vt:lpstr>Tessellation processing</vt:lpstr>
      <vt:lpstr>Rasterization process</vt:lpstr>
      <vt:lpstr>Pixel Shading</vt:lpstr>
      <vt:lpstr>Frame Buffers</vt:lpstr>
      <vt:lpstr>Back buffers.</vt:lpstr>
      <vt:lpstr>Depth Buffers or Z-buffers</vt:lpstr>
      <vt:lpstr>Stencil Buffer</vt:lpstr>
      <vt:lpstr>Understanding how data flows through the pipeline, from the input vertices to the final rendered image. </vt:lpstr>
      <vt:lpstr>PowerPoint Presentation</vt:lpstr>
      <vt:lpstr>Differentiating between the programmable and fixed graphics pipelines.</vt:lpstr>
      <vt:lpstr>Programmable graphics pipelines.</vt:lpstr>
      <vt:lpstr>Understanding the advantages of the programmable pipeline in terms of flexibility and customization. </vt:lpstr>
      <vt:lpstr>Knowing When To Use The Fixed Pipeline For Simpler Rendering Tasks. </vt:lpstr>
      <vt:lpstr>Geometric pipeline </vt:lpstr>
      <vt:lpstr>Vector Algebra</vt:lpstr>
      <vt:lpstr>Vector and Vector Space</vt:lpstr>
      <vt:lpstr>Vector Addition </vt:lpstr>
      <vt:lpstr>Vector Subtraction</vt:lpstr>
      <vt:lpstr>Cross Product </vt:lpstr>
      <vt:lpstr>Dot Product</vt:lpstr>
      <vt:lpstr>Vector Space</vt:lpstr>
      <vt:lpstr>Function as a vector</vt:lpstr>
      <vt:lpstr>Why Vector is Important</vt:lpstr>
      <vt:lpstr>3D Rotation</vt:lpstr>
      <vt:lpstr>PowerPoint Presentation</vt:lpstr>
      <vt:lpstr>PowerPoint Presentation</vt:lpstr>
      <vt:lpstr>Quaternions</vt:lpstr>
      <vt:lpstr>Why used:-</vt:lpstr>
      <vt:lpstr>Shader Programming</vt:lpstr>
      <vt:lpstr>What is shader</vt:lpstr>
      <vt:lpstr>Fragment Shader</vt:lpstr>
      <vt:lpstr>Shader Programming?</vt:lpstr>
      <vt:lpstr>Weak 2</vt:lpstr>
      <vt:lpstr>Unity Beginner</vt:lpstr>
      <vt:lpstr>Unity Game Development</vt:lpstr>
      <vt:lpstr>Basic Overview  </vt:lpstr>
      <vt:lpstr>RigidBody :-</vt:lpstr>
      <vt:lpstr>Life cycle of MonoBehaviour</vt:lpstr>
      <vt:lpstr>Awake()</vt:lpstr>
      <vt:lpstr>Used Case:-</vt:lpstr>
      <vt:lpstr>onEnable()</vt:lpstr>
      <vt:lpstr>Important Component in Unity</vt:lpstr>
      <vt:lpstr>What is Hierarchy in Unity?</vt:lpstr>
      <vt:lpstr>How does it work?</vt:lpstr>
      <vt:lpstr>Inspector</vt:lpstr>
      <vt:lpstr>Why is Inspector important?</vt:lpstr>
      <vt:lpstr>What’s a script? </vt:lpstr>
      <vt:lpstr>What’s a material?</vt:lpstr>
      <vt:lpstr>What is a Prefab in Unity?</vt:lpstr>
      <vt:lpstr>Folder Structure</vt:lpstr>
      <vt:lpstr>What is GetComponent&lt;T&gt;()</vt:lpstr>
      <vt:lpstr>Drag:-</vt:lpstr>
      <vt:lpstr>Angular Drag? </vt:lpstr>
      <vt:lpstr>Simple Code Example</vt:lpstr>
      <vt:lpstr>Some more Example:-</vt:lpstr>
      <vt:lpstr>Physics Component:-          These make Game Objects react like real physical objects. </vt:lpstr>
      <vt:lpstr>PowerPoint Presentation</vt:lpstr>
      <vt:lpstr>Rigidbody</vt:lpstr>
      <vt:lpstr>Collisions require Rigidbody</vt:lpstr>
      <vt:lpstr>Metods/property of rigidbody</vt:lpstr>
      <vt:lpstr>PowerPoint Presentation</vt:lpstr>
      <vt:lpstr>PowerPoint Presentation</vt:lpstr>
      <vt:lpstr>Velocity Property in Rigidbody</vt:lpstr>
      <vt:lpstr>PowerPoint Presentation</vt:lpstr>
      <vt:lpstr>Collider:-</vt:lpstr>
      <vt:lpstr>Different Types of Collider3D</vt:lpstr>
      <vt:lpstr>Types of Colliders (2D)</vt:lpstr>
      <vt:lpstr>How to Add a Collider (Steps):</vt:lpstr>
      <vt:lpstr>Check Collider Shape in Scene View</vt:lpstr>
      <vt:lpstr>What is a Mesh Collider?</vt:lpstr>
      <vt:lpstr>Adding a Mesh Collider in Unity:</vt:lpstr>
      <vt:lpstr>CharacterControlle</vt:lpstr>
      <vt:lpstr>Property Of Collider</vt:lpstr>
      <vt:lpstr>MonoBehaviour</vt:lpstr>
      <vt:lpstr>What is MonoBehaviour?</vt:lpstr>
      <vt:lpstr>Life cycle of MonoBehaviour</vt:lpstr>
      <vt:lpstr>Weak 3</vt:lpstr>
      <vt:lpstr>Searching and Finding GameObject</vt:lpstr>
      <vt:lpstr>What are tags</vt:lpstr>
      <vt:lpstr>What is GameObject</vt:lpstr>
      <vt:lpstr>GetComponent Function</vt:lpstr>
      <vt:lpstr>GetComponent Function</vt:lpstr>
      <vt:lpstr>PowerPoint Presentation</vt:lpstr>
      <vt:lpstr>Accessing a Component from Another GameObject</vt:lpstr>
      <vt:lpstr>Transform Components Moving Rotating &amp; Scaling with Transform Component</vt:lpstr>
      <vt:lpstr>TRANSFORM COMPONENT</vt:lpstr>
      <vt:lpstr>Position</vt:lpstr>
      <vt:lpstr>ROTATION — Rotating Objects</vt:lpstr>
      <vt:lpstr>SCALE — Resizing Objects</vt:lpstr>
      <vt:lpstr>Instantiating Random Objects in C#</vt:lpstr>
      <vt:lpstr>What is Instantiating  ?</vt:lpstr>
      <vt:lpstr>Repeatedly Calling Funtions with InvokeRepeating</vt:lpstr>
      <vt:lpstr>What is InvokeRepeating?</vt:lpstr>
      <vt:lpstr>Working With KeyBoard Inputs in Unity</vt:lpstr>
      <vt:lpstr>Types of Keyboard Input</vt:lpstr>
      <vt:lpstr>KeyCode</vt:lpstr>
      <vt:lpstr>Why use Input.GetAxis() instead of Input.GetKey()?</vt:lpstr>
      <vt:lpstr>Example:-</vt:lpstr>
      <vt:lpstr>Working With Mouse Input in Unity</vt:lpstr>
      <vt:lpstr>Mouse Input</vt:lpstr>
      <vt:lpstr>PowerPoint Presentation</vt:lpstr>
      <vt:lpstr>Week03 </vt:lpstr>
      <vt:lpstr>Checking collision in unity</vt:lpstr>
      <vt:lpstr>Why Use Triggers?</vt:lpstr>
      <vt:lpstr>Deal With 3D objecr</vt:lpstr>
      <vt:lpstr>How to Respawn a GameObject when we press key</vt:lpstr>
      <vt:lpstr>How to Respawn a GameObject when we left click button of the mouse</vt:lpstr>
      <vt:lpstr>PowerPoint Presentation</vt:lpstr>
      <vt:lpstr>How to Generate GameObject at Random point</vt:lpstr>
      <vt:lpstr>Give the Properties when GameObject collide</vt:lpstr>
      <vt:lpstr>Methods</vt:lpstr>
      <vt:lpstr>How to add Audio</vt:lpstr>
      <vt:lpstr>Opps Concept in c#</vt:lpstr>
      <vt:lpstr>Example of Namespace</vt:lpstr>
      <vt:lpstr>Inheritence</vt:lpstr>
      <vt:lpstr>[System.serializable]</vt:lpstr>
      <vt:lpstr>Example:-</vt:lpstr>
      <vt:lpstr>What are Getters and Setters? </vt:lpstr>
      <vt:lpstr>Enum</vt:lpstr>
      <vt:lpstr>What is enum?</vt:lpstr>
      <vt:lpstr>Example:-</vt:lpstr>
      <vt:lpstr>What is a Coroutine in Unity?</vt:lpstr>
      <vt:lpstr>Example:-</vt:lpstr>
      <vt:lpstr>Important Methods Used in Coroutine</vt:lpstr>
      <vt:lpstr>PowerPoint Presentation</vt:lpstr>
      <vt:lpstr>2D Game Concepts</vt:lpstr>
      <vt:lpstr>Sprite in Unity</vt:lpstr>
      <vt:lpstr>How to Use Sprites (Step-by-Step)</vt:lpstr>
      <vt:lpstr>PowerPoint Presentation</vt:lpstr>
      <vt:lpstr>Weak 4</vt:lpstr>
      <vt:lpstr>Restricting Player Movement within Boundaries</vt:lpstr>
      <vt:lpstr>Removing Object When Out of Screen</vt:lpstr>
      <vt:lpstr>How to Respawan the GameObject in 2D</vt:lpstr>
      <vt:lpstr>How we  can I zoom In and Zoom out the Game</vt:lpstr>
      <vt:lpstr>Zoom In and Zoom Out the Camera In 2D</vt:lpstr>
      <vt:lpstr>Creating Camera Shake in Unity with C#</vt:lpstr>
      <vt:lpstr>How to open Url in Unity</vt:lpstr>
      <vt:lpstr>Steps to Create a infine Background</vt:lpstr>
      <vt:lpstr>Create 2D Infinite Scrolling Background for Runner Games</vt:lpstr>
      <vt:lpstr>How to use Matterial as at texture in 2D</vt:lpstr>
      <vt:lpstr>Clamp</vt:lpstr>
      <vt:lpstr>What is Offset?</vt:lpstr>
      <vt:lpstr>What Is Tilling ?</vt:lpstr>
      <vt:lpstr>What is Draw Mode in Sprite Renderer?</vt:lpstr>
      <vt:lpstr> Build Your First Android Game with Unity &amp; C#</vt:lpstr>
      <vt:lpstr>Joystick</vt:lpstr>
      <vt:lpstr>Most common properties of joystick</vt:lpstr>
      <vt:lpstr>Working With Touch Inputs In Unity C#</vt:lpstr>
      <vt:lpstr>Common Touch Phases</vt:lpstr>
      <vt:lpstr>Touches phases</vt:lpstr>
      <vt:lpstr>Touch</vt:lpstr>
      <vt:lpstr>Properties Of touch</vt:lpstr>
      <vt:lpstr>What is Input.touches</vt:lpstr>
      <vt:lpstr>Touch &amp; Destroy Objects With RayCasting in Unity </vt:lpstr>
      <vt:lpstr>RayCasting</vt:lpstr>
      <vt:lpstr>Basic Syntax for Raycast</vt:lpstr>
      <vt:lpstr>Code Explantion</vt:lpstr>
      <vt:lpstr>PowerPoint Presentation</vt:lpstr>
      <vt:lpstr>Example:- for Mouse </vt:lpstr>
      <vt:lpstr>PowerPoint Presentation</vt:lpstr>
      <vt:lpstr>Example For Touch </vt:lpstr>
      <vt:lpstr>How to Debug raycasts</vt:lpstr>
      <vt:lpstr>Difference Between  ScreenToWorldPoint(Vector3)  and  ScreenPointToRay(Vector3) </vt:lpstr>
      <vt:lpstr>Accelerometer Inputs in Unity</vt:lpstr>
      <vt:lpstr>What is an Accelerometer</vt:lpstr>
      <vt:lpstr>Important acceleration Properties</vt:lpstr>
      <vt:lpstr>Creating Responsive UI in Unity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Nandan</dc:creator>
  <cp:lastModifiedBy>Kumar, Nandan</cp:lastModifiedBy>
  <cp:revision>12</cp:revision>
  <dcterms:created xsi:type="dcterms:W3CDTF">2025-06-16T05:16:40Z</dcterms:created>
  <dcterms:modified xsi:type="dcterms:W3CDTF">2025-07-04T09:23:29Z</dcterms:modified>
</cp:coreProperties>
</file>